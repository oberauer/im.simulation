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7" r:id="rId131"/>
    <p:sldId id="503" r:id="rId132"/>
    <p:sldId id="502" r:id="rId133"/>
    <p:sldId id="506" r:id="rId134"/>
    <p:sldId id="508" r:id="rId135"/>
    <p:sldId id="512" r:id="rId136"/>
    <p:sldId id="513" r:id="rId137"/>
    <p:sldId id="511" r:id="rId138"/>
    <p:sldId id="509" r:id="rId139"/>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159" d="100"/>
          <a:sy n="159" d="100"/>
        </p:scale>
        <p:origin x="306"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slide" Target="slides/slide128.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4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22/07/2026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7.xml"/><Relationship Id="rId4" Type="http://schemas.openxmlformats.org/officeDocument/2006/relationships/image" Target="../media/image186.png"/></Relationships>
</file>

<file path=ppt/slides/_rels/slide136.xml.rels><?xml version="1.0" encoding="UTF-8" standalone="yes"?>
<Relationships xmlns="http://schemas.openxmlformats.org/package/2006/relationships"><Relationship Id="rId3" Type="http://schemas.openxmlformats.org/officeDocument/2006/relationships/image" Target="../media/image188.png"/><Relationship Id="rId2" Type="http://schemas.openxmlformats.org/officeDocument/2006/relationships/image" Target="../media/image187.png"/><Relationship Id="rId1" Type="http://schemas.openxmlformats.org/officeDocument/2006/relationships/slideLayout" Target="../slideLayouts/slideLayout7.xml"/><Relationship Id="rId4" Type="http://schemas.openxmlformats.org/officeDocument/2006/relationships/image" Target="../media/image18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image" Target="../media/image190.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
        <p:nvSpPr>
          <p:cNvPr id="4" name="TextBox 3">
            <a:extLst>
              <a:ext uri="{FF2B5EF4-FFF2-40B4-BE49-F238E27FC236}">
                <a16:creationId xmlns:a16="http://schemas.microsoft.com/office/drawing/2014/main" id="{92FACA55-B37D-89F2-98B1-AB183C436970}"/>
              </a:ext>
            </a:extLst>
          </p:cNvPr>
          <p:cNvSpPr txBox="1"/>
          <p:nvPr/>
        </p:nvSpPr>
        <p:spPr>
          <a:xfrm>
            <a:off x="6923314" y="625929"/>
            <a:ext cx="4904015" cy="938719"/>
          </a:xfrm>
          <a:prstGeom prst="rect">
            <a:avLst/>
          </a:prstGeom>
          <a:noFill/>
        </p:spPr>
        <p:txBody>
          <a:bodyPr wrap="square" rtlCol="0">
            <a:spAutoFit/>
          </a:bodyPr>
          <a:lstStyle/>
          <a:p>
            <a:r>
              <a:rPr lang="en-CH" sz="1100" dirty="0"/>
              <a:t>The good pattern could be reproduced with “Mediated” in the Archive but not the branch June8. Differences with the current version:</a:t>
            </a:r>
          </a:p>
          <a:p>
            <a:r>
              <a:rPr lang="en-CH" sz="1100" dirty="0"/>
              <a:t>IOR on FX has been parameterized</a:t>
            </a:r>
          </a:p>
          <a:p>
            <a:r>
              <a:rPr lang="en-CH" sz="1100" dirty="0" err="1"/>
              <a:t>cRateSD</a:t>
            </a:r>
            <a:r>
              <a:rPr lang="en-CH" sz="1100" dirty="0"/>
              <a:t> has been corrected in the reorienting time during retrieval</a:t>
            </a:r>
          </a:p>
          <a:p>
            <a:endParaRPr lang="en-CH" sz="1100" dirty="0"/>
          </a:p>
        </p:txBody>
      </p:sp>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DCD9144-FB7B-1158-572B-E257333FF79E}"/>
              </a:ext>
            </a:extLst>
          </p:cNvPr>
          <p:cNvPicPr>
            <a:picLocks noChangeAspect="1"/>
          </p:cNvPicPr>
          <p:nvPr/>
        </p:nvPicPr>
        <p:blipFill>
          <a:blip r:embed="rId2"/>
          <a:stretch>
            <a:fillRect/>
          </a:stretch>
        </p:blipFill>
        <p:spPr>
          <a:xfrm>
            <a:off x="751114" y="1144242"/>
            <a:ext cx="8343900" cy="5713758"/>
          </a:xfrm>
          <a:prstGeom prst="rect">
            <a:avLst/>
          </a:prstGeom>
        </p:spPr>
      </p:pic>
      <p:sp>
        <p:nvSpPr>
          <p:cNvPr id="3" name="TextBox 2">
            <a:extLst>
              <a:ext uri="{FF2B5EF4-FFF2-40B4-BE49-F238E27FC236}">
                <a16:creationId xmlns:a16="http://schemas.microsoft.com/office/drawing/2014/main" id="{9062C9DE-08BD-4C7E-9998-334273E6ACDB}"/>
              </a:ext>
            </a:extLst>
          </p:cNvPr>
          <p:cNvSpPr txBox="1"/>
          <p:nvPr/>
        </p:nvSpPr>
        <p:spPr>
          <a:xfrm>
            <a:off x="8795657" y="1039586"/>
            <a:ext cx="2418291" cy="369332"/>
          </a:xfrm>
          <a:prstGeom prst="rect">
            <a:avLst/>
          </a:prstGeom>
          <a:noFill/>
        </p:spPr>
        <p:txBody>
          <a:bodyPr wrap="none" rtlCol="0">
            <a:spAutoFit/>
          </a:bodyPr>
          <a:lstStyle/>
          <a:p>
            <a:r>
              <a:rPr lang="en-CH"/>
              <a:t>setting IOR = 1 fixes this</a:t>
            </a:r>
          </a:p>
        </p:txBody>
      </p:sp>
    </p:spTree>
    <p:extLst>
      <p:ext uri="{BB962C8B-B14F-4D97-AF65-F5344CB8AC3E}">
        <p14:creationId xmlns:p14="http://schemas.microsoft.com/office/powerpoint/2010/main" val="35130700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A727288-A550-EC06-EE3A-0352589E4C60}"/>
              </a:ext>
            </a:extLst>
          </p:cNvPr>
          <p:cNvSpPr txBox="1"/>
          <p:nvPr/>
        </p:nvSpPr>
        <p:spPr>
          <a:xfrm>
            <a:off x="764005" y="547437"/>
            <a:ext cx="4053417" cy="369332"/>
          </a:xfrm>
          <a:prstGeom prst="rect">
            <a:avLst/>
          </a:prstGeom>
          <a:noFill/>
        </p:spPr>
        <p:txBody>
          <a:bodyPr wrap="none" rtlCol="0">
            <a:spAutoFit/>
          </a:bodyPr>
          <a:lstStyle/>
          <a:p>
            <a:r>
              <a:rPr lang="en-CH" dirty="0"/>
              <a:t>Sensory memory with inhibition = 0.004</a:t>
            </a:r>
          </a:p>
        </p:txBody>
      </p:sp>
      <p:sp>
        <p:nvSpPr>
          <p:cNvPr id="5" name="TextBox 4">
            <a:extLst>
              <a:ext uri="{FF2B5EF4-FFF2-40B4-BE49-F238E27FC236}">
                <a16:creationId xmlns:a16="http://schemas.microsoft.com/office/drawing/2014/main" id="{8E6ECE2A-8297-967A-5D4E-5C5FA6EB4AF3}"/>
              </a:ext>
            </a:extLst>
          </p:cNvPr>
          <p:cNvSpPr txBox="1"/>
          <p:nvPr/>
        </p:nvSpPr>
        <p:spPr>
          <a:xfrm>
            <a:off x="6246395" y="547437"/>
            <a:ext cx="4053417" cy="369332"/>
          </a:xfrm>
          <a:prstGeom prst="rect">
            <a:avLst/>
          </a:prstGeom>
          <a:noFill/>
        </p:spPr>
        <p:txBody>
          <a:bodyPr wrap="none" rtlCol="0">
            <a:spAutoFit/>
          </a:bodyPr>
          <a:lstStyle/>
          <a:p>
            <a:r>
              <a:rPr lang="en-CH" dirty="0"/>
              <a:t>Sensory memory with inhibition = 0.002</a:t>
            </a:r>
          </a:p>
        </p:txBody>
      </p:sp>
      <p:pic>
        <p:nvPicPr>
          <p:cNvPr id="6" name="Picture 5">
            <a:extLst>
              <a:ext uri="{FF2B5EF4-FFF2-40B4-BE49-F238E27FC236}">
                <a16:creationId xmlns:a16="http://schemas.microsoft.com/office/drawing/2014/main" id="{B3F0CF21-7DCA-6D3B-B45E-C37D90F368FC}"/>
              </a:ext>
            </a:extLst>
          </p:cNvPr>
          <p:cNvPicPr>
            <a:picLocks noChangeAspect="1"/>
          </p:cNvPicPr>
          <p:nvPr/>
        </p:nvPicPr>
        <p:blipFill>
          <a:blip r:embed="rId2"/>
          <a:stretch>
            <a:fillRect/>
          </a:stretch>
        </p:blipFill>
        <p:spPr>
          <a:xfrm>
            <a:off x="5658855" y="1003910"/>
            <a:ext cx="5316566" cy="5252511"/>
          </a:xfrm>
          <a:prstGeom prst="rect">
            <a:avLst/>
          </a:prstGeom>
        </p:spPr>
      </p:pic>
      <p:pic>
        <p:nvPicPr>
          <p:cNvPr id="7" name="Picture 6">
            <a:extLst>
              <a:ext uri="{FF2B5EF4-FFF2-40B4-BE49-F238E27FC236}">
                <a16:creationId xmlns:a16="http://schemas.microsoft.com/office/drawing/2014/main" id="{34B2EC4C-5BC5-A710-EA61-BBC0ED73872A}"/>
              </a:ext>
            </a:extLst>
          </p:cNvPr>
          <p:cNvPicPr>
            <a:picLocks noChangeAspect="1"/>
          </p:cNvPicPr>
          <p:nvPr/>
        </p:nvPicPr>
        <p:blipFill>
          <a:blip r:embed="rId3"/>
          <a:stretch>
            <a:fillRect/>
          </a:stretch>
        </p:blipFill>
        <p:spPr>
          <a:xfrm>
            <a:off x="282241" y="1058052"/>
            <a:ext cx="5198144" cy="5041233"/>
          </a:xfrm>
          <a:prstGeom prst="rect">
            <a:avLst/>
          </a:prstGeom>
        </p:spPr>
      </p:pic>
    </p:spTree>
    <p:extLst>
      <p:ext uri="{BB962C8B-B14F-4D97-AF65-F5344CB8AC3E}">
        <p14:creationId xmlns:p14="http://schemas.microsoft.com/office/powerpoint/2010/main" val="329807100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076DC-AE41-6665-CF99-65FD50F0EAF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51D427-23F9-5FAC-3D14-D301329D1209}"/>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0.1</a:t>
            </a:r>
          </a:p>
        </p:txBody>
      </p:sp>
      <p:pic>
        <p:nvPicPr>
          <p:cNvPr id="9" name="Picture 8">
            <a:extLst>
              <a:ext uri="{FF2B5EF4-FFF2-40B4-BE49-F238E27FC236}">
                <a16:creationId xmlns:a16="http://schemas.microsoft.com/office/drawing/2014/main" id="{6619F889-692D-CC14-0848-A645B4C151DA}"/>
              </a:ext>
            </a:extLst>
          </p:cNvPr>
          <p:cNvPicPr>
            <a:picLocks noChangeAspect="1"/>
          </p:cNvPicPr>
          <p:nvPr/>
        </p:nvPicPr>
        <p:blipFill>
          <a:blip r:embed="rId2"/>
          <a:stretch>
            <a:fillRect/>
          </a:stretch>
        </p:blipFill>
        <p:spPr>
          <a:xfrm>
            <a:off x="76701" y="916770"/>
            <a:ext cx="5303455" cy="4184620"/>
          </a:xfrm>
          <a:prstGeom prst="rect">
            <a:avLst/>
          </a:prstGeom>
        </p:spPr>
      </p:pic>
      <p:pic>
        <p:nvPicPr>
          <p:cNvPr id="10" name="Picture 9">
            <a:extLst>
              <a:ext uri="{FF2B5EF4-FFF2-40B4-BE49-F238E27FC236}">
                <a16:creationId xmlns:a16="http://schemas.microsoft.com/office/drawing/2014/main" id="{EA72D78D-0F67-99C3-7B4B-21055C624F8F}"/>
              </a:ext>
            </a:extLst>
          </p:cNvPr>
          <p:cNvPicPr>
            <a:picLocks noChangeAspect="1"/>
          </p:cNvPicPr>
          <p:nvPr/>
        </p:nvPicPr>
        <p:blipFill>
          <a:blip r:embed="rId3"/>
          <a:stretch>
            <a:fillRect/>
          </a:stretch>
        </p:blipFill>
        <p:spPr>
          <a:xfrm>
            <a:off x="5762373" y="124577"/>
            <a:ext cx="6107369" cy="4682040"/>
          </a:xfrm>
          <a:prstGeom prst="rect">
            <a:avLst/>
          </a:prstGeom>
        </p:spPr>
      </p:pic>
      <p:pic>
        <p:nvPicPr>
          <p:cNvPr id="11" name="Picture 10">
            <a:extLst>
              <a:ext uri="{FF2B5EF4-FFF2-40B4-BE49-F238E27FC236}">
                <a16:creationId xmlns:a16="http://schemas.microsoft.com/office/drawing/2014/main" id="{55FF52AC-AFC9-8693-AD25-57C9DB1D5809}"/>
              </a:ext>
            </a:extLst>
          </p:cNvPr>
          <p:cNvPicPr>
            <a:picLocks noChangeAspect="1"/>
          </p:cNvPicPr>
          <p:nvPr/>
        </p:nvPicPr>
        <p:blipFill>
          <a:blip r:embed="rId4"/>
          <a:stretch>
            <a:fillRect/>
          </a:stretch>
        </p:blipFill>
        <p:spPr>
          <a:xfrm>
            <a:off x="7937563" y="3453314"/>
            <a:ext cx="3932179" cy="3280109"/>
          </a:xfrm>
          <a:prstGeom prst="rect">
            <a:avLst/>
          </a:prstGeom>
        </p:spPr>
      </p:pic>
    </p:spTree>
    <p:extLst>
      <p:ext uri="{BB962C8B-B14F-4D97-AF65-F5344CB8AC3E}">
        <p14:creationId xmlns:p14="http://schemas.microsoft.com/office/powerpoint/2010/main" val="254093432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F1936-0B10-A12F-8DC6-6D2FB6B479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986502-5687-0DDE-75F3-38CCE518353C}"/>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0.5</a:t>
            </a:r>
          </a:p>
        </p:txBody>
      </p:sp>
      <p:pic>
        <p:nvPicPr>
          <p:cNvPr id="2" name="Picture 1">
            <a:extLst>
              <a:ext uri="{FF2B5EF4-FFF2-40B4-BE49-F238E27FC236}">
                <a16:creationId xmlns:a16="http://schemas.microsoft.com/office/drawing/2014/main" id="{7F71313F-8369-E3F6-0683-749D43C01E6D}"/>
              </a:ext>
            </a:extLst>
          </p:cNvPr>
          <p:cNvPicPr>
            <a:picLocks noChangeAspect="1"/>
          </p:cNvPicPr>
          <p:nvPr/>
        </p:nvPicPr>
        <p:blipFill>
          <a:blip r:embed="rId2"/>
          <a:stretch>
            <a:fillRect/>
          </a:stretch>
        </p:blipFill>
        <p:spPr>
          <a:xfrm>
            <a:off x="171450" y="916769"/>
            <a:ext cx="5369082" cy="4064305"/>
          </a:xfrm>
          <a:prstGeom prst="rect">
            <a:avLst/>
          </a:prstGeom>
        </p:spPr>
      </p:pic>
      <p:pic>
        <p:nvPicPr>
          <p:cNvPr id="4" name="Picture 3">
            <a:extLst>
              <a:ext uri="{FF2B5EF4-FFF2-40B4-BE49-F238E27FC236}">
                <a16:creationId xmlns:a16="http://schemas.microsoft.com/office/drawing/2014/main" id="{C225AD56-B37C-1049-7948-B030D7C398FA}"/>
              </a:ext>
            </a:extLst>
          </p:cNvPr>
          <p:cNvPicPr>
            <a:picLocks noChangeAspect="1"/>
          </p:cNvPicPr>
          <p:nvPr/>
        </p:nvPicPr>
        <p:blipFill>
          <a:blip r:embed="rId3"/>
          <a:stretch>
            <a:fillRect/>
          </a:stretch>
        </p:blipFill>
        <p:spPr>
          <a:xfrm>
            <a:off x="5819273" y="463466"/>
            <a:ext cx="5705475" cy="4391025"/>
          </a:xfrm>
          <a:prstGeom prst="rect">
            <a:avLst/>
          </a:prstGeom>
        </p:spPr>
      </p:pic>
      <p:pic>
        <p:nvPicPr>
          <p:cNvPr id="5" name="Picture 4">
            <a:extLst>
              <a:ext uri="{FF2B5EF4-FFF2-40B4-BE49-F238E27FC236}">
                <a16:creationId xmlns:a16="http://schemas.microsoft.com/office/drawing/2014/main" id="{6809F332-748B-CF56-249F-DDBEA7C61EEA}"/>
              </a:ext>
            </a:extLst>
          </p:cNvPr>
          <p:cNvPicPr>
            <a:picLocks noChangeAspect="1"/>
          </p:cNvPicPr>
          <p:nvPr/>
        </p:nvPicPr>
        <p:blipFill>
          <a:blip r:embed="rId4"/>
          <a:stretch>
            <a:fillRect/>
          </a:stretch>
        </p:blipFill>
        <p:spPr>
          <a:xfrm>
            <a:off x="8223584" y="3176337"/>
            <a:ext cx="3722474" cy="3097630"/>
          </a:xfrm>
          <a:prstGeom prst="rect">
            <a:avLst/>
          </a:prstGeom>
        </p:spPr>
      </p:pic>
      <p:sp>
        <p:nvSpPr>
          <p:cNvPr id="6" name="TextBox 5">
            <a:extLst>
              <a:ext uri="{FF2B5EF4-FFF2-40B4-BE49-F238E27FC236}">
                <a16:creationId xmlns:a16="http://schemas.microsoft.com/office/drawing/2014/main" id="{9B27CCBF-B36E-2056-0382-EA34B4CF50F3}"/>
              </a:ext>
            </a:extLst>
          </p:cNvPr>
          <p:cNvSpPr txBox="1"/>
          <p:nvPr/>
        </p:nvSpPr>
        <p:spPr>
          <a:xfrm>
            <a:off x="764005" y="5350406"/>
            <a:ext cx="4253163" cy="923330"/>
          </a:xfrm>
          <a:prstGeom prst="rect">
            <a:avLst/>
          </a:prstGeom>
          <a:noFill/>
        </p:spPr>
        <p:txBody>
          <a:bodyPr wrap="square" rtlCol="0">
            <a:spAutoFit/>
          </a:bodyPr>
          <a:lstStyle/>
          <a:p>
            <a:r>
              <a:rPr lang="en-CH" dirty="0"/>
              <a:t>IOR destroys the early cross-over of alpha curves because it reduces the strength of FX at lower set sizes</a:t>
            </a:r>
          </a:p>
        </p:txBody>
      </p:sp>
    </p:spTree>
    <p:extLst>
      <p:ext uri="{BB962C8B-B14F-4D97-AF65-F5344CB8AC3E}">
        <p14:creationId xmlns:p14="http://schemas.microsoft.com/office/powerpoint/2010/main" val="186917302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196316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369460E-88D1-3541-D1BC-F0C2532B2931}"/>
              </a:ext>
            </a:extLst>
          </p:cNvPr>
          <p:cNvPicPr>
            <a:picLocks noChangeAspect="1"/>
          </p:cNvPicPr>
          <p:nvPr/>
        </p:nvPicPr>
        <p:blipFill>
          <a:blip r:embed="rId2"/>
          <a:stretch>
            <a:fillRect/>
          </a:stretch>
        </p:blipFill>
        <p:spPr>
          <a:xfrm>
            <a:off x="613611" y="144379"/>
            <a:ext cx="3776664" cy="3176337"/>
          </a:xfrm>
          <a:prstGeom prst="rect">
            <a:avLst/>
          </a:prstGeom>
        </p:spPr>
      </p:pic>
      <p:pic>
        <p:nvPicPr>
          <p:cNvPr id="3" name="Picture 2">
            <a:extLst>
              <a:ext uri="{FF2B5EF4-FFF2-40B4-BE49-F238E27FC236}">
                <a16:creationId xmlns:a16="http://schemas.microsoft.com/office/drawing/2014/main" id="{A44F44DC-228E-AAA0-2822-2476670E726D}"/>
              </a:ext>
            </a:extLst>
          </p:cNvPr>
          <p:cNvPicPr>
            <a:picLocks noChangeAspect="1"/>
          </p:cNvPicPr>
          <p:nvPr/>
        </p:nvPicPr>
        <p:blipFill>
          <a:blip r:embed="rId3"/>
          <a:stretch>
            <a:fillRect/>
          </a:stretch>
        </p:blipFill>
        <p:spPr>
          <a:xfrm>
            <a:off x="468968" y="3201481"/>
            <a:ext cx="3981345" cy="3512140"/>
          </a:xfrm>
          <a:prstGeom prst="rect">
            <a:avLst/>
          </a:prstGeom>
        </p:spPr>
      </p:pic>
      <p:pic>
        <p:nvPicPr>
          <p:cNvPr id="4" name="Picture 3">
            <a:extLst>
              <a:ext uri="{FF2B5EF4-FFF2-40B4-BE49-F238E27FC236}">
                <a16:creationId xmlns:a16="http://schemas.microsoft.com/office/drawing/2014/main" id="{D22597C2-4CE0-AA5F-04FB-8C023D3C2E69}"/>
              </a:ext>
            </a:extLst>
          </p:cNvPr>
          <p:cNvPicPr>
            <a:picLocks noChangeAspect="1"/>
          </p:cNvPicPr>
          <p:nvPr/>
        </p:nvPicPr>
        <p:blipFill>
          <a:blip r:embed="rId4"/>
          <a:stretch>
            <a:fillRect/>
          </a:stretch>
        </p:blipFill>
        <p:spPr>
          <a:xfrm>
            <a:off x="5495463" y="144379"/>
            <a:ext cx="4228058" cy="3429000"/>
          </a:xfrm>
          <a:prstGeom prst="rect">
            <a:avLst/>
          </a:prstGeom>
        </p:spPr>
      </p:pic>
      <p:pic>
        <p:nvPicPr>
          <p:cNvPr id="5" name="Picture 4">
            <a:extLst>
              <a:ext uri="{FF2B5EF4-FFF2-40B4-BE49-F238E27FC236}">
                <a16:creationId xmlns:a16="http://schemas.microsoft.com/office/drawing/2014/main" id="{AFE764D0-A644-FF80-9C70-57DE68DFBE5D}"/>
              </a:ext>
            </a:extLst>
          </p:cNvPr>
          <p:cNvPicPr>
            <a:picLocks noChangeAspect="1"/>
          </p:cNvPicPr>
          <p:nvPr/>
        </p:nvPicPr>
        <p:blipFill>
          <a:blip r:embed="rId5"/>
          <a:stretch>
            <a:fillRect/>
          </a:stretch>
        </p:blipFill>
        <p:spPr>
          <a:xfrm>
            <a:off x="5618819" y="3620063"/>
            <a:ext cx="3981345" cy="3183795"/>
          </a:xfrm>
          <a:prstGeom prst="rect">
            <a:avLst/>
          </a:prstGeom>
        </p:spPr>
      </p:pic>
    </p:spTree>
    <p:extLst>
      <p:ext uri="{BB962C8B-B14F-4D97-AF65-F5344CB8AC3E}">
        <p14:creationId xmlns:p14="http://schemas.microsoft.com/office/powerpoint/2010/main" val="7918540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114312</TotalTime>
  <Words>1146</Words>
  <Application>Microsoft Office PowerPoint</Application>
  <PresentationFormat>Widescreen</PresentationFormat>
  <Paragraphs>87</Paragraphs>
  <Slides>138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138</vt:i4>
      </vt:variant>
    </vt:vector>
  </HeadingPairs>
  <TitlesOfParts>
    <vt:vector size="143"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277</cp:revision>
  <dcterms:created xsi:type="dcterms:W3CDTF">2024-08-13T19:20:17Z</dcterms:created>
  <dcterms:modified xsi:type="dcterms:W3CDTF">2026-07-24T13:43:59Z</dcterms:modified>
</cp:coreProperties>
</file>
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96" r:id="rId115"/>
    <p:sldId id="505" r:id="rId116"/>
    <p:sldId id="478" r:id="rId117"/>
    <p:sldId id="480" r:id="rId118"/>
    <p:sldId id="481" r:id="rId119"/>
    <p:sldId id="498" r:id="rId120"/>
    <p:sldId id="485" r:id="rId121"/>
    <p:sldId id="495" r:id="rId122"/>
    <p:sldId id="497" r:id="rId123"/>
    <p:sldId id="490" r:id="rId124"/>
    <p:sldId id="491" r:id="rId125"/>
    <p:sldId id="492" r:id="rId126"/>
    <p:sldId id="499" r:id="rId127"/>
    <p:sldId id="500" r:id="rId128"/>
    <p:sldId id="501" r:id="rId129"/>
    <p:sldId id="504" r:id="rId130"/>
    <p:sldId id="503" r:id="rId131"/>
    <p:sldId id="502" r:id="rId132"/>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5" autoAdjust="0"/>
    <p:restoredTop sz="94660"/>
  </p:normalViewPr>
  <p:slideViewPr>
    <p:cSldViewPr snapToGrid="0">
      <p:cViewPr varScale="1">
        <p:scale>
          <a:sx n="88" d="100"/>
          <a:sy n="88" d="100"/>
        </p:scale>
        <p:origin x="213" y="5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13" Type="http://schemas.openxmlformats.org/officeDocument/2006/relationships/slide" Target="slides/slide112.xml"/><Relationship Id="rId118" Type="http://schemas.openxmlformats.org/officeDocument/2006/relationships/slide" Target="slides/slide117.xml"/><Relationship Id="rId126" Type="http://schemas.openxmlformats.org/officeDocument/2006/relationships/slide" Target="slides/slide125.xml"/><Relationship Id="rId134"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slide" Target="slides/slide12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slide" Target="slides/slide13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83.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image" Target="../media/image119.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2.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8.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image" Target="../media/image145.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7.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8.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image" Target="../media/image153.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image" Target="../media/image156.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image" Target="../media/image159.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161.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image" Target="../media/image162.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164.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166.png"/><Relationship Id="rId2" Type="http://schemas.openxmlformats.org/officeDocument/2006/relationships/image" Target="../media/image165.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168.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image" Target="../media/image169.pn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987879" y="54428"/>
            <a:ext cx="5538107"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261258" y="283029"/>
            <a:ext cx="1219199" cy="923330"/>
          </a:xfrm>
          <a:prstGeom prst="rect">
            <a:avLst/>
          </a:prstGeom>
          <a:noFill/>
        </p:spPr>
        <p:txBody>
          <a:bodyPr wrap="square" rtlCol="0">
            <a:spAutoFit/>
          </a:bodyPr>
          <a:lstStyle/>
          <a:p>
            <a:r>
              <a:rPr lang="en-CH" dirty="0"/>
              <a:t>With </a:t>
            </a:r>
            <a:r>
              <a:rPr lang="en-CH" dirty="0" err="1"/>
              <a:t>p.wnoise</a:t>
            </a:r>
            <a:r>
              <a:rPr lang="en-CH" dirty="0"/>
              <a:t> = 0.03</a:t>
            </a:r>
          </a:p>
        </p:txBody>
      </p:sp>
      <p:pic>
        <p:nvPicPr>
          <p:cNvPr id="4" name="Picture 3">
            <a:extLst>
              <a:ext uri="{FF2B5EF4-FFF2-40B4-BE49-F238E27FC236}">
                <a16:creationId xmlns:a16="http://schemas.microsoft.com/office/drawing/2014/main" id="{D5717519-7E19-5082-0A0B-E9D11AC06009}"/>
              </a:ext>
            </a:extLst>
          </p:cNvPr>
          <p:cNvPicPr>
            <a:picLocks noChangeAspect="1"/>
          </p:cNvPicPr>
          <p:nvPr/>
        </p:nvPicPr>
        <p:blipFill>
          <a:blip r:embed="rId3"/>
          <a:stretch>
            <a:fillRect/>
          </a:stretch>
        </p:blipFill>
        <p:spPr>
          <a:xfrm>
            <a:off x="6530163" y="-141514"/>
            <a:ext cx="5661837" cy="6858000"/>
          </a:xfrm>
          <a:prstGeom prst="rect">
            <a:avLst/>
          </a:prstGeom>
        </p:spPr>
      </p:pic>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pic>
        <p:nvPicPr>
          <p:cNvPr id="4" name="Picture 3">
            <a:extLst>
              <a:ext uri="{FF2B5EF4-FFF2-40B4-BE49-F238E27FC236}">
                <a16:creationId xmlns:a16="http://schemas.microsoft.com/office/drawing/2014/main" id="{A2623FBB-E132-87E1-3555-B1F9650C871D}"/>
              </a:ext>
            </a:extLst>
          </p:cNvPr>
          <p:cNvPicPr>
            <a:picLocks noChangeAspect="1"/>
          </p:cNvPicPr>
          <p:nvPr/>
        </p:nvPicPr>
        <p:blipFill>
          <a:blip r:embed="rId3"/>
          <a:stretch>
            <a:fillRect/>
          </a:stretch>
        </p:blipFill>
        <p:spPr>
          <a:xfrm>
            <a:off x="179614" y="1813967"/>
            <a:ext cx="6288318" cy="4613264"/>
          </a:xfrm>
          <a:prstGeom prst="rect">
            <a:avLst/>
          </a:prstGeom>
        </p:spPr>
      </p:pic>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5" name="Picture 4">
            <a:extLst>
              <a:ext uri="{FF2B5EF4-FFF2-40B4-BE49-F238E27FC236}">
                <a16:creationId xmlns:a16="http://schemas.microsoft.com/office/drawing/2014/main" id="{2EC3CB25-08C4-53CB-90CB-A075F8399190}"/>
              </a:ext>
            </a:extLst>
          </p:cNvPr>
          <p:cNvPicPr>
            <a:picLocks noChangeAspect="1"/>
          </p:cNvPicPr>
          <p:nvPr/>
        </p:nvPicPr>
        <p:blipFill>
          <a:blip r:embed="rId2"/>
          <a:stretch>
            <a:fillRect/>
          </a:stretch>
        </p:blipFill>
        <p:spPr>
          <a:xfrm>
            <a:off x="5347103" y="847717"/>
            <a:ext cx="6893883" cy="5595256"/>
          </a:xfrm>
          <a:prstGeom prst="rect">
            <a:avLst/>
          </a:prstGeom>
        </p:spPr>
      </p:pic>
      <p:pic>
        <p:nvPicPr>
          <p:cNvPr id="7" name="Picture 6">
            <a:extLst>
              <a:ext uri="{FF2B5EF4-FFF2-40B4-BE49-F238E27FC236}">
                <a16:creationId xmlns:a16="http://schemas.microsoft.com/office/drawing/2014/main" id="{42EB7E8F-9FDF-BADD-508A-E877F6489EC4}"/>
              </a:ext>
            </a:extLst>
          </p:cNvPr>
          <p:cNvPicPr>
            <a:picLocks noChangeAspect="1"/>
          </p:cNvPicPr>
          <p:nvPr/>
        </p:nvPicPr>
        <p:blipFill>
          <a:blip r:embed="rId3"/>
          <a:stretch>
            <a:fillRect/>
          </a:stretch>
        </p:blipFill>
        <p:spPr>
          <a:xfrm>
            <a:off x="-70287" y="838200"/>
            <a:ext cx="5850601" cy="5342523"/>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25B00A-B6F8-94DA-90A5-BC461C306F45}"/>
              </a:ext>
            </a:extLst>
          </p:cNvPr>
          <p:cNvPicPr>
            <a:picLocks noChangeAspect="1"/>
          </p:cNvPicPr>
          <p:nvPr/>
        </p:nvPicPr>
        <p:blipFill>
          <a:blip r:embed="rId2"/>
          <a:stretch>
            <a:fillRect/>
          </a:stretch>
        </p:blipFill>
        <p:spPr>
          <a:xfrm>
            <a:off x="1503734" y="0"/>
            <a:ext cx="918453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696B95-2DE0-4E7E-24E3-813CAC86ADDA}"/>
              </a:ext>
            </a:extLst>
          </p:cNvPr>
          <p:cNvPicPr>
            <a:picLocks noChangeAspect="1"/>
          </p:cNvPicPr>
          <p:nvPr/>
        </p:nvPicPr>
        <p:blipFill>
          <a:blip r:embed="rId2"/>
          <a:stretch>
            <a:fillRect/>
          </a:stretch>
        </p:blipFill>
        <p:spPr>
          <a:xfrm>
            <a:off x="3990081" y="-38100"/>
            <a:ext cx="6965923" cy="6858000"/>
          </a:xfrm>
          <a:prstGeom prst="rect">
            <a:avLst/>
          </a:prstGeom>
        </p:spPr>
      </p:pic>
      <p:sp>
        <p:nvSpPr>
          <p:cNvPr id="3" name="TextBox 2">
            <a:extLst>
              <a:ext uri="{FF2B5EF4-FFF2-40B4-BE49-F238E27FC236}">
                <a16:creationId xmlns:a16="http://schemas.microsoft.com/office/drawing/2014/main" id="{DAAE7E75-12BD-BBCB-CFD7-ADF15A59B045}"/>
              </a:ext>
            </a:extLst>
          </p:cNvPr>
          <p:cNvSpPr txBox="1"/>
          <p:nvPr/>
        </p:nvSpPr>
        <p:spPr>
          <a:xfrm>
            <a:off x="386444" y="805543"/>
            <a:ext cx="3603638" cy="4801314"/>
          </a:xfrm>
          <a:prstGeom prst="rect">
            <a:avLst/>
          </a:prstGeom>
          <a:noFill/>
        </p:spPr>
        <p:txBody>
          <a:bodyPr wrap="square" rtlCol="0">
            <a:spAutoFit/>
          </a:bodyPr>
          <a:lstStyle/>
          <a:p>
            <a:r>
              <a:rPr lang="en-CH" dirty="0"/>
              <a:t>After increasing boundary(1) to 70: There is still a headstart benefit – what causes it? Performance without mechanism became poorer by the raised boundary?!</a:t>
            </a:r>
          </a:p>
          <a:p>
            <a:r>
              <a:rPr lang="en-CH" dirty="0"/>
              <a:t>Why is adding visual interference beneficial with valid cue rather than harmful with neutral cue?</a:t>
            </a:r>
          </a:p>
          <a:p>
            <a:endParaRPr lang="en-CH" dirty="0"/>
          </a:p>
          <a:p>
            <a:r>
              <a:rPr lang="en-CH" dirty="0"/>
              <a:t>The headstart benefit might come from the fact that with CSI&gt;0, retrieval occurs before the test display. Even when filter = 0 (no </a:t>
            </a:r>
            <a:r>
              <a:rPr lang="en-CH" dirty="0" err="1"/>
              <a:t>colorwheel</a:t>
            </a:r>
            <a:r>
              <a:rPr lang="en-CH" dirty="0"/>
              <a:t> intrusion), the FX is erased at this point (completely because </a:t>
            </a:r>
            <a:r>
              <a:rPr lang="en-CH" dirty="0" err="1"/>
              <a:t>P.eraseFX</a:t>
            </a:r>
            <a:r>
              <a:rPr lang="en-CH" dirty="0"/>
              <a:t> = 0), so retrieval with CSI=0 does not benefit from FX</a:t>
            </a:r>
          </a:p>
        </p:txBody>
      </p:sp>
    </p:spTree>
    <p:extLst>
      <p:ext uri="{BB962C8B-B14F-4D97-AF65-F5344CB8AC3E}">
        <p14:creationId xmlns:p14="http://schemas.microsoft.com/office/powerpoint/2010/main" val="28570305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D657259-5F7F-6D1C-ABC3-DFCB2B2878E4}"/>
              </a:ext>
            </a:extLst>
          </p:cNvPr>
          <p:cNvPicPr>
            <a:picLocks noChangeAspect="1"/>
          </p:cNvPicPr>
          <p:nvPr/>
        </p:nvPicPr>
        <p:blipFill>
          <a:blip r:embed="rId2"/>
          <a:stretch>
            <a:fillRect/>
          </a:stretch>
        </p:blipFill>
        <p:spPr>
          <a:xfrm>
            <a:off x="264014" y="1017813"/>
            <a:ext cx="6169701" cy="4849587"/>
          </a:xfrm>
          <a:prstGeom prst="rect">
            <a:avLst/>
          </a:prstGeom>
        </p:spPr>
      </p:pic>
      <p:sp>
        <p:nvSpPr>
          <p:cNvPr id="3" name="TextBox 2">
            <a:extLst>
              <a:ext uri="{FF2B5EF4-FFF2-40B4-BE49-F238E27FC236}">
                <a16:creationId xmlns:a16="http://schemas.microsoft.com/office/drawing/2014/main" id="{FC3372CF-71FA-E64D-BD92-AB7CBF39A9AF}"/>
              </a:ext>
            </a:extLst>
          </p:cNvPr>
          <p:cNvSpPr txBox="1"/>
          <p:nvPr/>
        </p:nvSpPr>
        <p:spPr>
          <a:xfrm>
            <a:off x="468086" y="359229"/>
            <a:ext cx="10858499" cy="369332"/>
          </a:xfrm>
          <a:prstGeom prst="rect">
            <a:avLst/>
          </a:prstGeom>
          <a:noFill/>
        </p:spPr>
        <p:txBody>
          <a:bodyPr wrap="square" rtlCol="0">
            <a:spAutoFit/>
          </a:bodyPr>
          <a:lstStyle/>
          <a:p>
            <a:r>
              <a:rPr lang="en-CH" dirty="0"/>
              <a:t>After fixing that issue by erasing FX in the conditions with other mechanisms (and using boundary = 30)</a:t>
            </a:r>
          </a:p>
        </p:txBody>
      </p:sp>
      <p:pic>
        <p:nvPicPr>
          <p:cNvPr id="4" name="Picture 3">
            <a:extLst>
              <a:ext uri="{FF2B5EF4-FFF2-40B4-BE49-F238E27FC236}">
                <a16:creationId xmlns:a16="http://schemas.microsoft.com/office/drawing/2014/main" id="{87057586-964B-A93D-F678-08ED740BB72C}"/>
              </a:ext>
            </a:extLst>
          </p:cNvPr>
          <p:cNvPicPr>
            <a:picLocks noChangeAspect="1"/>
          </p:cNvPicPr>
          <p:nvPr/>
        </p:nvPicPr>
        <p:blipFill>
          <a:blip r:embed="rId3"/>
          <a:stretch>
            <a:fillRect/>
          </a:stretch>
        </p:blipFill>
        <p:spPr>
          <a:xfrm>
            <a:off x="5813883" y="1694196"/>
            <a:ext cx="6256839" cy="4924318"/>
          </a:xfrm>
          <a:prstGeom prst="rect">
            <a:avLst/>
          </a:prstGeom>
        </p:spPr>
      </p:pic>
    </p:spTree>
    <p:extLst>
      <p:ext uri="{BB962C8B-B14F-4D97-AF65-F5344CB8AC3E}">
        <p14:creationId xmlns:p14="http://schemas.microsoft.com/office/powerpoint/2010/main" val="196246385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
        <p:nvSpPr>
          <p:cNvPr id="4" name="TextBox 3">
            <a:extLst>
              <a:ext uri="{FF2B5EF4-FFF2-40B4-BE49-F238E27FC236}">
                <a16:creationId xmlns:a16="http://schemas.microsoft.com/office/drawing/2014/main" id="{BCFC8C8F-D115-0CFB-9FE5-D08905A5E76B}"/>
              </a:ext>
            </a:extLst>
          </p:cNvPr>
          <p:cNvSpPr txBox="1"/>
          <p:nvPr/>
        </p:nvSpPr>
        <p:spPr>
          <a:xfrm>
            <a:off x="7010400" y="707571"/>
            <a:ext cx="1911805" cy="369332"/>
          </a:xfrm>
          <a:prstGeom prst="rect">
            <a:avLst/>
          </a:prstGeom>
          <a:noFill/>
        </p:spPr>
        <p:txBody>
          <a:bodyPr wrap="none" rtlCol="0">
            <a:spAutoFit/>
          </a:bodyPr>
          <a:lstStyle/>
          <a:p>
            <a:r>
              <a:rPr lang="en-CH" dirty="0"/>
              <a:t>With filter(2) = 0.1</a:t>
            </a:r>
          </a:p>
        </p:txBody>
      </p:sp>
    </p:spTree>
    <p:extLst>
      <p:ext uri="{BB962C8B-B14F-4D97-AF65-F5344CB8AC3E}">
        <p14:creationId xmlns:p14="http://schemas.microsoft.com/office/powerpoint/2010/main" val="7025412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EB47F-DB6E-5E0C-E4E4-352A23F09DC3}"/>
              </a:ext>
            </a:extLst>
          </p:cNvPr>
          <p:cNvPicPr>
            <a:picLocks noChangeAspect="1"/>
          </p:cNvPicPr>
          <p:nvPr/>
        </p:nvPicPr>
        <p:blipFill>
          <a:blip r:embed="rId2"/>
          <a:stretch>
            <a:fillRect/>
          </a:stretch>
        </p:blipFill>
        <p:spPr>
          <a:xfrm>
            <a:off x="466371" y="152400"/>
            <a:ext cx="5047244" cy="4198733"/>
          </a:xfrm>
          <a:prstGeom prst="rect">
            <a:avLst/>
          </a:prstGeom>
        </p:spPr>
      </p:pic>
      <p:sp>
        <p:nvSpPr>
          <p:cNvPr id="3" name="TextBox 2">
            <a:extLst>
              <a:ext uri="{FF2B5EF4-FFF2-40B4-BE49-F238E27FC236}">
                <a16:creationId xmlns:a16="http://schemas.microsoft.com/office/drawing/2014/main" id="{DA53AF96-D2CC-6E8D-79BF-307AFEC14F28}"/>
              </a:ext>
            </a:extLst>
          </p:cNvPr>
          <p:cNvSpPr txBox="1"/>
          <p:nvPr/>
        </p:nvSpPr>
        <p:spPr>
          <a:xfrm>
            <a:off x="7010401" y="707571"/>
            <a:ext cx="4620986" cy="646331"/>
          </a:xfrm>
          <a:prstGeom prst="rect">
            <a:avLst/>
          </a:prstGeom>
          <a:noFill/>
        </p:spPr>
        <p:txBody>
          <a:bodyPr wrap="square" rtlCol="0">
            <a:spAutoFit/>
          </a:bodyPr>
          <a:lstStyle/>
          <a:p>
            <a:r>
              <a:rPr lang="en-CH" dirty="0"/>
              <a:t>With filter(2) = 0.1 and </a:t>
            </a:r>
            <a:r>
              <a:rPr lang="en-CH" dirty="0" err="1"/>
              <a:t>dnoise</a:t>
            </a:r>
            <a:r>
              <a:rPr lang="en-CH" dirty="0"/>
              <a:t> increased (from 1.5) to 3</a:t>
            </a:r>
          </a:p>
        </p:txBody>
      </p:sp>
      <p:pic>
        <p:nvPicPr>
          <p:cNvPr id="4" name="Picture 3">
            <a:extLst>
              <a:ext uri="{FF2B5EF4-FFF2-40B4-BE49-F238E27FC236}">
                <a16:creationId xmlns:a16="http://schemas.microsoft.com/office/drawing/2014/main" id="{EBC6F44B-E9E4-B9A4-B854-1DE8AB303E3F}"/>
              </a:ext>
            </a:extLst>
          </p:cNvPr>
          <p:cNvPicPr>
            <a:picLocks noChangeAspect="1"/>
          </p:cNvPicPr>
          <p:nvPr/>
        </p:nvPicPr>
        <p:blipFill>
          <a:blip r:embed="rId3"/>
          <a:stretch>
            <a:fillRect/>
          </a:stretch>
        </p:blipFill>
        <p:spPr>
          <a:xfrm>
            <a:off x="5558892" y="1605643"/>
            <a:ext cx="6208567" cy="4740727"/>
          </a:xfrm>
          <a:prstGeom prst="rect">
            <a:avLst/>
          </a:prstGeom>
        </p:spPr>
      </p:pic>
    </p:spTree>
    <p:extLst>
      <p:ext uri="{BB962C8B-B14F-4D97-AF65-F5344CB8AC3E}">
        <p14:creationId xmlns:p14="http://schemas.microsoft.com/office/powerpoint/2010/main" val="1444395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
        <p:nvSpPr>
          <p:cNvPr id="3" name="TextBox 2">
            <a:extLst>
              <a:ext uri="{FF2B5EF4-FFF2-40B4-BE49-F238E27FC236}">
                <a16:creationId xmlns:a16="http://schemas.microsoft.com/office/drawing/2014/main" id="{35942FEC-7B2A-EE61-E3DC-D15884A6551C}"/>
              </a:ext>
            </a:extLst>
          </p:cNvPr>
          <p:cNvSpPr txBox="1"/>
          <p:nvPr/>
        </p:nvSpPr>
        <p:spPr>
          <a:xfrm>
            <a:off x="310243" y="370113"/>
            <a:ext cx="1321196" cy="369332"/>
          </a:xfrm>
          <a:prstGeom prst="rect">
            <a:avLst/>
          </a:prstGeom>
          <a:noFill/>
        </p:spPr>
        <p:txBody>
          <a:bodyPr wrap="none" rtlCol="0">
            <a:spAutoFit/>
          </a:bodyPr>
          <a:lstStyle/>
          <a:p>
            <a:r>
              <a:rPr lang="en-CH" dirty="0" err="1"/>
              <a:t>dnoise</a:t>
            </a:r>
            <a:r>
              <a:rPr lang="en-CH" dirty="0"/>
              <a:t> = 1.5</a:t>
            </a:r>
          </a:p>
        </p:txBody>
      </p:sp>
    </p:spTree>
    <p:extLst>
      <p:ext uri="{BB962C8B-B14F-4D97-AF65-F5344CB8AC3E}">
        <p14:creationId xmlns:p14="http://schemas.microsoft.com/office/powerpoint/2010/main" val="218652281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312991" y="76189"/>
            <a:ext cx="5771734" cy="5519056"/>
          </a:xfrm>
          <a:prstGeom prst="rect">
            <a:avLst/>
          </a:prstGeom>
        </p:spPr>
      </p:pic>
      <p:pic>
        <p:nvPicPr>
          <p:cNvPr id="3" name="Picture 2">
            <a:extLst>
              <a:ext uri="{FF2B5EF4-FFF2-40B4-BE49-F238E27FC236}">
                <a16:creationId xmlns:a16="http://schemas.microsoft.com/office/drawing/2014/main" id="{74F64AD2-C343-1302-64EF-BF9874BBBFDE}"/>
              </a:ext>
            </a:extLst>
          </p:cNvPr>
          <p:cNvPicPr>
            <a:picLocks noChangeAspect="1"/>
          </p:cNvPicPr>
          <p:nvPr/>
        </p:nvPicPr>
        <p:blipFill>
          <a:blip r:embed="rId3"/>
          <a:stretch>
            <a:fillRect/>
          </a:stretch>
        </p:blipFill>
        <p:spPr>
          <a:xfrm>
            <a:off x="5840183" y="21759"/>
            <a:ext cx="6564086" cy="5573486"/>
          </a:xfrm>
          <a:prstGeom prst="rect">
            <a:avLst/>
          </a:prstGeom>
        </p:spPr>
      </p:pic>
      <p:sp>
        <p:nvSpPr>
          <p:cNvPr id="4" name="TextBox 3">
            <a:extLst>
              <a:ext uri="{FF2B5EF4-FFF2-40B4-BE49-F238E27FC236}">
                <a16:creationId xmlns:a16="http://schemas.microsoft.com/office/drawing/2014/main" id="{CE081CA2-D209-C115-EDB4-84842F7BEF0E}"/>
              </a:ext>
            </a:extLst>
          </p:cNvPr>
          <p:cNvSpPr txBox="1"/>
          <p:nvPr/>
        </p:nvSpPr>
        <p:spPr>
          <a:xfrm>
            <a:off x="696685" y="5747658"/>
            <a:ext cx="11217728" cy="923330"/>
          </a:xfrm>
          <a:prstGeom prst="rect">
            <a:avLst/>
          </a:prstGeom>
          <a:noFill/>
        </p:spPr>
        <p:txBody>
          <a:bodyPr wrap="square" rtlCol="0">
            <a:spAutoFit/>
          </a:bodyPr>
          <a:lstStyle/>
          <a:p>
            <a:r>
              <a:rPr lang="en-CH" dirty="0"/>
              <a:t>Why is ABA not better than CBA, but 2 </a:t>
            </a:r>
            <a:r>
              <a:rPr lang="en-CH" dirty="0" err="1"/>
              <a:t>refreshings</a:t>
            </a:r>
            <a:r>
              <a:rPr lang="en-CH" dirty="0"/>
              <a:t> &gt; 1 refreshing? Probably because the 1-refreshing items suffer competition from the 2-refreshing item (they are hardly better than no-cue control when refreshed last, whereas CBA is much better than None)</a:t>
            </a:r>
          </a:p>
        </p:txBody>
      </p:sp>
    </p:spTree>
    <p:extLst>
      <p:ext uri="{BB962C8B-B14F-4D97-AF65-F5344CB8AC3E}">
        <p14:creationId xmlns:p14="http://schemas.microsoft.com/office/powerpoint/2010/main" val="347047564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2EAA46-D158-43FA-8246-B924D9DE9CDF}"/>
              </a:ext>
            </a:extLst>
          </p:cNvPr>
          <p:cNvPicPr>
            <a:picLocks noChangeAspect="1"/>
          </p:cNvPicPr>
          <p:nvPr/>
        </p:nvPicPr>
        <p:blipFill>
          <a:blip r:embed="rId2"/>
          <a:stretch>
            <a:fillRect/>
          </a:stretch>
        </p:blipFill>
        <p:spPr>
          <a:xfrm>
            <a:off x="2538775" y="669471"/>
            <a:ext cx="8243525" cy="5741389"/>
          </a:xfrm>
          <a:prstGeom prst="rect">
            <a:avLst/>
          </a:prstGeom>
        </p:spPr>
      </p:pic>
      <p:sp>
        <p:nvSpPr>
          <p:cNvPr id="3" name="TextBox 2">
            <a:extLst>
              <a:ext uri="{FF2B5EF4-FFF2-40B4-BE49-F238E27FC236}">
                <a16:creationId xmlns:a16="http://schemas.microsoft.com/office/drawing/2014/main" id="{D5B69404-487B-A201-57A6-FE6E71B40D07}"/>
              </a:ext>
            </a:extLst>
          </p:cNvPr>
          <p:cNvSpPr txBox="1"/>
          <p:nvPr/>
        </p:nvSpPr>
        <p:spPr>
          <a:xfrm>
            <a:off x="310243" y="370113"/>
            <a:ext cx="3080330" cy="369332"/>
          </a:xfrm>
          <a:prstGeom prst="rect">
            <a:avLst/>
          </a:prstGeom>
          <a:noFill/>
        </p:spPr>
        <p:txBody>
          <a:bodyPr wrap="none" rtlCol="0">
            <a:spAutoFit/>
          </a:bodyPr>
          <a:lstStyle/>
          <a:p>
            <a:r>
              <a:rPr lang="en-CH" dirty="0"/>
              <a:t>increasing </a:t>
            </a:r>
            <a:r>
              <a:rPr lang="en-CH" dirty="0" err="1"/>
              <a:t>dnoise</a:t>
            </a:r>
            <a:r>
              <a:rPr lang="en-CH" dirty="0"/>
              <a:t> from 1.5 to 3</a:t>
            </a:r>
          </a:p>
        </p:txBody>
      </p:sp>
    </p:spTree>
    <p:extLst>
      <p:ext uri="{BB962C8B-B14F-4D97-AF65-F5344CB8AC3E}">
        <p14:creationId xmlns:p14="http://schemas.microsoft.com/office/powerpoint/2010/main" val="325149240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7F1DB54-571D-0AB7-6A21-A848EFEE4173}"/>
              </a:ext>
            </a:extLst>
          </p:cNvPr>
          <p:cNvPicPr>
            <a:picLocks noChangeAspect="1"/>
          </p:cNvPicPr>
          <p:nvPr/>
        </p:nvPicPr>
        <p:blipFill>
          <a:blip r:embed="rId2"/>
          <a:stretch>
            <a:fillRect/>
          </a:stretch>
        </p:blipFill>
        <p:spPr>
          <a:xfrm>
            <a:off x="4282357" y="582385"/>
            <a:ext cx="7082330" cy="5793013"/>
          </a:xfrm>
          <a:prstGeom prst="rect">
            <a:avLst/>
          </a:prstGeom>
        </p:spPr>
      </p:pic>
      <p:sp>
        <p:nvSpPr>
          <p:cNvPr id="3" name="TextBox 2">
            <a:extLst>
              <a:ext uri="{FF2B5EF4-FFF2-40B4-BE49-F238E27FC236}">
                <a16:creationId xmlns:a16="http://schemas.microsoft.com/office/drawing/2014/main" id="{DD5483EC-4F99-A4CA-CA14-63B263F74CE8}"/>
              </a:ext>
            </a:extLst>
          </p:cNvPr>
          <p:cNvSpPr txBox="1"/>
          <p:nvPr/>
        </p:nvSpPr>
        <p:spPr>
          <a:xfrm>
            <a:off x="457200" y="723900"/>
            <a:ext cx="2188029" cy="1200329"/>
          </a:xfrm>
          <a:prstGeom prst="rect">
            <a:avLst/>
          </a:prstGeom>
          <a:noFill/>
        </p:spPr>
        <p:txBody>
          <a:bodyPr wrap="square" rtlCol="0">
            <a:spAutoFit/>
          </a:bodyPr>
          <a:lstStyle/>
          <a:p>
            <a:r>
              <a:rPr lang="en-CH" dirty="0"/>
              <a:t>Pre-cue after revision: boost to strength of encoding into FX</a:t>
            </a:r>
          </a:p>
        </p:txBody>
      </p:sp>
    </p:spTree>
    <p:extLst>
      <p:ext uri="{BB962C8B-B14F-4D97-AF65-F5344CB8AC3E}">
        <p14:creationId xmlns:p14="http://schemas.microsoft.com/office/powerpoint/2010/main" val="341359200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C1FA86-11FE-B0A8-0167-DC528FEDE9D2}"/>
              </a:ext>
            </a:extLst>
          </p:cNvPr>
          <p:cNvPicPr>
            <a:picLocks noChangeAspect="1"/>
          </p:cNvPicPr>
          <p:nvPr/>
        </p:nvPicPr>
        <p:blipFill>
          <a:blip r:embed="rId2"/>
          <a:stretch>
            <a:fillRect/>
          </a:stretch>
        </p:blipFill>
        <p:spPr>
          <a:xfrm>
            <a:off x="2728846" y="233056"/>
            <a:ext cx="7415443" cy="6260273"/>
          </a:xfrm>
          <a:prstGeom prst="rect">
            <a:avLst/>
          </a:prstGeom>
        </p:spPr>
      </p:pic>
    </p:spTree>
    <p:extLst>
      <p:ext uri="{BB962C8B-B14F-4D97-AF65-F5344CB8AC3E}">
        <p14:creationId xmlns:p14="http://schemas.microsoft.com/office/powerpoint/2010/main" val="19569147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1247ED6-319F-371F-9D8C-92D3AF284DC1}"/>
              </a:ext>
            </a:extLst>
          </p:cNvPr>
          <p:cNvPicPr>
            <a:picLocks noChangeAspect="1"/>
          </p:cNvPicPr>
          <p:nvPr/>
        </p:nvPicPr>
        <p:blipFill>
          <a:blip r:embed="rId2"/>
          <a:stretch>
            <a:fillRect/>
          </a:stretch>
        </p:blipFill>
        <p:spPr>
          <a:xfrm>
            <a:off x="277585" y="1279762"/>
            <a:ext cx="6351816" cy="4659848"/>
          </a:xfrm>
          <a:prstGeom prst="rect">
            <a:avLst/>
          </a:prstGeom>
        </p:spPr>
      </p:pic>
      <p:sp>
        <p:nvSpPr>
          <p:cNvPr id="3" name="TextBox 2">
            <a:extLst>
              <a:ext uri="{FF2B5EF4-FFF2-40B4-BE49-F238E27FC236}">
                <a16:creationId xmlns:a16="http://schemas.microsoft.com/office/drawing/2014/main" id="{B3BE5121-31B2-9244-2CD6-768F65BFCB9C}"/>
              </a:ext>
            </a:extLst>
          </p:cNvPr>
          <p:cNvSpPr txBox="1"/>
          <p:nvPr/>
        </p:nvSpPr>
        <p:spPr>
          <a:xfrm>
            <a:off x="424543" y="680357"/>
            <a:ext cx="11217728" cy="369332"/>
          </a:xfrm>
          <a:prstGeom prst="rect">
            <a:avLst/>
          </a:prstGeom>
          <a:noFill/>
        </p:spPr>
        <p:txBody>
          <a:bodyPr wrap="square" rtlCol="0">
            <a:spAutoFit/>
          </a:bodyPr>
          <a:lstStyle/>
          <a:p>
            <a:r>
              <a:rPr lang="en-CH" dirty="0"/>
              <a:t>After letting only 1 retrieval happen, either upon retro cue or upon test (i.e., removing the second retrieval at test)</a:t>
            </a:r>
          </a:p>
        </p:txBody>
      </p:sp>
      <p:pic>
        <p:nvPicPr>
          <p:cNvPr id="4" name="Picture 3">
            <a:extLst>
              <a:ext uri="{FF2B5EF4-FFF2-40B4-BE49-F238E27FC236}">
                <a16:creationId xmlns:a16="http://schemas.microsoft.com/office/drawing/2014/main" id="{0C73C3D0-4545-007A-ADA2-6D405C545474}"/>
              </a:ext>
            </a:extLst>
          </p:cNvPr>
          <p:cNvPicPr>
            <a:picLocks noChangeAspect="1"/>
          </p:cNvPicPr>
          <p:nvPr/>
        </p:nvPicPr>
        <p:blipFill>
          <a:blip r:embed="rId3"/>
          <a:stretch>
            <a:fillRect/>
          </a:stretch>
        </p:blipFill>
        <p:spPr>
          <a:xfrm>
            <a:off x="6380994" y="1219200"/>
            <a:ext cx="5811045" cy="4659848"/>
          </a:xfrm>
          <a:prstGeom prst="rect">
            <a:avLst/>
          </a:prstGeom>
        </p:spPr>
      </p:pic>
    </p:spTree>
    <p:extLst>
      <p:ext uri="{BB962C8B-B14F-4D97-AF65-F5344CB8AC3E}">
        <p14:creationId xmlns:p14="http://schemas.microsoft.com/office/powerpoint/2010/main" val="141436796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DEB4D1-4942-FF8C-4983-1FA72D8342F6}"/>
              </a:ext>
            </a:extLst>
          </p:cNvPr>
          <p:cNvSpPr txBox="1"/>
          <p:nvPr/>
        </p:nvSpPr>
        <p:spPr>
          <a:xfrm>
            <a:off x="685800" y="838200"/>
            <a:ext cx="4190827" cy="369332"/>
          </a:xfrm>
          <a:prstGeom prst="rect">
            <a:avLst/>
          </a:prstGeom>
          <a:noFill/>
        </p:spPr>
        <p:txBody>
          <a:bodyPr wrap="none" rtlCol="0">
            <a:spAutoFit/>
          </a:bodyPr>
          <a:lstStyle/>
          <a:p>
            <a:r>
              <a:rPr lang="en-CH" dirty="0"/>
              <a:t>rolling back that change did not help much</a:t>
            </a:r>
          </a:p>
        </p:txBody>
      </p:sp>
      <p:pic>
        <p:nvPicPr>
          <p:cNvPr id="3" name="Picture 2">
            <a:extLst>
              <a:ext uri="{FF2B5EF4-FFF2-40B4-BE49-F238E27FC236}">
                <a16:creationId xmlns:a16="http://schemas.microsoft.com/office/drawing/2014/main" id="{4BC943C9-2850-48C5-9E43-B3B008E9DCA1}"/>
              </a:ext>
            </a:extLst>
          </p:cNvPr>
          <p:cNvPicPr>
            <a:picLocks noChangeAspect="1"/>
          </p:cNvPicPr>
          <p:nvPr/>
        </p:nvPicPr>
        <p:blipFill>
          <a:blip r:embed="rId2"/>
          <a:stretch>
            <a:fillRect/>
          </a:stretch>
        </p:blipFill>
        <p:spPr>
          <a:xfrm>
            <a:off x="-46735" y="1247196"/>
            <a:ext cx="7151584" cy="5241471"/>
          </a:xfrm>
          <a:prstGeom prst="rect">
            <a:avLst/>
          </a:prstGeom>
        </p:spPr>
      </p:pic>
    </p:spTree>
    <p:extLst>
      <p:ext uri="{BB962C8B-B14F-4D97-AF65-F5344CB8AC3E}">
        <p14:creationId xmlns:p14="http://schemas.microsoft.com/office/powerpoint/2010/main" val="4178743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54C0199-9A10-510A-E562-7D0398D11BD9}"/>
              </a:ext>
            </a:extLst>
          </p:cNvPr>
          <p:cNvSpPr txBox="1"/>
          <p:nvPr/>
        </p:nvSpPr>
        <p:spPr>
          <a:xfrm>
            <a:off x="424543" y="680357"/>
            <a:ext cx="4572000" cy="646331"/>
          </a:xfrm>
          <a:prstGeom prst="rect">
            <a:avLst/>
          </a:prstGeom>
          <a:noFill/>
        </p:spPr>
        <p:txBody>
          <a:bodyPr wrap="square" rtlCol="0">
            <a:spAutoFit/>
          </a:bodyPr>
          <a:lstStyle/>
          <a:p>
            <a:r>
              <a:rPr lang="en-CH" dirty="0"/>
              <a:t>After fixing the decay of W to time-based rather timestep-based, and doubling </a:t>
            </a:r>
            <a:r>
              <a:rPr lang="en-CH" dirty="0" err="1"/>
              <a:t>wnoise</a:t>
            </a:r>
            <a:r>
              <a:rPr lang="en-CH" dirty="0"/>
              <a:t>: </a:t>
            </a:r>
          </a:p>
        </p:txBody>
      </p:sp>
      <p:pic>
        <p:nvPicPr>
          <p:cNvPr id="7" name="Picture 6">
            <a:extLst>
              <a:ext uri="{FF2B5EF4-FFF2-40B4-BE49-F238E27FC236}">
                <a16:creationId xmlns:a16="http://schemas.microsoft.com/office/drawing/2014/main" id="{B2408CC2-811D-EDFA-A94D-D03EAA32C105}"/>
              </a:ext>
            </a:extLst>
          </p:cNvPr>
          <p:cNvPicPr>
            <a:picLocks noChangeAspect="1"/>
          </p:cNvPicPr>
          <p:nvPr/>
        </p:nvPicPr>
        <p:blipFill>
          <a:blip r:embed="rId2"/>
          <a:stretch>
            <a:fillRect/>
          </a:stretch>
        </p:blipFill>
        <p:spPr>
          <a:xfrm>
            <a:off x="161591" y="1551212"/>
            <a:ext cx="6101067" cy="4740729"/>
          </a:xfrm>
          <a:prstGeom prst="rect">
            <a:avLst/>
          </a:prstGeom>
        </p:spPr>
      </p:pic>
    </p:spTree>
    <p:extLst>
      <p:ext uri="{BB962C8B-B14F-4D97-AF65-F5344CB8AC3E}">
        <p14:creationId xmlns:p14="http://schemas.microsoft.com/office/powerpoint/2010/main" val="179254592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146506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102118</TotalTime>
  <Words>974</Words>
  <Application>Microsoft Office PowerPoint</Application>
  <PresentationFormat>Widescreen</PresentationFormat>
  <Paragraphs>76</Paragraphs>
  <Slides>131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131</vt:i4>
      </vt:variant>
    </vt:vector>
  </HeadingPairs>
  <TitlesOfParts>
    <vt:vector size="136"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259</cp:revision>
  <dcterms:created xsi:type="dcterms:W3CDTF">2024-08-13T19:20:17Z</dcterms:created>
  <dcterms:modified xsi:type="dcterms:W3CDTF">2026-06-18T07:02:28Z</dcterms:modified>
</cp:coreProperties>
</file>
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 id="508" r:id="rId135"/>
    <p:sldId id="512" r:id="rId136"/>
    <p:sldId id="513" r:id="rId137"/>
    <p:sldId id="515" r:id="rId138"/>
    <p:sldId id="511" r:id="rId139"/>
    <p:sldId id="518" r:id="rId140"/>
    <p:sldId id="509" r:id="rId141"/>
    <p:sldId id="514" r:id="rId142"/>
    <p:sldId id="516" r:id="rId143"/>
    <p:sldId id="532" r:id="rId144"/>
    <p:sldId id="522" r:id="rId145"/>
    <p:sldId id="533" r:id="rId146"/>
    <p:sldId id="534" r:id="rId147"/>
    <p:sldId id="538" r:id="rId148"/>
    <p:sldId id="527" r:id="rId149"/>
    <p:sldId id="537" r:id="rId150"/>
    <p:sldId id="529" r:id="rId151"/>
    <p:sldId id="536" r:id="rId152"/>
    <p:sldId id="523" r:id="rId153"/>
    <p:sldId id="531" r:id="rId154"/>
    <p:sldId id="535" r:id="rId155"/>
    <p:sldId id="524" r:id="rId156"/>
    <p:sldId id="525" r:id="rId157"/>
    <p:sldId id="539" r:id="rId158"/>
    <p:sldId id="519" r:id="rId159"/>
    <p:sldId id="520" r:id="rId160"/>
    <p:sldId id="521" r:id="rId161"/>
    <p:sldId id="540" r:id="rId162"/>
    <p:sldId id="528" r:id="rId163"/>
    <p:sldId id="530" r:id="rId164"/>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14" autoAdjust="0"/>
    <p:restoredTop sz="94660"/>
  </p:normalViewPr>
  <p:slideViewPr>
    <p:cSldViewPr snapToGrid="0">
      <p:cViewPr varScale="1">
        <p:scale>
          <a:sx n="81" d="100"/>
          <a:sy n="81" d="100"/>
        </p:scale>
        <p:origin x="219" y="3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slide" Target="slides/slide158.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slide" Target="slides/slide142.xml"/><Relationship Id="rId148" Type="http://schemas.openxmlformats.org/officeDocument/2006/relationships/slide" Target="slides/slide147.xml"/><Relationship Id="rId151" Type="http://schemas.openxmlformats.org/officeDocument/2006/relationships/slide" Target="slides/slide150.xml"/><Relationship Id="rId156" Type="http://schemas.openxmlformats.org/officeDocument/2006/relationships/slide" Target="slides/slide155.xml"/><Relationship Id="rId164" Type="http://schemas.openxmlformats.org/officeDocument/2006/relationships/slide" Target="slides/slide163.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05/09/2026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05/09/2026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05/09/2026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05/09/2026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05/09/2026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05/09/2026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05/09/2026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05/09/2026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05/09/2026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05/09/2026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05/09/2026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05/09/2026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86.png"/></Relationships>
</file>

<file path=ppt/slides/_rels/slide136.xml.rels><?xml version="1.0" encoding="UTF-8" standalone="yes"?>
<Relationships xmlns="http://schemas.openxmlformats.org/package/2006/relationships"><Relationship Id="rId3" Type="http://schemas.openxmlformats.org/officeDocument/2006/relationships/image" Target="../media/image188.png"/><Relationship Id="rId2" Type="http://schemas.openxmlformats.org/officeDocument/2006/relationships/image" Target="../media/image187.png"/><Relationship Id="rId1" Type="http://schemas.openxmlformats.org/officeDocument/2006/relationships/slideLayout" Target="../slideLayouts/slideLayout7.xml"/><Relationship Id="rId4" Type="http://schemas.openxmlformats.org/officeDocument/2006/relationships/image" Target="../media/image189.png"/></Relationships>
</file>

<file path=ppt/slides/_rels/slide137.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190.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195.png"/><Relationship Id="rId2" Type="http://schemas.openxmlformats.org/officeDocument/2006/relationships/image" Target="../media/image194.png"/><Relationship Id="rId1" Type="http://schemas.openxmlformats.org/officeDocument/2006/relationships/slideLayout" Target="../slideLayouts/slideLayout2.xml"/><Relationship Id="rId4" Type="http://schemas.openxmlformats.org/officeDocument/2006/relationships/image" Target="../media/image196.png"/></Relationships>
</file>

<file path=ppt/slides/_rels/slide140.xml.rels><?xml version="1.0" encoding="UTF-8" standalone="yes"?>
<Relationships xmlns="http://schemas.openxmlformats.org/package/2006/relationships"><Relationship Id="rId3" Type="http://schemas.openxmlformats.org/officeDocument/2006/relationships/image" Target="../media/image198.png"/><Relationship Id="rId2" Type="http://schemas.openxmlformats.org/officeDocument/2006/relationships/image" Target="../media/image197.png"/><Relationship Id="rId1" Type="http://schemas.openxmlformats.org/officeDocument/2006/relationships/slideLayout" Target="../slideLayouts/slideLayout7.xml"/><Relationship Id="rId5" Type="http://schemas.openxmlformats.org/officeDocument/2006/relationships/image" Target="../media/image200.png"/><Relationship Id="rId4" Type="http://schemas.openxmlformats.org/officeDocument/2006/relationships/image" Target="../media/image199.png"/></Relationships>
</file>

<file path=ppt/slides/_rels/slide141.xml.rels><?xml version="1.0" encoding="UTF-8" standalone="yes"?>
<Relationships xmlns="http://schemas.openxmlformats.org/package/2006/relationships"><Relationship Id="rId3" Type="http://schemas.openxmlformats.org/officeDocument/2006/relationships/image" Target="../media/image202.png"/><Relationship Id="rId2" Type="http://schemas.openxmlformats.org/officeDocument/2006/relationships/image" Target="../media/image201.png"/><Relationship Id="rId1" Type="http://schemas.openxmlformats.org/officeDocument/2006/relationships/slideLayout" Target="../slideLayouts/slideLayout2.xml"/><Relationship Id="rId4" Type="http://schemas.openxmlformats.org/officeDocument/2006/relationships/image" Target="../media/image203.png"/></Relationships>
</file>

<file path=ppt/slides/_rels/slide142.xml.rels><?xml version="1.0" encoding="UTF-8" standalone="yes"?>
<Relationships xmlns="http://schemas.openxmlformats.org/package/2006/relationships"><Relationship Id="rId2" Type="http://schemas.openxmlformats.org/officeDocument/2006/relationships/image" Target="../media/image204.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206.png"/><Relationship Id="rId2" Type="http://schemas.openxmlformats.org/officeDocument/2006/relationships/image" Target="../media/image205.png"/><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3" Type="http://schemas.openxmlformats.org/officeDocument/2006/relationships/image" Target="../media/image211.png"/><Relationship Id="rId2" Type="http://schemas.openxmlformats.org/officeDocument/2006/relationships/image" Target="../media/image210.png"/><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image" Target="../media/image216.png"/><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3" Type="http://schemas.openxmlformats.org/officeDocument/2006/relationships/image" Target="../media/image218.png"/><Relationship Id="rId2" Type="http://schemas.openxmlformats.org/officeDocument/2006/relationships/image" Target="../media/image217.png"/><Relationship Id="rId1" Type="http://schemas.openxmlformats.org/officeDocument/2006/relationships/slideLayout" Target="../slideLayouts/slideLayout7.xml"/><Relationship Id="rId4" Type="http://schemas.openxmlformats.org/officeDocument/2006/relationships/image" Target="../media/image219.png"/></Relationships>
</file>

<file path=ppt/slides/_rels/slide151.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image" Target="../media/image220.png"/><Relationship Id="rId1" Type="http://schemas.openxmlformats.org/officeDocument/2006/relationships/slideLayout" Target="../slideLayouts/slideLayout7.xml"/><Relationship Id="rId5" Type="http://schemas.openxmlformats.org/officeDocument/2006/relationships/image" Target="../media/image223.png"/><Relationship Id="rId4" Type="http://schemas.openxmlformats.org/officeDocument/2006/relationships/image" Target="../media/image222.png"/></Relationships>
</file>

<file path=ppt/slides/_rels/slide152.xml.rels><?xml version="1.0" encoding="UTF-8" standalone="yes"?>
<Relationships xmlns="http://schemas.openxmlformats.org/package/2006/relationships"><Relationship Id="rId2" Type="http://schemas.openxmlformats.org/officeDocument/2006/relationships/image" Target="../media/image22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3" Type="http://schemas.openxmlformats.org/officeDocument/2006/relationships/image" Target="../media/image226.png"/><Relationship Id="rId2" Type="http://schemas.openxmlformats.org/officeDocument/2006/relationships/image" Target="../media/image22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3" Type="http://schemas.openxmlformats.org/officeDocument/2006/relationships/image" Target="../media/image228.png"/><Relationship Id="rId2" Type="http://schemas.openxmlformats.org/officeDocument/2006/relationships/image" Target="../media/image227.png"/><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9.png"/><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2" Type="http://schemas.openxmlformats.org/officeDocument/2006/relationships/image" Target="../media/image231.png"/><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image" Target="../media/image232.png"/><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3" Type="http://schemas.openxmlformats.org/officeDocument/2006/relationships/image" Target="../media/image235.png"/><Relationship Id="rId2" Type="http://schemas.openxmlformats.org/officeDocument/2006/relationships/image" Target="../media/image234.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3" Type="http://schemas.openxmlformats.org/officeDocument/2006/relationships/image" Target="../media/image237.png"/><Relationship Id="rId2" Type="http://schemas.openxmlformats.org/officeDocument/2006/relationships/image" Target="../media/image236.png"/><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3" Type="http://schemas.openxmlformats.org/officeDocument/2006/relationships/image" Target="../media/image239.png"/><Relationship Id="rId2" Type="http://schemas.openxmlformats.org/officeDocument/2006/relationships/image" Target="../media/image238.png"/><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image" Target="../media/image240.png"/><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A727288-A550-EC06-EE3A-0352589E4C60}"/>
              </a:ext>
            </a:extLst>
          </p:cNvPr>
          <p:cNvSpPr txBox="1"/>
          <p:nvPr/>
        </p:nvSpPr>
        <p:spPr>
          <a:xfrm>
            <a:off x="764005" y="547437"/>
            <a:ext cx="4053417" cy="369332"/>
          </a:xfrm>
          <a:prstGeom prst="rect">
            <a:avLst/>
          </a:prstGeom>
          <a:noFill/>
        </p:spPr>
        <p:txBody>
          <a:bodyPr wrap="none" rtlCol="0">
            <a:spAutoFit/>
          </a:bodyPr>
          <a:lstStyle/>
          <a:p>
            <a:r>
              <a:rPr lang="en-CH" dirty="0"/>
              <a:t>Sensory memory with inhibition = 0.004</a:t>
            </a:r>
          </a:p>
        </p:txBody>
      </p:sp>
      <p:sp>
        <p:nvSpPr>
          <p:cNvPr id="5" name="TextBox 4">
            <a:extLst>
              <a:ext uri="{FF2B5EF4-FFF2-40B4-BE49-F238E27FC236}">
                <a16:creationId xmlns:a16="http://schemas.microsoft.com/office/drawing/2014/main" id="{8E6ECE2A-8297-967A-5D4E-5C5FA6EB4AF3}"/>
              </a:ext>
            </a:extLst>
          </p:cNvPr>
          <p:cNvSpPr txBox="1"/>
          <p:nvPr/>
        </p:nvSpPr>
        <p:spPr>
          <a:xfrm>
            <a:off x="6246395" y="547437"/>
            <a:ext cx="4053417" cy="369332"/>
          </a:xfrm>
          <a:prstGeom prst="rect">
            <a:avLst/>
          </a:prstGeom>
          <a:noFill/>
        </p:spPr>
        <p:txBody>
          <a:bodyPr wrap="none" rtlCol="0">
            <a:spAutoFit/>
          </a:bodyPr>
          <a:lstStyle/>
          <a:p>
            <a:r>
              <a:rPr lang="en-CH" dirty="0"/>
              <a:t>Sensory memory with inhibition = 0.002</a:t>
            </a:r>
          </a:p>
        </p:txBody>
      </p:sp>
      <p:pic>
        <p:nvPicPr>
          <p:cNvPr id="6" name="Picture 5">
            <a:extLst>
              <a:ext uri="{FF2B5EF4-FFF2-40B4-BE49-F238E27FC236}">
                <a16:creationId xmlns:a16="http://schemas.microsoft.com/office/drawing/2014/main" id="{B3F0CF21-7DCA-6D3B-B45E-C37D90F368FC}"/>
              </a:ext>
            </a:extLst>
          </p:cNvPr>
          <p:cNvPicPr>
            <a:picLocks noChangeAspect="1"/>
          </p:cNvPicPr>
          <p:nvPr/>
        </p:nvPicPr>
        <p:blipFill>
          <a:blip r:embed="rId2"/>
          <a:stretch>
            <a:fillRect/>
          </a:stretch>
        </p:blipFill>
        <p:spPr>
          <a:xfrm>
            <a:off x="5872859" y="1003910"/>
            <a:ext cx="5316566" cy="5252511"/>
          </a:xfrm>
          <a:prstGeom prst="rect">
            <a:avLst/>
          </a:prstGeom>
        </p:spPr>
      </p:pic>
      <p:pic>
        <p:nvPicPr>
          <p:cNvPr id="2" name="Picture 1">
            <a:extLst>
              <a:ext uri="{FF2B5EF4-FFF2-40B4-BE49-F238E27FC236}">
                <a16:creationId xmlns:a16="http://schemas.microsoft.com/office/drawing/2014/main" id="{A7C6B81B-6840-DF8D-1775-E1A4CCDD6618}"/>
              </a:ext>
            </a:extLst>
          </p:cNvPr>
          <p:cNvPicPr>
            <a:picLocks noChangeAspect="1"/>
          </p:cNvPicPr>
          <p:nvPr/>
        </p:nvPicPr>
        <p:blipFill>
          <a:blip r:embed="rId3"/>
          <a:stretch>
            <a:fillRect/>
          </a:stretch>
        </p:blipFill>
        <p:spPr>
          <a:xfrm>
            <a:off x="0" y="1320190"/>
            <a:ext cx="5872859" cy="4533900"/>
          </a:xfrm>
          <a:prstGeom prst="rect">
            <a:avLst/>
          </a:prstGeom>
        </p:spPr>
      </p:pic>
    </p:spTree>
    <p:extLst>
      <p:ext uri="{BB962C8B-B14F-4D97-AF65-F5344CB8AC3E}">
        <p14:creationId xmlns:p14="http://schemas.microsoft.com/office/powerpoint/2010/main" val="329807100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076DC-AE41-6665-CF99-65FD50F0EAF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51D427-23F9-5FAC-3D14-D301329D1209}"/>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0.1</a:t>
            </a:r>
          </a:p>
        </p:txBody>
      </p:sp>
      <p:pic>
        <p:nvPicPr>
          <p:cNvPr id="9" name="Picture 8">
            <a:extLst>
              <a:ext uri="{FF2B5EF4-FFF2-40B4-BE49-F238E27FC236}">
                <a16:creationId xmlns:a16="http://schemas.microsoft.com/office/drawing/2014/main" id="{6619F889-692D-CC14-0848-A645B4C151DA}"/>
              </a:ext>
            </a:extLst>
          </p:cNvPr>
          <p:cNvPicPr>
            <a:picLocks noChangeAspect="1"/>
          </p:cNvPicPr>
          <p:nvPr/>
        </p:nvPicPr>
        <p:blipFill>
          <a:blip r:embed="rId2"/>
          <a:stretch>
            <a:fillRect/>
          </a:stretch>
        </p:blipFill>
        <p:spPr>
          <a:xfrm>
            <a:off x="76701" y="916770"/>
            <a:ext cx="5303455" cy="4184620"/>
          </a:xfrm>
          <a:prstGeom prst="rect">
            <a:avLst/>
          </a:prstGeom>
        </p:spPr>
      </p:pic>
      <p:pic>
        <p:nvPicPr>
          <p:cNvPr id="10" name="Picture 9">
            <a:extLst>
              <a:ext uri="{FF2B5EF4-FFF2-40B4-BE49-F238E27FC236}">
                <a16:creationId xmlns:a16="http://schemas.microsoft.com/office/drawing/2014/main" id="{EA72D78D-0F67-99C3-7B4B-21055C624F8F}"/>
              </a:ext>
            </a:extLst>
          </p:cNvPr>
          <p:cNvPicPr>
            <a:picLocks noChangeAspect="1"/>
          </p:cNvPicPr>
          <p:nvPr/>
        </p:nvPicPr>
        <p:blipFill>
          <a:blip r:embed="rId3"/>
          <a:stretch>
            <a:fillRect/>
          </a:stretch>
        </p:blipFill>
        <p:spPr>
          <a:xfrm>
            <a:off x="5762373" y="124577"/>
            <a:ext cx="6107369" cy="4682040"/>
          </a:xfrm>
          <a:prstGeom prst="rect">
            <a:avLst/>
          </a:prstGeom>
        </p:spPr>
      </p:pic>
      <p:pic>
        <p:nvPicPr>
          <p:cNvPr id="11" name="Picture 10">
            <a:extLst>
              <a:ext uri="{FF2B5EF4-FFF2-40B4-BE49-F238E27FC236}">
                <a16:creationId xmlns:a16="http://schemas.microsoft.com/office/drawing/2014/main" id="{55FF52AC-AFC9-8693-AD25-57C9DB1D5809}"/>
              </a:ext>
            </a:extLst>
          </p:cNvPr>
          <p:cNvPicPr>
            <a:picLocks noChangeAspect="1"/>
          </p:cNvPicPr>
          <p:nvPr/>
        </p:nvPicPr>
        <p:blipFill>
          <a:blip r:embed="rId4"/>
          <a:stretch>
            <a:fillRect/>
          </a:stretch>
        </p:blipFill>
        <p:spPr>
          <a:xfrm>
            <a:off x="7937563" y="3453314"/>
            <a:ext cx="3932179" cy="3280109"/>
          </a:xfrm>
          <a:prstGeom prst="rect">
            <a:avLst/>
          </a:prstGeom>
        </p:spPr>
      </p:pic>
    </p:spTree>
    <p:extLst>
      <p:ext uri="{BB962C8B-B14F-4D97-AF65-F5344CB8AC3E}">
        <p14:creationId xmlns:p14="http://schemas.microsoft.com/office/powerpoint/2010/main" val="254093432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F1936-0B10-A12F-8DC6-6D2FB6B479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986502-5687-0DDE-75F3-38CCE518353C}"/>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0.5</a:t>
            </a:r>
          </a:p>
        </p:txBody>
      </p:sp>
      <p:pic>
        <p:nvPicPr>
          <p:cNvPr id="2" name="Picture 1">
            <a:extLst>
              <a:ext uri="{FF2B5EF4-FFF2-40B4-BE49-F238E27FC236}">
                <a16:creationId xmlns:a16="http://schemas.microsoft.com/office/drawing/2014/main" id="{7F71313F-8369-E3F6-0683-749D43C01E6D}"/>
              </a:ext>
            </a:extLst>
          </p:cNvPr>
          <p:cNvPicPr>
            <a:picLocks noChangeAspect="1"/>
          </p:cNvPicPr>
          <p:nvPr/>
        </p:nvPicPr>
        <p:blipFill>
          <a:blip r:embed="rId2"/>
          <a:stretch>
            <a:fillRect/>
          </a:stretch>
        </p:blipFill>
        <p:spPr>
          <a:xfrm>
            <a:off x="171450" y="916769"/>
            <a:ext cx="5369082" cy="4064305"/>
          </a:xfrm>
          <a:prstGeom prst="rect">
            <a:avLst/>
          </a:prstGeom>
        </p:spPr>
      </p:pic>
      <p:pic>
        <p:nvPicPr>
          <p:cNvPr id="4" name="Picture 3">
            <a:extLst>
              <a:ext uri="{FF2B5EF4-FFF2-40B4-BE49-F238E27FC236}">
                <a16:creationId xmlns:a16="http://schemas.microsoft.com/office/drawing/2014/main" id="{C225AD56-B37C-1049-7948-B030D7C398FA}"/>
              </a:ext>
            </a:extLst>
          </p:cNvPr>
          <p:cNvPicPr>
            <a:picLocks noChangeAspect="1"/>
          </p:cNvPicPr>
          <p:nvPr/>
        </p:nvPicPr>
        <p:blipFill>
          <a:blip r:embed="rId3"/>
          <a:stretch>
            <a:fillRect/>
          </a:stretch>
        </p:blipFill>
        <p:spPr>
          <a:xfrm>
            <a:off x="5819273" y="463466"/>
            <a:ext cx="5705475" cy="4391025"/>
          </a:xfrm>
          <a:prstGeom prst="rect">
            <a:avLst/>
          </a:prstGeom>
        </p:spPr>
      </p:pic>
      <p:pic>
        <p:nvPicPr>
          <p:cNvPr id="5" name="Picture 4">
            <a:extLst>
              <a:ext uri="{FF2B5EF4-FFF2-40B4-BE49-F238E27FC236}">
                <a16:creationId xmlns:a16="http://schemas.microsoft.com/office/drawing/2014/main" id="{6809F332-748B-CF56-249F-DDBEA7C61EEA}"/>
              </a:ext>
            </a:extLst>
          </p:cNvPr>
          <p:cNvPicPr>
            <a:picLocks noChangeAspect="1"/>
          </p:cNvPicPr>
          <p:nvPr/>
        </p:nvPicPr>
        <p:blipFill>
          <a:blip r:embed="rId4"/>
          <a:stretch>
            <a:fillRect/>
          </a:stretch>
        </p:blipFill>
        <p:spPr>
          <a:xfrm>
            <a:off x="8223584" y="3176337"/>
            <a:ext cx="3722474" cy="3097630"/>
          </a:xfrm>
          <a:prstGeom prst="rect">
            <a:avLst/>
          </a:prstGeom>
        </p:spPr>
      </p:pic>
      <p:sp>
        <p:nvSpPr>
          <p:cNvPr id="6" name="TextBox 5">
            <a:extLst>
              <a:ext uri="{FF2B5EF4-FFF2-40B4-BE49-F238E27FC236}">
                <a16:creationId xmlns:a16="http://schemas.microsoft.com/office/drawing/2014/main" id="{9B27CCBF-B36E-2056-0382-EA34B4CF50F3}"/>
              </a:ext>
            </a:extLst>
          </p:cNvPr>
          <p:cNvSpPr txBox="1"/>
          <p:nvPr/>
        </p:nvSpPr>
        <p:spPr>
          <a:xfrm>
            <a:off x="764005" y="5350406"/>
            <a:ext cx="4253163" cy="923330"/>
          </a:xfrm>
          <a:prstGeom prst="rect">
            <a:avLst/>
          </a:prstGeom>
          <a:noFill/>
        </p:spPr>
        <p:txBody>
          <a:bodyPr wrap="square" rtlCol="0">
            <a:spAutoFit/>
          </a:bodyPr>
          <a:lstStyle/>
          <a:p>
            <a:r>
              <a:rPr lang="en-CH" dirty="0"/>
              <a:t>IOR destroys the early cross-over of alpha curves because it reduces the strength of FX at lower set sizes</a:t>
            </a:r>
          </a:p>
        </p:txBody>
      </p:sp>
    </p:spTree>
    <p:extLst>
      <p:ext uri="{BB962C8B-B14F-4D97-AF65-F5344CB8AC3E}">
        <p14:creationId xmlns:p14="http://schemas.microsoft.com/office/powerpoint/2010/main" val="186917302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C66B9-C14B-A2D1-EB1B-3F75D6E444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038AE0-8E15-452F-3111-F1978FD30FB2}"/>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0.004 and IOR = 0.3</a:t>
            </a:r>
          </a:p>
        </p:txBody>
      </p:sp>
      <p:pic>
        <p:nvPicPr>
          <p:cNvPr id="7" name="Picture 6">
            <a:extLst>
              <a:ext uri="{FF2B5EF4-FFF2-40B4-BE49-F238E27FC236}">
                <a16:creationId xmlns:a16="http://schemas.microsoft.com/office/drawing/2014/main" id="{600EB6B6-CDD7-5E3B-6D02-81856534C68F}"/>
              </a:ext>
            </a:extLst>
          </p:cNvPr>
          <p:cNvPicPr>
            <a:picLocks noChangeAspect="1"/>
          </p:cNvPicPr>
          <p:nvPr/>
        </p:nvPicPr>
        <p:blipFill>
          <a:blip r:embed="rId2"/>
          <a:stretch>
            <a:fillRect/>
          </a:stretch>
        </p:blipFill>
        <p:spPr>
          <a:xfrm>
            <a:off x="0" y="890587"/>
            <a:ext cx="6153150" cy="4676775"/>
          </a:xfrm>
          <a:prstGeom prst="rect">
            <a:avLst/>
          </a:prstGeom>
        </p:spPr>
      </p:pic>
      <p:pic>
        <p:nvPicPr>
          <p:cNvPr id="8" name="Picture 7">
            <a:extLst>
              <a:ext uri="{FF2B5EF4-FFF2-40B4-BE49-F238E27FC236}">
                <a16:creationId xmlns:a16="http://schemas.microsoft.com/office/drawing/2014/main" id="{26C79DD0-D536-12D4-BF1F-A7E751E65D7C}"/>
              </a:ext>
            </a:extLst>
          </p:cNvPr>
          <p:cNvPicPr>
            <a:picLocks noChangeAspect="1"/>
          </p:cNvPicPr>
          <p:nvPr/>
        </p:nvPicPr>
        <p:blipFill>
          <a:blip r:embed="rId3"/>
          <a:stretch>
            <a:fillRect/>
          </a:stretch>
        </p:blipFill>
        <p:spPr>
          <a:xfrm>
            <a:off x="6343650" y="390525"/>
            <a:ext cx="5334000" cy="4000500"/>
          </a:xfrm>
          <a:prstGeom prst="rect">
            <a:avLst/>
          </a:prstGeom>
        </p:spPr>
      </p:pic>
      <p:pic>
        <p:nvPicPr>
          <p:cNvPr id="9" name="Picture 8">
            <a:extLst>
              <a:ext uri="{FF2B5EF4-FFF2-40B4-BE49-F238E27FC236}">
                <a16:creationId xmlns:a16="http://schemas.microsoft.com/office/drawing/2014/main" id="{5F9FD94A-F15B-3559-EBFE-258EEB80FD77}"/>
              </a:ext>
            </a:extLst>
          </p:cNvPr>
          <p:cNvPicPr>
            <a:picLocks noChangeAspect="1"/>
          </p:cNvPicPr>
          <p:nvPr/>
        </p:nvPicPr>
        <p:blipFill>
          <a:blip r:embed="rId4"/>
          <a:stretch>
            <a:fillRect/>
          </a:stretch>
        </p:blipFill>
        <p:spPr>
          <a:xfrm>
            <a:off x="7959725" y="3009900"/>
            <a:ext cx="4445000" cy="3333750"/>
          </a:xfrm>
          <a:prstGeom prst="rect">
            <a:avLst/>
          </a:prstGeom>
        </p:spPr>
      </p:pic>
      <p:pic>
        <p:nvPicPr>
          <p:cNvPr id="10" name="Picture 9">
            <a:extLst>
              <a:ext uri="{FF2B5EF4-FFF2-40B4-BE49-F238E27FC236}">
                <a16:creationId xmlns:a16="http://schemas.microsoft.com/office/drawing/2014/main" id="{28C81F47-D160-7BAA-20E6-E00F82BADFAA}"/>
              </a:ext>
            </a:extLst>
          </p:cNvPr>
          <p:cNvPicPr>
            <a:picLocks noChangeAspect="1"/>
          </p:cNvPicPr>
          <p:nvPr/>
        </p:nvPicPr>
        <p:blipFill>
          <a:blip r:embed="rId5"/>
          <a:stretch>
            <a:fillRect/>
          </a:stretch>
        </p:blipFill>
        <p:spPr>
          <a:xfrm>
            <a:off x="4346575" y="4005262"/>
            <a:ext cx="3803650" cy="2852738"/>
          </a:xfrm>
          <a:prstGeom prst="rect">
            <a:avLst/>
          </a:prstGeom>
        </p:spPr>
      </p:pic>
    </p:spTree>
    <p:extLst>
      <p:ext uri="{BB962C8B-B14F-4D97-AF65-F5344CB8AC3E}">
        <p14:creationId xmlns:p14="http://schemas.microsoft.com/office/powerpoint/2010/main" val="373845231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3CB87-3E35-CFEA-C8C0-F2589650A0E0}"/>
              </a:ext>
            </a:extLst>
          </p:cNvPr>
          <p:cNvSpPr>
            <a:spLocks noGrp="1"/>
          </p:cNvSpPr>
          <p:nvPr>
            <p:ph type="title"/>
          </p:nvPr>
        </p:nvSpPr>
        <p:spPr/>
        <p:txBody>
          <a:bodyPr>
            <a:normAutofit/>
          </a:bodyPr>
          <a:lstStyle/>
          <a:p>
            <a:r>
              <a:rPr lang="en-CH" sz="2800" dirty="0"/>
              <a:t>Correlations of alpha slope with parameters</a:t>
            </a:r>
          </a:p>
        </p:txBody>
      </p:sp>
      <p:sp>
        <p:nvSpPr>
          <p:cNvPr id="3" name="Content Placeholder 2">
            <a:extLst>
              <a:ext uri="{FF2B5EF4-FFF2-40B4-BE49-F238E27FC236}">
                <a16:creationId xmlns:a16="http://schemas.microsoft.com/office/drawing/2014/main" id="{118372EB-061D-28B6-8083-7208912AB2C9}"/>
              </a:ext>
            </a:extLst>
          </p:cNvPr>
          <p:cNvSpPr>
            <a:spLocks noGrp="1"/>
          </p:cNvSpPr>
          <p:nvPr>
            <p:ph idx="1"/>
          </p:nvPr>
        </p:nvSpPr>
        <p:spPr/>
        <p:txBody>
          <a:bodyPr/>
          <a:lstStyle/>
          <a:p>
            <a:r>
              <a:rPr lang="en-CH" dirty="0"/>
              <a:t>IOR: 0.4: smaller IOR makes slope go more negative</a:t>
            </a:r>
          </a:p>
          <a:p>
            <a:r>
              <a:rPr lang="en-CH" dirty="0" err="1"/>
              <a:t>kappaf_ctx</a:t>
            </a:r>
            <a:r>
              <a:rPr lang="en-CH" dirty="0"/>
              <a:t>: 0.3:  smaller value makes slope go more negative</a:t>
            </a:r>
          </a:p>
          <a:p>
            <a:r>
              <a:rPr lang="en-CH" dirty="0" err="1"/>
              <a:t>inhibFX</a:t>
            </a:r>
            <a:r>
              <a:rPr lang="en-CH" dirty="0"/>
              <a:t>: -.57: larger values make slope go </a:t>
            </a:r>
            <a:r>
              <a:rPr lang="en-CH"/>
              <a:t>more negative</a:t>
            </a:r>
            <a:endParaRPr lang="en-CH" dirty="0"/>
          </a:p>
        </p:txBody>
      </p:sp>
    </p:spTree>
    <p:extLst>
      <p:ext uri="{BB962C8B-B14F-4D97-AF65-F5344CB8AC3E}">
        <p14:creationId xmlns:p14="http://schemas.microsoft.com/office/powerpoint/2010/main" val="370196316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FB5CC-A7B9-4148-3455-24FE6ACC6B9A}"/>
              </a:ext>
            </a:extLst>
          </p:cNvPr>
          <p:cNvSpPr>
            <a:spLocks noGrp="1"/>
          </p:cNvSpPr>
          <p:nvPr>
            <p:ph type="title"/>
          </p:nvPr>
        </p:nvSpPr>
        <p:spPr/>
        <p:txBody>
          <a:bodyPr>
            <a:normAutofit/>
          </a:bodyPr>
          <a:lstStyle/>
          <a:p>
            <a:r>
              <a:rPr lang="en-CH" sz="1800" dirty="0"/>
              <a:t>IOR = 0.5, </a:t>
            </a:r>
            <a:r>
              <a:rPr lang="en-CH" sz="1800" dirty="0" err="1"/>
              <a:t>dnoise</a:t>
            </a:r>
            <a:r>
              <a:rPr lang="en-CH" sz="1800" dirty="0"/>
              <a:t> = 1, </a:t>
            </a:r>
            <a:r>
              <a:rPr lang="en-CH" sz="1800" dirty="0" err="1"/>
              <a:t>wnoise</a:t>
            </a:r>
            <a:r>
              <a:rPr lang="en-CH" sz="1800" dirty="0"/>
              <a:t> = 0.12, </a:t>
            </a:r>
            <a:r>
              <a:rPr lang="en-CH" sz="1800" dirty="0" err="1"/>
              <a:t>kappaf_feat</a:t>
            </a:r>
            <a:r>
              <a:rPr lang="en-CH" sz="1800" dirty="0"/>
              <a:t> and </a:t>
            </a:r>
            <a:r>
              <a:rPr lang="en-CH" sz="1800" dirty="0" err="1"/>
              <a:t>kappaf_ctx</a:t>
            </a:r>
            <a:r>
              <a:rPr lang="en-CH" sz="1800" dirty="0"/>
              <a:t> reduced to 10</a:t>
            </a:r>
          </a:p>
        </p:txBody>
      </p:sp>
      <p:pic>
        <p:nvPicPr>
          <p:cNvPr id="4" name="Picture 3">
            <a:extLst>
              <a:ext uri="{FF2B5EF4-FFF2-40B4-BE49-F238E27FC236}">
                <a16:creationId xmlns:a16="http://schemas.microsoft.com/office/drawing/2014/main" id="{B2FD76C9-92A0-D845-7C16-D12888872389}"/>
              </a:ext>
            </a:extLst>
          </p:cNvPr>
          <p:cNvPicPr>
            <a:picLocks noChangeAspect="1"/>
          </p:cNvPicPr>
          <p:nvPr/>
        </p:nvPicPr>
        <p:blipFill>
          <a:blip r:embed="rId2"/>
          <a:stretch>
            <a:fillRect/>
          </a:stretch>
        </p:blipFill>
        <p:spPr>
          <a:xfrm>
            <a:off x="531696" y="1325563"/>
            <a:ext cx="6007195" cy="4471389"/>
          </a:xfrm>
          <a:prstGeom prst="rect">
            <a:avLst/>
          </a:prstGeom>
        </p:spPr>
      </p:pic>
      <p:pic>
        <p:nvPicPr>
          <p:cNvPr id="5" name="Picture 4">
            <a:extLst>
              <a:ext uri="{FF2B5EF4-FFF2-40B4-BE49-F238E27FC236}">
                <a16:creationId xmlns:a16="http://schemas.microsoft.com/office/drawing/2014/main" id="{A36B0E68-2826-C166-805E-9C29A84BBDAA}"/>
              </a:ext>
            </a:extLst>
          </p:cNvPr>
          <p:cNvPicPr>
            <a:picLocks noChangeAspect="1"/>
          </p:cNvPicPr>
          <p:nvPr/>
        </p:nvPicPr>
        <p:blipFill>
          <a:blip r:embed="rId3"/>
          <a:stretch>
            <a:fillRect/>
          </a:stretch>
        </p:blipFill>
        <p:spPr>
          <a:xfrm>
            <a:off x="6232680" y="1446378"/>
            <a:ext cx="6050688" cy="4350574"/>
          </a:xfrm>
          <a:prstGeom prst="rect">
            <a:avLst/>
          </a:prstGeom>
        </p:spPr>
      </p:pic>
      <p:pic>
        <p:nvPicPr>
          <p:cNvPr id="6" name="Picture 5">
            <a:extLst>
              <a:ext uri="{FF2B5EF4-FFF2-40B4-BE49-F238E27FC236}">
                <a16:creationId xmlns:a16="http://schemas.microsoft.com/office/drawing/2014/main" id="{A5FF35A0-36A4-AE37-368F-8F4518910053}"/>
              </a:ext>
            </a:extLst>
          </p:cNvPr>
          <p:cNvPicPr>
            <a:picLocks noChangeAspect="1"/>
          </p:cNvPicPr>
          <p:nvPr/>
        </p:nvPicPr>
        <p:blipFill>
          <a:blip r:embed="rId4"/>
          <a:stretch>
            <a:fillRect/>
          </a:stretch>
        </p:blipFill>
        <p:spPr>
          <a:xfrm>
            <a:off x="8669547" y="3662876"/>
            <a:ext cx="3613821" cy="2729298"/>
          </a:xfrm>
          <a:prstGeom prst="rect">
            <a:avLst/>
          </a:prstGeom>
        </p:spPr>
      </p:pic>
    </p:spTree>
    <p:extLst>
      <p:ext uri="{BB962C8B-B14F-4D97-AF65-F5344CB8AC3E}">
        <p14:creationId xmlns:p14="http://schemas.microsoft.com/office/powerpoint/2010/main" val="11335902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369460E-88D1-3541-D1BC-F0C2532B2931}"/>
              </a:ext>
            </a:extLst>
          </p:cNvPr>
          <p:cNvPicPr>
            <a:picLocks noChangeAspect="1"/>
          </p:cNvPicPr>
          <p:nvPr/>
        </p:nvPicPr>
        <p:blipFill>
          <a:blip r:embed="rId2"/>
          <a:stretch>
            <a:fillRect/>
          </a:stretch>
        </p:blipFill>
        <p:spPr>
          <a:xfrm>
            <a:off x="613611" y="144379"/>
            <a:ext cx="3776664" cy="3176337"/>
          </a:xfrm>
          <a:prstGeom prst="rect">
            <a:avLst/>
          </a:prstGeom>
        </p:spPr>
      </p:pic>
      <p:pic>
        <p:nvPicPr>
          <p:cNvPr id="3" name="Picture 2">
            <a:extLst>
              <a:ext uri="{FF2B5EF4-FFF2-40B4-BE49-F238E27FC236}">
                <a16:creationId xmlns:a16="http://schemas.microsoft.com/office/drawing/2014/main" id="{A44F44DC-228E-AAA0-2822-2476670E726D}"/>
              </a:ext>
            </a:extLst>
          </p:cNvPr>
          <p:cNvPicPr>
            <a:picLocks noChangeAspect="1"/>
          </p:cNvPicPr>
          <p:nvPr/>
        </p:nvPicPr>
        <p:blipFill>
          <a:blip r:embed="rId3"/>
          <a:stretch>
            <a:fillRect/>
          </a:stretch>
        </p:blipFill>
        <p:spPr>
          <a:xfrm>
            <a:off x="468968" y="3201481"/>
            <a:ext cx="3981345" cy="3512140"/>
          </a:xfrm>
          <a:prstGeom prst="rect">
            <a:avLst/>
          </a:prstGeom>
        </p:spPr>
      </p:pic>
      <p:pic>
        <p:nvPicPr>
          <p:cNvPr id="4" name="Picture 3">
            <a:extLst>
              <a:ext uri="{FF2B5EF4-FFF2-40B4-BE49-F238E27FC236}">
                <a16:creationId xmlns:a16="http://schemas.microsoft.com/office/drawing/2014/main" id="{D22597C2-4CE0-AA5F-04FB-8C023D3C2E69}"/>
              </a:ext>
            </a:extLst>
          </p:cNvPr>
          <p:cNvPicPr>
            <a:picLocks noChangeAspect="1"/>
          </p:cNvPicPr>
          <p:nvPr/>
        </p:nvPicPr>
        <p:blipFill>
          <a:blip r:embed="rId4"/>
          <a:stretch>
            <a:fillRect/>
          </a:stretch>
        </p:blipFill>
        <p:spPr>
          <a:xfrm>
            <a:off x="5495463" y="144379"/>
            <a:ext cx="4228058" cy="3429000"/>
          </a:xfrm>
          <a:prstGeom prst="rect">
            <a:avLst/>
          </a:prstGeom>
        </p:spPr>
      </p:pic>
      <p:pic>
        <p:nvPicPr>
          <p:cNvPr id="5" name="Picture 4">
            <a:extLst>
              <a:ext uri="{FF2B5EF4-FFF2-40B4-BE49-F238E27FC236}">
                <a16:creationId xmlns:a16="http://schemas.microsoft.com/office/drawing/2014/main" id="{AFE764D0-A644-FF80-9C70-57DE68DFBE5D}"/>
              </a:ext>
            </a:extLst>
          </p:cNvPr>
          <p:cNvPicPr>
            <a:picLocks noChangeAspect="1"/>
          </p:cNvPicPr>
          <p:nvPr/>
        </p:nvPicPr>
        <p:blipFill>
          <a:blip r:embed="rId5"/>
          <a:stretch>
            <a:fillRect/>
          </a:stretch>
        </p:blipFill>
        <p:spPr>
          <a:xfrm>
            <a:off x="5618819" y="3620063"/>
            <a:ext cx="3981345" cy="3183795"/>
          </a:xfrm>
          <a:prstGeom prst="rect">
            <a:avLst/>
          </a:prstGeom>
        </p:spPr>
      </p:pic>
    </p:spTree>
    <p:extLst>
      <p:ext uri="{BB962C8B-B14F-4D97-AF65-F5344CB8AC3E}">
        <p14:creationId xmlns:p14="http://schemas.microsoft.com/office/powerpoint/2010/main" val="79185401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AA47D-4350-0106-FB42-5938E65E3D32}"/>
              </a:ext>
            </a:extLst>
          </p:cNvPr>
          <p:cNvSpPr>
            <a:spLocks noGrp="1"/>
          </p:cNvSpPr>
          <p:nvPr>
            <p:ph type="title"/>
          </p:nvPr>
        </p:nvSpPr>
        <p:spPr/>
        <p:txBody>
          <a:bodyPr/>
          <a:lstStyle/>
          <a:p>
            <a:r>
              <a:rPr lang="en-CH" dirty="0"/>
              <a:t>CD and Retro-Cueing</a:t>
            </a:r>
          </a:p>
        </p:txBody>
      </p:sp>
      <p:pic>
        <p:nvPicPr>
          <p:cNvPr id="4" name="Picture 3">
            <a:extLst>
              <a:ext uri="{FF2B5EF4-FFF2-40B4-BE49-F238E27FC236}">
                <a16:creationId xmlns:a16="http://schemas.microsoft.com/office/drawing/2014/main" id="{4DFEF44C-1419-FBEF-037B-24EF8B2BBAC7}"/>
              </a:ext>
            </a:extLst>
          </p:cNvPr>
          <p:cNvPicPr>
            <a:picLocks noChangeAspect="1"/>
          </p:cNvPicPr>
          <p:nvPr/>
        </p:nvPicPr>
        <p:blipFill>
          <a:blip r:embed="rId2"/>
          <a:stretch>
            <a:fillRect/>
          </a:stretch>
        </p:blipFill>
        <p:spPr>
          <a:xfrm>
            <a:off x="339608" y="1382486"/>
            <a:ext cx="5005281" cy="5655128"/>
          </a:xfrm>
          <a:prstGeom prst="rect">
            <a:avLst/>
          </a:prstGeom>
        </p:spPr>
      </p:pic>
      <p:pic>
        <p:nvPicPr>
          <p:cNvPr id="6" name="Picture 5">
            <a:extLst>
              <a:ext uri="{FF2B5EF4-FFF2-40B4-BE49-F238E27FC236}">
                <a16:creationId xmlns:a16="http://schemas.microsoft.com/office/drawing/2014/main" id="{FE147E8F-01CD-ACE3-0BE8-6040BEA3784F}"/>
              </a:ext>
            </a:extLst>
          </p:cNvPr>
          <p:cNvPicPr>
            <a:picLocks noChangeAspect="1"/>
          </p:cNvPicPr>
          <p:nvPr/>
        </p:nvPicPr>
        <p:blipFill>
          <a:blip r:embed="rId3"/>
          <a:stretch>
            <a:fillRect/>
          </a:stretch>
        </p:blipFill>
        <p:spPr>
          <a:xfrm>
            <a:off x="5843481" y="0"/>
            <a:ext cx="6454127" cy="5061857"/>
          </a:xfrm>
          <a:prstGeom prst="rect">
            <a:avLst/>
          </a:prstGeom>
        </p:spPr>
      </p:pic>
      <p:pic>
        <p:nvPicPr>
          <p:cNvPr id="8" name="Picture 7">
            <a:extLst>
              <a:ext uri="{FF2B5EF4-FFF2-40B4-BE49-F238E27FC236}">
                <a16:creationId xmlns:a16="http://schemas.microsoft.com/office/drawing/2014/main" id="{9EF5620E-2F96-51EA-0AB7-459C44E863B8}"/>
              </a:ext>
            </a:extLst>
          </p:cNvPr>
          <p:cNvPicPr>
            <a:picLocks noChangeAspect="1"/>
          </p:cNvPicPr>
          <p:nvPr/>
        </p:nvPicPr>
        <p:blipFill>
          <a:blip r:embed="rId4"/>
          <a:stretch>
            <a:fillRect/>
          </a:stretch>
        </p:blipFill>
        <p:spPr>
          <a:xfrm>
            <a:off x="8413406" y="3609396"/>
            <a:ext cx="3974536" cy="2448504"/>
          </a:xfrm>
          <a:prstGeom prst="rect">
            <a:avLst/>
          </a:prstGeom>
        </p:spPr>
      </p:pic>
    </p:spTree>
    <p:extLst>
      <p:ext uri="{BB962C8B-B14F-4D97-AF65-F5344CB8AC3E}">
        <p14:creationId xmlns:p14="http://schemas.microsoft.com/office/powerpoint/2010/main" val="400651277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58DF0A1-B44F-033C-6871-991332DFD55F}"/>
              </a:ext>
            </a:extLst>
          </p:cNvPr>
          <p:cNvPicPr>
            <a:picLocks noChangeAspect="1"/>
          </p:cNvPicPr>
          <p:nvPr/>
        </p:nvPicPr>
        <p:blipFill>
          <a:blip r:embed="rId2"/>
          <a:stretch>
            <a:fillRect/>
          </a:stretch>
        </p:blipFill>
        <p:spPr>
          <a:xfrm>
            <a:off x="1289112" y="132348"/>
            <a:ext cx="9003903" cy="6359279"/>
          </a:xfrm>
          <a:prstGeom prst="rect">
            <a:avLst/>
          </a:prstGeom>
        </p:spPr>
      </p:pic>
    </p:spTree>
    <p:extLst>
      <p:ext uri="{BB962C8B-B14F-4D97-AF65-F5344CB8AC3E}">
        <p14:creationId xmlns:p14="http://schemas.microsoft.com/office/powerpoint/2010/main" val="322084920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0996015-75E2-08C1-690E-7DF0E68B0356}"/>
              </a:ext>
            </a:extLst>
          </p:cNvPr>
          <p:cNvPicPr>
            <a:picLocks noChangeAspect="1"/>
          </p:cNvPicPr>
          <p:nvPr/>
        </p:nvPicPr>
        <p:blipFill>
          <a:blip r:embed="rId2"/>
          <a:stretch>
            <a:fillRect/>
          </a:stretch>
        </p:blipFill>
        <p:spPr>
          <a:xfrm>
            <a:off x="0" y="1818570"/>
            <a:ext cx="6334125" cy="4552950"/>
          </a:xfrm>
          <a:prstGeom prst="rect">
            <a:avLst/>
          </a:prstGeom>
        </p:spPr>
      </p:pic>
      <p:sp>
        <p:nvSpPr>
          <p:cNvPr id="5" name="TextBox 4">
            <a:extLst>
              <a:ext uri="{FF2B5EF4-FFF2-40B4-BE49-F238E27FC236}">
                <a16:creationId xmlns:a16="http://schemas.microsoft.com/office/drawing/2014/main" id="{B9CA9FD3-1FF2-7059-C26B-0D3371E94B81}"/>
              </a:ext>
            </a:extLst>
          </p:cNvPr>
          <p:cNvSpPr txBox="1"/>
          <p:nvPr/>
        </p:nvSpPr>
        <p:spPr>
          <a:xfrm>
            <a:off x="859536" y="737616"/>
            <a:ext cx="2209259" cy="369332"/>
          </a:xfrm>
          <a:prstGeom prst="rect">
            <a:avLst/>
          </a:prstGeom>
          <a:noFill/>
        </p:spPr>
        <p:txBody>
          <a:bodyPr wrap="none" rtlCol="0">
            <a:spAutoFit/>
          </a:bodyPr>
          <a:lstStyle/>
          <a:p>
            <a:r>
              <a:rPr lang="en-CH" dirty="0"/>
              <a:t>Set Size, Sim and Seq</a:t>
            </a:r>
          </a:p>
        </p:txBody>
      </p:sp>
      <p:pic>
        <p:nvPicPr>
          <p:cNvPr id="6" name="Picture 5">
            <a:extLst>
              <a:ext uri="{FF2B5EF4-FFF2-40B4-BE49-F238E27FC236}">
                <a16:creationId xmlns:a16="http://schemas.microsoft.com/office/drawing/2014/main" id="{9F7DF704-2370-6FE2-B5D1-F88D6886DCD6}"/>
              </a:ext>
            </a:extLst>
          </p:cNvPr>
          <p:cNvPicPr>
            <a:picLocks noChangeAspect="1"/>
          </p:cNvPicPr>
          <p:nvPr/>
        </p:nvPicPr>
        <p:blipFill>
          <a:blip r:embed="rId3"/>
          <a:stretch>
            <a:fillRect/>
          </a:stretch>
        </p:blipFill>
        <p:spPr>
          <a:xfrm>
            <a:off x="5791553" y="1818570"/>
            <a:ext cx="6147768" cy="4552950"/>
          </a:xfrm>
          <a:prstGeom prst="rect">
            <a:avLst/>
          </a:prstGeom>
        </p:spPr>
      </p:pic>
    </p:spTree>
    <p:extLst>
      <p:ext uri="{BB962C8B-B14F-4D97-AF65-F5344CB8AC3E}">
        <p14:creationId xmlns:p14="http://schemas.microsoft.com/office/powerpoint/2010/main" val="70664258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2855D14-7F2B-918D-4DC6-891E6B5B076A}"/>
              </a:ext>
            </a:extLst>
          </p:cNvPr>
          <p:cNvSpPr txBox="1"/>
          <p:nvPr/>
        </p:nvSpPr>
        <p:spPr>
          <a:xfrm>
            <a:off x="859536" y="737616"/>
            <a:ext cx="2209259" cy="369332"/>
          </a:xfrm>
          <a:prstGeom prst="rect">
            <a:avLst/>
          </a:prstGeom>
          <a:noFill/>
        </p:spPr>
        <p:txBody>
          <a:bodyPr wrap="none" rtlCol="0">
            <a:spAutoFit/>
          </a:bodyPr>
          <a:lstStyle/>
          <a:p>
            <a:r>
              <a:rPr lang="en-CH" dirty="0"/>
              <a:t>Set Size, Sim and Seq</a:t>
            </a:r>
          </a:p>
        </p:txBody>
      </p:sp>
      <p:pic>
        <p:nvPicPr>
          <p:cNvPr id="2" name="Picture 1">
            <a:extLst>
              <a:ext uri="{FF2B5EF4-FFF2-40B4-BE49-F238E27FC236}">
                <a16:creationId xmlns:a16="http://schemas.microsoft.com/office/drawing/2014/main" id="{A6D9300E-E8A6-AD55-0DB3-542D3149C3DE}"/>
              </a:ext>
            </a:extLst>
          </p:cNvPr>
          <p:cNvPicPr>
            <a:picLocks noChangeAspect="1"/>
          </p:cNvPicPr>
          <p:nvPr/>
        </p:nvPicPr>
        <p:blipFill>
          <a:blip r:embed="rId2"/>
          <a:stretch>
            <a:fillRect/>
          </a:stretch>
        </p:blipFill>
        <p:spPr>
          <a:xfrm>
            <a:off x="-107576" y="1411640"/>
            <a:ext cx="6696075" cy="5095875"/>
          </a:xfrm>
          <a:prstGeom prst="rect">
            <a:avLst/>
          </a:prstGeom>
        </p:spPr>
      </p:pic>
      <p:pic>
        <p:nvPicPr>
          <p:cNvPr id="4" name="Picture 3">
            <a:extLst>
              <a:ext uri="{FF2B5EF4-FFF2-40B4-BE49-F238E27FC236}">
                <a16:creationId xmlns:a16="http://schemas.microsoft.com/office/drawing/2014/main" id="{798DF69C-F750-6523-55A8-0FBC7DFE9BE8}"/>
              </a:ext>
            </a:extLst>
          </p:cNvPr>
          <p:cNvPicPr>
            <a:picLocks noChangeAspect="1"/>
          </p:cNvPicPr>
          <p:nvPr/>
        </p:nvPicPr>
        <p:blipFill>
          <a:blip r:embed="rId3"/>
          <a:stretch>
            <a:fillRect/>
          </a:stretch>
        </p:blipFill>
        <p:spPr>
          <a:xfrm>
            <a:off x="6096000" y="1411640"/>
            <a:ext cx="6534150" cy="4895850"/>
          </a:xfrm>
          <a:prstGeom prst="rect">
            <a:avLst/>
          </a:prstGeom>
        </p:spPr>
      </p:pic>
    </p:spTree>
    <p:extLst>
      <p:ext uri="{BB962C8B-B14F-4D97-AF65-F5344CB8AC3E}">
        <p14:creationId xmlns:p14="http://schemas.microsoft.com/office/powerpoint/2010/main" val="66182122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C3F2F6B-25FC-6991-B6A9-552B61247132}"/>
              </a:ext>
            </a:extLst>
          </p:cNvPr>
          <p:cNvPicPr>
            <a:picLocks noChangeAspect="1"/>
          </p:cNvPicPr>
          <p:nvPr/>
        </p:nvPicPr>
        <p:blipFill>
          <a:blip r:embed="rId2"/>
          <a:stretch>
            <a:fillRect/>
          </a:stretch>
        </p:blipFill>
        <p:spPr>
          <a:xfrm>
            <a:off x="2781300" y="862012"/>
            <a:ext cx="6629400" cy="5133975"/>
          </a:xfrm>
          <a:prstGeom prst="rect">
            <a:avLst/>
          </a:prstGeom>
        </p:spPr>
      </p:pic>
    </p:spTree>
    <p:extLst>
      <p:ext uri="{BB962C8B-B14F-4D97-AF65-F5344CB8AC3E}">
        <p14:creationId xmlns:p14="http://schemas.microsoft.com/office/powerpoint/2010/main" val="261421056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CCA7E0-3717-5682-1898-38DBF7939DFE}"/>
              </a:ext>
            </a:extLst>
          </p:cNvPr>
          <p:cNvPicPr>
            <a:picLocks noChangeAspect="1"/>
          </p:cNvPicPr>
          <p:nvPr/>
        </p:nvPicPr>
        <p:blipFill>
          <a:blip r:embed="rId2"/>
          <a:stretch>
            <a:fillRect/>
          </a:stretch>
        </p:blipFill>
        <p:spPr>
          <a:xfrm>
            <a:off x="269854" y="742773"/>
            <a:ext cx="5826146" cy="4645908"/>
          </a:xfrm>
          <a:prstGeom prst="rect">
            <a:avLst/>
          </a:prstGeom>
        </p:spPr>
      </p:pic>
      <p:pic>
        <p:nvPicPr>
          <p:cNvPr id="3" name="Picture 2">
            <a:extLst>
              <a:ext uri="{FF2B5EF4-FFF2-40B4-BE49-F238E27FC236}">
                <a16:creationId xmlns:a16="http://schemas.microsoft.com/office/drawing/2014/main" id="{00AA8DA1-94E6-27B3-3AF5-C6589F2C3B0B}"/>
              </a:ext>
            </a:extLst>
          </p:cNvPr>
          <p:cNvPicPr>
            <a:picLocks noChangeAspect="1"/>
          </p:cNvPicPr>
          <p:nvPr/>
        </p:nvPicPr>
        <p:blipFill>
          <a:blip r:embed="rId3"/>
          <a:stretch>
            <a:fillRect/>
          </a:stretch>
        </p:blipFill>
        <p:spPr>
          <a:xfrm>
            <a:off x="6096000" y="599898"/>
            <a:ext cx="5625290" cy="4931657"/>
          </a:xfrm>
          <a:prstGeom prst="rect">
            <a:avLst/>
          </a:prstGeom>
        </p:spPr>
      </p:pic>
    </p:spTree>
    <p:extLst>
      <p:ext uri="{BB962C8B-B14F-4D97-AF65-F5344CB8AC3E}">
        <p14:creationId xmlns:p14="http://schemas.microsoft.com/office/powerpoint/2010/main" val="37789644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8D4CDC2-0211-EEBA-A2E5-1CC97F0D38E0}"/>
              </a:ext>
            </a:extLst>
          </p:cNvPr>
          <p:cNvSpPr txBox="1"/>
          <p:nvPr/>
        </p:nvSpPr>
        <p:spPr>
          <a:xfrm>
            <a:off x="859536" y="737616"/>
            <a:ext cx="2676502" cy="369332"/>
          </a:xfrm>
          <a:prstGeom prst="rect">
            <a:avLst/>
          </a:prstGeom>
          <a:noFill/>
        </p:spPr>
        <p:txBody>
          <a:bodyPr wrap="none" rtlCol="0">
            <a:spAutoFit/>
          </a:bodyPr>
          <a:lstStyle/>
          <a:p>
            <a:r>
              <a:rPr lang="en-CH" dirty="0"/>
              <a:t>Set Size, </a:t>
            </a:r>
            <a:r>
              <a:rPr lang="en-CH"/>
              <a:t>Change Detection</a:t>
            </a:r>
            <a:endParaRPr lang="en-CH" dirty="0"/>
          </a:p>
        </p:txBody>
      </p:sp>
      <p:pic>
        <p:nvPicPr>
          <p:cNvPr id="5" name="Picture 4">
            <a:extLst>
              <a:ext uri="{FF2B5EF4-FFF2-40B4-BE49-F238E27FC236}">
                <a16:creationId xmlns:a16="http://schemas.microsoft.com/office/drawing/2014/main" id="{CD629A73-1835-FDE0-A97C-49B1E58D52E3}"/>
              </a:ext>
            </a:extLst>
          </p:cNvPr>
          <p:cNvPicPr>
            <a:picLocks noChangeAspect="1"/>
          </p:cNvPicPr>
          <p:nvPr/>
        </p:nvPicPr>
        <p:blipFill>
          <a:blip r:embed="rId2"/>
          <a:stretch>
            <a:fillRect/>
          </a:stretch>
        </p:blipFill>
        <p:spPr>
          <a:xfrm>
            <a:off x="283261" y="1554542"/>
            <a:ext cx="6162675" cy="4362450"/>
          </a:xfrm>
          <a:prstGeom prst="rect">
            <a:avLst/>
          </a:prstGeom>
        </p:spPr>
      </p:pic>
      <p:pic>
        <p:nvPicPr>
          <p:cNvPr id="6" name="Picture 5">
            <a:extLst>
              <a:ext uri="{FF2B5EF4-FFF2-40B4-BE49-F238E27FC236}">
                <a16:creationId xmlns:a16="http://schemas.microsoft.com/office/drawing/2014/main" id="{C369B4FC-7E1D-8287-F70A-4979849607CC}"/>
              </a:ext>
            </a:extLst>
          </p:cNvPr>
          <p:cNvPicPr>
            <a:picLocks noChangeAspect="1"/>
          </p:cNvPicPr>
          <p:nvPr/>
        </p:nvPicPr>
        <p:blipFill>
          <a:blip r:embed="rId3"/>
          <a:stretch>
            <a:fillRect/>
          </a:stretch>
        </p:blipFill>
        <p:spPr>
          <a:xfrm>
            <a:off x="6448425" y="1184141"/>
            <a:ext cx="5743575" cy="4867275"/>
          </a:xfrm>
          <a:prstGeom prst="rect">
            <a:avLst/>
          </a:prstGeom>
        </p:spPr>
      </p:pic>
    </p:spTree>
    <p:extLst>
      <p:ext uri="{BB962C8B-B14F-4D97-AF65-F5344CB8AC3E}">
        <p14:creationId xmlns:p14="http://schemas.microsoft.com/office/powerpoint/2010/main" val="22426297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D5C0151-F25F-0587-5DA1-BD7A3CAC5C2C}"/>
              </a:ext>
            </a:extLst>
          </p:cNvPr>
          <p:cNvSpPr txBox="1"/>
          <p:nvPr/>
        </p:nvSpPr>
        <p:spPr>
          <a:xfrm>
            <a:off x="667753" y="553453"/>
            <a:ext cx="1599477" cy="369332"/>
          </a:xfrm>
          <a:prstGeom prst="rect">
            <a:avLst/>
          </a:prstGeom>
          <a:noFill/>
        </p:spPr>
        <p:txBody>
          <a:bodyPr wrap="none" rtlCol="0">
            <a:spAutoFit/>
          </a:bodyPr>
          <a:lstStyle/>
          <a:p>
            <a:r>
              <a:rPr lang="en-CH" dirty="0" err="1"/>
              <a:t>Setsize</a:t>
            </a:r>
            <a:r>
              <a:rPr lang="en-CH" dirty="0"/>
              <a:t>, </a:t>
            </a:r>
            <a:r>
              <a:rPr lang="en-CH" dirty="0" err="1"/>
              <a:t>ind</a:t>
            </a:r>
            <a:r>
              <a:rPr lang="en-CH" dirty="0"/>
              <a:t> diff</a:t>
            </a:r>
          </a:p>
        </p:txBody>
      </p:sp>
      <p:pic>
        <p:nvPicPr>
          <p:cNvPr id="3" name="Picture 2">
            <a:extLst>
              <a:ext uri="{FF2B5EF4-FFF2-40B4-BE49-F238E27FC236}">
                <a16:creationId xmlns:a16="http://schemas.microsoft.com/office/drawing/2014/main" id="{3128D985-9981-7AB8-3444-984722C0E82C}"/>
              </a:ext>
            </a:extLst>
          </p:cNvPr>
          <p:cNvPicPr>
            <a:picLocks noChangeAspect="1"/>
          </p:cNvPicPr>
          <p:nvPr/>
        </p:nvPicPr>
        <p:blipFill>
          <a:blip r:embed="rId2"/>
          <a:stretch>
            <a:fillRect/>
          </a:stretch>
        </p:blipFill>
        <p:spPr>
          <a:xfrm>
            <a:off x="5743575" y="1686622"/>
            <a:ext cx="6448425" cy="4800600"/>
          </a:xfrm>
          <a:prstGeom prst="rect">
            <a:avLst/>
          </a:prstGeom>
        </p:spPr>
      </p:pic>
      <p:pic>
        <p:nvPicPr>
          <p:cNvPr id="4" name="Picture 3">
            <a:extLst>
              <a:ext uri="{FF2B5EF4-FFF2-40B4-BE49-F238E27FC236}">
                <a16:creationId xmlns:a16="http://schemas.microsoft.com/office/drawing/2014/main" id="{AFE9F9FC-6F17-DDF8-281A-C5A14B12A508}"/>
              </a:ext>
            </a:extLst>
          </p:cNvPr>
          <p:cNvPicPr>
            <a:picLocks noChangeAspect="1"/>
          </p:cNvPicPr>
          <p:nvPr/>
        </p:nvPicPr>
        <p:blipFill>
          <a:blip r:embed="rId3"/>
          <a:stretch>
            <a:fillRect/>
          </a:stretch>
        </p:blipFill>
        <p:spPr>
          <a:xfrm>
            <a:off x="217797" y="1828103"/>
            <a:ext cx="5545317" cy="4659119"/>
          </a:xfrm>
          <a:prstGeom prst="rect">
            <a:avLst/>
          </a:prstGeom>
        </p:spPr>
      </p:pic>
    </p:spTree>
    <p:extLst>
      <p:ext uri="{BB962C8B-B14F-4D97-AF65-F5344CB8AC3E}">
        <p14:creationId xmlns:p14="http://schemas.microsoft.com/office/powerpoint/2010/main" val="313064382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FC5569-779C-7485-DBA9-2308A434A2EE}"/>
              </a:ext>
            </a:extLst>
          </p:cNvPr>
          <p:cNvPicPr>
            <a:picLocks noChangeAspect="1"/>
          </p:cNvPicPr>
          <p:nvPr/>
        </p:nvPicPr>
        <p:blipFill>
          <a:blip r:embed="rId2"/>
          <a:stretch>
            <a:fillRect/>
          </a:stretch>
        </p:blipFill>
        <p:spPr>
          <a:xfrm>
            <a:off x="469513" y="1009650"/>
            <a:ext cx="6457950" cy="4838700"/>
          </a:xfrm>
          <a:prstGeom prst="rect">
            <a:avLst/>
          </a:prstGeom>
        </p:spPr>
      </p:pic>
    </p:spTree>
    <p:extLst>
      <p:ext uri="{BB962C8B-B14F-4D97-AF65-F5344CB8AC3E}">
        <p14:creationId xmlns:p14="http://schemas.microsoft.com/office/powerpoint/2010/main" val="2386631180"/>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49C0930-FB48-691D-9165-54C7210D6B4A}"/>
              </a:ext>
            </a:extLst>
          </p:cNvPr>
          <p:cNvSpPr txBox="1"/>
          <p:nvPr/>
        </p:nvSpPr>
        <p:spPr>
          <a:xfrm>
            <a:off x="667753" y="553453"/>
            <a:ext cx="4131580" cy="369332"/>
          </a:xfrm>
          <a:prstGeom prst="rect">
            <a:avLst/>
          </a:prstGeom>
          <a:noFill/>
        </p:spPr>
        <p:txBody>
          <a:bodyPr wrap="none" rtlCol="0">
            <a:spAutoFit/>
          </a:bodyPr>
          <a:lstStyle/>
          <a:p>
            <a:r>
              <a:rPr lang="en-CH" dirty="0" err="1"/>
              <a:t>Setsize</a:t>
            </a:r>
            <a:r>
              <a:rPr lang="en-CH" dirty="0"/>
              <a:t>, tracking alpha, CDA, simultaneous</a:t>
            </a:r>
          </a:p>
        </p:txBody>
      </p:sp>
      <p:pic>
        <p:nvPicPr>
          <p:cNvPr id="5" name="Picture 4">
            <a:extLst>
              <a:ext uri="{FF2B5EF4-FFF2-40B4-BE49-F238E27FC236}">
                <a16:creationId xmlns:a16="http://schemas.microsoft.com/office/drawing/2014/main" id="{B27D652A-8D31-BBA9-7694-39D3C215A665}"/>
              </a:ext>
            </a:extLst>
          </p:cNvPr>
          <p:cNvPicPr>
            <a:picLocks noChangeAspect="1"/>
          </p:cNvPicPr>
          <p:nvPr/>
        </p:nvPicPr>
        <p:blipFill>
          <a:blip r:embed="rId2"/>
          <a:stretch>
            <a:fillRect/>
          </a:stretch>
        </p:blipFill>
        <p:spPr>
          <a:xfrm>
            <a:off x="241634" y="1187367"/>
            <a:ext cx="5972677" cy="4479508"/>
          </a:xfrm>
          <a:prstGeom prst="rect">
            <a:avLst/>
          </a:prstGeom>
        </p:spPr>
      </p:pic>
      <p:pic>
        <p:nvPicPr>
          <p:cNvPr id="6" name="Picture 5">
            <a:extLst>
              <a:ext uri="{FF2B5EF4-FFF2-40B4-BE49-F238E27FC236}">
                <a16:creationId xmlns:a16="http://schemas.microsoft.com/office/drawing/2014/main" id="{A488C67A-668F-05A5-BAFB-ED84BABA1662}"/>
              </a:ext>
            </a:extLst>
          </p:cNvPr>
          <p:cNvPicPr>
            <a:picLocks noChangeAspect="1"/>
          </p:cNvPicPr>
          <p:nvPr/>
        </p:nvPicPr>
        <p:blipFill>
          <a:blip r:embed="rId3"/>
          <a:stretch>
            <a:fillRect/>
          </a:stretch>
        </p:blipFill>
        <p:spPr>
          <a:xfrm>
            <a:off x="6004745" y="1187367"/>
            <a:ext cx="6149877" cy="4365207"/>
          </a:xfrm>
          <a:prstGeom prst="rect">
            <a:avLst/>
          </a:prstGeom>
        </p:spPr>
      </p:pic>
      <p:pic>
        <p:nvPicPr>
          <p:cNvPr id="7" name="Picture 6">
            <a:extLst>
              <a:ext uri="{FF2B5EF4-FFF2-40B4-BE49-F238E27FC236}">
                <a16:creationId xmlns:a16="http://schemas.microsoft.com/office/drawing/2014/main" id="{879DFCF6-E836-76E7-76F8-70B4F014EDEA}"/>
              </a:ext>
            </a:extLst>
          </p:cNvPr>
          <p:cNvPicPr>
            <a:picLocks noChangeAspect="1"/>
          </p:cNvPicPr>
          <p:nvPr/>
        </p:nvPicPr>
        <p:blipFill>
          <a:blip r:embed="rId4"/>
          <a:stretch>
            <a:fillRect/>
          </a:stretch>
        </p:blipFill>
        <p:spPr>
          <a:xfrm>
            <a:off x="8625724" y="4048626"/>
            <a:ext cx="3528898" cy="2585786"/>
          </a:xfrm>
          <a:prstGeom prst="rect">
            <a:avLst/>
          </a:prstGeom>
        </p:spPr>
      </p:pic>
    </p:spTree>
    <p:extLst>
      <p:ext uri="{BB962C8B-B14F-4D97-AF65-F5344CB8AC3E}">
        <p14:creationId xmlns:p14="http://schemas.microsoft.com/office/powerpoint/2010/main" val="110134712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A65CB9-A903-1988-3D85-AF11F3F837B4}"/>
              </a:ext>
            </a:extLst>
          </p:cNvPr>
          <p:cNvPicPr>
            <a:picLocks noChangeAspect="1"/>
          </p:cNvPicPr>
          <p:nvPr/>
        </p:nvPicPr>
        <p:blipFill>
          <a:blip r:embed="rId2"/>
          <a:stretch>
            <a:fillRect/>
          </a:stretch>
        </p:blipFill>
        <p:spPr>
          <a:xfrm>
            <a:off x="431731" y="185737"/>
            <a:ext cx="4425714" cy="3600955"/>
          </a:xfrm>
          <a:prstGeom prst="rect">
            <a:avLst/>
          </a:prstGeom>
        </p:spPr>
      </p:pic>
      <p:pic>
        <p:nvPicPr>
          <p:cNvPr id="3" name="Picture 2">
            <a:extLst>
              <a:ext uri="{FF2B5EF4-FFF2-40B4-BE49-F238E27FC236}">
                <a16:creationId xmlns:a16="http://schemas.microsoft.com/office/drawing/2014/main" id="{EF561B0D-583A-F284-C024-CA22C7775C27}"/>
              </a:ext>
            </a:extLst>
          </p:cNvPr>
          <p:cNvPicPr>
            <a:picLocks noChangeAspect="1"/>
          </p:cNvPicPr>
          <p:nvPr/>
        </p:nvPicPr>
        <p:blipFill>
          <a:blip r:embed="rId3"/>
          <a:stretch>
            <a:fillRect/>
          </a:stretch>
        </p:blipFill>
        <p:spPr>
          <a:xfrm>
            <a:off x="220869" y="3786692"/>
            <a:ext cx="5222500" cy="3129563"/>
          </a:xfrm>
          <a:prstGeom prst="rect">
            <a:avLst/>
          </a:prstGeom>
        </p:spPr>
      </p:pic>
      <p:pic>
        <p:nvPicPr>
          <p:cNvPr id="4" name="Picture 3">
            <a:extLst>
              <a:ext uri="{FF2B5EF4-FFF2-40B4-BE49-F238E27FC236}">
                <a16:creationId xmlns:a16="http://schemas.microsoft.com/office/drawing/2014/main" id="{E4C346C9-ECFA-3EDE-889D-B2F02E53ECC6}"/>
              </a:ext>
            </a:extLst>
          </p:cNvPr>
          <p:cNvPicPr>
            <a:picLocks noChangeAspect="1"/>
          </p:cNvPicPr>
          <p:nvPr/>
        </p:nvPicPr>
        <p:blipFill>
          <a:blip r:embed="rId4"/>
          <a:stretch>
            <a:fillRect/>
          </a:stretch>
        </p:blipFill>
        <p:spPr>
          <a:xfrm>
            <a:off x="5068307" y="1760949"/>
            <a:ext cx="6096000" cy="4562475"/>
          </a:xfrm>
          <a:prstGeom prst="rect">
            <a:avLst/>
          </a:prstGeom>
        </p:spPr>
      </p:pic>
      <p:pic>
        <p:nvPicPr>
          <p:cNvPr id="5" name="Picture 4">
            <a:extLst>
              <a:ext uri="{FF2B5EF4-FFF2-40B4-BE49-F238E27FC236}">
                <a16:creationId xmlns:a16="http://schemas.microsoft.com/office/drawing/2014/main" id="{923F6E21-4748-49BB-0197-DFA6770C8457}"/>
              </a:ext>
            </a:extLst>
          </p:cNvPr>
          <p:cNvPicPr>
            <a:picLocks noChangeAspect="1"/>
          </p:cNvPicPr>
          <p:nvPr/>
        </p:nvPicPr>
        <p:blipFill>
          <a:blip r:embed="rId5"/>
          <a:stretch>
            <a:fillRect/>
          </a:stretch>
        </p:blipFill>
        <p:spPr>
          <a:xfrm>
            <a:off x="9262334" y="4556479"/>
            <a:ext cx="2929666" cy="2197250"/>
          </a:xfrm>
          <a:prstGeom prst="rect">
            <a:avLst/>
          </a:prstGeom>
        </p:spPr>
      </p:pic>
      <p:sp>
        <p:nvSpPr>
          <p:cNvPr id="6" name="TextBox 5">
            <a:extLst>
              <a:ext uri="{FF2B5EF4-FFF2-40B4-BE49-F238E27FC236}">
                <a16:creationId xmlns:a16="http://schemas.microsoft.com/office/drawing/2014/main" id="{5F8DCE18-1284-F154-E5B6-90FD4E62ECDF}"/>
              </a:ext>
            </a:extLst>
          </p:cNvPr>
          <p:cNvSpPr txBox="1"/>
          <p:nvPr/>
        </p:nvSpPr>
        <p:spPr>
          <a:xfrm>
            <a:off x="5443369" y="563412"/>
            <a:ext cx="3851760" cy="369332"/>
          </a:xfrm>
          <a:prstGeom prst="rect">
            <a:avLst/>
          </a:prstGeom>
          <a:noFill/>
        </p:spPr>
        <p:txBody>
          <a:bodyPr wrap="none" rtlCol="0">
            <a:spAutoFit/>
          </a:bodyPr>
          <a:lstStyle/>
          <a:p>
            <a:r>
              <a:rPr lang="en-CH" dirty="0" err="1"/>
              <a:t>Setsize</a:t>
            </a:r>
            <a:r>
              <a:rPr lang="en-CH" dirty="0"/>
              <a:t>, tracking alpha, CDA, sequential</a:t>
            </a:r>
          </a:p>
        </p:txBody>
      </p:sp>
    </p:spTree>
    <p:extLst>
      <p:ext uri="{BB962C8B-B14F-4D97-AF65-F5344CB8AC3E}">
        <p14:creationId xmlns:p14="http://schemas.microsoft.com/office/powerpoint/2010/main" val="368549192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53820203-0A75-21F1-68F6-AFFAB7691A4C}"/>
              </a:ext>
            </a:extLst>
          </p:cNvPr>
          <p:cNvSpPr txBox="1"/>
          <p:nvPr/>
        </p:nvSpPr>
        <p:spPr>
          <a:xfrm>
            <a:off x="667753" y="553453"/>
            <a:ext cx="3495957" cy="369332"/>
          </a:xfrm>
          <a:prstGeom prst="rect">
            <a:avLst/>
          </a:prstGeom>
          <a:noFill/>
        </p:spPr>
        <p:txBody>
          <a:bodyPr wrap="none" rtlCol="0">
            <a:spAutoFit/>
          </a:bodyPr>
          <a:lstStyle/>
          <a:p>
            <a:r>
              <a:rPr lang="en-CH" dirty="0"/>
              <a:t>Sensory Memory (Pratte &amp; Greene)</a:t>
            </a:r>
          </a:p>
        </p:txBody>
      </p:sp>
      <p:pic>
        <p:nvPicPr>
          <p:cNvPr id="2" name="Picture 1">
            <a:extLst>
              <a:ext uri="{FF2B5EF4-FFF2-40B4-BE49-F238E27FC236}">
                <a16:creationId xmlns:a16="http://schemas.microsoft.com/office/drawing/2014/main" id="{5CE309EC-CDF7-A316-D14E-C224917678D7}"/>
              </a:ext>
            </a:extLst>
          </p:cNvPr>
          <p:cNvPicPr>
            <a:picLocks noChangeAspect="1"/>
          </p:cNvPicPr>
          <p:nvPr/>
        </p:nvPicPr>
        <p:blipFill>
          <a:blip r:embed="rId2"/>
          <a:stretch>
            <a:fillRect/>
          </a:stretch>
        </p:blipFill>
        <p:spPr>
          <a:xfrm>
            <a:off x="1201674" y="1084897"/>
            <a:ext cx="6057900" cy="4810125"/>
          </a:xfrm>
          <a:prstGeom prst="rect">
            <a:avLst/>
          </a:prstGeom>
        </p:spPr>
      </p:pic>
    </p:spTree>
    <p:extLst>
      <p:ext uri="{BB962C8B-B14F-4D97-AF65-F5344CB8AC3E}">
        <p14:creationId xmlns:p14="http://schemas.microsoft.com/office/powerpoint/2010/main" val="380916980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EF38142-E9F9-C599-6490-CAB52847132A}"/>
              </a:ext>
            </a:extLst>
          </p:cNvPr>
          <p:cNvPicPr>
            <a:picLocks noChangeAspect="1"/>
          </p:cNvPicPr>
          <p:nvPr/>
        </p:nvPicPr>
        <p:blipFill>
          <a:blip r:embed="rId2"/>
          <a:stretch>
            <a:fillRect/>
          </a:stretch>
        </p:blipFill>
        <p:spPr>
          <a:xfrm>
            <a:off x="-106363" y="1111250"/>
            <a:ext cx="6105525" cy="4838700"/>
          </a:xfrm>
          <a:prstGeom prst="rect">
            <a:avLst/>
          </a:prstGeom>
        </p:spPr>
      </p:pic>
      <p:sp>
        <p:nvSpPr>
          <p:cNvPr id="3" name="TextBox 2">
            <a:extLst>
              <a:ext uri="{FF2B5EF4-FFF2-40B4-BE49-F238E27FC236}">
                <a16:creationId xmlns:a16="http://schemas.microsoft.com/office/drawing/2014/main" id="{4D2D19EA-C0B3-B6E2-B525-363A959AF9FE}"/>
              </a:ext>
            </a:extLst>
          </p:cNvPr>
          <p:cNvSpPr txBox="1"/>
          <p:nvPr/>
        </p:nvSpPr>
        <p:spPr>
          <a:xfrm>
            <a:off x="667753" y="553453"/>
            <a:ext cx="1537600" cy="369332"/>
          </a:xfrm>
          <a:prstGeom prst="rect">
            <a:avLst/>
          </a:prstGeom>
          <a:noFill/>
        </p:spPr>
        <p:txBody>
          <a:bodyPr wrap="none" rtlCol="0">
            <a:spAutoFit/>
          </a:bodyPr>
          <a:lstStyle/>
          <a:p>
            <a:r>
              <a:rPr lang="en-CH" dirty="0"/>
              <a:t>Set Size and RI</a:t>
            </a:r>
          </a:p>
        </p:txBody>
      </p:sp>
      <p:pic>
        <p:nvPicPr>
          <p:cNvPr id="4" name="Picture 3">
            <a:extLst>
              <a:ext uri="{FF2B5EF4-FFF2-40B4-BE49-F238E27FC236}">
                <a16:creationId xmlns:a16="http://schemas.microsoft.com/office/drawing/2014/main" id="{0D85E8CA-1885-85BE-C011-FF742D5EBB71}"/>
              </a:ext>
            </a:extLst>
          </p:cNvPr>
          <p:cNvPicPr>
            <a:picLocks noChangeAspect="1"/>
          </p:cNvPicPr>
          <p:nvPr/>
        </p:nvPicPr>
        <p:blipFill>
          <a:blip r:embed="rId3"/>
          <a:stretch>
            <a:fillRect/>
          </a:stretch>
        </p:blipFill>
        <p:spPr>
          <a:xfrm>
            <a:off x="5740224" y="1111250"/>
            <a:ext cx="6431736" cy="4966493"/>
          </a:xfrm>
          <a:prstGeom prst="rect">
            <a:avLst/>
          </a:prstGeom>
        </p:spPr>
      </p:pic>
    </p:spTree>
    <p:extLst>
      <p:ext uri="{BB962C8B-B14F-4D97-AF65-F5344CB8AC3E}">
        <p14:creationId xmlns:p14="http://schemas.microsoft.com/office/powerpoint/2010/main" val="427862456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031FEDC-4455-9E2F-603B-E2FCA64B3161}"/>
              </a:ext>
            </a:extLst>
          </p:cNvPr>
          <p:cNvPicPr>
            <a:picLocks noChangeAspect="1"/>
          </p:cNvPicPr>
          <p:nvPr/>
        </p:nvPicPr>
        <p:blipFill>
          <a:blip r:embed="rId2"/>
          <a:stretch>
            <a:fillRect/>
          </a:stretch>
        </p:blipFill>
        <p:spPr>
          <a:xfrm>
            <a:off x="0" y="547687"/>
            <a:ext cx="6181725" cy="5762625"/>
          </a:xfrm>
          <a:prstGeom prst="rect">
            <a:avLst/>
          </a:prstGeom>
        </p:spPr>
      </p:pic>
      <p:pic>
        <p:nvPicPr>
          <p:cNvPr id="3" name="Picture 2">
            <a:extLst>
              <a:ext uri="{FF2B5EF4-FFF2-40B4-BE49-F238E27FC236}">
                <a16:creationId xmlns:a16="http://schemas.microsoft.com/office/drawing/2014/main" id="{ACF46723-2CC5-92DE-20FF-EC43D51F30BF}"/>
              </a:ext>
            </a:extLst>
          </p:cNvPr>
          <p:cNvPicPr>
            <a:picLocks noChangeAspect="1"/>
          </p:cNvPicPr>
          <p:nvPr/>
        </p:nvPicPr>
        <p:blipFill>
          <a:blip r:embed="rId3"/>
          <a:stretch>
            <a:fillRect/>
          </a:stretch>
        </p:blipFill>
        <p:spPr>
          <a:xfrm>
            <a:off x="5834284" y="623944"/>
            <a:ext cx="6363710" cy="5609243"/>
          </a:xfrm>
          <a:prstGeom prst="rect">
            <a:avLst/>
          </a:prstGeom>
        </p:spPr>
      </p:pic>
    </p:spTree>
    <p:extLst>
      <p:ext uri="{BB962C8B-B14F-4D97-AF65-F5344CB8AC3E}">
        <p14:creationId xmlns:p14="http://schemas.microsoft.com/office/powerpoint/2010/main" val="326123099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7466435-4FFF-A62A-DCB3-9CE1F1C864E3}"/>
              </a:ext>
            </a:extLst>
          </p:cNvPr>
          <p:cNvSpPr txBox="1"/>
          <p:nvPr/>
        </p:nvSpPr>
        <p:spPr>
          <a:xfrm>
            <a:off x="667753" y="553453"/>
            <a:ext cx="4733925" cy="369332"/>
          </a:xfrm>
          <a:prstGeom prst="rect">
            <a:avLst/>
          </a:prstGeom>
          <a:noFill/>
        </p:spPr>
        <p:txBody>
          <a:bodyPr wrap="none" rtlCol="0">
            <a:spAutoFit/>
          </a:bodyPr>
          <a:lstStyle/>
          <a:p>
            <a:r>
              <a:rPr lang="en-CH" dirty="0"/>
              <a:t>Sim. and Seq. Consolidation (Shepherdson et al.)</a:t>
            </a:r>
          </a:p>
        </p:txBody>
      </p:sp>
      <p:pic>
        <p:nvPicPr>
          <p:cNvPr id="2" name="Picture 1">
            <a:extLst>
              <a:ext uri="{FF2B5EF4-FFF2-40B4-BE49-F238E27FC236}">
                <a16:creationId xmlns:a16="http://schemas.microsoft.com/office/drawing/2014/main" id="{DFA45792-260B-C3F6-730C-78DA1FEACD94}"/>
              </a:ext>
            </a:extLst>
          </p:cNvPr>
          <p:cNvPicPr>
            <a:picLocks noChangeAspect="1"/>
          </p:cNvPicPr>
          <p:nvPr/>
        </p:nvPicPr>
        <p:blipFill>
          <a:blip r:embed="rId2"/>
          <a:stretch>
            <a:fillRect/>
          </a:stretch>
        </p:blipFill>
        <p:spPr>
          <a:xfrm>
            <a:off x="400050" y="1497330"/>
            <a:ext cx="5695950" cy="4229100"/>
          </a:xfrm>
          <a:prstGeom prst="rect">
            <a:avLst/>
          </a:prstGeom>
        </p:spPr>
      </p:pic>
      <p:pic>
        <p:nvPicPr>
          <p:cNvPr id="3" name="Picture 2">
            <a:extLst>
              <a:ext uri="{FF2B5EF4-FFF2-40B4-BE49-F238E27FC236}">
                <a16:creationId xmlns:a16="http://schemas.microsoft.com/office/drawing/2014/main" id="{14AAA26B-3EE4-AA9D-3675-6D5F243CFC23}"/>
              </a:ext>
            </a:extLst>
          </p:cNvPr>
          <p:cNvPicPr>
            <a:picLocks noChangeAspect="1"/>
          </p:cNvPicPr>
          <p:nvPr/>
        </p:nvPicPr>
        <p:blipFill>
          <a:blip r:embed="rId3"/>
          <a:stretch>
            <a:fillRect/>
          </a:stretch>
        </p:blipFill>
        <p:spPr>
          <a:xfrm>
            <a:off x="5953524" y="1163955"/>
            <a:ext cx="6467475" cy="4562475"/>
          </a:xfrm>
          <a:prstGeom prst="rect">
            <a:avLst/>
          </a:prstGeom>
        </p:spPr>
      </p:pic>
    </p:spTree>
    <p:extLst>
      <p:ext uri="{BB962C8B-B14F-4D97-AF65-F5344CB8AC3E}">
        <p14:creationId xmlns:p14="http://schemas.microsoft.com/office/powerpoint/2010/main" val="290632563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6034C-21F9-CB12-D860-6C1809C7404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11274B5-328D-2193-2C83-C13C312A5B6D}"/>
              </a:ext>
            </a:extLst>
          </p:cNvPr>
          <p:cNvSpPr txBox="1"/>
          <p:nvPr/>
        </p:nvSpPr>
        <p:spPr>
          <a:xfrm>
            <a:off x="667753" y="553453"/>
            <a:ext cx="4733925" cy="369332"/>
          </a:xfrm>
          <a:prstGeom prst="rect">
            <a:avLst/>
          </a:prstGeom>
          <a:noFill/>
        </p:spPr>
        <p:txBody>
          <a:bodyPr wrap="none" rtlCol="0">
            <a:spAutoFit/>
          </a:bodyPr>
          <a:lstStyle/>
          <a:p>
            <a:r>
              <a:rPr lang="en-CH" dirty="0"/>
              <a:t>Sim. and Seq. Consolidation (Shepherdson et al.)</a:t>
            </a:r>
          </a:p>
        </p:txBody>
      </p:sp>
      <p:pic>
        <p:nvPicPr>
          <p:cNvPr id="2" name="Picture 1">
            <a:extLst>
              <a:ext uri="{FF2B5EF4-FFF2-40B4-BE49-F238E27FC236}">
                <a16:creationId xmlns:a16="http://schemas.microsoft.com/office/drawing/2014/main" id="{7290A47B-3914-A4DA-CF47-6DE9FF928238}"/>
              </a:ext>
            </a:extLst>
          </p:cNvPr>
          <p:cNvPicPr>
            <a:picLocks noChangeAspect="1"/>
          </p:cNvPicPr>
          <p:nvPr/>
        </p:nvPicPr>
        <p:blipFill>
          <a:blip r:embed="rId2"/>
          <a:stretch>
            <a:fillRect/>
          </a:stretch>
        </p:blipFill>
        <p:spPr>
          <a:xfrm>
            <a:off x="3009900" y="1181100"/>
            <a:ext cx="6172200" cy="4495800"/>
          </a:xfrm>
          <a:prstGeom prst="rect">
            <a:avLst/>
          </a:prstGeom>
        </p:spPr>
      </p:pic>
    </p:spTree>
    <p:extLst>
      <p:ext uri="{BB962C8B-B14F-4D97-AF65-F5344CB8AC3E}">
        <p14:creationId xmlns:p14="http://schemas.microsoft.com/office/powerpoint/2010/main" val="1435137351"/>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192BC4-B35A-CF33-A5F5-08D35D41ADF0}"/>
              </a:ext>
            </a:extLst>
          </p:cNvPr>
          <p:cNvPicPr>
            <a:picLocks noChangeAspect="1"/>
          </p:cNvPicPr>
          <p:nvPr/>
        </p:nvPicPr>
        <p:blipFill>
          <a:blip r:embed="rId2"/>
          <a:stretch>
            <a:fillRect/>
          </a:stretch>
        </p:blipFill>
        <p:spPr>
          <a:xfrm>
            <a:off x="254778" y="1250663"/>
            <a:ext cx="6043884" cy="4563335"/>
          </a:xfrm>
          <a:prstGeom prst="rect">
            <a:avLst/>
          </a:prstGeom>
        </p:spPr>
      </p:pic>
      <p:sp>
        <p:nvSpPr>
          <p:cNvPr id="3" name="TextBox 2">
            <a:extLst>
              <a:ext uri="{FF2B5EF4-FFF2-40B4-BE49-F238E27FC236}">
                <a16:creationId xmlns:a16="http://schemas.microsoft.com/office/drawing/2014/main" id="{6FB2E03D-9B3E-69F7-779D-02C6445B10D6}"/>
              </a:ext>
            </a:extLst>
          </p:cNvPr>
          <p:cNvSpPr txBox="1"/>
          <p:nvPr/>
        </p:nvSpPr>
        <p:spPr>
          <a:xfrm>
            <a:off x="667753" y="553453"/>
            <a:ext cx="3143425" cy="369332"/>
          </a:xfrm>
          <a:prstGeom prst="rect">
            <a:avLst/>
          </a:prstGeom>
          <a:noFill/>
        </p:spPr>
        <p:txBody>
          <a:bodyPr wrap="none" rtlCol="0">
            <a:spAutoFit/>
          </a:bodyPr>
          <a:lstStyle/>
          <a:p>
            <a:r>
              <a:rPr lang="en-CH" dirty="0"/>
              <a:t>Consolidation (Ricker &amp; Sandry)</a:t>
            </a:r>
          </a:p>
        </p:txBody>
      </p:sp>
      <p:pic>
        <p:nvPicPr>
          <p:cNvPr id="4" name="Picture 3">
            <a:extLst>
              <a:ext uri="{FF2B5EF4-FFF2-40B4-BE49-F238E27FC236}">
                <a16:creationId xmlns:a16="http://schemas.microsoft.com/office/drawing/2014/main" id="{7EC6F574-8CAD-4B2B-3C99-115944151B17}"/>
              </a:ext>
            </a:extLst>
          </p:cNvPr>
          <p:cNvPicPr>
            <a:picLocks noChangeAspect="1"/>
          </p:cNvPicPr>
          <p:nvPr/>
        </p:nvPicPr>
        <p:blipFill>
          <a:blip r:embed="rId3"/>
          <a:stretch>
            <a:fillRect/>
          </a:stretch>
        </p:blipFill>
        <p:spPr>
          <a:xfrm>
            <a:off x="5909354" y="1492536"/>
            <a:ext cx="6579642" cy="5306163"/>
          </a:xfrm>
          <a:prstGeom prst="rect">
            <a:avLst/>
          </a:prstGeom>
        </p:spPr>
      </p:pic>
    </p:spTree>
    <p:extLst>
      <p:ext uri="{BB962C8B-B14F-4D97-AF65-F5344CB8AC3E}">
        <p14:creationId xmlns:p14="http://schemas.microsoft.com/office/powerpoint/2010/main" val="16479374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48E2312-9F1C-5874-CE32-23F806C254D7}"/>
              </a:ext>
            </a:extLst>
          </p:cNvPr>
          <p:cNvSpPr txBox="1"/>
          <p:nvPr/>
        </p:nvSpPr>
        <p:spPr>
          <a:xfrm>
            <a:off x="667753" y="553453"/>
            <a:ext cx="1177438" cy="369332"/>
          </a:xfrm>
          <a:prstGeom prst="rect">
            <a:avLst/>
          </a:prstGeom>
          <a:noFill/>
        </p:spPr>
        <p:txBody>
          <a:bodyPr wrap="none" rtlCol="0">
            <a:spAutoFit/>
          </a:bodyPr>
          <a:lstStyle/>
          <a:p>
            <a:r>
              <a:rPr lang="en-CH" dirty="0"/>
              <a:t>Refreshing</a:t>
            </a:r>
          </a:p>
        </p:txBody>
      </p:sp>
      <p:pic>
        <p:nvPicPr>
          <p:cNvPr id="2" name="Picture 1">
            <a:extLst>
              <a:ext uri="{FF2B5EF4-FFF2-40B4-BE49-F238E27FC236}">
                <a16:creationId xmlns:a16="http://schemas.microsoft.com/office/drawing/2014/main" id="{1EAD167A-3E2F-68A3-5865-493638CFB535}"/>
              </a:ext>
            </a:extLst>
          </p:cNvPr>
          <p:cNvPicPr>
            <a:picLocks noChangeAspect="1"/>
          </p:cNvPicPr>
          <p:nvPr/>
        </p:nvPicPr>
        <p:blipFill>
          <a:blip r:embed="rId2"/>
          <a:stretch>
            <a:fillRect/>
          </a:stretch>
        </p:blipFill>
        <p:spPr>
          <a:xfrm>
            <a:off x="0" y="847725"/>
            <a:ext cx="7400925" cy="6010275"/>
          </a:xfrm>
          <a:prstGeom prst="rect">
            <a:avLst/>
          </a:prstGeom>
        </p:spPr>
      </p:pic>
      <p:pic>
        <p:nvPicPr>
          <p:cNvPr id="3" name="Picture 2">
            <a:extLst>
              <a:ext uri="{FF2B5EF4-FFF2-40B4-BE49-F238E27FC236}">
                <a16:creationId xmlns:a16="http://schemas.microsoft.com/office/drawing/2014/main" id="{8848E435-354D-4574-C990-D91840DAC861}"/>
              </a:ext>
            </a:extLst>
          </p:cNvPr>
          <p:cNvPicPr>
            <a:picLocks noChangeAspect="1"/>
          </p:cNvPicPr>
          <p:nvPr/>
        </p:nvPicPr>
        <p:blipFill>
          <a:blip r:embed="rId3"/>
          <a:stretch>
            <a:fillRect/>
          </a:stretch>
        </p:blipFill>
        <p:spPr>
          <a:xfrm>
            <a:off x="7014401" y="2691779"/>
            <a:ext cx="5086350" cy="3986388"/>
          </a:xfrm>
          <a:prstGeom prst="rect">
            <a:avLst/>
          </a:prstGeom>
        </p:spPr>
      </p:pic>
    </p:spTree>
    <p:extLst>
      <p:ext uri="{BB962C8B-B14F-4D97-AF65-F5344CB8AC3E}">
        <p14:creationId xmlns:p14="http://schemas.microsoft.com/office/powerpoint/2010/main" val="340216009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480108-E57E-EAF8-5D9D-B9C5D8CE831F}"/>
              </a:ext>
            </a:extLst>
          </p:cNvPr>
          <p:cNvSpPr txBox="1"/>
          <p:nvPr/>
        </p:nvSpPr>
        <p:spPr>
          <a:xfrm>
            <a:off x="859536" y="737616"/>
            <a:ext cx="3218125" cy="369332"/>
          </a:xfrm>
          <a:prstGeom prst="rect">
            <a:avLst/>
          </a:prstGeom>
          <a:noFill/>
        </p:spPr>
        <p:txBody>
          <a:bodyPr wrap="none" rtlCol="0">
            <a:spAutoFit/>
          </a:bodyPr>
          <a:lstStyle/>
          <a:p>
            <a:r>
              <a:rPr lang="en-CH" dirty="0"/>
              <a:t>Sim. Seq. Consolidation (Prolific)</a:t>
            </a:r>
          </a:p>
        </p:txBody>
      </p:sp>
      <p:pic>
        <p:nvPicPr>
          <p:cNvPr id="3" name="Picture 2">
            <a:extLst>
              <a:ext uri="{FF2B5EF4-FFF2-40B4-BE49-F238E27FC236}">
                <a16:creationId xmlns:a16="http://schemas.microsoft.com/office/drawing/2014/main" id="{3142454F-43D9-E339-3CA7-7F3241C3AFE8}"/>
              </a:ext>
            </a:extLst>
          </p:cNvPr>
          <p:cNvPicPr>
            <a:picLocks noChangeAspect="1"/>
          </p:cNvPicPr>
          <p:nvPr/>
        </p:nvPicPr>
        <p:blipFill>
          <a:blip r:embed="rId2"/>
          <a:stretch>
            <a:fillRect/>
          </a:stretch>
        </p:blipFill>
        <p:spPr>
          <a:xfrm>
            <a:off x="314325" y="1527474"/>
            <a:ext cx="5781675" cy="4362450"/>
          </a:xfrm>
          <a:prstGeom prst="rect">
            <a:avLst/>
          </a:prstGeom>
        </p:spPr>
      </p:pic>
      <p:pic>
        <p:nvPicPr>
          <p:cNvPr id="4" name="Picture 3">
            <a:extLst>
              <a:ext uri="{FF2B5EF4-FFF2-40B4-BE49-F238E27FC236}">
                <a16:creationId xmlns:a16="http://schemas.microsoft.com/office/drawing/2014/main" id="{E040CECD-D4B7-2907-90E0-2E01276DE009}"/>
              </a:ext>
            </a:extLst>
          </p:cNvPr>
          <p:cNvPicPr>
            <a:picLocks noChangeAspect="1"/>
          </p:cNvPicPr>
          <p:nvPr/>
        </p:nvPicPr>
        <p:blipFill>
          <a:blip r:embed="rId3"/>
          <a:stretch>
            <a:fillRect/>
          </a:stretch>
        </p:blipFill>
        <p:spPr>
          <a:xfrm>
            <a:off x="5724980" y="1613646"/>
            <a:ext cx="6078539" cy="4276277"/>
          </a:xfrm>
          <a:prstGeom prst="rect">
            <a:avLst/>
          </a:prstGeom>
        </p:spPr>
      </p:pic>
    </p:spTree>
    <p:extLst>
      <p:ext uri="{BB962C8B-B14F-4D97-AF65-F5344CB8AC3E}">
        <p14:creationId xmlns:p14="http://schemas.microsoft.com/office/powerpoint/2010/main" val="82264176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755F2-D3AD-7DF1-2F1D-05C3E9EDF34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5929495-7C7A-6547-104E-A059309ED4D7}"/>
              </a:ext>
            </a:extLst>
          </p:cNvPr>
          <p:cNvSpPr txBox="1"/>
          <p:nvPr/>
        </p:nvSpPr>
        <p:spPr>
          <a:xfrm>
            <a:off x="859536" y="737616"/>
            <a:ext cx="3539239" cy="369332"/>
          </a:xfrm>
          <a:prstGeom prst="rect">
            <a:avLst/>
          </a:prstGeom>
          <a:noFill/>
        </p:spPr>
        <p:txBody>
          <a:bodyPr wrap="none" rtlCol="0">
            <a:spAutoFit/>
          </a:bodyPr>
          <a:lstStyle/>
          <a:p>
            <a:r>
              <a:rPr lang="en-CH" dirty="0"/>
              <a:t>Sim. Seq. Consolidation (Zurich Lab)</a:t>
            </a:r>
          </a:p>
        </p:txBody>
      </p:sp>
    </p:spTree>
    <p:extLst>
      <p:ext uri="{BB962C8B-B14F-4D97-AF65-F5344CB8AC3E}">
        <p14:creationId xmlns:p14="http://schemas.microsoft.com/office/powerpoint/2010/main" val="294417298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F1E9BA5-9451-A757-9041-D416F929E175}"/>
              </a:ext>
            </a:extLst>
          </p:cNvPr>
          <p:cNvPicPr>
            <a:picLocks noChangeAspect="1"/>
          </p:cNvPicPr>
          <p:nvPr/>
        </p:nvPicPr>
        <p:blipFill>
          <a:blip r:embed="rId2"/>
          <a:stretch>
            <a:fillRect/>
          </a:stretch>
        </p:blipFill>
        <p:spPr>
          <a:xfrm>
            <a:off x="6005267" y="1291249"/>
            <a:ext cx="6505575" cy="4924425"/>
          </a:xfrm>
          <a:prstGeom prst="rect">
            <a:avLst/>
          </a:prstGeom>
        </p:spPr>
      </p:pic>
      <p:pic>
        <p:nvPicPr>
          <p:cNvPr id="3" name="Picture 2">
            <a:extLst>
              <a:ext uri="{FF2B5EF4-FFF2-40B4-BE49-F238E27FC236}">
                <a16:creationId xmlns:a16="http://schemas.microsoft.com/office/drawing/2014/main" id="{76CE3325-F452-404F-AE4F-2DA10DE1F6BA}"/>
              </a:ext>
            </a:extLst>
          </p:cNvPr>
          <p:cNvPicPr>
            <a:picLocks noChangeAspect="1"/>
          </p:cNvPicPr>
          <p:nvPr/>
        </p:nvPicPr>
        <p:blipFill>
          <a:blip r:embed="rId3"/>
          <a:stretch>
            <a:fillRect/>
          </a:stretch>
        </p:blipFill>
        <p:spPr>
          <a:xfrm>
            <a:off x="194404" y="1152431"/>
            <a:ext cx="6235894" cy="4957211"/>
          </a:xfrm>
          <a:prstGeom prst="rect">
            <a:avLst/>
          </a:prstGeom>
        </p:spPr>
      </p:pic>
      <p:sp>
        <p:nvSpPr>
          <p:cNvPr id="4" name="TextBox 3">
            <a:extLst>
              <a:ext uri="{FF2B5EF4-FFF2-40B4-BE49-F238E27FC236}">
                <a16:creationId xmlns:a16="http://schemas.microsoft.com/office/drawing/2014/main" id="{50560E6D-CBD4-AD2C-33D0-0639AEC63E51}"/>
              </a:ext>
            </a:extLst>
          </p:cNvPr>
          <p:cNvSpPr txBox="1"/>
          <p:nvPr/>
        </p:nvSpPr>
        <p:spPr>
          <a:xfrm>
            <a:off x="859536" y="737616"/>
            <a:ext cx="2382575" cy="369332"/>
          </a:xfrm>
          <a:prstGeom prst="rect">
            <a:avLst/>
          </a:prstGeom>
          <a:noFill/>
        </p:spPr>
        <p:txBody>
          <a:bodyPr wrap="none" rtlCol="0">
            <a:spAutoFit/>
          </a:bodyPr>
          <a:lstStyle/>
          <a:p>
            <a:r>
              <a:rPr lang="en-CH" dirty="0" err="1"/>
              <a:t>Stevanovski</a:t>
            </a:r>
            <a:r>
              <a:rPr lang="en-CH" dirty="0"/>
              <a:t> &amp; Jolicoeur</a:t>
            </a:r>
          </a:p>
        </p:txBody>
      </p:sp>
    </p:spTree>
    <p:extLst>
      <p:ext uri="{BB962C8B-B14F-4D97-AF65-F5344CB8AC3E}">
        <p14:creationId xmlns:p14="http://schemas.microsoft.com/office/powerpoint/2010/main" val="178276066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927E8D4-D4C1-CD89-3930-971EBF283211}"/>
              </a:ext>
            </a:extLst>
          </p:cNvPr>
          <p:cNvPicPr>
            <a:picLocks noChangeAspect="1"/>
          </p:cNvPicPr>
          <p:nvPr/>
        </p:nvPicPr>
        <p:blipFill>
          <a:blip r:embed="rId2"/>
          <a:stretch>
            <a:fillRect/>
          </a:stretch>
        </p:blipFill>
        <p:spPr>
          <a:xfrm>
            <a:off x="552450" y="1266573"/>
            <a:ext cx="6515100" cy="5191125"/>
          </a:xfrm>
          <a:prstGeom prst="rect">
            <a:avLst/>
          </a:prstGeom>
        </p:spPr>
      </p:pic>
      <p:sp>
        <p:nvSpPr>
          <p:cNvPr id="7" name="TextBox 6">
            <a:extLst>
              <a:ext uri="{FF2B5EF4-FFF2-40B4-BE49-F238E27FC236}">
                <a16:creationId xmlns:a16="http://schemas.microsoft.com/office/drawing/2014/main" id="{2E2E88A8-C4C4-62AA-FE2E-650CB742E4DB}"/>
              </a:ext>
            </a:extLst>
          </p:cNvPr>
          <p:cNvSpPr txBox="1"/>
          <p:nvPr/>
        </p:nvSpPr>
        <p:spPr>
          <a:xfrm>
            <a:off x="859536" y="737616"/>
            <a:ext cx="1514197" cy="369332"/>
          </a:xfrm>
          <a:prstGeom prst="rect">
            <a:avLst/>
          </a:prstGeom>
          <a:noFill/>
        </p:spPr>
        <p:txBody>
          <a:bodyPr wrap="none" rtlCol="0">
            <a:spAutoFit/>
          </a:bodyPr>
          <a:lstStyle/>
          <a:p>
            <a:r>
              <a:rPr lang="en-CH" dirty="0"/>
              <a:t>Retro-Cue x RI</a:t>
            </a:r>
          </a:p>
        </p:txBody>
      </p:sp>
      <p:pic>
        <p:nvPicPr>
          <p:cNvPr id="8" name="Picture 7">
            <a:extLst>
              <a:ext uri="{FF2B5EF4-FFF2-40B4-BE49-F238E27FC236}">
                <a16:creationId xmlns:a16="http://schemas.microsoft.com/office/drawing/2014/main" id="{6430710E-C6AC-7CE5-8DAB-3719C9022B5A}"/>
              </a:ext>
            </a:extLst>
          </p:cNvPr>
          <p:cNvPicPr>
            <a:picLocks noChangeAspect="1"/>
          </p:cNvPicPr>
          <p:nvPr/>
        </p:nvPicPr>
        <p:blipFill>
          <a:blip r:embed="rId3"/>
          <a:stretch>
            <a:fillRect/>
          </a:stretch>
        </p:blipFill>
        <p:spPr>
          <a:xfrm>
            <a:off x="6739690" y="2261936"/>
            <a:ext cx="5237246" cy="3885197"/>
          </a:xfrm>
          <a:prstGeom prst="rect">
            <a:avLst/>
          </a:prstGeom>
        </p:spPr>
      </p:pic>
    </p:spTree>
    <p:extLst>
      <p:ext uri="{BB962C8B-B14F-4D97-AF65-F5344CB8AC3E}">
        <p14:creationId xmlns:p14="http://schemas.microsoft.com/office/powerpoint/2010/main" val="322629524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386778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153716</TotalTime>
  <Words>1322</Words>
  <Application>Microsoft Office PowerPoint</Application>
  <PresentationFormat>Widescreen</PresentationFormat>
  <Paragraphs>110</Paragraphs>
  <Slides>163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163</vt:i4>
      </vt:variant>
    </vt:vector>
  </HeadingPairs>
  <TitlesOfParts>
    <vt:vector size="168"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Correlations of alpha slope with parameters</vt:lpstr>
      <vt:lpstr>IOR = 0.5, dnoise = 1, wnoise = 0.12, kappaf_feat and kappaf_ctx reduced to 10</vt:lpstr>
      <vt:lpstr>PowerPoint Presentation</vt:lpstr>
      <vt:lpstr>CD and Retro-Cueing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312</cp:revision>
  <dcterms:created xsi:type="dcterms:W3CDTF">2024-08-13T19:20:17Z</dcterms:created>
  <dcterms:modified xsi:type="dcterms:W3CDTF">2026-09-10T02:06:32Z</dcterms:modified>
</cp:coreProperties>
</file>
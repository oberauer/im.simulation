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58" r:id="rId3"/>
    <p:sldId id="357" r:id="rId4"/>
    <p:sldId id="359" r:id="rId5"/>
    <p:sldId id="360" r:id="rId6"/>
    <p:sldId id="262" r:id="rId7"/>
    <p:sldId id="366" r:id="rId8"/>
    <p:sldId id="367" r:id="rId9"/>
    <p:sldId id="368" r:id="rId10"/>
    <p:sldId id="369" r:id="rId11"/>
    <p:sldId id="370" r:id="rId12"/>
    <p:sldId id="363" r:id="rId13"/>
    <p:sldId id="365" r:id="rId14"/>
    <p:sldId id="371" r:id="rId15"/>
    <p:sldId id="372" r:id="rId16"/>
    <p:sldId id="376" r:id="rId17"/>
    <p:sldId id="373" r:id="rId18"/>
    <p:sldId id="374" r:id="rId19"/>
    <p:sldId id="375" r:id="rId20"/>
    <p:sldId id="420" r:id="rId21"/>
    <p:sldId id="419" r:id="rId22"/>
    <p:sldId id="421" r:id="rId23"/>
    <p:sldId id="422" r:id="rId24"/>
    <p:sldId id="423" r:id="rId25"/>
    <p:sldId id="424" r:id="rId26"/>
    <p:sldId id="425" r:id="rId27"/>
    <p:sldId id="426" r:id="rId28"/>
    <p:sldId id="427" r:id="rId29"/>
    <p:sldId id="449" r:id="rId30"/>
    <p:sldId id="450" r:id="rId31"/>
    <p:sldId id="451" r:id="rId32"/>
    <p:sldId id="471" r:id="rId33"/>
    <p:sldId id="396" r:id="rId34"/>
    <p:sldId id="274" r:id="rId35"/>
    <p:sldId id="259" r:id="rId36"/>
    <p:sldId id="260" r:id="rId37"/>
    <p:sldId id="413" r:id="rId38"/>
    <p:sldId id="410" r:id="rId39"/>
    <p:sldId id="414" r:id="rId40"/>
    <p:sldId id="407" r:id="rId41"/>
    <p:sldId id="411" r:id="rId42"/>
    <p:sldId id="412" r:id="rId43"/>
    <p:sldId id="286" r:id="rId44"/>
    <p:sldId id="397" r:id="rId45"/>
    <p:sldId id="399" r:id="rId46"/>
    <p:sldId id="408" r:id="rId47"/>
    <p:sldId id="431" r:id="rId48"/>
    <p:sldId id="432" r:id="rId49"/>
    <p:sldId id="398" r:id="rId50"/>
    <p:sldId id="401" r:id="rId51"/>
    <p:sldId id="416" r:id="rId52"/>
    <p:sldId id="400" r:id="rId53"/>
    <p:sldId id="402" r:id="rId54"/>
    <p:sldId id="403" r:id="rId55"/>
    <p:sldId id="415" r:id="rId56"/>
    <p:sldId id="409" r:id="rId57"/>
    <p:sldId id="405" r:id="rId58"/>
    <p:sldId id="404" r:id="rId59"/>
    <p:sldId id="417" r:id="rId60"/>
    <p:sldId id="418" r:id="rId61"/>
    <p:sldId id="406" r:id="rId62"/>
    <p:sldId id="434" r:id="rId63"/>
    <p:sldId id="435" r:id="rId64"/>
    <p:sldId id="428" r:id="rId65"/>
    <p:sldId id="429" r:id="rId66"/>
    <p:sldId id="430" r:id="rId67"/>
    <p:sldId id="433" r:id="rId68"/>
    <p:sldId id="436" r:id="rId69"/>
    <p:sldId id="437" r:id="rId70"/>
    <p:sldId id="438" r:id="rId71"/>
    <p:sldId id="439" r:id="rId72"/>
    <p:sldId id="442" r:id="rId73"/>
    <p:sldId id="443" r:id="rId74"/>
    <p:sldId id="444" r:id="rId75"/>
    <p:sldId id="440" r:id="rId76"/>
    <p:sldId id="446" r:id="rId77"/>
    <p:sldId id="441" r:id="rId78"/>
    <p:sldId id="445" r:id="rId79"/>
    <p:sldId id="447" r:id="rId80"/>
    <p:sldId id="448" r:id="rId81"/>
    <p:sldId id="452" r:id="rId82"/>
    <p:sldId id="479" r:id="rId83"/>
    <p:sldId id="453" r:id="rId84"/>
    <p:sldId id="454" r:id="rId85"/>
    <p:sldId id="455" r:id="rId86"/>
    <p:sldId id="456" r:id="rId87"/>
    <p:sldId id="457" r:id="rId88"/>
    <p:sldId id="458" r:id="rId89"/>
    <p:sldId id="459" r:id="rId90"/>
    <p:sldId id="460" r:id="rId91"/>
    <p:sldId id="461" r:id="rId92"/>
    <p:sldId id="465" r:id="rId93"/>
    <p:sldId id="466" r:id="rId94"/>
    <p:sldId id="472" r:id="rId95"/>
    <p:sldId id="473" r:id="rId96"/>
    <p:sldId id="474" r:id="rId97"/>
    <p:sldId id="475" r:id="rId98"/>
    <p:sldId id="476" r:id="rId99"/>
    <p:sldId id="477" r:id="rId100"/>
    <p:sldId id="483" r:id="rId101"/>
    <p:sldId id="484" r:id="rId102"/>
    <p:sldId id="482" r:id="rId103"/>
    <p:sldId id="486" r:id="rId104"/>
    <p:sldId id="487" r:id="rId105"/>
    <p:sldId id="488" r:id="rId106"/>
    <p:sldId id="489" r:id="rId107"/>
    <p:sldId id="462" r:id="rId108"/>
    <p:sldId id="467" r:id="rId109"/>
    <p:sldId id="468" r:id="rId110"/>
    <p:sldId id="493" r:id="rId111"/>
    <p:sldId id="494" r:id="rId112"/>
    <p:sldId id="469" r:id="rId113"/>
    <p:sldId id="470" r:id="rId114"/>
    <p:sldId id="496" r:id="rId115"/>
    <p:sldId id="505" r:id="rId116"/>
    <p:sldId id="478" r:id="rId117"/>
    <p:sldId id="480" r:id="rId118"/>
    <p:sldId id="481" r:id="rId119"/>
    <p:sldId id="498" r:id="rId120"/>
    <p:sldId id="485" r:id="rId121"/>
    <p:sldId id="495" r:id="rId122"/>
    <p:sldId id="497" r:id="rId123"/>
    <p:sldId id="490" r:id="rId124"/>
    <p:sldId id="491" r:id="rId125"/>
    <p:sldId id="492" r:id="rId126"/>
    <p:sldId id="499" r:id="rId127"/>
    <p:sldId id="500" r:id="rId128"/>
    <p:sldId id="501" r:id="rId129"/>
    <p:sldId id="504" r:id="rId130"/>
    <p:sldId id="507" r:id="rId131"/>
    <p:sldId id="503" r:id="rId132"/>
    <p:sldId id="502" r:id="rId133"/>
    <p:sldId id="506" r:id="rId134"/>
    <p:sldId id="508" r:id="rId135"/>
    <p:sldId id="512" r:id="rId136"/>
    <p:sldId id="513" r:id="rId137"/>
    <p:sldId id="515" r:id="rId138"/>
    <p:sldId id="511" r:id="rId139"/>
    <p:sldId id="518" r:id="rId140"/>
    <p:sldId id="509" r:id="rId141"/>
    <p:sldId id="514" r:id="rId142"/>
    <p:sldId id="516" r:id="rId143"/>
    <p:sldId id="532" r:id="rId144"/>
    <p:sldId id="522" r:id="rId145"/>
    <p:sldId id="533" r:id="rId146"/>
    <p:sldId id="534" r:id="rId147"/>
    <p:sldId id="538" r:id="rId148"/>
    <p:sldId id="541" r:id="rId149"/>
    <p:sldId id="544" r:id="rId150"/>
    <p:sldId id="542" r:id="rId151"/>
    <p:sldId id="543" r:id="rId152"/>
    <p:sldId id="527" r:id="rId153"/>
    <p:sldId id="537" r:id="rId154"/>
    <p:sldId id="529" r:id="rId155"/>
    <p:sldId id="536" r:id="rId156"/>
    <p:sldId id="523" r:id="rId157"/>
    <p:sldId id="531" r:id="rId158"/>
    <p:sldId id="535" r:id="rId159"/>
    <p:sldId id="524" r:id="rId160"/>
    <p:sldId id="525" r:id="rId161"/>
    <p:sldId id="539" r:id="rId162"/>
    <p:sldId id="519" r:id="rId163"/>
    <p:sldId id="520" r:id="rId164"/>
    <p:sldId id="521" r:id="rId165"/>
    <p:sldId id="540" r:id="rId166"/>
    <p:sldId id="528" r:id="rId167"/>
    <p:sldId id="530" r:id="rId168"/>
  </p:sldIdLst>
  <p:sldSz cx="12192000" cy="6858000"/>
  <p:notesSz cx="6858000" cy="9144000"/>
  <p:defaultTextStyle>
    <a:defPPr>
      <a:defRPr lang="en-C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napToGrid="0">
      <p:cViewPr varScale="1">
        <p:scale>
          <a:sx n="110" d="100"/>
          <a:sy n="110" d="100"/>
        </p:scale>
        <p:origin x="138" y="2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0"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theme" Target="theme/theme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slide" Target="slides/slide155.xml"/><Relationship Id="rId164" Type="http://schemas.openxmlformats.org/officeDocument/2006/relationships/slide" Target="slides/slide163.xml"/><Relationship Id="rId16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72"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73ABE-114D-4FC9-922C-C143AEF2FE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H"/>
          </a:p>
        </p:txBody>
      </p:sp>
      <p:sp>
        <p:nvSpPr>
          <p:cNvPr id="3" name="Subtitle 2">
            <a:extLst>
              <a:ext uri="{FF2B5EF4-FFF2-40B4-BE49-F238E27FC236}">
                <a16:creationId xmlns:a16="http://schemas.microsoft.com/office/drawing/2014/main" id="{049CF96D-A581-46CA-89B3-A19121807E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H"/>
          </a:p>
        </p:txBody>
      </p:sp>
      <p:sp>
        <p:nvSpPr>
          <p:cNvPr id="4" name="Date Placeholder 3">
            <a:extLst>
              <a:ext uri="{FF2B5EF4-FFF2-40B4-BE49-F238E27FC236}">
                <a16:creationId xmlns:a16="http://schemas.microsoft.com/office/drawing/2014/main" id="{308D45FF-3D45-4E95-B1F0-5815B6FAE742}"/>
              </a:ext>
            </a:extLst>
          </p:cNvPr>
          <p:cNvSpPr>
            <a:spLocks noGrp="1"/>
          </p:cNvSpPr>
          <p:nvPr>
            <p:ph type="dt" sz="half" idx="10"/>
          </p:nvPr>
        </p:nvSpPr>
        <p:spPr/>
        <p:txBody>
          <a:bodyPr/>
          <a:lstStyle/>
          <a:p>
            <a:fld id="{B0CC16AE-9BD7-4F72-918B-06BB6DDCFC90}" type="datetimeFigureOut">
              <a:rPr lang="en-CH" smtClean="0"/>
              <a:t>10/09/2026</a:t>
            </a:fld>
            <a:endParaRPr lang="en-CH"/>
          </a:p>
        </p:txBody>
      </p:sp>
      <p:sp>
        <p:nvSpPr>
          <p:cNvPr id="5" name="Footer Placeholder 4">
            <a:extLst>
              <a:ext uri="{FF2B5EF4-FFF2-40B4-BE49-F238E27FC236}">
                <a16:creationId xmlns:a16="http://schemas.microsoft.com/office/drawing/2014/main" id="{A6D03B55-E397-4AEE-92AE-C8A7470ADCA8}"/>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C59A7ED5-7077-4BC2-B8D7-DC70A5B110F2}"/>
              </a:ext>
            </a:extLst>
          </p:cNvPr>
          <p:cNvSpPr>
            <a:spLocks noGrp="1"/>
          </p:cNvSpPr>
          <p:nvPr>
            <p:ph type="sldNum" sz="quarter" idx="12"/>
          </p:nvPr>
        </p:nvSpPr>
        <p:spPr/>
        <p:txBody>
          <a:bodyPr/>
          <a:lstStyle/>
          <a:p>
            <a:fld id="{4D1E26A2-74E8-4FDA-9359-683B3A55E4F2}" type="slidenum">
              <a:rPr lang="en-CH" smtClean="0"/>
              <a:t>‹#›</a:t>
            </a:fld>
            <a:endParaRPr lang="en-CH"/>
          </a:p>
        </p:txBody>
      </p:sp>
    </p:spTree>
    <p:extLst>
      <p:ext uri="{BB962C8B-B14F-4D97-AF65-F5344CB8AC3E}">
        <p14:creationId xmlns:p14="http://schemas.microsoft.com/office/powerpoint/2010/main" val="2958315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8C0CA-01AA-4143-838E-D2A0990BD930}"/>
              </a:ext>
            </a:extLst>
          </p:cNvPr>
          <p:cNvSpPr>
            <a:spLocks noGrp="1"/>
          </p:cNvSpPr>
          <p:nvPr>
            <p:ph type="title"/>
          </p:nvPr>
        </p:nvSpPr>
        <p:spPr/>
        <p:txBody>
          <a:bodyPr/>
          <a:lstStyle/>
          <a:p>
            <a:r>
              <a:rPr lang="en-US"/>
              <a:t>Click to edit Master title style</a:t>
            </a:r>
            <a:endParaRPr lang="en-CH"/>
          </a:p>
        </p:txBody>
      </p:sp>
      <p:sp>
        <p:nvSpPr>
          <p:cNvPr id="3" name="Content Placeholder 2">
            <a:extLst>
              <a:ext uri="{FF2B5EF4-FFF2-40B4-BE49-F238E27FC236}">
                <a16:creationId xmlns:a16="http://schemas.microsoft.com/office/drawing/2014/main" id="{0C9F661E-CABF-44E8-A11A-733532A260A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Date Placeholder 3">
            <a:extLst>
              <a:ext uri="{FF2B5EF4-FFF2-40B4-BE49-F238E27FC236}">
                <a16:creationId xmlns:a16="http://schemas.microsoft.com/office/drawing/2014/main" id="{89012042-0DBE-49E0-BD8A-8097CCDD99CF}"/>
              </a:ext>
            </a:extLst>
          </p:cNvPr>
          <p:cNvSpPr>
            <a:spLocks noGrp="1"/>
          </p:cNvSpPr>
          <p:nvPr>
            <p:ph type="dt" sz="half" idx="10"/>
          </p:nvPr>
        </p:nvSpPr>
        <p:spPr/>
        <p:txBody>
          <a:bodyPr/>
          <a:lstStyle/>
          <a:p>
            <a:fld id="{B0CC16AE-9BD7-4F72-918B-06BB6DDCFC90}" type="datetimeFigureOut">
              <a:rPr lang="en-CH" smtClean="0"/>
              <a:t>10/09/2026</a:t>
            </a:fld>
            <a:endParaRPr lang="en-CH"/>
          </a:p>
        </p:txBody>
      </p:sp>
      <p:sp>
        <p:nvSpPr>
          <p:cNvPr id="5" name="Footer Placeholder 4">
            <a:extLst>
              <a:ext uri="{FF2B5EF4-FFF2-40B4-BE49-F238E27FC236}">
                <a16:creationId xmlns:a16="http://schemas.microsoft.com/office/drawing/2014/main" id="{1DB3C610-C87A-4581-A2B4-BD6E73EB40FB}"/>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D2EE0272-B008-4F38-B691-4F06EFFA8FBE}"/>
              </a:ext>
            </a:extLst>
          </p:cNvPr>
          <p:cNvSpPr>
            <a:spLocks noGrp="1"/>
          </p:cNvSpPr>
          <p:nvPr>
            <p:ph type="sldNum" sz="quarter" idx="12"/>
          </p:nvPr>
        </p:nvSpPr>
        <p:spPr/>
        <p:txBody>
          <a:bodyPr/>
          <a:lstStyle/>
          <a:p>
            <a:fld id="{4D1E26A2-74E8-4FDA-9359-683B3A55E4F2}" type="slidenum">
              <a:rPr lang="en-CH" smtClean="0"/>
              <a:t>‹#›</a:t>
            </a:fld>
            <a:endParaRPr lang="en-CH"/>
          </a:p>
        </p:txBody>
      </p:sp>
    </p:spTree>
    <p:extLst>
      <p:ext uri="{BB962C8B-B14F-4D97-AF65-F5344CB8AC3E}">
        <p14:creationId xmlns:p14="http://schemas.microsoft.com/office/powerpoint/2010/main" val="27240432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5B42F-1924-4DB8-8F91-36FE7628AD6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H"/>
          </a:p>
        </p:txBody>
      </p:sp>
      <p:sp>
        <p:nvSpPr>
          <p:cNvPr id="3" name="Text Placeholder 2">
            <a:extLst>
              <a:ext uri="{FF2B5EF4-FFF2-40B4-BE49-F238E27FC236}">
                <a16:creationId xmlns:a16="http://schemas.microsoft.com/office/drawing/2014/main" id="{FEE56AF1-8254-4A60-98DD-C037B112AFF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2E26B7E-1100-4756-A293-42232C713661}"/>
              </a:ext>
            </a:extLst>
          </p:cNvPr>
          <p:cNvSpPr>
            <a:spLocks noGrp="1"/>
          </p:cNvSpPr>
          <p:nvPr>
            <p:ph type="dt" sz="half" idx="10"/>
          </p:nvPr>
        </p:nvSpPr>
        <p:spPr/>
        <p:txBody>
          <a:bodyPr/>
          <a:lstStyle/>
          <a:p>
            <a:fld id="{B0CC16AE-9BD7-4F72-918B-06BB6DDCFC90}" type="datetimeFigureOut">
              <a:rPr lang="en-CH" smtClean="0"/>
              <a:t>10/09/2026</a:t>
            </a:fld>
            <a:endParaRPr lang="en-CH"/>
          </a:p>
        </p:txBody>
      </p:sp>
      <p:sp>
        <p:nvSpPr>
          <p:cNvPr id="5" name="Footer Placeholder 4">
            <a:extLst>
              <a:ext uri="{FF2B5EF4-FFF2-40B4-BE49-F238E27FC236}">
                <a16:creationId xmlns:a16="http://schemas.microsoft.com/office/drawing/2014/main" id="{9AEC6155-9E8C-4965-AAE1-85FD4C090D5B}"/>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6A662C3B-752C-4959-B579-D8CA2B1442A8}"/>
              </a:ext>
            </a:extLst>
          </p:cNvPr>
          <p:cNvSpPr>
            <a:spLocks noGrp="1"/>
          </p:cNvSpPr>
          <p:nvPr>
            <p:ph type="sldNum" sz="quarter" idx="12"/>
          </p:nvPr>
        </p:nvSpPr>
        <p:spPr/>
        <p:txBody>
          <a:bodyPr/>
          <a:lstStyle/>
          <a:p>
            <a:fld id="{4D1E26A2-74E8-4FDA-9359-683B3A55E4F2}" type="slidenum">
              <a:rPr lang="en-CH" smtClean="0"/>
              <a:t>‹#›</a:t>
            </a:fld>
            <a:endParaRPr lang="en-CH"/>
          </a:p>
        </p:txBody>
      </p:sp>
    </p:spTree>
    <p:extLst>
      <p:ext uri="{BB962C8B-B14F-4D97-AF65-F5344CB8AC3E}">
        <p14:creationId xmlns:p14="http://schemas.microsoft.com/office/powerpoint/2010/main" val="26032035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5EE90-EA6C-46E2-9542-6758A69082AA}"/>
              </a:ext>
            </a:extLst>
          </p:cNvPr>
          <p:cNvSpPr>
            <a:spLocks noGrp="1"/>
          </p:cNvSpPr>
          <p:nvPr>
            <p:ph type="title"/>
          </p:nvPr>
        </p:nvSpPr>
        <p:spPr/>
        <p:txBody>
          <a:bodyPr/>
          <a:lstStyle/>
          <a:p>
            <a:r>
              <a:rPr lang="en-US"/>
              <a:t>Click to edit Master title style</a:t>
            </a:r>
            <a:endParaRPr lang="en-CH"/>
          </a:p>
        </p:txBody>
      </p:sp>
      <p:sp>
        <p:nvSpPr>
          <p:cNvPr id="3" name="Content Placeholder 2">
            <a:extLst>
              <a:ext uri="{FF2B5EF4-FFF2-40B4-BE49-F238E27FC236}">
                <a16:creationId xmlns:a16="http://schemas.microsoft.com/office/drawing/2014/main" id="{C5350841-7F48-47D6-ABE4-863F86092F6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Content Placeholder 3">
            <a:extLst>
              <a:ext uri="{FF2B5EF4-FFF2-40B4-BE49-F238E27FC236}">
                <a16:creationId xmlns:a16="http://schemas.microsoft.com/office/drawing/2014/main" id="{1B4F9C3E-902B-4A9F-A112-22A04A71C2EB}"/>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5" name="Date Placeholder 4">
            <a:extLst>
              <a:ext uri="{FF2B5EF4-FFF2-40B4-BE49-F238E27FC236}">
                <a16:creationId xmlns:a16="http://schemas.microsoft.com/office/drawing/2014/main" id="{17B8881B-DD9D-4772-9BE2-4B406F013D57}"/>
              </a:ext>
            </a:extLst>
          </p:cNvPr>
          <p:cNvSpPr>
            <a:spLocks noGrp="1"/>
          </p:cNvSpPr>
          <p:nvPr>
            <p:ph type="dt" sz="half" idx="10"/>
          </p:nvPr>
        </p:nvSpPr>
        <p:spPr/>
        <p:txBody>
          <a:bodyPr/>
          <a:lstStyle/>
          <a:p>
            <a:fld id="{B0CC16AE-9BD7-4F72-918B-06BB6DDCFC90}" type="datetimeFigureOut">
              <a:rPr lang="en-CH" smtClean="0"/>
              <a:t>10/09/2026</a:t>
            </a:fld>
            <a:endParaRPr lang="en-CH"/>
          </a:p>
        </p:txBody>
      </p:sp>
      <p:sp>
        <p:nvSpPr>
          <p:cNvPr id="6" name="Footer Placeholder 5">
            <a:extLst>
              <a:ext uri="{FF2B5EF4-FFF2-40B4-BE49-F238E27FC236}">
                <a16:creationId xmlns:a16="http://schemas.microsoft.com/office/drawing/2014/main" id="{A0C1CB2D-E9DC-420A-A573-C1EEFD2D2906}"/>
              </a:ext>
            </a:extLst>
          </p:cNvPr>
          <p:cNvSpPr>
            <a:spLocks noGrp="1"/>
          </p:cNvSpPr>
          <p:nvPr>
            <p:ph type="ftr" sz="quarter" idx="11"/>
          </p:nvPr>
        </p:nvSpPr>
        <p:spPr/>
        <p:txBody>
          <a:bodyPr/>
          <a:lstStyle/>
          <a:p>
            <a:endParaRPr lang="en-CH"/>
          </a:p>
        </p:txBody>
      </p:sp>
      <p:sp>
        <p:nvSpPr>
          <p:cNvPr id="7" name="Slide Number Placeholder 6">
            <a:extLst>
              <a:ext uri="{FF2B5EF4-FFF2-40B4-BE49-F238E27FC236}">
                <a16:creationId xmlns:a16="http://schemas.microsoft.com/office/drawing/2014/main" id="{B28CC2DF-D488-4D77-A465-685523054F54}"/>
              </a:ext>
            </a:extLst>
          </p:cNvPr>
          <p:cNvSpPr>
            <a:spLocks noGrp="1"/>
          </p:cNvSpPr>
          <p:nvPr>
            <p:ph type="sldNum" sz="quarter" idx="12"/>
          </p:nvPr>
        </p:nvSpPr>
        <p:spPr/>
        <p:txBody>
          <a:bodyPr/>
          <a:lstStyle/>
          <a:p>
            <a:fld id="{4D1E26A2-74E8-4FDA-9359-683B3A55E4F2}" type="slidenum">
              <a:rPr lang="en-CH" smtClean="0"/>
              <a:t>‹#›</a:t>
            </a:fld>
            <a:endParaRPr lang="en-CH"/>
          </a:p>
        </p:txBody>
      </p:sp>
    </p:spTree>
    <p:extLst>
      <p:ext uri="{BB962C8B-B14F-4D97-AF65-F5344CB8AC3E}">
        <p14:creationId xmlns:p14="http://schemas.microsoft.com/office/powerpoint/2010/main" val="4130768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9F342-FFA7-4FF1-9FA9-46CACCA5512F}"/>
              </a:ext>
            </a:extLst>
          </p:cNvPr>
          <p:cNvSpPr>
            <a:spLocks noGrp="1"/>
          </p:cNvSpPr>
          <p:nvPr>
            <p:ph type="title"/>
          </p:nvPr>
        </p:nvSpPr>
        <p:spPr>
          <a:xfrm>
            <a:off x="839788" y="365125"/>
            <a:ext cx="10515600" cy="1325563"/>
          </a:xfrm>
        </p:spPr>
        <p:txBody>
          <a:bodyPr/>
          <a:lstStyle/>
          <a:p>
            <a:r>
              <a:rPr lang="en-US"/>
              <a:t>Click to edit Master title style</a:t>
            </a:r>
            <a:endParaRPr lang="en-CH"/>
          </a:p>
        </p:txBody>
      </p:sp>
      <p:sp>
        <p:nvSpPr>
          <p:cNvPr id="3" name="Text Placeholder 2">
            <a:extLst>
              <a:ext uri="{FF2B5EF4-FFF2-40B4-BE49-F238E27FC236}">
                <a16:creationId xmlns:a16="http://schemas.microsoft.com/office/drawing/2014/main" id="{76EB83C8-C2D3-4CD3-8B04-D0A6303974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0B619DB-CCFD-4BCA-A4FE-D39289043CC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5" name="Text Placeholder 4">
            <a:extLst>
              <a:ext uri="{FF2B5EF4-FFF2-40B4-BE49-F238E27FC236}">
                <a16:creationId xmlns:a16="http://schemas.microsoft.com/office/drawing/2014/main" id="{DA6B999C-8FCB-4895-BCFF-05AB1DE6D15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809E0B5-FDA1-40F8-BF6F-C5A51C4B02C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7" name="Date Placeholder 6">
            <a:extLst>
              <a:ext uri="{FF2B5EF4-FFF2-40B4-BE49-F238E27FC236}">
                <a16:creationId xmlns:a16="http://schemas.microsoft.com/office/drawing/2014/main" id="{EF80FF44-0222-461F-AAD0-6E76E02FA302}"/>
              </a:ext>
            </a:extLst>
          </p:cNvPr>
          <p:cNvSpPr>
            <a:spLocks noGrp="1"/>
          </p:cNvSpPr>
          <p:nvPr>
            <p:ph type="dt" sz="half" idx="10"/>
          </p:nvPr>
        </p:nvSpPr>
        <p:spPr/>
        <p:txBody>
          <a:bodyPr/>
          <a:lstStyle/>
          <a:p>
            <a:fld id="{B0CC16AE-9BD7-4F72-918B-06BB6DDCFC90}" type="datetimeFigureOut">
              <a:rPr lang="en-CH" smtClean="0"/>
              <a:t>10/09/2026</a:t>
            </a:fld>
            <a:endParaRPr lang="en-CH"/>
          </a:p>
        </p:txBody>
      </p:sp>
      <p:sp>
        <p:nvSpPr>
          <p:cNvPr id="8" name="Footer Placeholder 7">
            <a:extLst>
              <a:ext uri="{FF2B5EF4-FFF2-40B4-BE49-F238E27FC236}">
                <a16:creationId xmlns:a16="http://schemas.microsoft.com/office/drawing/2014/main" id="{2CA354C6-5D69-4BE8-A769-70C902D7EF96}"/>
              </a:ext>
            </a:extLst>
          </p:cNvPr>
          <p:cNvSpPr>
            <a:spLocks noGrp="1"/>
          </p:cNvSpPr>
          <p:nvPr>
            <p:ph type="ftr" sz="quarter" idx="11"/>
          </p:nvPr>
        </p:nvSpPr>
        <p:spPr/>
        <p:txBody>
          <a:bodyPr/>
          <a:lstStyle/>
          <a:p>
            <a:endParaRPr lang="en-CH"/>
          </a:p>
        </p:txBody>
      </p:sp>
      <p:sp>
        <p:nvSpPr>
          <p:cNvPr id="9" name="Slide Number Placeholder 8">
            <a:extLst>
              <a:ext uri="{FF2B5EF4-FFF2-40B4-BE49-F238E27FC236}">
                <a16:creationId xmlns:a16="http://schemas.microsoft.com/office/drawing/2014/main" id="{19D12C0A-EF36-45E1-B63C-886EC6ADBF09}"/>
              </a:ext>
            </a:extLst>
          </p:cNvPr>
          <p:cNvSpPr>
            <a:spLocks noGrp="1"/>
          </p:cNvSpPr>
          <p:nvPr>
            <p:ph type="sldNum" sz="quarter" idx="12"/>
          </p:nvPr>
        </p:nvSpPr>
        <p:spPr/>
        <p:txBody>
          <a:bodyPr/>
          <a:lstStyle/>
          <a:p>
            <a:fld id="{4D1E26A2-74E8-4FDA-9359-683B3A55E4F2}" type="slidenum">
              <a:rPr lang="en-CH" smtClean="0"/>
              <a:t>‹#›</a:t>
            </a:fld>
            <a:endParaRPr lang="en-CH"/>
          </a:p>
        </p:txBody>
      </p:sp>
    </p:spTree>
    <p:extLst>
      <p:ext uri="{BB962C8B-B14F-4D97-AF65-F5344CB8AC3E}">
        <p14:creationId xmlns:p14="http://schemas.microsoft.com/office/powerpoint/2010/main" val="12606702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15E33-FA10-4C38-8D70-F672BAAA814A}"/>
              </a:ext>
            </a:extLst>
          </p:cNvPr>
          <p:cNvSpPr>
            <a:spLocks noGrp="1"/>
          </p:cNvSpPr>
          <p:nvPr>
            <p:ph type="title"/>
          </p:nvPr>
        </p:nvSpPr>
        <p:spPr/>
        <p:txBody>
          <a:bodyPr/>
          <a:lstStyle/>
          <a:p>
            <a:r>
              <a:rPr lang="en-US"/>
              <a:t>Click to edit Master title style</a:t>
            </a:r>
            <a:endParaRPr lang="en-CH"/>
          </a:p>
        </p:txBody>
      </p:sp>
      <p:sp>
        <p:nvSpPr>
          <p:cNvPr id="3" name="Date Placeholder 2">
            <a:extLst>
              <a:ext uri="{FF2B5EF4-FFF2-40B4-BE49-F238E27FC236}">
                <a16:creationId xmlns:a16="http://schemas.microsoft.com/office/drawing/2014/main" id="{BE844539-7C84-4F4B-9D32-AC825820E087}"/>
              </a:ext>
            </a:extLst>
          </p:cNvPr>
          <p:cNvSpPr>
            <a:spLocks noGrp="1"/>
          </p:cNvSpPr>
          <p:nvPr>
            <p:ph type="dt" sz="half" idx="10"/>
          </p:nvPr>
        </p:nvSpPr>
        <p:spPr/>
        <p:txBody>
          <a:bodyPr/>
          <a:lstStyle/>
          <a:p>
            <a:fld id="{B0CC16AE-9BD7-4F72-918B-06BB6DDCFC90}" type="datetimeFigureOut">
              <a:rPr lang="en-CH" smtClean="0"/>
              <a:t>10/09/2026</a:t>
            </a:fld>
            <a:endParaRPr lang="en-CH"/>
          </a:p>
        </p:txBody>
      </p:sp>
      <p:sp>
        <p:nvSpPr>
          <p:cNvPr id="4" name="Footer Placeholder 3">
            <a:extLst>
              <a:ext uri="{FF2B5EF4-FFF2-40B4-BE49-F238E27FC236}">
                <a16:creationId xmlns:a16="http://schemas.microsoft.com/office/drawing/2014/main" id="{D338E92B-59E0-4ACE-8645-4E4CBD952C1C}"/>
              </a:ext>
            </a:extLst>
          </p:cNvPr>
          <p:cNvSpPr>
            <a:spLocks noGrp="1"/>
          </p:cNvSpPr>
          <p:nvPr>
            <p:ph type="ftr" sz="quarter" idx="11"/>
          </p:nvPr>
        </p:nvSpPr>
        <p:spPr/>
        <p:txBody>
          <a:bodyPr/>
          <a:lstStyle/>
          <a:p>
            <a:endParaRPr lang="en-CH"/>
          </a:p>
        </p:txBody>
      </p:sp>
      <p:sp>
        <p:nvSpPr>
          <p:cNvPr id="5" name="Slide Number Placeholder 4">
            <a:extLst>
              <a:ext uri="{FF2B5EF4-FFF2-40B4-BE49-F238E27FC236}">
                <a16:creationId xmlns:a16="http://schemas.microsoft.com/office/drawing/2014/main" id="{4BF0EAB6-478E-463B-9684-E33D3AFCF148}"/>
              </a:ext>
            </a:extLst>
          </p:cNvPr>
          <p:cNvSpPr>
            <a:spLocks noGrp="1"/>
          </p:cNvSpPr>
          <p:nvPr>
            <p:ph type="sldNum" sz="quarter" idx="12"/>
          </p:nvPr>
        </p:nvSpPr>
        <p:spPr/>
        <p:txBody>
          <a:bodyPr/>
          <a:lstStyle/>
          <a:p>
            <a:fld id="{4D1E26A2-74E8-4FDA-9359-683B3A55E4F2}" type="slidenum">
              <a:rPr lang="en-CH" smtClean="0"/>
              <a:t>‹#›</a:t>
            </a:fld>
            <a:endParaRPr lang="en-CH"/>
          </a:p>
        </p:txBody>
      </p:sp>
    </p:spTree>
    <p:extLst>
      <p:ext uri="{BB962C8B-B14F-4D97-AF65-F5344CB8AC3E}">
        <p14:creationId xmlns:p14="http://schemas.microsoft.com/office/powerpoint/2010/main" val="28715000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CE9BC5-231F-424C-9292-421204E7AB06}"/>
              </a:ext>
            </a:extLst>
          </p:cNvPr>
          <p:cNvSpPr>
            <a:spLocks noGrp="1"/>
          </p:cNvSpPr>
          <p:nvPr>
            <p:ph type="dt" sz="half" idx="10"/>
          </p:nvPr>
        </p:nvSpPr>
        <p:spPr/>
        <p:txBody>
          <a:bodyPr/>
          <a:lstStyle/>
          <a:p>
            <a:fld id="{B0CC16AE-9BD7-4F72-918B-06BB6DDCFC90}" type="datetimeFigureOut">
              <a:rPr lang="en-CH" smtClean="0"/>
              <a:t>10/09/2026</a:t>
            </a:fld>
            <a:endParaRPr lang="en-CH"/>
          </a:p>
        </p:txBody>
      </p:sp>
      <p:sp>
        <p:nvSpPr>
          <p:cNvPr id="3" name="Footer Placeholder 2">
            <a:extLst>
              <a:ext uri="{FF2B5EF4-FFF2-40B4-BE49-F238E27FC236}">
                <a16:creationId xmlns:a16="http://schemas.microsoft.com/office/drawing/2014/main" id="{0C8A1EC2-0039-4A13-A0DC-D65CC9EF99CA}"/>
              </a:ext>
            </a:extLst>
          </p:cNvPr>
          <p:cNvSpPr>
            <a:spLocks noGrp="1"/>
          </p:cNvSpPr>
          <p:nvPr>
            <p:ph type="ftr" sz="quarter" idx="11"/>
          </p:nvPr>
        </p:nvSpPr>
        <p:spPr/>
        <p:txBody>
          <a:bodyPr/>
          <a:lstStyle/>
          <a:p>
            <a:endParaRPr lang="en-CH"/>
          </a:p>
        </p:txBody>
      </p:sp>
      <p:sp>
        <p:nvSpPr>
          <p:cNvPr id="4" name="Slide Number Placeholder 3">
            <a:extLst>
              <a:ext uri="{FF2B5EF4-FFF2-40B4-BE49-F238E27FC236}">
                <a16:creationId xmlns:a16="http://schemas.microsoft.com/office/drawing/2014/main" id="{A038B624-EB62-408B-927A-005174DDD862}"/>
              </a:ext>
            </a:extLst>
          </p:cNvPr>
          <p:cNvSpPr>
            <a:spLocks noGrp="1"/>
          </p:cNvSpPr>
          <p:nvPr>
            <p:ph type="sldNum" sz="quarter" idx="12"/>
          </p:nvPr>
        </p:nvSpPr>
        <p:spPr/>
        <p:txBody>
          <a:bodyPr/>
          <a:lstStyle/>
          <a:p>
            <a:fld id="{4D1E26A2-74E8-4FDA-9359-683B3A55E4F2}" type="slidenum">
              <a:rPr lang="en-CH" smtClean="0"/>
              <a:t>‹#›</a:t>
            </a:fld>
            <a:endParaRPr lang="en-CH"/>
          </a:p>
        </p:txBody>
      </p:sp>
    </p:spTree>
    <p:extLst>
      <p:ext uri="{BB962C8B-B14F-4D97-AF65-F5344CB8AC3E}">
        <p14:creationId xmlns:p14="http://schemas.microsoft.com/office/powerpoint/2010/main" val="4128426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FCFC7-D823-438E-8A21-F8BDCBD073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H"/>
          </a:p>
        </p:txBody>
      </p:sp>
      <p:sp>
        <p:nvSpPr>
          <p:cNvPr id="3" name="Content Placeholder 2">
            <a:extLst>
              <a:ext uri="{FF2B5EF4-FFF2-40B4-BE49-F238E27FC236}">
                <a16:creationId xmlns:a16="http://schemas.microsoft.com/office/drawing/2014/main" id="{92A41547-88DC-4E55-B4BD-1BC1E5F5F7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Text Placeholder 3">
            <a:extLst>
              <a:ext uri="{FF2B5EF4-FFF2-40B4-BE49-F238E27FC236}">
                <a16:creationId xmlns:a16="http://schemas.microsoft.com/office/drawing/2014/main" id="{811362F7-54E4-42C2-8966-580181119E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766D75D-AFA1-463B-B84E-D46727AA21A3}"/>
              </a:ext>
            </a:extLst>
          </p:cNvPr>
          <p:cNvSpPr>
            <a:spLocks noGrp="1"/>
          </p:cNvSpPr>
          <p:nvPr>
            <p:ph type="dt" sz="half" idx="10"/>
          </p:nvPr>
        </p:nvSpPr>
        <p:spPr/>
        <p:txBody>
          <a:bodyPr/>
          <a:lstStyle/>
          <a:p>
            <a:fld id="{B0CC16AE-9BD7-4F72-918B-06BB6DDCFC90}" type="datetimeFigureOut">
              <a:rPr lang="en-CH" smtClean="0"/>
              <a:t>10/09/2026</a:t>
            </a:fld>
            <a:endParaRPr lang="en-CH"/>
          </a:p>
        </p:txBody>
      </p:sp>
      <p:sp>
        <p:nvSpPr>
          <p:cNvPr id="6" name="Footer Placeholder 5">
            <a:extLst>
              <a:ext uri="{FF2B5EF4-FFF2-40B4-BE49-F238E27FC236}">
                <a16:creationId xmlns:a16="http://schemas.microsoft.com/office/drawing/2014/main" id="{78257DD7-DCAF-4EB8-A2D5-9CE10BB69A2D}"/>
              </a:ext>
            </a:extLst>
          </p:cNvPr>
          <p:cNvSpPr>
            <a:spLocks noGrp="1"/>
          </p:cNvSpPr>
          <p:nvPr>
            <p:ph type="ftr" sz="quarter" idx="11"/>
          </p:nvPr>
        </p:nvSpPr>
        <p:spPr/>
        <p:txBody>
          <a:bodyPr/>
          <a:lstStyle/>
          <a:p>
            <a:endParaRPr lang="en-CH"/>
          </a:p>
        </p:txBody>
      </p:sp>
      <p:sp>
        <p:nvSpPr>
          <p:cNvPr id="7" name="Slide Number Placeholder 6">
            <a:extLst>
              <a:ext uri="{FF2B5EF4-FFF2-40B4-BE49-F238E27FC236}">
                <a16:creationId xmlns:a16="http://schemas.microsoft.com/office/drawing/2014/main" id="{466A9742-1A39-4012-B3B1-E1642F3C5617}"/>
              </a:ext>
            </a:extLst>
          </p:cNvPr>
          <p:cNvSpPr>
            <a:spLocks noGrp="1"/>
          </p:cNvSpPr>
          <p:nvPr>
            <p:ph type="sldNum" sz="quarter" idx="12"/>
          </p:nvPr>
        </p:nvSpPr>
        <p:spPr/>
        <p:txBody>
          <a:bodyPr/>
          <a:lstStyle/>
          <a:p>
            <a:fld id="{4D1E26A2-74E8-4FDA-9359-683B3A55E4F2}" type="slidenum">
              <a:rPr lang="en-CH" smtClean="0"/>
              <a:t>‹#›</a:t>
            </a:fld>
            <a:endParaRPr lang="en-CH"/>
          </a:p>
        </p:txBody>
      </p:sp>
    </p:spTree>
    <p:extLst>
      <p:ext uri="{BB962C8B-B14F-4D97-AF65-F5344CB8AC3E}">
        <p14:creationId xmlns:p14="http://schemas.microsoft.com/office/powerpoint/2010/main" val="40760439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9139F-71DF-4AAB-B366-1880C5645C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H"/>
          </a:p>
        </p:txBody>
      </p:sp>
      <p:sp>
        <p:nvSpPr>
          <p:cNvPr id="3" name="Picture Placeholder 2">
            <a:extLst>
              <a:ext uri="{FF2B5EF4-FFF2-40B4-BE49-F238E27FC236}">
                <a16:creationId xmlns:a16="http://schemas.microsoft.com/office/drawing/2014/main" id="{24B6779F-D7F2-4356-BC9B-F1ECA02C55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H"/>
          </a:p>
        </p:txBody>
      </p:sp>
      <p:sp>
        <p:nvSpPr>
          <p:cNvPr id="4" name="Text Placeholder 3">
            <a:extLst>
              <a:ext uri="{FF2B5EF4-FFF2-40B4-BE49-F238E27FC236}">
                <a16:creationId xmlns:a16="http://schemas.microsoft.com/office/drawing/2014/main" id="{8886B71A-6360-40EF-9FD5-DDA4BAA0AF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C27AD44-B784-41A4-8F49-C338CDB63F80}"/>
              </a:ext>
            </a:extLst>
          </p:cNvPr>
          <p:cNvSpPr>
            <a:spLocks noGrp="1"/>
          </p:cNvSpPr>
          <p:nvPr>
            <p:ph type="dt" sz="half" idx="10"/>
          </p:nvPr>
        </p:nvSpPr>
        <p:spPr/>
        <p:txBody>
          <a:bodyPr/>
          <a:lstStyle/>
          <a:p>
            <a:fld id="{B0CC16AE-9BD7-4F72-918B-06BB6DDCFC90}" type="datetimeFigureOut">
              <a:rPr lang="en-CH" smtClean="0"/>
              <a:t>10/09/2026</a:t>
            </a:fld>
            <a:endParaRPr lang="en-CH"/>
          </a:p>
        </p:txBody>
      </p:sp>
      <p:sp>
        <p:nvSpPr>
          <p:cNvPr id="6" name="Footer Placeholder 5">
            <a:extLst>
              <a:ext uri="{FF2B5EF4-FFF2-40B4-BE49-F238E27FC236}">
                <a16:creationId xmlns:a16="http://schemas.microsoft.com/office/drawing/2014/main" id="{AB921C2C-9E62-4E6A-8613-56485C63C400}"/>
              </a:ext>
            </a:extLst>
          </p:cNvPr>
          <p:cNvSpPr>
            <a:spLocks noGrp="1"/>
          </p:cNvSpPr>
          <p:nvPr>
            <p:ph type="ftr" sz="quarter" idx="11"/>
          </p:nvPr>
        </p:nvSpPr>
        <p:spPr/>
        <p:txBody>
          <a:bodyPr/>
          <a:lstStyle/>
          <a:p>
            <a:endParaRPr lang="en-CH"/>
          </a:p>
        </p:txBody>
      </p:sp>
      <p:sp>
        <p:nvSpPr>
          <p:cNvPr id="7" name="Slide Number Placeholder 6">
            <a:extLst>
              <a:ext uri="{FF2B5EF4-FFF2-40B4-BE49-F238E27FC236}">
                <a16:creationId xmlns:a16="http://schemas.microsoft.com/office/drawing/2014/main" id="{F96CA7D5-B9AB-46AC-8702-5D384977ECE9}"/>
              </a:ext>
            </a:extLst>
          </p:cNvPr>
          <p:cNvSpPr>
            <a:spLocks noGrp="1"/>
          </p:cNvSpPr>
          <p:nvPr>
            <p:ph type="sldNum" sz="quarter" idx="12"/>
          </p:nvPr>
        </p:nvSpPr>
        <p:spPr/>
        <p:txBody>
          <a:bodyPr/>
          <a:lstStyle/>
          <a:p>
            <a:fld id="{4D1E26A2-74E8-4FDA-9359-683B3A55E4F2}" type="slidenum">
              <a:rPr lang="en-CH" smtClean="0"/>
              <a:t>‹#›</a:t>
            </a:fld>
            <a:endParaRPr lang="en-CH"/>
          </a:p>
        </p:txBody>
      </p:sp>
    </p:spTree>
    <p:extLst>
      <p:ext uri="{BB962C8B-B14F-4D97-AF65-F5344CB8AC3E}">
        <p14:creationId xmlns:p14="http://schemas.microsoft.com/office/powerpoint/2010/main" val="36013040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55759-BA2B-40D3-8593-A46148F24CA3}"/>
              </a:ext>
            </a:extLst>
          </p:cNvPr>
          <p:cNvSpPr>
            <a:spLocks noGrp="1"/>
          </p:cNvSpPr>
          <p:nvPr>
            <p:ph type="title"/>
          </p:nvPr>
        </p:nvSpPr>
        <p:spPr/>
        <p:txBody>
          <a:bodyPr/>
          <a:lstStyle/>
          <a:p>
            <a:r>
              <a:rPr lang="en-US"/>
              <a:t>Click to edit Master title style</a:t>
            </a:r>
            <a:endParaRPr lang="en-CH"/>
          </a:p>
        </p:txBody>
      </p:sp>
      <p:sp>
        <p:nvSpPr>
          <p:cNvPr id="3" name="Vertical Text Placeholder 2">
            <a:extLst>
              <a:ext uri="{FF2B5EF4-FFF2-40B4-BE49-F238E27FC236}">
                <a16:creationId xmlns:a16="http://schemas.microsoft.com/office/drawing/2014/main" id="{E28C160A-5ADF-425F-B933-5E4357DE927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Date Placeholder 3">
            <a:extLst>
              <a:ext uri="{FF2B5EF4-FFF2-40B4-BE49-F238E27FC236}">
                <a16:creationId xmlns:a16="http://schemas.microsoft.com/office/drawing/2014/main" id="{FE4E0661-584E-4C6D-96FA-6CC3F137946F}"/>
              </a:ext>
            </a:extLst>
          </p:cNvPr>
          <p:cNvSpPr>
            <a:spLocks noGrp="1"/>
          </p:cNvSpPr>
          <p:nvPr>
            <p:ph type="dt" sz="half" idx="10"/>
          </p:nvPr>
        </p:nvSpPr>
        <p:spPr/>
        <p:txBody>
          <a:bodyPr/>
          <a:lstStyle/>
          <a:p>
            <a:fld id="{B0CC16AE-9BD7-4F72-918B-06BB6DDCFC90}" type="datetimeFigureOut">
              <a:rPr lang="en-CH" smtClean="0"/>
              <a:t>10/09/2026</a:t>
            </a:fld>
            <a:endParaRPr lang="en-CH"/>
          </a:p>
        </p:txBody>
      </p:sp>
      <p:sp>
        <p:nvSpPr>
          <p:cNvPr id="5" name="Footer Placeholder 4">
            <a:extLst>
              <a:ext uri="{FF2B5EF4-FFF2-40B4-BE49-F238E27FC236}">
                <a16:creationId xmlns:a16="http://schemas.microsoft.com/office/drawing/2014/main" id="{6428CE99-E18B-4BEE-9DE3-5B4D3B28334F}"/>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CD72563B-8603-4A15-AC7F-2D52697EE986}"/>
              </a:ext>
            </a:extLst>
          </p:cNvPr>
          <p:cNvSpPr>
            <a:spLocks noGrp="1"/>
          </p:cNvSpPr>
          <p:nvPr>
            <p:ph type="sldNum" sz="quarter" idx="12"/>
          </p:nvPr>
        </p:nvSpPr>
        <p:spPr/>
        <p:txBody>
          <a:bodyPr/>
          <a:lstStyle/>
          <a:p>
            <a:fld id="{4D1E26A2-74E8-4FDA-9359-683B3A55E4F2}" type="slidenum">
              <a:rPr lang="en-CH" smtClean="0"/>
              <a:t>‹#›</a:t>
            </a:fld>
            <a:endParaRPr lang="en-CH"/>
          </a:p>
        </p:txBody>
      </p:sp>
    </p:spTree>
    <p:extLst>
      <p:ext uri="{BB962C8B-B14F-4D97-AF65-F5344CB8AC3E}">
        <p14:creationId xmlns:p14="http://schemas.microsoft.com/office/powerpoint/2010/main" val="2056146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3E47A7E-10A9-42D8-AA5E-7962DF56F2C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H"/>
          </a:p>
        </p:txBody>
      </p:sp>
      <p:sp>
        <p:nvSpPr>
          <p:cNvPr id="3" name="Vertical Text Placeholder 2">
            <a:extLst>
              <a:ext uri="{FF2B5EF4-FFF2-40B4-BE49-F238E27FC236}">
                <a16:creationId xmlns:a16="http://schemas.microsoft.com/office/drawing/2014/main" id="{B752D4BF-74E0-425C-B805-FA431FE71AFA}"/>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Date Placeholder 3">
            <a:extLst>
              <a:ext uri="{FF2B5EF4-FFF2-40B4-BE49-F238E27FC236}">
                <a16:creationId xmlns:a16="http://schemas.microsoft.com/office/drawing/2014/main" id="{91081249-1E5F-4657-92D6-F77FFC2642BB}"/>
              </a:ext>
            </a:extLst>
          </p:cNvPr>
          <p:cNvSpPr>
            <a:spLocks noGrp="1"/>
          </p:cNvSpPr>
          <p:nvPr>
            <p:ph type="dt" sz="half" idx="10"/>
          </p:nvPr>
        </p:nvSpPr>
        <p:spPr/>
        <p:txBody>
          <a:bodyPr/>
          <a:lstStyle/>
          <a:p>
            <a:fld id="{B0CC16AE-9BD7-4F72-918B-06BB6DDCFC90}" type="datetimeFigureOut">
              <a:rPr lang="en-CH" smtClean="0"/>
              <a:t>10/09/2026</a:t>
            </a:fld>
            <a:endParaRPr lang="en-CH"/>
          </a:p>
        </p:txBody>
      </p:sp>
      <p:sp>
        <p:nvSpPr>
          <p:cNvPr id="5" name="Footer Placeholder 4">
            <a:extLst>
              <a:ext uri="{FF2B5EF4-FFF2-40B4-BE49-F238E27FC236}">
                <a16:creationId xmlns:a16="http://schemas.microsoft.com/office/drawing/2014/main" id="{889C9D50-E54E-47A4-9468-3B764C63FC68}"/>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125EBCD9-F077-4A28-8F87-6454256519C1}"/>
              </a:ext>
            </a:extLst>
          </p:cNvPr>
          <p:cNvSpPr>
            <a:spLocks noGrp="1"/>
          </p:cNvSpPr>
          <p:nvPr>
            <p:ph type="sldNum" sz="quarter" idx="12"/>
          </p:nvPr>
        </p:nvSpPr>
        <p:spPr/>
        <p:txBody>
          <a:bodyPr/>
          <a:lstStyle/>
          <a:p>
            <a:fld id="{4D1E26A2-74E8-4FDA-9359-683B3A55E4F2}" type="slidenum">
              <a:rPr lang="en-CH" smtClean="0"/>
              <a:t>‹#›</a:t>
            </a:fld>
            <a:endParaRPr lang="en-CH"/>
          </a:p>
        </p:txBody>
      </p:sp>
    </p:spTree>
    <p:extLst>
      <p:ext uri="{BB962C8B-B14F-4D97-AF65-F5344CB8AC3E}">
        <p14:creationId xmlns:p14="http://schemas.microsoft.com/office/powerpoint/2010/main" val="12208774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0B5737-CD86-420F-8F7E-82206E3EA4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H"/>
          </a:p>
        </p:txBody>
      </p:sp>
      <p:sp>
        <p:nvSpPr>
          <p:cNvPr id="3" name="Text Placeholder 2">
            <a:extLst>
              <a:ext uri="{FF2B5EF4-FFF2-40B4-BE49-F238E27FC236}">
                <a16:creationId xmlns:a16="http://schemas.microsoft.com/office/drawing/2014/main" id="{484FC5AF-EA2A-4570-8A4B-3D41A7CADD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Date Placeholder 3">
            <a:extLst>
              <a:ext uri="{FF2B5EF4-FFF2-40B4-BE49-F238E27FC236}">
                <a16:creationId xmlns:a16="http://schemas.microsoft.com/office/drawing/2014/main" id="{9C83C6E4-C120-4171-871E-14754EAC89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CC16AE-9BD7-4F72-918B-06BB6DDCFC90}" type="datetimeFigureOut">
              <a:rPr lang="en-CH" smtClean="0"/>
              <a:t>10/09/2026</a:t>
            </a:fld>
            <a:endParaRPr lang="en-CH"/>
          </a:p>
        </p:txBody>
      </p:sp>
      <p:sp>
        <p:nvSpPr>
          <p:cNvPr id="5" name="Footer Placeholder 4">
            <a:extLst>
              <a:ext uri="{FF2B5EF4-FFF2-40B4-BE49-F238E27FC236}">
                <a16:creationId xmlns:a16="http://schemas.microsoft.com/office/drawing/2014/main" id="{4FEDE85E-59EC-494A-A436-6E09589BFA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H"/>
          </a:p>
        </p:txBody>
      </p:sp>
      <p:sp>
        <p:nvSpPr>
          <p:cNvPr id="6" name="Slide Number Placeholder 5">
            <a:extLst>
              <a:ext uri="{FF2B5EF4-FFF2-40B4-BE49-F238E27FC236}">
                <a16:creationId xmlns:a16="http://schemas.microsoft.com/office/drawing/2014/main" id="{02CAB59B-69FD-4AD2-A989-D03BF60AE9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1E26A2-74E8-4FDA-9359-683B3A55E4F2}" type="slidenum">
              <a:rPr lang="en-CH" smtClean="0"/>
              <a:t>‹#›</a:t>
            </a:fld>
            <a:endParaRPr lang="en-CH"/>
          </a:p>
        </p:txBody>
      </p:sp>
    </p:spTree>
    <p:extLst>
      <p:ext uri="{BB962C8B-B14F-4D97-AF65-F5344CB8AC3E}">
        <p14:creationId xmlns:p14="http://schemas.microsoft.com/office/powerpoint/2010/main" val="37589694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7.xml"/><Relationship Id="rId4" Type="http://schemas.openxmlformats.org/officeDocument/2006/relationships/image" Target="../media/image3.emf"/></Relationships>
</file>

<file path=ppt/slides/_rels/slide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7.xml"/><Relationship Id="rId4" Type="http://schemas.openxmlformats.org/officeDocument/2006/relationships/image" Target="../media/image6.emf"/></Relationships>
</file>

<file path=ppt/slides/_rels/slide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7.xml"/><Relationship Id="rId4" Type="http://schemas.openxmlformats.org/officeDocument/2006/relationships/image" Target="../media/image9.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e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7.xml"/><Relationship Id="rId4" Type="http://schemas.openxmlformats.org/officeDocument/2006/relationships/image" Target="../media/image109.png"/></Relationships>
</file>

<file path=ppt/slides/_rels/slide83.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image" Target="../media/image128.pn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image" Target="../media/image131.pn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image" Target="../media/image134.pn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135.pn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image" Target="../media/image138.pn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140.png"/><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image" Target="../media/image142.png"/><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image" Target="../media/image144.png"/><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image" Target="../media/image146.pn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image" Target="../media/image147.png"/><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image" Target="../media/image149.pn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image" Target="../media/image150.pn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image" Target="../media/image152.png"/><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image" Target="../media/image154.png"/><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image" Target="../media/image155.png"/><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image" Target="../media/image157.png"/><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image" Target="../media/image158.png"/><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image" Target="../media/image161.png"/><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image" Target="../media/image163.png"/><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image" Target="../media/image164.png"/><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image" Target="../media/image166.png"/><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image" Target="../media/image167.png"/><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image" Target="../media/image168.png"/><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image" Target="../media/image171.png"/><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image" Target="../media/image172.png"/><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image" Target="../media/image173.png"/><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image" Target="../media/image175.png"/><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image" Target="../media/image176.png"/><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image" Target="../media/image177.png"/><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3" Type="http://schemas.openxmlformats.org/officeDocument/2006/relationships/image" Target="../media/image179.png"/><Relationship Id="rId2" Type="http://schemas.openxmlformats.org/officeDocument/2006/relationships/image" Target="../media/image178.png"/><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image" Target="../media/image180.png"/><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3" Type="http://schemas.openxmlformats.org/officeDocument/2006/relationships/image" Target="../media/image183.png"/><Relationship Id="rId2" Type="http://schemas.openxmlformats.org/officeDocument/2006/relationships/image" Target="../media/image182.png"/><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3" Type="http://schemas.openxmlformats.org/officeDocument/2006/relationships/image" Target="../media/image185.png"/><Relationship Id="rId2" Type="http://schemas.openxmlformats.org/officeDocument/2006/relationships/image" Target="../media/image184.png"/><Relationship Id="rId1" Type="http://schemas.openxmlformats.org/officeDocument/2006/relationships/slideLayout" Target="../slideLayouts/slideLayout7.xml"/><Relationship Id="rId4" Type="http://schemas.openxmlformats.org/officeDocument/2006/relationships/image" Target="../media/image186.png"/></Relationships>
</file>

<file path=ppt/slides/_rels/slide136.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image" Target="../media/image187.png"/><Relationship Id="rId1" Type="http://schemas.openxmlformats.org/officeDocument/2006/relationships/slideLayout" Target="../slideLayouts/slideLayout7.xml"/><Relationship Id="rId4" Type="http://schemas.openxmlformats.org/officeDocument/2006/relationships/image" Target="../media/image189.png"/></Relationships>
</file>

<file path=ppt/slides/_rels/slide137.xml.rels><?xml version="1.0" encoding="UTF-8" standalone="yes"?>
<Relationships xmlns="http://schemas.openxmlformats.org/package/2006/relationships"><Relationship Id="rId3" Type="http://schemas.openxmlformats.org/officeDocument/2006/relationships/image" Target="../media/image191.png"/><Relationship Id="rId2" Type="http://schemas.openxmlformats.org/officeDocument/2006/relationships/image" Target="../media/image190.png"/><Relationship Id="rId1" Type="http://schemas.openxmlformats.org/officeDocument/2006/relationships/slideLayout" Target="../slideLayouts/slideLayout7.xml"/><Relationship Id="rId5" Type="http://schemas.openxmlformats.org/officeDocument/2006/relationships/image" Target="../media/image193.png"/><Relationship Id="rId4" Type="http://schemas.openxmlformats.org/officeDocument/2006/relationships/image" Target="../media/image192.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95.png"/><Relationship Id="rId2" Type="http://schemas.openxmlformats.org/officeDocument/2006/relationships/image" Target="../media/image194.png"/><Relationship Id="rId1" Type="http://schemas.openxmlformats.org/officeDocument/2006/relationships/slideLayout" Target="../slideLayouts/slideLayout2.xml"/><Relationship Id="rId4" Type="http://schemas.openxmlformats.org/officeDocument/2006/relationships/image" Target="../media/image196.png"/></Relationships>
</file>

<file path=ppt/slides/_rels/slide140.xml.rels><?xml version="1.0" encoding="UTF-8" standalone="yes"?>
<Relationships xmlns="http://schemas.openxmlformats.org/package/2006/relationships"><Relationship Id="rId3" Type="http://schemas.openxmlformats.org/officeDocument/2006/relationships/image" Target="../media/image198.png"/><Relationship Id="rId2" Type="http://schemas.openxmlformats.org/officeDocument/2006/relationships/image" Target="../media/image197.png"/><Relationship Id="rId1" Type="http://schemas.openxmlformats.org/officeDocument/2006/relationships/slideLayout" Target="../slideLayouts/slideLayout7.xml"/><Relationship Id="rId5" Type="http://schemas.openxmlformats.org/officeDocument/2006/relationships/image" Target="../media/image200.png"/><Relationship Id="rId4" Type="http://schemas.openxmlformats.org/officeDocument/2006/relationships/image" Target="../media/image199.png"/></Relationships>
</file>

<file path=ppt/slides/_rels/slide141.xml.rels><?xml version="1.0" encoding="UTF-8" standalone="yes"?>
<Relationships xmlns="http://schemas.openxmlformats.org/package/2006/relationships"><Relationship Id="rId3" Type="http://schemas.openxmlformats.org/officeDocument/2006/relationships/image" Target="../media/image202.png"/><Relationship Id="rId2" Type="http://schemas.openxmlformats.org/officeDocument/2006/relationships/image" Target="../media/image201.png"/><Relationship Id="rId1" Type="http://schemas.openxmlformats.org/officeDocument/2006/relationships/slideLayout" Target="../slideLayouts/slideLayout2.xml"/><Relationship Id="rId4" Type="http://schemas.openxmlformats.org/officeDocument/2006/relationships/image" Target="../media/image203.png"/></Relationships>
</file>

<file path=ppt/slides/_rels/slide142.xml.rels><?xml version="1.0" encoding="UTF-8" standalone="yes"?>
<Relationships xmlns="http://schemas.openxmlformats.org/package/2006/relationships"><Relationship Id="rId2" Type="http://schemas.openxmlformats.org/officeDocument/2006/relationships/image" Target="../media/image204.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206.png"/><Relationship Id="rId2" Type="http://schemas.openxmlformats.org/officeDocument/2006/relationships/image" Target="../media/image205.png"/><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3" Type="http://schemas.openxmlformats.org/officeDocument/2006/relationships/image" Target="../media/image208.png"/><Relationship Id="rId2" Type="http://schemas.openxmlformats.org/officeDocument/2006/relationships/image" Target="../media/image207.png"/><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image" Target="../media/image209.png"/><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image" Target="../media/image210.png"/><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3" Type="http://schemas.openxmlformats.org/officeDocument/2006/relationships/image" Target="../media/image213.png"/><Relationship Id="rId2" Type="http://schemas.openxmlformats.org/officeDocument/2006/relationships/image" Target="../media/image212.png"/><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3" Type="http://schemas.openxmlformats.org/officeDocument/2006/relationships/image" Target="../media/image215.png"/><Relationship Id="rId2" Type="http://schemas.openxmlformats.org/officeDocument/2006/relationships/image" Target="../media/image214.png"/><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3" Type="http://schemas.openxmlformats.org/officeDocument/2006/relationships/image" Target="../media/image217.png"/><Relationship Id="rId2" Type="http://schemas.openxmlformats.org/officeDocument/2006/relationships/image" Target="../media/image216.png"/><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3" Type="http://schemas.openxmlformats.org/officeDocument/2006/relationships/image" Target="../media/image219.png"/><Relationship Id="rId2" Type="http://schemas.openxmlformats.org/officeDocument/2006/relationships/image" Target="../media/image218.png"/><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3" Type="http://schemas.openxmlformats.org/officeDocument/2006/relationships/image" Target="../media/image221.png"/><Relationship Id="rId2" Type="http://schemas.openxmlformats.org/officeDocument/2006/relationships/image" Target="../media/image220.png"/><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3" Type="http://schemas.openxmlformats.org/officeDocument/2006/relationships/image" Target="../media/image223.png"/><Relationship Id="rId2" Type="http://schemas.openxmlformats.org/officeDocument/2006/relationships/image" Target="../media/image222.png"/><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2" Type="http://schemas.openxmlformats.org/officeDocument/2006/relationships/image" Target="../media/image224.png"/><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3" Type="http://schemas.openxmlformats.org/officeDocument/2006/relationships/image" Target="../media/image226.png"/><Relationship Id="rId2" Type="http://schemas.openxmlformats.org/officeDocument/2006/relationships/image" Target="../media/image225.png"/><Relationship Id="rId1" Type="http://schemas.openxmlformats.org/officeDocument/2006/relationships/slideLayout" Target="../slideLayouts/slideLayout7.xml"/><Relationship Id="rId4" Type="http://schemas.openxmlformats.org/officeDocument/2006/relationships/image" Target="../media/image227.png"/></Relationships>
</file>

<file path=ppt/slides/_rels/slide155.xml.rels><?xml version="1.0" encoding="UTF-8" standalone="yes"?>
<Relationships xmlns="http://schemas.openxmlformats.org/package/2006/relationships"><Relationship Id="rId3" Type="http://schemas.openxmlformats.org/officeDocument/2006/relationships/image" Target="../media/image229.png"/><Relationship Id="rId2" Type="http://schemas.openxmlformats.org/officeDocument/2006/relationships/image" Target="../media/image228.png"/><Relationship Id="rId1" Type="http://schemas.openxmlformats.org/officeDocument/2006/relationships/slideLayout" Target="../slideLayouts/slideLayout7.xml"/><Relationship Id="rId5" Type="http://schemas.openxmlformats.org/officeDocument/2006/relationships/image" Target="../media/image231.png"/><Relationship Id="rId4" Type="http://schemas.openxmlformats.org/officeDocument/2006/relationships/image" Target="../media/image230.png"/></Relationships>
</file>

<file path=ppt/slides/_rels/slide156.xml.rels><?xml version="1.0" encoding="UTF-8" standalone="yes"?>
<Relationships xmlns="http://schemas.openxmlformats.org/package/2006/relationships"><Relationship Id="rId2" Type="http://schemas.openxmlformats.org/officeDocument/2006/relationships/image" Target="../media/image232.png"/><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3" Type="http://schemas.openxmlformats.org/officeDocument/2006/relationships/image" Target="../media/image234.png"/><Relationship Id="rId2" Type="http://schemas.openxmlformats.org/officeDocument/2006/relationships/image" Target="../media/image233.png"/><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3" Type="http://schemas.openxmlformats.org/officeDocument/2006/relationships/image" Target="../media/image236.png"/><Relationship Id="rId2" Type="http://schemas.openxmlformats.org/officeDocument/2006/relationships/image" Target="../media/image235.png"/><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3" Type="http://schemas.openxmlformats.org/officeDocument/2006/relationships/image" Target="../media/image238.png"/><Relationship Id="rId2" Type="http://schemas.openxmlformats.org/officeDocument/2006/relationships/image" Target="../media/image237.png"/><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2" Type="http://schemas.openxmlformats.org/officeDocument/2006/relationships/image" Target="../media/image239.png"/><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3" Type="http://schemas.openxmlformats.org/officeDocument/2006/relationships/image" Target="../media/image241.png"/><Relationship Id="rId2" Type="http://schemas.openxmlformats.org/officeDocument/2006/relationships/image" Target="../media/image240.png"/><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3" Type="http://schemas.openxmlformats.org/officeDocument/2006/relationships/image" Target="../media/image243.png"/><Relationship Id="rId2" Type="http://schemas.openxmlformats.org/officeDocument/2006/relationships/image" Target="../media/image242.png"/><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3" Type="http://schemas.openxmlformats.org/officeDocument/2006/relationships/image" Target="../media/image245.png"/><Relationship Id="rId2" Type="http://schemas.openxmlformats.org/officeDocument/2006/relationships/image" Target="../media/image244.png"/><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3" Type="http://schemas.openxmlformats.org/officeDocument/2006/relationships/image" Target="../media/image247.png"/><Relationship Id="rId2" Type="http://schemas.openxmlformats.org/officeDocument/2006/relationships/image" Target="../media/image246.png"/><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3" Type="http://schemas.openxmlformats.org/officeDocument/2006/relationships/image" Target="../media/image249.png"/><Relationship Id="rId2" Type="http://schemas.openxmlformats.org/officeDocument/2006/relationships/image" Target="../media/image248.png"/><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2" Type="http://schemas.openxmlformats.org/officeDocument/2006/relationships/image" Target="../media/image25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EEAB2-4C3C-4E1E-8487-EA312F45A224}"/>
              </a:ext>
            </a:extLst>
          </p:cNvPr>
          <p:cNvSpPr>
            <a:spLocks noGrp="1"/>
          </p:cNvSpPr>
          <p:nvPr>
            <p:ph type="ctrTitle"/>
          </p:nvPr>
        </p:nvSpPr>
        <p:spPr/>
        <p:txBody>
          <a:bodyPr/>
          <a:lstStyle/>
          <a:p>
            <a:r>
              <a:rPr lang="en-US" dirty="0"/>
              <a:t>IM Simulation </a:t>
            </a:r>
            <a:endParaRPr lang="en-CH" dirty="0"/>
          </a:p>
        </p:txBody>
      </p:sp>
      <p:sp>
        <p:nvSpPr>
          <p:cNvPr id="3" name="Subtitle 2">
            <a:extLst>
              <a:ext uri="{FF2B5EF4-FFF2-40B4-BE49-F238E27FC236}">
                <a16:creationId xmlns:a16="http://schemas.microsoft.com/office/drawing/2014/main" id="{509D3031-7FD4-40CE-8592-24A3D4489531}"/>
              </a:ext>
            </a:extLst>
          </p:cNvPr>
          <p:cNvSpPr>
            <a:spLocks noGrp="1"/>
          </p:cNvSpPr>
          <p:nvPr>
            <p:ph type="subTitle" idx="1"/>
          </p:nvPr>
        </p:nvSpPr>
        <p:spPr/>
        <p:txBody>
          <a:bodyPr/>
          <a:lstStyle/>
          <a:p>
            <a:r>
              <a:rPr lang="en-US" dirty="0"/>
              <a:t>Mediated Binding Version</a:t>
            </a:r>
            <a:endParaRPr lang="en-CH" dirty="0"/>
          </a:p>
        </p:txBody>
      </p:sp>
    </p:spTree>
    <p:extLst>
      <p:ext uri="{BB962C8B-B14F-4D97-AF65-F5344CB8AC3E}">
        <p14:creationId xmlns:p14="http://schemas.microsoft.com/office/powerpoint/2010/main" val="9065202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D7AC9-FECE-47ED-91CF-3674F9A167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E285E9-D042-9151-E3DB-25EF9EA8FA76}"/>
              </a:ext>
            </a:extLst>
          </p:cNvPr>
          <p:cNvSpPr>
            <a:spLocks noGrp="1"/>
          </p:cNvSpPr>
          <p:nvPr>
            <p:ph type="title"/>
          </p:nvPr>
        </p:nvSpPr>
        <p:spPr/>
        <p:txBody>
          <a:bodyPr/>
          <a:lstStyle/>
          <a:p>
            <a:r>
              <a:rPr lang="en-CH" dirty="0"/>
              <a:t>From Previous Versions: </a:t>
            </a:r>
            <a:br>
              <a:rPr lang="en-CH" dirty="0"/>
            </a:br>
            <a:r>
              <a:rPr lang="en-CH" dirty="0"/>
              <a:t>Effect of </a:t>
            </a:r>
            <a:r>
              <a:rPr lang="en-CH" dirty="0" err="1"/>
              <a:t>Pbase</a:t>
            </a:r>
            <a:r>
              <a:rPr lang="en-CH" dirty="0"/>
              <a:t> and Delta on SPC</a:t>
            </a:r>
          </a:p>
        </p:txBody>
      </p:sp>
      <p:sp>
        <p:nvSpPr>
          <p:cNvPr id="4" name="Text Placeholder 3">
            <a:extLst>
              <a:ext uri="{FF2B5EF4-FFF2-40B4-BE49-F238E27FC236}">
                <a16:creationId xmlns:a16="http://schemas.microsoft.com/office/drawing/2014/main" id="{98D4D3A4-B94A-4783-727D-5F647C7F99E3}"/>
              </a:ext>
            </a:extLst>
          </p:cNvPr>
          <p:cNvSpPr>
            <a:spLocks noGrp="1"/>
          </p:cNvSpPr>
          <p:nvPr>
            <p:ph type="body" idx="1"/>
          </p:nvPr>
        </p:nvSpPr>
        <p:spPr/>
        <p:txBody>
          <a:bodyPr/>
          <a:lstStyle/>
          <a:p>
            <a:r>
              <a:rPr lang="en-CH" dirty="0"/>
              <a:t>Lower Delta increases recency, and </a:t>
            </a:r>
            <a:r>
              <a:rPr lang="en-CH"/>
              <a:t>increases performance. </a:t>
            </a:r>
          </a:p>
          <a:p>
            <a:r>
              <a:rPr lang="en-CH"/>
              <a:t>Lower </a:t>
            </a:r>
            <a:r>
              <a:rPr lang="en-CH" dirty="0" err="1"/>
              <a:t>Pbase</a:t>
            </a:r>
            <a:r>
              <a:rPr lang="en-CH" dirty="0"/>
              <a:t> appears to just increase performance overall</a:t>
            </a:r>
          </a:p>
        </p:txBody>
      </p:sp>
    </p:spTree>
    <p:extLst>
      <p:ext uri="{BB962C8B-B14F-4D97-AF65-F5344CB8AC3E}">
        <p14:creationId xmlns:p14="http://schemas.microsoft.com/office/powerpoint/2010/main" val="19469428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A08042-A24E-52DE-4780-EA8885EB371C}"/>
              </a:ext>
            </a:extLst>
          </p:cNvPr>
          <p:cNvSpPr txBox="1"/>
          <p:nvPr/>
        </p:nvSpPr>
        <p:spPr>
          <a:xfrm>
            <a:off x="352612" y="376518"/>
            <a:ext cx="2469330" cy="369332"/>
          </a:xfrm>
          <a:prstGeom prst="rect">
            <a:avLst/>
          </a:prstGeom>
          <a:noFill/>
        </p:spPr>
        <p:txBody>
          <a:bodyPr wrap="none" rtlCol="0">
            <a:spAutoFit/>
          </a:bodyPr>
          <a:lstStyle/>
          <a:p>
            <a:r>
              <a:rPr lang="en-CH" dirty="0" err="1"/>
              <a:t>Pbase</a:t>
            </a:r>
            <a:r>
              <a:rPr lang="en-CH" dirty="0"/>
              <a:t> = 0.3, delta = 0.85</a:t>
            </a:r>
          </a:p>
        </p:txBody>
      </p:sp>
      <p:pic>
        <p:nvPicPr>
          <p:cNvPr id="5" name="Picture 4">
            <a:extLst>
              <a:ext uri="{FF2B5EF4-FFF2-40B4-BE49-F238E27FC236}">
                <a16:creationId xmlns:a16="http://schemas.microsoft.com/office/drawing/2014/main" id="{A292D251-0F1C-E9DD-D8E5-69C6D200EA28}"/>
              </a:ext>
            </a:extLst>
          </p:cNvPr>
          <p:cNvPicPr>
            <a:picLocks noChangeAspect="1"/>
          </p:cNvPicPr>
          <p:nvPr/>
        </p:nvPicPr>
        <p:blipFill>
          <a:blip r:embed="rId2"/>
          <a:stretch>
            <a:fillRect/>
          </a:stretch>
        </p:blipFill>
        <p:spPr>
          <a:xfrm>
            <a:off x="6243918" y="49866"/>
            <a:ext cx="4382247" cy="3286685"/>
          </a:xfrm>
          <a:prstGeom prst="rect">
            <a:avLst/>
          </a:prstGeom>
        </p:spPr>
      </p:pic>
      <p:pic>
        <p:nvPicPr>
          <p:cNvPr id="7" name="Picture 6">
            <a:extLst>
              <a:ext uri="{FF2B5EF4-FFF2-40B4-BE49-F238E27FC236}">
                <a16:creationId xmlns:a16="http://schemas.microsoft.com/office/drawing/2014/main" id="{06A0BA2B-5125-F651-AC71-2B4B445D91F9}"/>
              </a:ext>
            </a:extLst>
          </p:cNvPr>
          <p:cNvPicPr>
            <a:picLocks noChangeAspect="1"/>
          </p:cNvPicPr>
          <p:nvPr/>
        </p:nvPicPr>
        <p:blipFill>
          <a:blip r:embed="rId3"/>
          <a:stretch>
            <a:fillRect/>
          </a:stretch>
        </p:blipFill>
        <p:spPr>
          <a:xfrm>
            <a:off x="82176" y="1279337"/>
            <a:ext cx="5960037" cy="4470028"/>
          </a:xfrm>
          <a:prstGeom prst="rect">
            <a:avLst/>
          </a:prstGeom>
        </p:spPr>
      </p:pic>
      <p:pic>
        <p:nvPicPr>
          <p:cNvPr id="8" name="Picture 7">
            <a:extLst>
              <a:ext uri="{FF2B5EF4-FFF2-40B4-BE49-F238E27FC236}">
                <a16:creationId xmlns:a16="http://schemas.microsoft.com/office/drawing/2014/main" id="{9EA56FEE-B555-FD75-92AB-E3FE609EE047}"/>
              </a:ext>
            </a:extLst>
          </p:cNvPr>
          <p:cNvPicPr>
            <a:picLocks noChangeAspect="1"/>
          </p:cNvPicPr>
          <p:nvPr/>
        </p:nvPicPr>
        <p:blipFill>
          <a:blip r:embed="rId4"/>
          <a:stretch>
            <a:fillRect/>
          </a:stretch>
        </p:blipFill>
        <p:spPr>
          <a:xfrm>
            <a:off x="6243918" y="3472703"/>
            <a:ext cx="4513729" cy="3385297"/>
          </a:xfrm>
          <a:prstGeom prst="rect">
            <a:avLst/>
          </a:prstGeom>
        </p:spPr>
      </p:pic>
    </p:spTree>
    <p:extLst>
      <p:ext uri="{BB962C8B-B14F-4D97-AF65-F5344CB8AC3E}">
        <p14:creationId xmlns:p14="http://schemas.microsoft.com/office/powerpoint/2010/main" val="32538393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C18A2-6CB4-00F7-035C-7767359BDF1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746688D-477D-3BD9-CE89-CD417E7617C4}"/>
              </a:ext>
            </a:extLst>
          </p:cNvPr>
          <p:cNvSpPr txBox="1"/>
          <p:nvPr/>
        </p:nvSpPr>
        <p:spPr>
          <a:xfrm>
            <a:off x="352612" y="376518"/>
            <a:ext cx="2469330" cy="369332"/>
          </a:xfrm>
          <a:prstGeom prst="rect">
            <a:avLst/>
          </a:prstGeom>
          <a:noFill/>
        </p:spPr>
        <p:txBody>
          <a:bodyPr wrap="none" rtlCol="0">
            <a:spAutoFit/>
          </a:bodyPr>
          <a:lstStyle/>
          <a:p>
            <a:r>
              <a:rPr lang="en-CH" dirty="0" err="1"/>
              <a:t>Pbase</a:t>
            </a:r>
            <a:r>
              <a:rPr lang="en-CH" dirty="0"/>
              <a:t> = 0.5, delta = 0.75</a:t>
            </a:r>
          </a:p>
        </p:txBody>
      </p:sp>
      <p:pic>
        <p:nvPicPr>
          <p:cNvPr id="2" name="Picture 1">
            <a:extLst>
              <a:ext uri="{FF2B5EF4-FFF2-40B4-BE49-F238E27FC236}">
                <a16:creationId xmlns:a16="http://schemas.microsoft.com/office/drawing/2014/main" id="{DAF46ACC-FC55-6769-8C6C-E404A486FED0}"/>
              </a:ext>
            </a:extLst>
          </p:cNvPr>
          <p:cNvPicPr>
            <a:picLocks noChangeAspect="1"/>
          </p:cNvPicPr>
          <p:nvPr/>
        </p:nvPicPr>
        <p:blipFill>
          <a:blip r:embed="rId2"/>
          <a:stretch>
            <a:fillRect/>
          </a:stretch>
        </p:blipFill>
        <p:spPr>
          <a:xfrm>
            <a:off x="6858001" y="1"/>
            <a:ext cx="4519706" cy="3389780"/>
          </a:xfrm>
          <a:prstGeom prst="rect">
            <a:avLst/>
          </a:prstGeom>
        </p:spPr>
      </p:pic>
      <p:pic>
        <p:nvPicPr>
          <p:cNvPr id="3" name="Picture 2">
            <a:extLst>
              <a:ext uri="{FF2B5EF4-FFF2-40B4-BE49-F238E27FC236}">
                <a16:creationId xmlns:a16="http://schemas.microsoft.com/office/drawing/2014/main" id="{D0D0FFCE-73B4-3C98-2008-00ED39C5D0C3}"/>
              </a:ext>
            </a:extLst>
          </p:cNvPr>
          <p:cNvPicPr>
            <a:picLocks noChangeAspect="1"/>
          </p:cNvPicPr>
          <p:nvPr/>
        </p:nvPicPr>
        <p:blipFill>
          <a:blip r:embed="rId3"/>
          <a:stretch>
            <a:fillRect/>
          </a:stretch>
        </p:blipFill>
        <p:spPr>
          <a:xfrm>
            <a:off x="6962588" y="3429000"/>
            <a:ext cx="4519706" cy="3389780"/>
          </a:xfrm>
          <a:prstGeom prst="rect">
            <a:avLst/>
          </a:prstGeom>
        </p:spPr>
      </p:pic>
      <p:pic>
        <p:nvPicPr>
          <p:cNvPr id="9" name="Picture 8">
            <a:extLst>
              <a:ext uri="{FF2B5EF4-FFF2-40B4-BE49-F238E27FC236}">
                <a16:creationId xmlns:a16="http://schemas.microsoft.com/office/drawing/2014/main" id="{CDE1B37B-5D72-2460-BCC8-58165C1076E4}"/>
              </a:ext>
            </a:extLst>
          </p:cNvPr>
          <p:cNvPicPr>
            <a:picLocks noChangeAspect="1"/>
          </p:cNvPicPr>
          <p:nvPr/>
        </p:nvPicPr>
        <p:blipFill>
          <a:blip r:embed="rId4"/>
          <a:stretch>
            <a:fillRect/>
          </a:stretch>
        </p:blipFill>
        <p:spPr>
          <a:xfrm>
            <a:off x="275944" y="1098177"/>
            <a:ext cx="6010275" cy="4876800"/>
          </a:xfrm>
          <a:prstGeom prst="rect">
            <a:avLst/>
          </a:prstGeom>
        </p:spPr>
      </p:pic>
    </p:spTree>
    <p:extLst>
      <p:ext uri="{BB962C8B-B14F-4D97-AF65-F5344CB8AC3E}">
        <p14:creationId xmlns:p14="http://schemas.microsoft.com/office/powerpoint/2010/main" val="9354000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ED1B9-31F0-2787-B4F6-49380207D62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A41967F-5A7A-FBA2-6F17-5ECF3A8EFF10}"/>
              </a:ext>
            </a:extLst>
          </p:cNvPr>
          <p:cNvSpPr txBox="1"/>
          <p:nvPr/>
        </p:nvSpPr>
        <p:spPr>
          <a:xfrm>
            <a:off x="352612" y="376518"/>
            <a:ext cx="2469330" cy="369332"/>
          </a:xfrm>
          <a:prstGeom prst="rect">
            <a:avLst/>
          </a:prstGeom>
          <a:noFill/>
        </p:spPr>
        <p:txBody>
          <a:bodyPr wrap="none" rtlCol="0">
            <a:spAutoFit/>
          </a:bodyPr>
          <a:lstStyle/>
          <a:p>
            <a:r>
              <a:rPr lang="en-CH" dirty="0" err="1"/>
              <a:t>Pbase</a:t>
            </a:r>
            <a:r>
              <a:rPr lang="en-CH" dirty="0"/>
              <a:t> = 0.3, delta = 0.75</a:t>
            </a:r>
          </a:p>
        </p:txBody>
      </p:sp>
      <p:pic>
        <p:nvPicPr>
          <p:cNvPr id="5" name="Picture 4">
            <a:extLst>
              <a:ext uri="{FF2B5EF4-FFF2-40B4-BE49-F238E27FC236}">
                <a16:creationId xmlns:a16="http://schemas.microsoft.com/office/drawing/2014/main" id="{43B2B0C4-37B0-4C9E-A39D-781B39C2C476}"/>
              </a:ext>
            </a:extLst>
          </p:cNvPr>
          <p:cNvPicPr>
            <a:picLocks noChangeAspect="1"/>
          </p:cNvPicPr>
          <p:nvPr/>
        </p:nvPicPr>
        <p:blipFill>
          <a:blip r:embed="rId2"/>
          <a:stretch>
            <a:fillRect/>
          </a:stretch>
        </p:blipFill>
        <p:spPr>
          <a:xfrm>
            <a:off x="0" y="1361701"/>
            <a:ext cx="6267450" cy="5162550"/>
          </a:xfrm>
          <a:prstGeom prst="rect">
            <a:avLst/>
          </a:prstGeom>
        </p:spPr>
      </p:pic>
      <p:pic>
        <p:nvPicPr>
          <p:cNvPr id="7" name="Picture 6">
            <a:extLst>
              <a:ext uri="{FF2B5EF4-FFF2-40B4-BE49-F238E27FC236}">
                <a16:creationId xmlns:a16="http://schemas.microsoft.com/office/drawing/2014/main" id="{EA2CEC84-7031-572F-1DB0-81E8009145DA}"/>
              </a:ext>
            </a:extLst>
          </p:cNvPr>
          <p:cNvPicPr>
            <a:picLocks noChangeAspect="1"/>
          </p:cNvPicPr>
          <p:nvPr/>
        </p:nvPicPr>
        <p:blipFill>
          <a:blip r:embed="rId3"/>
          <a:stretch>
            <a:fillRect/>
          </a:stretch>
        </p:blipFill>
        <p:spPr>
          <a:xfrm>
            <a:off x="7058212" y="137833"/>
            <a:ext cx="4117788" cy="3088341"/>
          </a:xfrm>
          <a:prstGeom prst="rect">
            <a:avLst/>
          </a:prstGeom>
        </p:spPr>
      </p:pic>
      <p:pic>
        <p:nvPicPr>
          <p:cNvPr id="8" name="Picture 7">
            <a:extLst>
              <a:ext uri="{FF2B5EF4-FFF2-40B4-BE49-F238E27FC236}">
                <a16:creationId xmlns:a16="http://schemas.microsoft.com/office/drawing/2014/main" id="{4829EDBE-FCAA-17B1-0C24-E0DD308DED6A}"/>
              </a:ext>
            </a:extLst>
          </p:cNvPr>
          <p:cNvPicPr>
            <a:picLocks noChangeAspect="1"/>
          </p:cNvPicPr>
          <p:nvPr/>
        </p:nvPicPr>
        <p:blipFill>
          <a:blip r:embed="rId4"/>
          <a:stretch>
            <a:fillRect/>
          </a:stretch>
        </p:blipFill>
        <p:spPr>
          <a:xfrm>
            <a:off x="6835588" y="3429000"/>
            <a:ext cx="4467907" cy="3350930"/>
          </a:xfrm>
          <a:prstGeom prst="rect">
            <a:avLst/>
          </a:prstGeom>
        </p:spPr>
      </p:pic>
    </p:spTree>
    <p:extLst>
      <p:ext uri="{BB962C8B-B14F-4D97-AF65-F5344CB8AC3E}">
        <p14:creationId xmlns:p14="http://schemas.microsoft.com/office/powerpoint/2010/main" val="34065931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D8D32-D334-428E-A1D6-D706C1D998C6}"/>
              </a:ext>
            </a:extLst>
          </p:cNvPr>
          <p:cNvSpPr>
            <a:spLocks noGrp="1"/>
          </p:cNvSpPr>
          <p:nvPr>
            <p:ph type="title"/>
          </p:nvPr>
        </p:nvSpPr>
        <p:spPr/>
        <p:txBody>
          <a:bodyPr/>
          <a:lstStyle/>
          <a:p>
            <a:r>
              <a:rPr lang="en-CH" dirty="0"/>
              <a:t>From Previous Versions: </a:t>
            </a:r>
            <a:br>
              <a:rPr lang="en-CH" dirty="0"/>
            </a:br>
            <a:r>
              <a:rPr lang="en-US" dirty="0"/>
              <a:t>Parametric variations of parameters</a:t>
            </a:r>
            <a:endParaRPr lang="en-CH" dirty="0"/>
          </a:p>
        </p:txBody>
      </p:sp>
      <p:sp>
        <p:nvSpPr>
          <p:cNvPr id="4" name="Text Placeholder 3">
            <a:extLst>
              <a:ext uri="{FF2B5EF4-FFF2-40B4-BE49-F238E27FC236}">
                <a16:creationId xmlns:a16="http://schemas.microsoft.com/office/drawing/2014/main" id="{86FA51DD-4202-4286-A2A4-D1D966543B78}"/>
              </a:ext>
            </a:extLst>
          </p:cNvPr>
          <p:cNvSpPr>
            <a:spLocks noGrp="1"/>
          </p:cNvSpPr>
          <p:nvPr>
            <p:ph type="body" idx="1"/>
          </p:nvPr>
        </p:nvSpPr>
        <p:spPr/>
        <p:txBody>
          <a:bodyPr/>
          <a:lstStyle/>
          <a:p>
            <a:endParaRPr lang="en-CH"/>
          </a:p>
        </p:txBody>
      </p:sp>
    </p:spTree>
    <p:extLst>
      <p:ext uri="{BB962C8B-B14F-4D97-AF65-F5344CB8AC3E}">
        <p14:creationId xmlns:p14="http://schemas.microsoft.com/office/powerpoint/2010/main" val="38332466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B1217FC-9425-AA7B-A884-1C1C7856001A}"/>
              </a:ext>
            </a:extLst>
          </p:cNvPr>
          <p:cNvPicPr>
            <a:picLocks noChangeAspect="1"/>
          </p:cNvPicPr>
          <p:nvPr/>
        </p:nvPicPr>
        <p:blipFill>
          <a:blip r:embed="rId2"/>
          <a:stretch>
            <a:fillRect/>
          </a:stretch>
        </p:blipFill>
        <p:spPr>
          <a:xfrm>
            <a:off x="546455" y="1019175"/>
            <a:ext cx="5591175" cy="4819650"/>
          </a:xfrm>
          <a:prstGeom prst="rect">
            <a:avLst/>
          </a:prstGeom>
        </p:spPr>
      </p:pic>
      <p:pic>
        <p:nvPicPr>
          <p:cNvPr id="5" name="Picture 4">
            <a:extLst>
              <a:ext uri="{FF2B5EF4-FFF2-40B4-BE49-F238E27FC236}">
                <a16:creationId xmlns:a16="http://schemas.microsoft.com/office/drawing/2014/main" id="{8F62606E-F1E4-EEA8-7F2C-0C19E24E691F}"/>
              </a:ext>
            </a:extLst>
          </p:cNvPr>
          <p:cNvPicPr>
            <a:picLocks noChangeAspect="1"/>
          </p:cNvPicPr>
          <p:nvPr/>
        </p:nvPicPr>
        <p:blipFill>
          <a:blip r:embed="rId3"/>
          <a:stretch>
            <a:fillRect/>
          </a:stretch>
        </p:blipFill>
        <p:spPr>
          <a:xfrm>
            <a:off x="5916089" y="907396"/>
            <a:ext cx="6696075" cy="5419725"/>
          </a:xfrm>
          <a:prstGeom prst="rect">
            <a:avLst/>
          </a:prstGeom>
        </p:spPr>
      </p:pic>
    </p:spTree>
    <p:extLst>
      <p:ext uri="{BB962C8B-B14F-4D97-AF65-F5344CB8AC3E}">
        <p14:creationId xmlns:p14="http://schemas.microsoft.com/office/powerpoint/2010/main" val="33101123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3AD9EE3-EC48-9885-ACEC-F12AF9A236C9}"/>
              </a:ext>
            </a:extLst>
          </p:cNvPr>
          <p:cNvPicPr>
            <a:picLocks noChangeAspect="1"/>
          </p:cNvPicPr>
          <p:nvPr/>
        </p:nvPicPr>
        <p:blipFill>
          <a:blip r:embed="rId2"/>
          <a:stretch>
            <a:fillRect/>
          </a:stretch>
        </p:blipFill>
        <p:spPr>
          <a:xfrm>
            <a:off x="186353" y="564496"/>
            <a:ext cx="6343650" cy="5191125"/>
          </a:xfrm>
          <a:prstGeom prst="rect">
            <a:avLst/>
          </a:prstGeom>
        </p:spPr>
      </p:pic>
      <p:pic>
        <p:nvPicPr>
          <p:cNvPr id="6" name="Picture 5">
            <a:extLst>
              <a:ext uri="{FF2B5EF4-FFF2-40B4-BE49-F238E27FC236}">
                <a16:creationId xmlns:a16="http://schemas.microsoft.com/office/drawing/2014/main" id="{CAC8605A-3163-B767-6989-47865DABE757}"/>
              </a:ext>
            </a:extLst>
          </p:cNvPr>
          <p:cNvPicPr>
            <a:picLocks noChangeAspect="1"/>
          </p:cNvPicPr>
          <p:nvPr/>
        </p:nvPicPr>
        <p:blipFill>
          <a:blip r:embed="rId3"/>
          <a:stretch>
            <a:fillRect/>
          </a:stretch>
        </p:blipFill>
        <p:spPr>
          <a:xfrm>
            <a:off x="6261511" y="440923"/>
            <a:ext cx="5976153" cy="5976153"/>
          </a:xfrm>
          <a:prstGeom prst="rect">
            <a:avLst/>
          </a:prstGeom>
        </p:spPr>
      </p:pic>
    </p:spTree>
    <p:extLst>
      <p:ext uri="{BB962C8B-B14F-4D97-AF65-F5344CB8AC3E}">
        <p14:creationId xmlns:p14="http://schemas.microsoft.com/office/powerpoint/2010/main" val="39546792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2EAAF68-F714-E7EE-80BF-1081B68995A5}"/>
              </a:ext>
            </a:extLst>
          </p:cNvPr>
          <p:cNvPicPr>
            <a:picLocks noChangeAspect="1"/>
          </p:cNvPicPr>
          <p:nvPr/>
        </p:nvPicPr>
        <p:blipFill>
          <a:blip r:embed="rId2"/>
          <a:stretch>
            <a:fillRect/>
          </a:stretch>
        </p:blipFill>
        <p:spPr>
          <a:xfrm>
            <a:off x="0" y="801356"/>
            <a:ext cx="6044368" cy="5066881"/>
          </a:xfrm>
          <a:prstGeom prst="rect">
            <a:avLst/>
          </a:prstGeom>
        </p:spPr>
      </p:pic>
      <p:pic>
        <p:nvPicPr>
          <p:cNvPr id="5" name="Picture 4">
            <a:extLst>
              <a:ext uri="{FF2B5EF4-FFF2-40B4-BE49-F238E27FC236}">
                <a16:creationId xmlns:a16="http://schemas.microsoft.com/office/drawing/2014/main" id="{2CBFF66E-A3DE-4796-D85A-A3BDDCF70185}"/>
              </a:ext>
            </a:extLst>
          </p:cNvPr>
          <p:cNvPicPr>
            <a:picLocks noChangeAspect="1"/>
          </p:cNvPicPr>
          <p:nvPr/>
        </p:nvPicPr>
        <p:blipFill>
          <a:blip r:embed="rId3"/>
          <a:stretch>
            <a:fillRect/>
          </a:stretch>
        </p:blipFill>
        <p:spPr>
          <a:xfrm>
            <a:off x="5890154" y="989763"/>
            <a:ext cx="6301846" cy="5255289"/>
          </a:xfrm>
          <a:prstGeom prst="rect">
            <a:avLst/>
          </a:prstGeom>
        </p:spPr>
      </p:pic>
    </p:spTree>
    <p:extLst>
      <p:ext uri="{BB962C8B-B14F-4D97-AF65-F5344CB8AC3E}">
        <p14:creationId xmlns:p14="http://schemas.microsoft.com/office/powerpoint/2010/main" val="2447204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0925858-A17A-F163-394E-B98DE4C7BE11}"/>
              </a:ext>
            </a:extLst>
          </p:cNvPr>
          <p:cNvPicPr>
            <a:picLocks noChangeAspect="1"/>
          </p:cNvPicPr>
          <p:nvPr/>
        </p:nvPicPr>
        <p:blipFill>
          <a:blip r:embed="rId2"/>
          <a:stretch>
            <a:fillRect/>
          </a:stretch>
        </p:blipFill>
        <p:spPr>
          <a:xfrm>
            <a:off x="0" y="1085220"/>
            <a:ext cx="6395286" cy="5109587"/>
          </a:xfrm>
          <a:prstGeom prst="rect">
            <a:avLst/>
          </a:prstGeom>
        </p:spPr>
      </p:pic>
      <p:pic>
        <p:nvPicPr>
          <p:cNvPr id="4" name="Picture 3">
            <a:extLst>
              <a:ext uri="{FF2B5EF4-FFF2-40B4-BE49-F238E27FC236}">
                <a16:creationId xmlns:a16="http://schemas.microsoft.com/office/drawing/2014/main" id="{0DB9A62B-8031-23AA-7A84-4E5F5EF39A3B}"/>
              </a:ext>
            </a:extLst>
          </p:cNvPr>
          <p:cNvPicPr>
            <a:picLocks noChangeAspect="1"/>
          </p:cNvPicPr>
          <p:nvPr/>
        </p:nvPicPr>
        <p:blipFill>
          <a:blip r:embed="rId3"/>
          <a:stretch>
            <a:fillRect/>
          </a:stretch>
        </p:blipFill>
        <p:spPr>
          <a:xfrm>
            <a:off x="6096000" y="1085220"/>
            <a:ext cx="6097763" cy="5516547"/>
          </a:xfrm>
          <a:prstGeom prst="rect">
            <a:avLst/>
          </a:prstGeom>
        </p:spPr>
      </p:pic>
    </p:spTree>
    <p:extLst>
      <p:ext uri="{BB962C8B-B14F-4D97-AF65-F5344CB8AC3E}">
        <p14:creationId xmlns:p14="http://schemas.microsoft.com/office/powerpoint/2010/main" val="17888815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732D3F8-6116-2FA6-FA83-D3DA2D7C6055}"/>
              </a:ext>
            </a:extLst>
          </p:cNvPr>
          <p:cNvPicPr>
            <a:picLocks noChangeAspect="1"/>
          </p:cNvPicPr>
          <p:nvPr/>
        </p:nvPicPr>
        <p:blipFill>
          <a:blip r:embed="rId2"/>
          <a:stretch>
            <a:fillRect/>
          </a:stretch>
        </p:blipFill>
        <p:spPr>
          <a:xfrm>
            <a:off x="381719" y="226087"/>
            <a:ext cx="5270479" cy="5481377"/>
          </a:xfrm>
          <a:prstGeom prst="rect">
            <a:avLst/>
          </a:prstGeom>
        </p:spPr>
      </p:pic>
      <p:pic>
        <p:nvPicPr>
          <p:cNvPr id="3" name="Picture 2">
            <a:extLst>
              <a:ext uri="{FF2B5EF4-FFF2-40B4-BE49-F238E27FC236}">
                <a16:creationId xmlns:a16="http://schemas.microsoft.com/office/drawing/2014/main" id="{EE0F118B-3F10-C95B-63B5-78EA0E67F969}"/>
              </a:ext>
            </a:extLst>
          </p:cNvPr>
          <p:cNvPicPr>
            <a:picLocks noChangeAspect="1"/>
          </p:cNvPicPr>
          <p:nvPr/>
        </p:nvPicPr>
        <p:blipFill>
          <a:blip r:embed="rId3"/>
          <a:stretch>
            <a:fillRect/>
          </a:stretch>
        </p:blipFill>
        <p:spPr>
          <a:xfrm>
            <a:off x="5652198" y="226087"/>
            <a:ext cx="5835512" cy="5893194"/>
          </a:xfrm>
          <a:prstGeom prst="rect">
            <a:avLst/>
          </a:prstGeom>
        </p:spPr>
      </p:pic>
    </p:spTree>
    <p:extLst>
      <p:ext uri="{BB962C8B-B14F-4D97-AF65-F5344CB8AC3E}">
        <p14:creationId xmlns:p14="http://schemas.microsoft.com/office/powerpoint/2010/main" val="15226307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66D47C-A328-4B45-F203-0CBD9DF945A6}"/>
              </a:ext>
            </a:extLst>
          </p:cNvPr>
          <p:cNvSpPr txBox="1"/>
          <p:nvPr/>
        </p:nvSpPr>
        <p:spPr>
          <a:xfrm>
            <a:off x="753035" y="763793"/>
            <a:ext cx="1709122" cy="369332"/>
          </a:xfrm>
          <a:prstGeom prst="rect">
            <a:avLst/>
          </a:prstGeom>
          <a:noFill/>
        </p:spPr>
        <p:txBody>
          <a:bodyPr wrap="none" rtlCol="0">
            <a:spAutoFit/>
          </a:bodyPr>
          <a:lstStyle/>
          <a:p>
            <a:r>
              <a:rPr lang="en-CH" dirty="0"/>
              <a:t>With noise = 0.8</a:t>
            </a:r>
          </a:p>
        </p:txBody>
      </p:sp>
      <p:pic>
        <p:nvPicPr>
          <p:cNvPr id="8" name="Picture 7">
            <a:extLst>
              <a:ext uri="{FF2B5EF4-FFF2-40B4-BE49-F238E27FC236}">
                <a16:creationId xmlns:a16="http://schemas.microsoft.com/office/drawing/2014/main" id="{4F50B95F-6366-20BC-BAEF-77C8BB959923}"/>
              </a:ext>
            </a:extLst>
          </p:cNvPr>
          <p:cNvPicPr>
            <a:picLocks noChangeAspect="1"/>
          </p:cNvPicPr>
          <p:nvPr/>
        </p:nvPicPr>
        <p:blipFill>
          <a:blip r:embed="rId2"/>
          <a:stretch>
            <a:fillRect/>
          </a:stretch>
        </p:blipFill>
        <p:spPr>
          <a:xfrm>
            <a:off x="281267" y="1268561"/>
            <a:ext cx="5981700" cy="4629150"/>
          </a:xfrm>
          <a:prstGeom prst="rect">
            <a:avLst/>
          </a:prstGeom>
        </p:spPr>
      </p:pic>
      <p:pic>
        <p:nvPicPr>
          <p:cNvPr id="9" name="Picture 8">
            <a:extLst>
              <a:ext uri="{FF2B5EF4-FFF2-40B4-BE49-F238E27FC236}">
                <a16:creationId xmlns:a16="http://schemas.microsoft.com/office/drawing/2014/main" id="{5D90494C-FE4C-1E4A-0474-AA24BB52E599}"/>
              </a:ext>
            </a:extLst>
          </p:cNvPr>
          <p:cNvPicPr>
            <a:picLocks noChangeAspect="1"/>
          </p:cNvPicPr>
          <p:nvPr/>
        </p:nvPicPr>
        <p:blipFill>
          <a:blip r:embed="rId3"/>
          <a:stretch>
            <a:fillRect/>
          </a:stretch>
        </p:blipFill>
        <p:spPr>
          <a:xfrm>
            <a:off x="6096000" y="1374457"/>
            <a:ext cx="6410325" cy="4657725"/>
          </a:xfrm>
          <a:prstGeom prst="rect">
            <a:avLst/>
          </a:prstGeom>
        </p:spPr>
      </p:pic>
    </p:spTree>
    <p:extLst>
      <p:ext uri="{BB962C8B-B14F-4D97-AF65-F5344CB8AC3E}">
        <p14:creationId xmlns:p14="http://schemas.microsoft.com/office/powerpoint/2010/main" val="37367829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913411E-D420-3FD9-7ED9-D4EA5297A46E}"/>
              </a:ext>
            </a:extLst>
          </p:cNvPr>
          <p:cNvPicPr>
            <a:picLocks noChangeAspect="1"/>
          </p:cNvPicPr>
          <p:nvPr/>
        </p:nvPicPr>
        <p:blipFill>
          <a:blip r:embed="rId2"/>
          <a:stretch>
            <a:fillRect/>
          </a:stretch>
        </p:blipFill>
        <p:spPr>
          <a:xfrm>
            <a:off x="393270" y="1619699"/>
            <a:ext cx="5800725" cy="4457700"/>
          </a:xfrm>
          <a:prstGeom prst="rect">
            <a:avLst/>
          </a:prstGeom>
        </p:spPr>
      </p:pic>
      <p:pic>
        <p:nvPicPr>
          <p:cNvPr id="3" name="Picture 2">
            <a:extLst>
              <a:ext uri="{FF2B5EF4-FFF2-40B4-BE49-F238E27FC236}">
                <a16:creationId xmlns:a16="http://schemas.microsoft.com/office/drawing/2014/main" id="{175FF989-363F-4411-0892-CD0AED8157BD}"/>
              </a:ext>
            </a:extLst>
          </p:cNvPr>
          <p:cNvPicPr>
            <a:picLocks noChangeAspect="1"/>
          </p:cNvPicPr>
          <p:nvPr/>
        </p:nvPicPr>
        <p:blipFill>
          <a:blip r:embed="rId3"/>
          <a:stretch>
            <a:fillRect/>
          </a:stretch>
        </p:blipFill>
        <p:spPr>
          <a:xfrm>
            <a:off x="6096000" y="1619699"/>
            <a:ext cx="6238875" cy="4648200"/>
          </a:xfrm>
          <a:prstGeom prst="rect">
            <a:avLst/>
          </a:prstGeom>
        </p:spPr>
      </p:pic>
      <p:sp>
        <p:nvSpPr>
          <p:cNvPr id="4" name="TextBox 3">
            <a:extLst>
              <a:ext uri="{FF2B5EF4-FFF2-40B4-BE49-F238E27FC236}">
                <a16:creationId xmlns:a16="http://schemas.microsoft.com/office/drawing/2014/main" id="{2EA6F42F-1A03-E08B-E420-31E1028BF6FD}"/>
              </a:ext>
            </a:extLst>
          </p:cNvPr>
          <p:cNvSpPr txBox="1"/>
          <p:nvPr/>
        </p:nvSpPr>
        <p:spPr>
          <a:xfrm>
            <a:off x="753035" y="763793"/>
            <a:ext cx="2845202" cy="369332"/>
          </a:xfrm>
          <a:prstGeom prst="rect">
            <a:avLst/>
          </a:prstGeom>
          <a:noFill/>
        </p:spPr>
        <p:txBody>
          <a:bodyPr wrap="none" rtlCol="0">
            <a:spAutoFit/>
          </a:bodyPr>
          <a:lstStyle/>
          <a:p>
            <a:r>
              <a:rPr lang="en-CH" dirty="0"/>
              <a:t>With boundary = 20 (or 15?)</a:t>
            </a:r>
          </a:p>
        </p:txBody>
      </p:sp>
    </p:spTree>
    <p:extLst>
      <p:ext uri="{BB962C8B-B14F-4D97-AF65-F5344CB8AC3E}">
        <p14:creationId xmlns:p14="http://schemas.microsoft.com/office/powerpoint/2010/main" val="33858665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20BEF3F-5CC8-445A-B63D-AB8E7C8BF060}"/>
              </a:ext>
            </a:extLst>
          </p:cNvPr>
          <p:cNvPicPr>
            <a:picLocks noChangeAspect="1"/>
          </p:cNvPicPr>
          <p:nvPr/>
        </p:nvPicPr>
        <p:blipFill>
          <a:blip r:embed="rId2"/>
          <a:stretch>
            <a:fillRect/>
          </a:stretch>
        </p:blipFill>
        <p:spPr>
          <a:xfrm>
            <a:off x="146510" y="55265"/>
            <a:ext cx="5681122" cy="5873262"/>
          </a:xfrm>
          <a:prstGeom prst="rect">
            <a:avLst/>
          </a:prstGeom>
        </p:spPr>
      </p:pic>
      <p:pic>
        <p:nvPicPr>
          <p:cNvPr id="3" name="Picture 2">
            <a:extLst>
              <a:ext uri="{FF2B5EF4-FFF2-40B4-BE49-F238E27FC236}">
                <a16:creationId xmlns:a16="http://schemas.microsoft.com/office/drawing/2014/main" id="{C800D01A-C8FC-7057-99FB-F4C8704B1EAA}"/>
              </a:ext>
            </a:extLst>
          </p:cNvPr>
          <p:cNvPicPr>
            <a:picLocks noChangeAspect="1"/>
          </p:cNvPicPr>
          <p:nvPr/>
        </p:nvPicPr>
        <p:blipFill>
          <a:blip r:embed="rId3"/>
          <a:stretch>
            <a:fillRect/>
          </a:stretch>
        </p:blipFill>
        <p:spPr>
          <a:xfrm>
            <a:off x="5753317" y="157375"/>
            <a:ext cx="5953014" cy="6107772"/>
          </a:xfrm>
          <a:prstGeom prst="rect">
            <a:avLst/>
          </a:prstGeom>
        </p:spPr>
      </p:pic>
    </p:spTree>
    <p:extLst>
      <p:ext uri="{BB962C8B-B14F-4D97-AF65-F5344CB8AC3E}">
        <p14:creationId xmlns:p14="http://schemas.microsoft.com/office/powerpoint/2010/main" val="27081565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3F363A3-AC56-160D-44CD-91418D28AC80}"/>
              </a:ext>
            </a:extLst>
          </p:cNvPr>
          <p:cNvPicPr>
            <a:picLocks noChangeAspect="1"/>
          </p:cNvPicPr>
          <p:nvPr/>
        </p:nvPicPr>
        <p:blipFill>
          <a:blip r:embed="rId2"/>
          <a:stretch>
            <a:fillRect/>
          </a:stretch>
        </p:blipFill>
        <p:spPr>
          <a:xfrm>
            <a:off x="327065" y="116341"/>
            <a:ext cx="5362865" cy="5741848"/>
          </a:xfrm>
          <a:prstGeom prst="rect">
            <a:avLst/>
          </a:prstGeom>
        </p:spPr>
      </p:pic>
      <p:pic>
        <p:nvPicPr>
          <p:cNvPr id="6" name="Picture 5">
            <a:extLst>
              <a:ext uri="{FF2B5EF4-FFF2-40B4-BE49-F238E27FC236}">
                <a16:creationId xmlns:a16="http://schemas.microsoft.com/office/drawing/2014/main" id="{EE4745D9-783C-F75F-9F3D-91BDA39BC808}"/>
              </a:ext>
            </a:extLst>
          </p:cNvPr>
          <p:cNvPicPr>
            <a:picLocks noChangeAspect="1"/>
          </p:cNvPicPr>
          <p:nvPr/>
        </p:nvPicPr>
        <p:blipFill>
          <a:blip r:embed="rId3"/>
          <a:stretch>
            <a:fillRect/>
          </a:stretch>
        </p:blipFill>
        <p:spPr>
          <a:xfrm>
            <a:off x="5775341" y="276329"/>
            <a:ext cx="5862923" cy="5797899"/>
          </a:xfrm>
          <a:prstGeom prst="rect">
            <a:avLst/>
          </a:prstGeom>
        </p:spPr>
      </p:pic>
    </p:spTree>
    <p:extLst>
      <p:ext uri="{BB962C8B-B14F-4D97-AF65-F5344CB8AC3E}">
        <p14:creationId xmlns:p14="http://schemas.microsoft.com/office/powerpoint/2010/main" val="12998773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38A0A1C-DF44-D508-408E-2161217D10FC}"/>
              </a:ext>
            </a:extLst>
          </p:cNvPr>
          <p:cNvPicPr>
            <a:picLocks noChangeAspect="1"/>
          </p:cNvPicPr>
          <p:nvPr/>
        </p:nvPicPr>
        <p:blipFill>
          <a:blip r:embed="rId2"/>
          <a:stretch>
            <a:fillRect/>
          </a:stretch>
        </p:blipFill>
        <p:spPr>
          <a:xfrm>
            <a:off x="6276870" y="663191"/>
            <a:ext cx="5710813" cy="5732584"/>
          </a:xfrm>
          <a:prstGeom prst="rect">
            <a:avLst/>
          </a:prstGeom>
        </p:spPr>
      </p:pic>
      <p:pic>
        <p:nvPicPr>
          <p:cNvPr id="3" name="Picture 2">
            <a:extLst>
              <a:ext uri="{FF2B5EF4-FFF2-40B4-BE49-F238E27FC236}">
                <a16:creationId xmlns:a16="http://schemas.microsoft.com/office/drawing/2014/main" id="{81143D00-60BC-4343-9C80-43343D44C634}"/>
              </a:ext>
            </a:extLst>
          </p:cNvPr>
          <p:cNvPicPr>
            <a:picLocks noChangeAspect="1"/>
          </p:cNvPicPr>
          <p:nvPr/>
        </p:nvPicPr>
        <p:blipFill>
          <a:blip r:embed="rId3"/>
          <a:stretch>
            <a:fillRect/>
          </a:stretch>
        </p:blipFill>
        <p:spPr>
          <a:xfrm>
            <a:off x="462430" y="411983"/>
            <a:ext cx="5633570" cy="5893358"/>
          </a:xfrm>
          <a:prstGeom prst="rect">
            <a:avLst/>
          </a:prstGeom>
        </p:spPr>
      </p:pic>
    </p:spTree>
    <p:extLst>
      <p:ext uri="{BB962C8B-B14F-4D97-AF65-F5344CB8AC3E}">
        <p14:creationId xmlns:p14="http://schemas.microsoft.com/office/powerpoint/2010/main" val="10826384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7421E44-65DA-A8D3-3600-711661039790}"/>
              </a:ext>
            </a:extLst>
          </p:cNvPr>
          <p:cNvPicPr>
            <a:picLocks noChangeAspect="1"/>
          </p:cNvPicPr>
          <p:nvPr/>
        </p:nvPicPr>
        <p:blipFill>
          <a:blip r:embed="rId2"/>
          <a:stretch>
            <a:fillRect/>
          </a:stretch>
        </p:blipFill>
        <p:spPr>
          <a:xfrm>
            <a:off x="326131" y="542611"/>
            <a:ext cx="4969350" cy="5571811"/>
          </a:xfrm>
          <a:prstGeom prst="rect">
            <a:avLst/>
          </a:prstGeom>
        </p:spPr>
      </p:pic>
      <p:pic>
        <p:nvPicPr>
          <p:cNvPr id="4" name="Picture 3">
            <a:extLst>
              <a:ext uri="{FF2B5EF4-FFF2-40B4-BE49-F238E27FC236}">
                <a16:creationId xmlns:a16="http://schemas.microsoft.com/office/drawing/2014/main" id="{E670329A-2B1E-BEFC-CC37-BB0C6FDEDAC4}"/>
              </a:ext>
            </a:extLst>
          </p:cNvPr>
          <p:cNvPicPr>
            <a:picLocks noChangeAspect="1"/>
          </p:cNvPicPr>
          <p:nvPr/>
        </p:nvPicPr>
        <p:blipFill>
          <a:blip r:embed="rId3"/>
          <a:stretch>
            <a:fillRect/>
          </a:stretch>
        </p:blipFill>
        <p:spPr>
          <a:xfrm>
            <a:off x="5509189" y="643094"/>
            <a:ext cx="6148579" cy="5838093"/>
          </a:xfrm>
          <a:prstGeom prst="rect">
            <a:avLst/>
          </a:prstGeom>
        </p:spPr>
      </p:pic>
    </p:spTree>
    <p:extLst>
      <p:ext uri="{BB962C8B-B14F-4D97-AF65-F5344CB8AC3E}">
        <p14:creationId xmlns:p14="http://schemas.microsoft.com/office/powerpoint/2010/main" val="42568668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D4A629D-F0B7-ECA6-BCC2-91B8124985B0}"/>
              </a:ext>
            </a:extLst>
          </p:cNvPr>
          <p:cNvPicPr>
            <a:picLocks noChangeAspect="1"/>
          </p:cNvPicPr>
          <p:nvPr/>
        </p:nvPicPr>
        <p:blipFill>
          <a:blip r:embed="rId2"/>
          <a:stretch>
            <a:fillRect/>
          </a:stretch>
        </p:blipFill>
        <p:spPr>
          <a:xfrm>
            <a:off x="474784" y="546693"/>
            <a:ext cx="5334000" cy="5543550"/>
          </a:xfrm>
          <a:prstGeom prst="rect">
            <a:avLst/>
          </a:prstGeom>
        </p:spPr>
      </p:pic>
      <p:pic>
        <p:nvPicPr>
          <p:cNvPr id="3" name="Picture 2">
            <a:extLst>
              <a:ext uri="{FF2B5EF4-FFF2-40B4-BE49-F238E27FC236}">
                <a16:creationId xmlns:a16="http://schemas.microsoft.com/office/drawing/2014/main" id="{FC6EBC0B-4EBC-0FD4-0C47-ED1D2C0CD77A}"/>
              </a:ext>
            </a:extLst>
          </p:cNvPr>
          <p:cNvPicPr>
            <a:picLocks noChangeAspect="1"/>
          </p:cNvPicPr>
          <p:nvPr/>
        </p:nvPicPr>
        <p:blipFill>
          <a:blip r:embed="rId3"/>
          <a:stretch>
            <a:fillRect/>
          </a:stretch>
        </p:blipFill>
        <p:spPr>
          <a:xfrm>
            <a:off x="6096000" y="476250"/>
            <a:ext cx="5686425" cy="5905500"/>
          </a:xfrm>
          <a:prstGeom prst="rect">
            <a:avLst/>
          </a:prstGeom>
        </p:spPr>
      </p:pic>
    </p:spTree>
    <p:extLst>
      <p:ext uri="{BB962C8B-B14F-4D97-AF65-F5344CB8AC3E}">
        <p14:creationId xmlns:p14="http://schemas.microsoft.com/office/powerpoint/2010/main" val="6211300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34A6939-1E41-73F3-2404-BB001C7C2638}"/>
              </a:ext>
            </a:extLst>
          </p:cNvPr>
          <p:cNvPicPr>
            <a:picLocks noChangeAspect="1"/>
          </p:cNvPicPr>
          <p:nvPr/>
        </p:nvPicPr>
        <p:blipFill>
          <a:blip r:embed="rId2"/>
          <a:stretch>
            <a:fillRect/>
          </a:stretch>
        </p:blipFill>
        <p:spPr>
          <a:xfrm>
            <a:off x="131958" y="452175"/>
            <a:ext cx="5964042" cy="6054133"/>
          </a:xfrm>
          <a:prstGeom prst="rect">
            <a:avLst/>
          </a:prstGeom>
        </p:spPr>
      </p:pic>
      <p:pic>
        <p:nvPicPr>
          <p:cNvPr id="3" name="Picture 2">
            <a:extLst>
              <a:ext uri="{FF2B5EF4-FFF2-40B4-BE49-F238E27FC236}">
                <a16:creationId xmlns:a16="http://schemas.microsoft.com/office/drawing/2014/main" id="{C315AB7B-BD8C-5BB5-702E-05DB37F7362F}"/>
              </a:ext>
            </a:extLst>
          </p:cNvPr>
          <p:cNvPicPr>
            <a:picLocks noChangeAspect="1"/>
          </p:cNvPicPr>
          <p:nvPr/>
        </p:nvPicPr>
        <p:blipFill>
          <a:blip r:embed="rId3"/>
          <a:stretch>
            <a:fillRect/>
          </a:stretch>
        </p:blipFill>
        <p:spPr>
          <a:xfrm>
            <a:off x="6186436" y="452175"/>
            <a:ext cx="6155741" cy="6305341"/>
          </a:xfrm>
          <a:prstGeom prst="rect">
            <a:avLst/>
          </a:prstGeom>
        </p:spPr>
      </p:pic>
    </p:spTree>
    <p:extLst>
      <p:ext uri="{BB962C8B-B14F-4D97-AF65-F5344CB8AC3E}">
        <p14:creationId xmlns:p14="http://schemas.microsoft.com/office/powerpoint/2010/main" val="714467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29CA8-6A20-BE27-645B-FE2F33C9F0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9F5346-5443-163C-F958-71BAEE681E00}"/>
              </a:ext>
            </a:extLst>
          </p:cNvPr>
          <p:cNvSpPr>
            <a:spLocks noGrp="1"/>
          </p:cNvSpPr>
          <p:nvPr>
            <p:ph type="title"/>
          </p:nvPr>
        </p:nvSpPr>
        <p:spPr/>
        <p:txBody>
          <a:bodyPr/>
          <a:lstStyle/>
          <a:p>
            <a:r>
              <a:rPr lang="en-CH" dirty="0"/>
              <a:t>This Version: Parametric Variations</a:t>
            </a:r>
          </a:p>
        </p:txBody>
      </p:sp>
      <p:sp>
        <p:nvSpPr>
          <p:cNvPr id="4" name="Text Placeholder 3">
            <a:extLst>
              <a:ext uri="{FF2B5EF4-FFF2-40B4-BE49-F238E27FC236}">
                <a16:creationId xmlns:a16="http://schemas.microsoft.com/office/drawing/2014/main" id="{0D3523B4-DF9C-DBA0-A222-9675A3AA2A88}"/>
              </a:ext>
            </a:extLst>
          </p:cNvPr>
          <p:cNvSpPr>
            <a:spLocks noGrp="1"/>
          </p:cNvSpPr>
          <p:nvPr>
            <p:ph type="body" idx="1"/>
          </p:nvPr>
        </p:nvSpPr>
        <p:spPr/>
        <p:txBody>
          <a:bodyPr/>
          <a:lstStyle/>
          <a:p>
            <a:r>
              <a:rPr lang="en-CH" dirty="0"/>
              <a:t>Change-Detection</a:t>
            </a:r>
          </a:p>
        </p:txBody>
      </p:sp>
    </p:spTree>
    <p:extLst>
      <p:ext uri="{BB962C8B-B14F-4D97-AF65-F5344CB8AC3E}">
        <p14:creationId xmlns:p14="http://schemas.microsoft.com/office/powerpoint/2010/main" val="11102734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2362C24-193D-2504-C4E8-3D4E940B3132}"/>
              </a:ext>
            </a:extLst>
          </p:cNvPr>
          <p:cNvPicPr>
            <a:picLocks noChangeAspect="1"/>
          </p:cNvPicPr>
          <p:nvPr/>
        </p:nvPicPr>
        <p:blipFill>
          <a:blip r:embed="rId2"/>
          <a:stretch>
            <a:fillRect/>
          </a:stretch>
        </p:blipFill>
        <p:spPr>
          <a:xfrm>
            <a:off x="1138237" y="681037"/>
            <a:ext cx="9915525" cy="5495925"/>
          </a:xfrm>
          <a:prstGeom prst="rect">
            <a:avLst/>
          </a:prstGeom>
        </p:spPr>
      </p:pic>
    </p:spTree>
    <p:extLst>
      <p:ext uri="{BB962C8B-B14F-4D97-AF65-F5344CB8AC3E}">
        <p14:creationId xmlns:p14="http://schemas.microsoft.com/office/powerpoint/2010/main" val="26171217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38B3B13-7D81-2313-E084-5B12D6590829}"/>
              </a:ext>
            </a:extLst>
          </p:cNvPr>
          <p:cNvPicPr>
            <a:picLocks noChangeAspect="1"/>
          </p:cNvPicPr>
          <p:nvPr/>
        </p:nvPicPr>
        <p:blipFill>
          <a:blip r:embed="rId2"/>
          <a:stretch>
            <a:fillRect/>
          </a:stretch>
        </p:blipFill>
        <p:spPr>
          <a:xfrm>
            <a:off x="92307" y="541564"/>
            <a:ext cx="6267343" cy="4770664"/>
          </a:xfrm>
          <a:prstGeom prst="rect">
            <a:avLst/>
          </a:prstGeom>
        </p:spPr>
      </p:pic>
      <p:pic>
        <p:nvPicPr>
          <p:cNvPr id="2" name="Picture 1">
            <a:extLst>
              <a:ext uri="{FF2B5EF4-FFF2-40B4-BE49-F238E27FC236}">
                <a16:creationId xmlns:a16="http://schemas.microsoft.com/office/drawing/2014/main" id="{3F62EEA3-276A-95DC-B82C-E96F15AABB8C}"/>
              </a:ext>
            </a:extLst>
          </p:cNvPr>
          <p:cNvPicPr>
            <a:picLocks noChangeAspect="1"/>
          </p:cNvPicPr>
          <p:nvPr/>
        </p:nvPicPr>
        <p:blipFill>
          <a:blip r:embed="rId3"/>
          <a:stretch>
            <a:fillRect/>
          </a:stretch>
        </p:blipFill>
        <p:spPr>
          <a:xfrm>
            <a:off x="5298138" y="1665514"/>
            <a:ext cx="6801555" cy="4996543"/>
          </a:xfrm>
          <a:prstGeom prst="rect">
            <a:avLst/>
          </a:prstGeom>
        </p:spPr>
      </p:pic>
      <p:sp>
        <p:nvSpPr>
          <p:cNvPr id="4" name="TextBox 3">
            <a:extLst>
              <a:ext uri="{FF2B5EF4-FFF2-40B4-BE49-F238E27FC236}">
                <a16:creationId xmlns:a16="http://schemas.microsoft.com/office/drawing/2014/main" id="{C5FF639E-FAFE-6E36-5A0B-49A928B84265}"/>
              </a:ext>
            </a:extLst>
          </p:cNvPr>
          <p:cNvSpPr txBox="1"/>
          <p:nvPr/>
        </p:nvSpPr>
        <p:spPr>
          <a:xfrm>
            <a:off x="375557" y="321129"/>
            <a:ext cx="995785" cy="369332"/>
          </a:xfrm>
          <a:prstGeom prst="rect">
            <a:avLst/>
          </a:prstGeom>
          <a:noFill/>
        </p:spPr>
        <p:txBody>
          <a:bodyPr wrap="none" rtlCol="0">
            <a:spAutoFit/>
          </a:bodyPr>
          <a:lstStyle/>
          <a:p>
            <a:r>
              <a:rPr lang="en-CH" dirty="0" err="1"/>
              <a:t>Setsize</a:t>
            </a:r>
            <a:r>
              <a:rPr lang="en-CH" dirty="0"/>
              <a:t> 6</a:t>
            </a:r>
          </a:p>
        </p:txBody>
      </p:sp>
      <p:sp>
        <p:nvSpPr>
          <p:cNvPr id="5" name="TextBox 4">
            <a:extLst>
              <a:ext uri="{FF2B5EF4-FFF2-40B4-BE49-F238E27FC236}">
                <a16:creationId xmlns:a16="http://schemas.microsoft.com/office/drawing/2014/main" id="{F4B4344D-2699-3AD6-957C-86164694749B}"/>
              </a:ext>
            </a:extLst>
          </p:cNvPr>
          <p:cNvSpPr txBox="1"/>
          <p:nvPr/>
        </p:nvSpPr>
        <p:spPr>
          <a:xfrm>
            <a:off x="6166757" y="1361106"/>
            <a:ext cx="4201150" cy="369332"/>
          </a:xfrm>
          <a:prstGeom prst="rect">
            <a:avLst/>
          </a:prstGeom>
          <a:noFill/>
        </p:spPr>
        <p:txBody>
          <a:bodyPr wrap="none" rtlCol="0">
            <a:spAutoFit/>
          </a:bodyPr>
          <a:lstStyle/>
          <a:p>
            <a:r>
              <a:rPr lang="en-CH" dirty="0" err="1"/>
              <a:t>Setsize</a:t>
            </a:r>
            <a:r>
              <a:rPr lang="en-CH" dirty="0"/>
              <a:t> 3 (and a bit later set of parameters)</a:t>
            </a:r>
          </a:p>
        </p:txBody>
      </p:sp>
    </p:spTree>
    <p:extLst>
      <p:ext uri="{BB962C8B-B14F-4D97-AF65-F5344CB8AC3E}">
        <p14:creationId xmlns:p14="http://schemas.microsoft.com/office/powerpoint/2010/main" val="11525374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99276CB-D718-7573-B3A2-1C2B55B9EF47}"/>
              </a:ext>
            </a:extLst>
          </p:cNvPr>
          <p:cNvPicPr>
            <a:picLocks noChangeAspect="1"/>
          </p:cNvPicPr>
          <p:nvPr/>
        </p:nvPicPr>
        <p:blipFill>
          <a:blip r:embed="rId2"/>
          <a:stretch>
            <a:fillRect/>
          </a:stretch>
        </p:blipFill>
        <p:spPr>
          <a:xfrm>
            <a:off x="876300" y="176212"/>
            <a:ext cx="10439400" cy="6505575"/>
          </a:xfrm>
          <a:prstGeom prst="rect">
            <a:avLst/>
          </a:prstGeom>
        </p:spPr>
      </p:pic>
    </p:spTree>
    <p:extLst>
      <p:ext uri="{BB962C8B-B14F-4D97-AF65-F5344CB8AC3E}">
        <p14:creationId xmlns:p14="http://schemas.microsoft.com/office/powerpoint/2010/main" val="21830540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7025F4B-7FF5-312D-ADEB-0773AF469DC2}"/>
              </a:ext>
            </a:extLst>
          </p:cNvPr>
          <p:cNvPicPr>
            <a:picLocks noChangeAspect="1"/>
          </p:cNvPicPr>
          <p:nvPr/>
        </p:nvPicPr>
        <p:blipFill>
          <a:blip r:embed="rId2"/>
          <a:stretch>
            <a:fillRect/>
          </a:stretch>
        </p:blipFill>
        <p:spPr>
          <a:xfrm>
            <a:off x="1995487" y="557212"/>
            <a:ext cx="8201025" cy="5743575"/>
          </a:xfrm>
          <a:prstGeom prst="rect">
            <a:avLst/>
          </a:prstGeom>
        </p:spPr>
      </p:pic>
    </p:spTree>
    <p:extLst>
      <p:ext uri="{BB962C8B-B14F-4D97-AF65-F5344CB8AC3E}">
        <p14:creationId xmlns:p14="http://schemas.microsoft.com/office/powerpoint/2010/main" val="39310459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E8E2F6C-A24C-DC9E-B828-4E6D310E2806}"/>
              </a:ext>
            </a:extLst>
          </p:cNvPr>
          <p:cNvPicPr>
            <a:picLocks noChangeAspect="1"/>
          </p:cNvPicPr>
          <p:nvPr/>
        </p:nvPicPr>
        <p:blipFill>
          <a:blip r:embed="rId2"/>
          <a:stretch>
            <a:fillRect/>
          </a:stretch>
        </p:blipFill>
        <p:spPr>
          <a:xfrm>
            <a:off x="1262062" y="790575"/>
            <a:ext cx="9667875" cy="5276850"/>
          </a:xfrm>
          <a:prstGeom prst="rect">
            <a:avLst/>
          </a:prstGeom>
        </p:spPr>
      </p:pic>
    </p:spTree>
    <p:extLst>
      <p:ext uri="{BB962C8B-B14F-4D97-AF65-F5344CB8AC3E}">
        <p14:creationId xmlns:p14="http://schemas.microsoft.com/office/powerpoint/2010/main" val="39835889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2335162-2DEB-EE6C-5333-54501F4561E0}"/>
              </a:ext>
            </a:extLst>
          </p:cNvPr>
          <p:cNvPicPr>
            <a:picLocks noChangeAspect="1"/>
          </p:cNvPicPr>
          <p:nvPr/>
        </p:nvPicPr>
        <p:blipFill>
          <a:blip r:embed="rId2"/>
          <a:stretch>
            <a:fillRect/>
          </a:stretch>
        </p:blipFill>
        <p:spPr>
          <a:xfrm>
            <a:off x="2676525" y="847725"/>
            <a:ext cx="6838950" cy="5162550"/>
          </a:xfrm>
          <a:prstGeom prst="rect">
            <a:avLst/>
          </a:prstGeom>
        </p:spPr>
      </p:pic>
    </p:spTree>
    <p:extLst>
      <p:ext uri="{BB962C8B-B14F-4D97-AF65-F5344CB8AC3E}">
        <p14:creationId xmlns:p14="http://schemas.microsoft.com/office/powerpoint/2010/main" val="29219347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126F548-D4D0-8E61-CD5F-21A48CF3F1E8}"/>
              </a:ext>
            </a:extLst>
          </p:cNvPr>
          <p:cNvPicPr>
            <a:picLocks noChangeAspect="1"/>
          </p:cNvPicPr>
          <p:nvPr/>
        </p:nvPicPr>
        <p:blipFill>
          <a:blip r:embed="rId2"/>
          <a:stretch>
            <a:fillRect/>
          </a:stretch>
        </p:blipFill>
        <p:spPr>
          <a:xfrm>
            <a:off x="2881312" y="885825"/>
            <a:ext cx="6429375" cy="5086350"/>
          </a:xfrm>
          <a:prstGeom prst="rect">
            <a:avLst/>
          </a:prstGeom>
        </p:spPr>
      </p:pic>
    </p:spTree>
    <p:extLst>
      <p:ext uri="{BB962C8B-B14F-4D97-AF65-F5344CB8AC3E}">
        <p14:creationId xmlns:p14="http://schemas.microsoft.com/office/powerpoint/2010/main" val="28368378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C5C3091-FD48-63F9-D783-FFF175AEC79F}"/>
              </a:ext>
            </a:extLst>
          </p:cNvPr>
          <p:cNvPicPr>
            <a:picLocks noChangeAspect="1"/>
          </p:cNvPicPr>
          <p:nvPr/>
        </p:nvPicPr>
        <p:blipFill>
          <a:blip r:embed="rId2"/>
          <a:stretch>
            <a:fillRect/>
          </a:stretch>
        </p:blipFill>
        <p:spPr>
          <a:xfrm>
            <a:off x="1357133" y="831595"/>
            <a:ext cx="8892110" cy="5194810"/>
          </a:xfrm>
          <a:prstGeom prst="rect">
            <a:avLst/>
          </a:prstGeom>
        </p:spPr>
      </p:pic>
    </p:spTree>
    <p:extLst>
      <p:ext uri="{BB962C8B-B14F-4D97-AF65-F5344CB8AC3E}">
        <p14:creationId xmlns:p14="http://schemas.microsoft.com/office/powerpoint/2010/main" val="10030338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29FF7AB-26C8-3437-6867-725D86E00D24}"/>
              </a:ext>
            </a:extLst>
          </p:cNvPr>
          <p:cNvPicPr>
            <a:picLocks noChangeAspect="1"/>
          </p:cNvPicPr>
          <p:nvPr/>
        </p:nvPicPr>
        <p:blipFill>
          <a:blip r:embed="rId2"/>
          <a:stretch>
            <a:fillRect/>
          </a:stretch>
        </p:blipFill>
        <p:spPr>
          <a:xfrm>
            <a:off x="0" y="170173"/>
            <a:ext cx="12192000" cy="6517654"/>
          </a:xfrm>
          <a:prstGeom prst="rect">
            <a:avLst/>
          </a:prstGeom>
        </p:spPr>
      </p:pic>
    </p:spTree>
    <p:extLst>
      <p:ext uri="{BB962C8B-B14F-4D97-AF65-F5344CB8AC3E}">
        <p14:creationId xmlns:p14="http://schemas.microsoft.com/office/powerpoint/2010/main" val="1931986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4A46384-64EB-F852-024F-9C23C4BCF885}"/>
              </a:ext>
            </a:extLst>
          </p:cNvPr>
          <p:cNvPicPr>
            <a:picLocks noChangeAspect="1"/>
          </p:cNvPicPr>
          <p:nvPr/>
        </p:nvPicPr>
        <p:blipFill>
          <a:blip r:embed="rId2"/>
          <a:stretch>
            <a:fillRect/>
          </a:stretch>
        </p:blipFill>
        <p:spPr>
          <a:xfrm>
            <a:off x="1554988" y="0"/>
            <a:ext cx="9082023" cy="6858000"/>
          </a:xfrm>
          <a:prstGeom prst="rect">
            <a:avLst/>
          </a:prstGeom>
        </p:spPr>
      </p:pic>
    </p:spTree>
    <p:extLst>
      <p:ext uri="{BB962C8B-B14F-4D97-AF65-F5344CB8AC3E}">
        <p14:creationId xmlns:p14="http://schemas.microsoft.com/office/powerpoint/2010/main" val="3561290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AC774D1-674D-60C1-ACDA-3B5EA0FAD555}"/>
              </a:ext>
            </a:extLst>
          </p:cNvPr>
          <p:cNvPicPr>
            <a:picLocks noChangeAspect="1"/>
          </p:cNvPicPr>
          <p:nvPr/>
        </p:nvPicPr>
        <p:blipFill>
          <a:blip r:embed="rId2"/>
          <a:stretch>
            <a:fillRect/>
          </a:stretch>
        </p:blipFill>
        <p:spPr>
          <a:xfrm>
            <a:off x="1571835" y="0"/>
            <a:ext cx="9048330" cy="6858000"/>
          </a:xfrm>
          <a:prstGeom prst="rect">
            <a:avLst/>
          </a:prstGeom>
        </p:spPr>
      </p:pic>
    </p:spTree>
    <p:extLst>
      <p:ext uri="{BB962C8B-B14F-4D97-AF65-F5344CB8AC3E}">
        <p14:creationId xmlns:p14="http://schemas.microsoft.com/office/powerpoint/2010/main" val="2768395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811B9A7-7285-DDB9-E4D3-7A0DBDAC8F08}"/>
              </a:ext>
            </a:extLst>
          </p:cNvPr>
          <p:cNvPicPr>
            <a:picLocks noChangeAspect="1"/>
          </p:cNvPicPr>
          <p:nvPr/>
        </p:nvPicPr>
        <p:blipFill>
          <a:blip r:embed="rId2"/>
          <a:stretch>
            <a:fillRect/>
          </a:stretch>
        </p:blipFill>
        <p:spPr>
          <a:xfrm>
            <a:off x="0" y="350033"/>
            <a:ext cx="12192000" cy="6157933"/>
          </a:xfrm>
          <a:prstGeom prst="rect">
            <a:avLst/>
          </a:prstGeom>
        </p:spPr>
      </p:pic>
    </p:spTree>
    <p:extLst>
      <p:ext uri="{BB962C8B-B14F-4D97-AF65-F5344CB8AC3E}">
        <p14:creationId xmlns:p14="http://schemas.microsoft.com/office/powerpoint/2010/main" val="37757408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F4AEE-AF92-58A7-22AA-4E7BA06D50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520DC5-FFEC-C8BF-D98D-E4C73B01B2F6}"/>
              </a:ext>
            </a:extLst>
          </p:cNvPr>
          <p:cNvSpPr>
            <a:spLocks noGrp="1"/>
          </p:cNvSpPr>
          <p:nvPr>
            <p:ph type="title"/>
          </p:nvPr>
        </p:nvSpPr>
        <p:spPr/>
        <p:txBody>
          <a:bodyPr/>
          <a:lstStyle/>
          <a:p>
            <a:r>
              <a:rPr lang="en-CH" dirty="0"/>
              <a:t>This Version: Experiments</a:t>
            </a:r>
          </a:p>
        </p:txBody>
      </p:sp>
      <p:sp>
        <p:nvSpPr>
          <p:cNvPr id="4" name="Text Placeholder 3">
            <a:extLst>
              <a:ext uri="{FF2B5EF4-FFF2-40B4-BE49-F238E27FC236}">
                <a16:creationId xmlns:a16="http://schemas.microsoft.com/office/drawing/2014/main" id="{70DA80B1-C6CC-2B78-8E67-3AA235263AF7}"/>
              </a:ext>
            </a:extLst>
          </p:cNvPr>
          <p:cNvSpPr>
            <a:spLocks noGrp="1"/>
          </p:cNvSpPr>
          <p:nvPr>
            <p:ph type="body" idx="1"/>
          </p:nvPr>
        </p:nvSpPr>
        <p:spPr/>
        <p:txBody>
          <a:bodyPr/>
          <a:lstStyle/>
          <a:p>
            <a:endParaRPr lang="en-CH"/>
          </a:p>
        </p:txBody>
      </p:sp>
    </p:spTree>
    <p:extLst>
      <p:ext uri="{BB962C8B-B14F-4D97-AF65-F5344CB8AC3E}">
        <p14:creationId xmlns:p14="http://schemas.microsoft.com/office/powerpoint/2010/main" val="37682535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EDC8455-4293-4D4A-83AA-1AE022308CA5}"/>
              </a:ext>
            </a:extLst>
          </p:cNvPr>
          <p:cNvSpPr txBox="1"/>
          <p:nvPr/>
        </p:nvSpPr>
        <p:spPr>
          <a:xfrm>
            <a:off x="343949" y="503339"/>
            <a:ext cx="1249316" cy="369332"/>
          </a:xfrm>
          <a:prstGeom prst="rect">
            <a:avLst/>
          </a:prstGeom>
          <a:noFill/>
        </p:spPr>
        <p:txBody>
          <a:bodyPr wrap="none" rtlCol="0">
            <a:spAutoFit/>
          </a:bodyPr>
          <a:lstStyle/>
          <a:p>
            <a:r>
              <a:rPr lang="en-CH" dirty="0"/>
              <a:t>Parameters</a:t>
            </a:r>
          </a:p>
        </p:txBody>
      </p:sp>
      <p:pic>
        <p:nvPicPr>
          <p:cNvPr id="4" name="Picture 3">
            <a:extLst>
              <a:ext uri="{FF2B5EF4-FFF2-40B4-BE49-F238E27FC236}">
                <a16:creationId xmlns:a16="http://schemas.microsoft.com/office/drawing/2014/main" id="{6AEC1D42-97E8-FFB9-C055-95125D5A5B9A}"/>
              </a:ext>
            </a:extLst>
          </p:cNvPr>
          <p:cNvPicPr>
            <a:picLocks noChangeAspect="1"/>
          </p:cNvPicPr>
          <p:nvPr/>
        </p:nvPicPr>
        <p:blipFill>
          <a:blip r:embed="rId2"/>
          <a:stretch>
            <a:fillRect/>
          </a:stretch>
        </p:blipFill>
        <p:spPr>
          <a:xfrm>
            <a:off x="2991141" y="0"/>
            <a:ext cx="6296804" cy="6858000"/>
          </a:xfrm>
          <a:prstGeom prst="rect">
            <a:avLst/>
          </a:prstGeom>
        </p:spPr>
      </p:pic>
    </p:spTree>
    <p:extLst>
      <p:ext uri="{BB962C8B-B14F-4D97-AF65-F5344CB8AC3E}">
        <p14:creationId xmlns:p14="http://schemas.microsoft.com/office/powerpoint/2010/main" val="28429195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73F5132-835C-4802-B200-74D97640FDE7}"/>
              </a:ext>
            </a:extLst>
          </p:cNvPr>
          <p:cNvSpPr txBox="1"/>
          <p:nvPr/>
        </p:nvSpPr>
        <p:spPr>
          <a:xfrm>
            <a:off x="571500" y="808892"/>
            <a:ext cx="2650726" cy="369332"/>
          </a:xfrm>
          <a:prstGeom prst="rect">
            <a:avLst/>
          </a:prstGeom>
          <a:noFill/>
        </p:spPr>
        <p:txBody>
          <a:bodyPr wrap="none" rtlCol="0">
            <a:spAutoFit/>
          </a:bodyPr>
          <a:lstStyle/>
          <a:p>
            <a:r>
              <a:rPr lang="en-US" dirty="0"/>
              <a:t>1. Sequential Presentation</a:t>
            </a:r>
          </a:p>
        </p:txBody>
      </p:sp>
    </p:spTree>
    <p:extLst>
      <p:ext uri="{BB962C8B-B14F-4D97-AF65-F5344CB8AC3E}">
        <p14:creationId xmlns:p14="http://schemas.microsoft.com/office/powerpoint/2010/main" val="975950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54938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CA0ABF7-CE63-BFEF-5719-4B710204E8A2}"/>
              </a:ext>
            </a:extLst>
          </p:cNvPr>
          <p:cNvPicPr>
            <a:picLocks noChangeAspect="1"/>
          </p:cNvPicPr>
          <p:nvPr/>
        </p:nvPicPr>
        <p:blipFill>
          <a:blip r:embed="rId2"/>
          <a:stretch>
            <a:fillRect/>
          </a:stretch>
        </p:blipFill>
        <p:spPr>
          <a:xfrm>
            <a:off x="437503" y="1101061"/>
            <a:ext cx="5848350" cy="5153025"/>
          </a:xfrm>
          <a:prstGeom prst="rect">
            <a:avLst/>
          </a:prstGeom>
        </p:spPr>
      </p:pic>
      <p:pic>
        <p:nvPicPr>
          <p:cNvPr id="3" name="Picture 2">
            <a:extLst>
              <a:ext uri="{FF2B5EF4-FFF2-40B4-BE49-F238E27FC236}">
                <a16:creationId xmlns:a16="http://schemas.microsoft.com/office/drawing/2014/main" id="{B948BD1B-9D2C-B24E-5DC7-F53506BA1D81}"/>
              </a:ext>
            </a:extLst>
          </p:cNvPr>
          <p:cNvPicPr>
            <a:picLocks noChangeAspect="1"/>
          </p:cNvPicPr>
          <p:nvPr/>
        </p:nvPicPr>
        <p:blipFill>
          <a:blip r:embed="rId3"/>
          <a:stretch>
            <a:fillRect/>
          </a:stretch>
        </p:blipFill>
        <p:spPr>
          <a:xfrm>
            <a:off x="6181909" y="1101060"/>
            <a:ext cx="5848349" cy="5153091"/>
          </a:xfrm>
          <a:prstGeom prst="rect">
            <a:avLst/>
          </a:prstGeom>
        </p:spPr>
      </p:pic>
    </p:spTree>
    <p:extLst>
      <p:ext uri="{BB962C8B-B14F-4D97-AF65-F5344CB8AC3E}">
        <p14:creationId xmlns:p14="http://schemas.microsoft.com/office/powerpoint/2010/main" val="4961060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10DD5DD-AE33-6B6A-AAB1-8DBCBC3216CB}"/>
              </a:ext>
            </a:extLst>
          </p:cNvPr>
          <p:cNvPicPr>
            <a:picLocks noChangeAspect="1"/>
          </p:cNvPicPr>
          <p:nvPr/>
        </p:nvPicPr>
        <p:blipFill>
          <a:blip r:embed="rId2"/>
          <a:stretch>
            <a:fillRect/>
          </a:stretch>
        </p:blipFill>
        <p:spPr>
          <a:xfrm>
            <a:off x="574505" y="1195387"/>
            <a:ext cx="5343525" cy="4467225"/>
          </a:xfrm>
          <a:prstGeom prst="rect">
            <a:avLst/>
          </a:prstGeom>
        </p:spPr>
      </p:pic>
    </p:spTree>
    <p:extLst>
      <p:ext uri="{BB962C8B-B14F-4D97-AF65-F5344CB8AC3E}">
        <p14:creationId xmlns:p14="http://schemas.microsoft.com/office/powerpoint/2010/main" val="37953209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837D3F3-7DC8-8648-B796-C877A7210D58}"/>
              </a:ext>
            </a:extLst>
          </p:cNvPr>
          <p:cNvPicPr>
            <a:picLocks noChangeAspect="1"/>
          </p:cNvPicPr>
          <p:nvPr/>
        </p:nvPicPr>
        <p:blipFill>
          <a:blip r:embed="rId2"/>
          <a:stretch>
            <a:fillRect/>
          </a:stretch>
        </p:blipFill>
        <p:spPr>
          <a:xfrm>
            <a:off x="5408166" y="451375"/>
            <a:ext cx="6134100" cy="6115050"/>
          </a:xfrm>
          <a:prstGeom prst="rect">
            <a:avLst/>
          </a:prstGeom>
        </p:spPr>
      </p:pic>
      <p:pic>
        <p:nvPicPr>
          <p:cNvPr id="3" name="Picture 2">
            <a:extLst>
              <a:ext uri="{FF2B5EF4-FFF2-40B4-BE49-F238E27FC236}">
                <a16:creationId xmlns:a16="http://schemas.microsoft.com/office/drawing/2014/main" id="{7A925017-B12D-7AB0-EC40-BA2220AF5EF1}"/>
              </a:ext>
            </a:extLst>
          </p:cNvPr>
          <p:cNvPicPr>
            <a:picLocks noChangeAspect="1"/>
          </p:cNvPicPr>
          <p:nvPr/>
        </p:nvPicPr>
        <p:blipFill>
          <a:blip r:embed="rId3"/>
          <a:stretch>
            <a:fillRect/>
          </a:stretch>
        </p:blipFill>
        <p:spPr>
          <a:xfrm>
            <a:off x="228279" y="1257300"/>
            <a:ext cx="5334000" cy="4343400"/>
          </a:xfrm>
          <a:prstGeom prst="rect">
            <a:avLst/>
          </a:prstGeom>
        </p:spPr>
      </p:pic>
    </p:spTree>
    <p:extLst>
      <p:ext uri="{BB962C8B-B14F-4D97-AF65-F5344CB8AC3E}">
        <p14:creationId xmlns:p14="http://schemas.microsoft.com/office/powerpoint/2010/main" val="3672695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CE115C-DB5D-C2CE-13A5-9552C4EE2915}"/>
              </a:ext>
            </a:extLst>
          </p:cNvPr>
          <p:cNvSpPr txBox="1"/>
          <p:nvPr/>
        </p:nvSpPr>
        <p:spPr>
          <a:xfrm>
            <a:off x="793630" y="1000663"/>
            <a:ext cx="1518249" cy="923330"/>
          </a:xfrm>
          <a:prstGeom prst="rect">
            <a:avLst/>
          </a:prstGeom>
          <a:noFill/>
        </p:spPr>
        <p:txBody>
          <a:bodyPr wrap="square" rtlCol="0">
            <a:spAutoFit/>
          </a:bodyPr>
          <a:lstStyle/>
          <a:p>
            <a:r>
              <a:rPr lang="en-CH" dirty="0"/>
              <a:t>Simultaneous presentation, retro-cue</a:t>
            </a:r>
          </a:p>
        </p:txBody>
      </p:sp>
      <p:pic>
        <p:nvPicPr>
          <p:cNvPr id="4" name="Picture 3">
            <a:extLst>
              <a:ext uri="{FF2B5EF4-FFF2-40B4-BE49-F238E27FC236}">
                <a16:creationId xmlns:a16="http://schemas.microsoft.com/office/drawing/2014/main" id="{77F011AE-8017-3DD0-A1C6-1C10F7E36238}"/>
              </a:ext>
            </a:extLst>
          </p:cNvPr>
          <p:cNvPicPr>
            <a:picLocks noChangeAspect="1"/>
          </p:cNvPicPr>
          <p:nvPr/>
        </p:nvPicPr>
        <p:blipFill>
          <a:blip r:embed="rId2"/>
          <a:stretch>
            <a:fillRect/>
          </a:stretch>
        </p:blipFill>
        <p:spPr>
          <a:xfrm>
            <a:off x="3208847" y="383874"/>
            <a:ext cx="7083636" cy="5965167"/>
          </a:xfrm>
          <a:prstGeom prst="rect">
            <a:avLst/>
          </a:prstGeom>
        </p:spPr>
      </p:pic>
    </p:spTree>
    <p:extLst>
      <p:ext uri="{BB962C8B-B14F-4D97-AF65-F5344CB8AC3E}">
        <p14:creationId xmlns:p14="http://schemas.microsoft.com/office/powerpoint/2010/main" val="30383362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6DDEF0F-E4B9-765E-5013-8B40D8A96C5C}"/>
              </a:ext>
            </a:extLst>
          </p:cNvPr>
          <p:cNvPicPr>
            <a:picLocks noChangeAspect="1"/>
          </p:cNvPicPr>
          <p:nvPr/>
        </p:nvPicPr>
        <p:blipFill>
          <a:blip r:embed="rId2"/>
          <a:stretch>
            <a:fillRect/>
          </a:stretch>
        </p:blipFill>
        <p:spPr>
          <a:xfrm>
            <a:off x="319087" y="361950"/>
            <a:ext cx="11553825" cy="6134100"/>
          </a:xfrm>
          <a:prstGeom prst="rect">
            <a:avLst/>
          </a:prstGeom>
        </p:spPr>
      </p:pic>
    </p:spTree>
    <p:extLst>
      <p:ext uri="{BB962C8B-B14F-4D97-AF65-F5344CB8AC3E}">
        <p14:creationId xmlns:p14="http://schemas.microsoft.com/office/powerpoint/2010/main" val="40712383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6D137F9-8BBC-8651-C5B3-8DEA5F451513}"/>
              </a:ext>
            </a:extLst>
          </p:cNvPr>
          <p:cNvPicPr>
            <a:picLocks noChangeAspect="1"/>
          </p:cNvPicPr>
          <p:nvPr/>
        </p:nvPicPr>
        <p:blipFill>
          <a:blip r:embed="rId2"/>
          <a:stretch>
            <a:fillRect/>
          </a:stretch>
        </p:blipFill>
        <p:spPr>
          <a:xfrm>
            <a:off x="-837801" y="634259"/>
            <a:ext cx="13029801" cy="5973575"/>
          </a:xfrm>
          <a:prstGeom prst="rect">
            <a:avLst/>
          </a:prstGeom>
        </p:spPr>
      </p:pic>
    </p:spTree>
    <p:extLst>
      <p:ext uri="{BB962C8B-B14F-4D97-AF65-F5344CB8AC3E}">
        <p14:creationId xmlns:p14="http://schemas.microsoft.com/office/powerpoint/2010/main" val="101191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137048-0D6C-4761-9D63-8DF4F42ECAFB}"/>
              </a:ext>
            </a:extLst>
          </p:cNvPr>
          <p:cNvSpPr txBox="1"/>
          <p:nvPr/>
        </p:nvSpPr>
        <p:spPr>
          <a:xfrm>
            <a:off x="571500" y="808892"/>
            <a:ext cx="3223260" cy="923330"/>
          </a:xfrm>
          <a:prstGeom prst="rect">
            <a:avLst/>
          </a:prstGeom>
          <a:noFill/>
        </p:spPr>
        <p:txBody>
          <a:bodyPr wrap="square" rtlCol="0">
            <a:spAutoFit/>
          </a:bodyPr>
          <a:lstStyle/>
          <a:p>
            <a:r>
              <a:rPr lang="en-US" dirty="0"/>
              <a:t>6. Sim./Seq presentation with spatially separated vs. overlapping stimuli</a:t>
            </a:r>
            <a:endParaRPr lang="en-CH" dirty="0"/>
          </a:p>
        </p:txBody>
      </p:sp>
      <p:pic>
        <p:nvPicPr>
          <p:cNvPr id="9" name="Picture 8">
            <a:extLst>
              <a:ext uri="{FF2B5EF4-FFF2-40B4-BE49-F238E27FC236}">
                <a16:creationId xmlns:a16="http://schemas.microsoft.com/office/drawing/2014/main" id="{B17083CC-5AC6-AF36-22F8-8737DBFFF89A}"/>
              </a:ext>
            </a:extLst>
          </p:cNvPr>
          <p:cNvPicPr>
            <a:picLocks noChangeAspect="1"/>
          </p:cNvPicPr>
          <p:nvPr/>
        </p:nvPicPr>
        <p:blipFill>
          <a:blip r:embed="rId2"/>
          <a:stretch>
            <a:fillRect/>
          </a:stretch>
        </p:blipFill>
        <p:spPr>
          <a:xfrm>
            <a:off x="762000" y="2048608"/>
            <a:ext cx="5334000" cy="4000500"/>
          </a:xfrm>
          <a:prstGeom prst="rect">
            <a:avLst/>
          </a:prstGeom>
        </p:spPr>
      </p:pic>
      <p:pic>
        <p:nvPicPr>
          <p:cNvPr id="10" name="Picture 9">
            <a:extLst>
              <a:ext uri="{FF2B5EF4-FFF2-40B4-BE49-F238E27FC236}">
                <a16:creationId xmlns:a16="http://schemas.microsoft.com/office/drawing/2014/main" id="{07C2B8F8-5B75-6E8B-6743-CED5F78B334B}"/>
              </a:ext>
            </a:extLst>
          </p:cNvPr>
          <p:cNvPicPr>
            <a:picLocks noChangeAspect="1"/>
          </p:cNvPicPr>
          <p:nvPr/>
        </p:nvPicPr>
        <p:blipFill>
          <a:blip r:embed="rId3"/>
          <a:stretch>
            <a:fillRect/>
          </a:stretch>
        </p:blipFill>
        <p:spPr>
          <a:xfrm>
            <a:off x="6243917" y="1894914"/>
            <a:ext cx="5334000" cy="4000500"/>
          </a:xfrm>
          <a:prstGeom prst="rect">
            <a:avLst/>
          </a:prstGeom>
        </p:spPr>
      </p:pic>
    </p:spTree>
    <p:extLst>
      <p:ext uri="{BB962C8B-B14F-4D97-AF65-F5344CB8AC3E}">
        <p14:creationId xmlns:p14="http://schemas.microsoft.com/office/powerpoint/2010/main" val="10689819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A0F5CD-6AD3-D085-25AB-3A6FCB944959}"/>
              </a:ext>
            </a:extLst>
          </p:cNvPr>
          <p:cNvPicPr>
            <a:picLocks noChangeAspect="1"/>
          </p:cNvPicPr>
          <p:nvPr/>
        </p:nvPicPr>
        <p:blipFill>
          <a:blip r:embed="rId2"/>
          <a:stretch>
            <a:fillRect/>
          </a:stretch>
        </p:blipFill>
        <p:spPr>
          <a:xfrm>
            <a:off x="2395887" y="0"/>
            <a:ext cx="7400225" cy="6858000"/>
          </a:xfrm>
          <a:prstGeom prst="rect">
            <a:avLst/>
          </a:prstGeom>
        </p:spPr>
      </p:pic>
    </p:spTree>
    <p:extLst>
      <p:ext uri="{BB962C8B-B14F-4D97-AF65-F5344CB8AC3E}">
        <p14:creationId xmlns:p14="http://schemas.microsoft.com/office/powerpoint/2010/main" val="22041234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2D91E9-0F71-C290-BF6E-95F836CCD3A8}"/>
              </a:ext>
            </a:extLst>
          </p:cNvPr>
          <p:cNvSpPr txBox="1"/>
          <p:nvPr/>
        </p:nvSpPr>
        <p:spPr>
          <a:xfrm>
            <a:off x="517585" y="845389"/>
            <a:ext cx="5029262" cy="369332"/>
          </a:xfrm>
          <a:prstGeom prst="rect">
            <a:avLst/>
          </a:prstGeom>
          <a:noFill/>
        </p:spPr>
        <p:txBody>
          <a:bodyPr wrap="none" rtlCol="0">
            <a:spAutoFit/>
          </a:bodyPr>
          <a:lstStyle/>
          <a:p>
            <a:r>
              <a:rPr lang="en-CH" dirty="0"/>
              <a:t>7. Sim. and Seq Consolidation (Jacob’s experiments)</a:t>
            </a:r>
          </a:p>
        </p:txBody>
      </p:sp>
      <p:pic>
        <p:nvPicPr>
          <p:cNvPr id="10" name="Picture 9">
            <a:extLst>
              <a:ext uri="{FF2B5EF4-FFF2-40B4-BE49-F238E27FC236}">
                <a16:creationId xmlns:a16="http://schemas.microsoft.com/office/drawing/2014/main" id="{208F34DF-15F4-0824-4A5E-3E0F4F5CC25C}"/>
              </a:ext>
            </a:extLst>
          </p:cNvPr>
          <p:cNvPicPr>
            <a:picLocks noChangeAspect="1"/>
          </p:cNvPicPr>
          <p:nvPr/>
        </p:nvPicPr>
        <p:blipFill>
          <a:blip r:embed="rId2"/>
          <a:stretch>
            <a:fillRect/>
          </a:stretch>
        </p:blipFill>
        <p:spPr>
          <a:xfrm>
            <a:off x="473014" y="1610379"/>
            <a:ext cx="5867400" cy="4352925"/>
          </a:xfrm>
          <a:prstGeom prst="rect">
            <a:avLst/>
          </a:prstGeom>
        </p:spPr>
      </p:pic>
      <p:pic>
        <p:nvPicPr>
          <p:cNvPr id="11" name="Picture 10">
            <a:extLst>
              <a:ext uri="{FF2B5EF4-FFF2-40B4-BE49-F238E27FC236}">
                <a16:creationId xmlns:a16="http://schemas.microsoft.com/office/drawing/2014/main" id="{5DD9DE37-B3F6-D32B-835D-7EC433CEB1E2}"/>
              </a:ext>
            </a:extLst>
          </p:cNvPr>
          <p:cNvPicPr>
            <a:picLocks noChangeAspect="1"/>
          </p:cNvPicPr>
          <p:nvPr/>
        </p:nvPicPr>
        <p:blipFill>
          <a:blip r:embed="rId3"/>
          <a:stretch>
            <a:fillRect/>
          </a:stretch>
        </p:blipFill>
        <p:spPr>
          <a:xfrm>
            <a:off x="6340414" y="1610380"/>
            <a:ext cx="5803899" cy="4352924"/>
          </a:xfrm>
          <a:prstGeom prst="rect">
            <a:avLst/>
          </a:prstGeom>
        </p:spPr>
      </p:pic>
    </p:spTree>
    <p:extLst>
      <p:ext uri="{BB962C8B-B14F-4D97-AF65-F5344CB8AC3E}">
        <p14:creationId xmlns:p14="http://schemas.microsoft.com/office/powerpoint/2010/main" val="39493017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285B5F9-24FE-25E6-5685-649017835A9E}"/>
              </a:ext>
            </a:extLst>
          </p:cNvPr>
          <p:cNvPicPr>
            <a:picLocks noChangeAspect="1"/>
          </p:cNvPicPr>
          <p:nvPr/>
        </p:nvPicPr>
        <p:blipFill>
          <a:blip r:embed="rId2"/>
          <a:stretch>
            <a:fillRect/>
          </a:stretch>
        </p:blipFill>
        <p:spPr>
          <a:xfrm>
            <a:off x="744631" y="1214437"/>
            <a:ext cx="6076950" cy="4429125"/>
          </a:xfrm>
          <a:prstGeom prst="rect">
            <a:avLst/>
          </a:prstGeom>
        </p:spPr>
      </p:pic>
    </p:spTree>
    <p:extLst>
      <p:ext uri="{BB962C8B-B14F-4D97-AF65-F5344CB8AC3E}">
        <p14:creationId xmlns:p14="http://schemas.microsoft.com/office/powerpoint/2010/main" val="1876411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A2CA5DA-005B-1825-03E6-23BCBA246AE5}"/>
              </a:ext>
            </a:extLst>
          </p:cNvPr>
          <p:cNvPicPr>
            <a:picLocks noChangeAspect="1"/>
          </p:cNvPicPr>
          <p:nvPr/>
        </p:nvPicPr>
        <p:blipFill>
          <a:blip r:embed="rId2"/>
          <a:stretch>
            <a:fillRect/>
          </a:stretch>
        </p:blipFill>
        <p:spPr>
          <a:xfrm>
            <a:off x="307306" y="1171074"/>
            <a:ext cx="5838825" cy="4210050"/>
          </a:xfrm>
          <a:prstGeom prst="rect">
            <a:avLst/>
          </a:prstGeom>
        </p:spPr>
      </p:pic>
      <p:pic>
        <p:nvPicPr>
          <p:cNvPr id="3" name="Picture 2">
            <a:extLst>
              <a:ext uri="{FF2B5EF4-FFF2-40B4-BE49-F238E27FC236}">
                <a16:creationId xmlns:a16="http://schemas.microsoft.com/office/drawing/2014/main" id="{6B092464-723D-75BF-6CA8-6F5EA5192F0E}"/>
              </a:ext>
            </a:extLst>
          </p:cNvPr>
          <p:cNvPicPr>
            <a:picLocks noChangeAspect="1"/>
          </p:cNvPicPr>
          <p:nvPr/>
        </p:nvPicPr>
        <p:blipFill>
          <a:blip r:embed="rId3"/>
          <a:stretch>
            <a:fillRect/>
          </a:stretch>
        </p:blipFill>
        <p:spPr>
          <a:xfrm>
            <a:off x="6268703" y="1275849"/>
            <a:ext cx="5334000" cy="4000500"/>
          </a:xfrm>
          <a:prstGeom prst="rect">
            <a:avLst/>
          </a:prstGeom>
        </p:spPr>
      </p:pic>
      <p:sp>
        <p:nvSpPr>
          <p:cNvPr id="4" name="TextBox 3">
            <a:extLst>
              <a:ext uri="{FF2B5EF4-FFF2-40B4-BE49-F238E27FC236}">
                <a16:creationId xmlns:a16="http://schemas.microsoft.com/office/drawing/2014/main" id="{1B02C393-8F90-3972-1DA4-58405CDBD71A}"/>
              </a:ext>
            </a:extLst>
          </p:cNvPr>
          <p:cNvSpPr txBox="1"/>
          <p:nvPr/>
        </p:nvSpPr>
        <p:spPr>
          <a:xfrm>
            <a:off x="240632" y="391026"/>
            <a:ext cx="2715552" cy="369332"/>
          </a:xfrm>
          <a:prstGeom prst="rect">
            <a:avLst/>
          </a:prstGeom>
          <a:noFill/>
        </p:spPr>
        <p:txBody>
          <a:bodyPr wrap="none" rtlCol="0">
            <a:spAutoFit/>
          </a:bodyPr>
          <a:lstStyle/>
          <a:p>
            <a:r>
              <a:rPr lang="en-CH" dirty="0"/>
              <a:t>With </a:t>
            </a:r>
            <a:r>
              <a:rPr lang="en-CH" dirty="0" err="1"/>
              <a:t>cRate</a:t>
            </a:r>
            <a:r>
              <a:rPr lang="en-CH" dirty="0"/>
              <a:t> decreased to 4:</a:t>
            </a:r>
          </a:p>
        </p:txBody>
      </p:sp>
    </p:spTree>
    <p:extLst>
      <p:ext uri="{BB962C8B-B14F-4D97-AF65-F5344CB8AC3E}">
        <p14:creationId xmlns:p14="http://schemas.microsoft.com/office/powerpoint/2010/main" val="38960443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9F0B9C3-11B8-1B82-903B-7BFE0049F968}"/>
              </a:ext>
            </a:extLst>
          </p:cNvPr>
          <p:cNvSpPr txBox="1"/>
          <p:nvPr/>
        </p:nvSpPr>
        <p:spPr>
          <a:xfrm>
            <a:off x="240632" y="391026"/>
            <a:ext cx="4579780" cy="369332"/>
          </a:xfrm>
          <a:prstGeom prst="rect">
            <a:avLst/>
          </a:prstGeom>
          <a:noFill/>
        </p:spPr>
        <p:txBody>
          <a:bodyPr wrap="none" rtlCol="0">
            <a:spAutoFit/>
          </a:bodyPr>
          <a:lstStyle/>
          <a:p>
            <a:r>
              <a:rPr lang="en-CH" dirty="0"/>
              <a:t>With </a:t>
            </a:r>
            <a:r>
              <a:rPr lang="en-CH" dirty="0" err="1"/>
              <a:t>cRate</a:t>
            </a:r>
            <a:r>
              <a:rPr lang="en-CH" dirty="0"/>
              <a:t> = 10 and </a:t>
            </a:r>
            <a:r>
              <a:rPr lang="en-CH" dirty="0" err="1"/>
              <a:t>cStrength</a:t>
            </a:r>
            <a:r>
              <a:rPr lang="en-CH" dirty="0"/>
              <a:t> increased to 0.9</a:t>
            </a:r>
          </a:p>
        </p:txBody>
      </p:sp>
      <p:pic>
        <p:nvPicPr>
          <p:cNvPr id="3" name="Picture 2">
            <a:extLst>
              <a:ext uri="{FF2B5EF4-FFF2-40B4-BE49-F238E27FC236}">
                <a16:creationId xmlns:a16="http://schemas.microsoft.com/office/drawing/2014/main" id="{419D1298-7DDC-2AAE-D3F2-64BF93B947E5}"/>
              </a:ext>
            </a:extLst>
          </p:cNvPr>
          <p:cNvPicPr>
            <a:picLocks noChangeAspect="1"/>
          </p:cNvPicPr>
          <p:nvPr/>
        </p:nvPicPr>
        <p:blipFill>
          <a:blip r:embed="rId2"/>
          <a:stretch>
            <a:fillRect/>
          </a:stretch>
        </p:blipFill>
        <p:spPr>
          <a:xfrm>
            <a:off x="-121319" y="1073818"/>
            <a:ext cx="6743700" cy="4914900"/>
          </a:xfrm>
          <a:prstGeom prst="rect">
            <a:avLst/>
          </a:prstGeom>
        </p:spPr>
      </p:pic>
      <p:pic>
        <p:nvPicPr>
          <p:cNvPr id="4" name="Picture 3">
            <a:extLst>
              <a:ext uri="{FF2B5EF4-FFF2-40B4-BE49-F238E27FC236}">
                <a16:creationId xmlns:a16="http://schemas.microsoft.com/office/drawing/2014/main" id="{E3078E5A-1635-376C-5B34-23432EE0A039}"/>
              </a:ext>
            </a:extLst>
          </p:cNvPr>
          <p:cNvPicPr>
            <a:picLocks noChangeAspect="1"/>
          </p:cNvPicPr>
          <p:nvPr/>
        </p:nvPicPr>
        <p:blipFill>
          <a:blip r:embed="rId3"/>
          <a:stretch>
            <a:fillRect/>
          </a:stretch>
        </p:blipFill>
        <p:spPr>
          <a:xfrm>
            <a:off x="6257925" y="1126205"/>
            <a:ext cx="5934075" cy="4810125"/>
          </a:xfrm>
          <a:prstGeom prst="rect">
            <a:avLst/>
          </a:prstGeom>
        </p:spPr>
      </p:pic>
    </p:spTree>
    <p:extLst>
      <p:ext uri="{BB962C8B-B14F-4D97-AF65-F5344CB8AC3E}">
        <p14:creationId xmlns:p14="http://schemas.microsoft.com/office/powerpoint/2010/main" val="95620525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B5A7D1-8D36-547A-94C6-E9CFD1D45190}"/>
              </a:ext>
            </a:extLst>
          </p:cNvPr>
          <p:cNvSpPr txBox="1"/>
          <p:nvPr/>
        </p:nvSpPr>
        <p:spPr>
          <a:xfrm>
            <a:off x="500332" y="862642"/>
            <a:ext cx="4236673" cy="369332"/>
          </a:xfrm>
          <a:prstGeom prst="rect">
            <a:avLst/>
          </a:prstGeom>
          <a:noFill/>
        </p:spPr>
        <p:txBody>
          <a:bodyPr wrap="none" rtlCol="0">
            <a:spAutoFit/>
          </a:bodyPr>
          <a:lstStyle/>
          <a:p>
            <a:r>
              <a:rPr lang="en-CH" dirty="0"/>
              <a:t>8. Ricker &amp; Sandry Masking + Consolidation</a:t>
            </a:r>
          </a:p>
        </p:txBody>
      </p:sp>
      <p:pic>
        <p:nvPicPr>
          <p:cNvPr id="2" name="Picture 1">
            <a:extLst>
              <a:ext uri="{FF2B5EF4-FFF2-40B4-BE49-F238E27FC236}">
                <a16:creationId xmlns:a16="http://schemas.microsoft.com/office/drawing/2014/main" id="{4B450745-5E66-8981-E262-391269A75D40}"/>
              </a:ext>
            </a:extLst>
          </p:cNvPr>
          <p:cNvPicPr>
            <a:picLocks noChangeAspect="1"/>
          </p:cNvPicPr>
          <p:nvPr/>
        </p:nvPicPr>
        <p:blipFill>
          <a:blip r:embed="rId2"/>
          <a:stretch>
            <a:fillRect/>
          </a:stretch>
        </p:blipFill>
        <p:spPr>
          <a:xfrm>
            <a:off x="235047" y="1231974"/>
            <a:ext cx="6388910" cy="5524500"/>
          </a:xfrm>
          <a:prstGeom prst="rect">
            <a:avLst/>
          </a:prstGeom>
        </p:spPr>
      </p:pic>
      <p:pic>
        <p:nvPicPr>
          <p:cNvPr id="4" name="Picture 3">
            <a:extLst>
              <a:ext uri="{FF2B5EF4-FFF2-40B4-BE49-F238E27FC236}">
                <a16:creationId xmlns:a16="http://schemas.microsoft.com/office/drawing/2014/main" id="{39EB267B-6360-27DA-2A3A-E19284EC93AC}"/>
              </a:ext>
            </a:extLst>
          </p:cNvPr>
          <p:cNvPicPr>
            <a:picLocks noChangeAspect="1"/>
          </p:cNvPicPr>
          <p:nvPr/>
        </p:nvPicPr>
        <p:blipFill>
          <a:blip r:embed="rId3"/>
          <a:stretch>
            <a:fillRect/>
          </a:stretch>
        </p:blipFill>
        <p:spPr>
          <a:xfrm>
            <a:off x="6177643" y="963385"/>
            <a:ext cx="6233977" cy="5838297"/>
          </a:xfrm>
          <a:prstGeom prst="rect">
            <a:avLst/>
          </a:prstGeom>
        </p:spPr>
      </p:pic>
    </p:spTree>
    <p:extLst>
      <p:ext uri="{BB962C8B-B14F-4D97-AF65-F5344CB8AC3E}">
        <p14:creationId xmlns:p14="http://schemas.microsoft.com/office/powerpoint/2010/main" val="37797379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F76553D-538C-AFA9-4514-5510816FC47A}"/>
              </a:ext>
            </a:extLst>
          </p:cNvPr>
          <p:cNvSpPr txBox="1"/>
          <p:nvPr/>
        </p:nvSpPr>
        <p:spPr>
          <a:xfrm>
            <a:off x="569343" y="828136"/>
            <a:ext cx="3060453" cy="369332"/>
          </a:xfrm>
          <a:prstGeom prst="rect">
            <a:avLst/>
          </a:prstGeom>
          <a:noFill/>
        </p:spPr>
        <p:txBody>
          <a:bodyPr wrap="none" rtlCol="0">
            <a:spAutoFit/>
          </a:bodyPr>
          <a:lstStyle/>
          <a:p>
            <a:r>
              <a:rPr lang="en-CH" dirty="0"/>
              <a:t>9. Array-Mask SOA (Bays et al.)</a:t>
            </a:r>
          </a:p>
        </p:txBody>
      </p:sp>
    </p:spTree>
    <p:extLst>
      <p:ext uri="{BB962C8B-B14F-4D97-AF65-F5344CB8AC3E}">
        <p14:creationId xmlns:p14="http://schemas.microsoft.com/office/powerpoint/2010/main" val="27068770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083A86F-3A03-0F31-6C0C-928D34BF277B}"/>
              </a:ext>
            </a:extLst>
          </p:cNvPr>
          <p:cNvPicPr>
            <a:picLocks noChangeAspect="1"/>
          </p:cNvPicPr>
          <p:nvPr/>
        </p:nvPicPr>
        <p:blipFill>
          <a:blip r:embed="rId2"/>
          <a:stretch>
            <a:fillRect/>
          </a:stretch>
        </p:blipFill>
        <p:spPr>
          <a:xfrm>
            <a:off x="1291843" y="0"/>
            <a:ext cx="5161624" cy="6858000"/>
          </a:xfrm>
          <a:prstGeom prst="rect">
            <a:avLst/>
          </a:prstGeom>
        </p:spPr>
      </p:pic>
      <p:sp>
        <p:nvSpPr>
          <p:cNvPr id="3" name="TextBox 2">
            <a:extLst>
              <a:ext uri="{FF2B5EF4-FFF2-40B4-BE49-F238E27FC236}">
                <a16:creationId xmlns:a16="http://schemas.microsoft.com/office/drawing/2014/main" id="{967943E3-20DB-5728-B996-DF43224E4AE8}"/>
              </a:ext>
            </a:extLst>
          </p:cNvPr>
          <p:cNvSpPr txBox="1"/>
          <p:nvPr/>
        </p:nvSpPr>
        <p:spPr>
          <a:xfrm>
            <a:off x="301926" y="759125"/>
            <a:ext cx="1341818" cy="646331"/>
          </a:xfrm>
          <a:prstGeom prst="rect">
            <a:avLst/>
          </a:prstGeom>
          <a:noFill/>
        </p:spPr>
        <p:txBody>
          <a:bodyPr wrap="square" rtlCol="0">
            <a:spAutoFit/>
          </a:bodyPr>
          <a:lstStyle/>
          <a:p>
            <a:r>
              <a:rPr lang="en-CH" dirty="0"/>
              <a:t>2-array experiment</a:t>
            </a:r>
          </a:p>
        </p:txBody>
      </p:sp>
      <p:pic>
        <p:nvPicPr>
          <p:cNvPr id="4" name="Picture 3">
            <a:extLst>
              <a:ext uri="{FF2B5EF4-FFF2-40B4-BE49-F238E27FC236}">
                <a16:creationId xmlns:a16="http://schemas.microsoft.com/office/drawing/2014/main" id="{D10BBB5E-6055-FAD0-F765-380482F4C179}"/>
              </a:ext>
            </a:extLst>
          </p:cNvPr>
          <p:cNvPicPr>
            <a:picLocks noChangeAspect="1"/>
          </p:cNvPicPr>
          <p:nvPr/>
        </p:nvPicPr>
        <p:blipFill>
          <a:blip r:embed="rId3"/>
          <a:stretch>
            <a:fillRect/>
          </a:stretch>
        </p:blipFill>
        <p:spPr>
          <a:xfrm>
            <a:off x="6326233" y="0"/>
            <a:ext cx="6419303" cy="6858000"/>
          </a:xfrm>
          <a:prstGeom prst="rect">
            <a:avLst/>
          </a:prstGeom>
        </p:spPr>
      </p:pic>
    </p:spTree>
    <p:extLst>
      <p:ext uri="{BB962C8B-B14F-4D97-AF65-F5344CB8AC3E}">
        <p14:creationId xmlns:p14="http://schemas.microsoft.com/office/powerpoint/2010/main" val="483842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542652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43C3DD5-8218-33F2-5854-37826FB1C6C8}"/>
              </a:ext>
            </a:extLst>
          </p:cNvPr>
          <p:cNvSpPr txBox="1"/>
          <p:nvPr/>
        </p:nvSpPr>
        <p:spPr>
          <a:xfrm>
            <a:off x="638355" y="914400"/>
            <a:ext cx="2217467" cy="369332"/>
          </a:xfrm>
          <a:prstGeom prst="rect">
            <a:avLst/>
          </a:prstGeom>
          <a:noFill/>
        </p:spPr>
        <p:txBody>
          <a:bodyPr wrap="none" rtlCol="0">
            <a:spAutoFit/>
          </a:bodyPr>
          <a:lstStyle/>
          <a:p>
            <a:r>
              <a:rPr lang="en-CH" dirty="0"/>
              <a:t>Individual Differences</a:t>
            </a:r>
          </a:p>
        </p:txBody>
      </p:sp>
      <p:pic>
        <p:nvPicPr>
          <p:cNvPr id="4" name="Picture 3">
            <a:extLst>
              <a:ext uri="{FF2B5EF4-FFF2-40B4-BE49-F238E27FC236}">
                <a16:creationId xmlns:a16="http://schemas.microsoft.com/office/drawing/2014/main" id="{B0F4F285-2ACE-1B24-BE86-60D0CC89DCAC}"/>
              </a:ext>
            </a:extLst>
          </p:cNvPr>
          <p:cNvPicPr>
            <a:picLocks noChangeAspect="1"/>
          </p:cNvPicPr>
          <p:nvPr/>
        </p:nvPicPr>
        <p:blipFill>
          <a:blip r:embed="rId2"/>
          <a:stretch>
            <a:fillRect/>
          </a:stretch>
        </p:blipFill>
        <p:spPr>
          <a:xfrm>
            <a:off x="381000" y="1283732"/>
            <a:ext cx="5334000" cy="4857750"/>
          </a:xfrm>
          <a:prstGeom prst="rect">
            <a:avLst/>
          </a:prstGeom>
        </p:spPr>
      </p:pic>
      <p:pic>
        <p:nvPicPr>
          <p:cNvPr id="5" name="Picture 4">
            <a:extLst>
              <a:ext uri="{FF2B5EF4-FFF2-40B4-BE49-F238E27FC236}">
                <a16:creationId xmlns:a16="http://schemas.microsoft.com/office/drawing/2014/main" id="{B69CE219-9CBD-5681-9498-0038BB0F79CB}"/>
              </a:ext>
            </a:extLst>
          </p:cNvPr>
          <p:cNvPicPr>
            <a:picLocks noChangeAspect="1"/>
          </p:cNvPicPr>
          <p:nvPr/>
        </p:nvPicPr>
        <p:blipFill>
          <a:blip r:embed="rId3"/>
          <a:stretch>
            <a:fillRect/>
          </a:stretch>
        </p:blipFill>
        <p:spPr>
          <a:xfrm>
            <a:off x="5881968" y="1283732"/>
            <a:ext cx="6057900" cy="4857750"/>
          </a:xfrm>
          <a:prstGeom prst="rect">
            <a:avLst/>
          </a:prstGeom>
        </p:spPr>
      </p:pic>
    </p:spTree>
    <p:extLst>
      <p:ext uri="{BB962C8B-B14F-4D97-AF65-F5344CB8AC3E}">
        <p14:creationId xmlns:p14="http://schemas.microsoft.com/office/powerpoint/2010/main" val="192443714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1DBAB1C-C4CE-E81C-8ADF-19E6E897C36C}"/>
              </a:ext>
            </a:extLst>
          </p:cNvPr>
          <p:cNvPicPr>
            <a:picLocks noChangeAspect="1"/>
          </p:cNvPicPr>
          <p:nvPr/>
        </p:nvPicPr>
        <p:blipFill>
          <a:blip r:embed="rId2"/>
          <a:stretch>
            <a:fillRect/>
          </a:stretch>
        </p:blipFill>
        <p:spPr>
          <a:xfrm>
            <a:off x="0" y="2140476"/>
            <a:ext cx="12192000" cy="2577048"/>
          </a:xfrm>
          <a:prstGeom prst="rect">
            <a:avLst/>
          </a:prstGeom>
        </p:spPr>
      </p:pic>
    </p:spTree>
    <p:extLst>
      <p:ext uri="{BB962C8B-B14F-4D97-AF65-F5344CB8AC3E}">
        <p14:creationId xmlns:p14="http://schemas.microsoft.com/office/powerpoint/2010/main" val="64567210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0213118-2795-29B9-4927-C227C4E03D82}"/>
              </a:ext>
            </a:extLst>
          </p:cNvPr>
          <p:cNvPicPr>
            <a:picLocks noChangeAspect="1"/>
          </p:cNvPicPr>
          <p:nvPr/>
        </p:nvPicPr>
        <p:blipFill>
          <a:blip r:embed="rId2"/>
          <a:stretch>
            <a:fillRect/>
          </a:stretch>
        </p:blipFill>
        <p:spPr>
          <a:xfrm>
            <a:off x="2614612" y="695325"/>
            <a:ext cx="6962775" cy="5467350"/>
          </a:xfrm>
          <a:prstGeom prst="rect">
            <a:avLst/>
          </a:prstGeom>
        </p:spPr>
      </p:pic>
    </p:spTree>
    <p:extLst>
      <p:ext uri="{BB962C8B-B14F-4D97-AF65-F5344CB8AC3E}">
        <p14:creationId xmlns:p14="http://schemas.microsoft.com/office/powerpoint/2010/main" val="3119272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C155C85-0408-59AD-99C4-794DBB649734}"/>
              </a:ext>
            </a:extLst>
          </p:cNvPr>
          <p:cNvPicPr>
            <a:picLocks noChangeAspect="1"/>
          </p:cNvPicPr>
          <p:nvPr/>
        </p:nvPicPr>
        <p:blipFill>
          <a:blip r:embed="rId2"/>
          <a:stretch>
            <a:fillRect/>
          </a:stretch>
        </p:blipFill>
        <p:spPr>
          <a:xfrm>
            <a:off x="2730691" y="0"/>
            <a:ext cx="9318543" cy="6858000"/>
          </a:xfrm>
          <a:prstGeom prst="rect">
            <a:avLst/>
          </a:prstGeom>
        </p:spPr>
      </p:pic>
      <p:sp>
        <p:nvSpPr>
          <p:cNvPr id="3" name="TextBox 2">
            <a:extLst>
              <a:ext uri="{FF2B5EF4-FFF2-40B4-BE49-F238E27FC236}">
                <a16:creationId xmlns:a16="http://schemas.microsoft.com/office/drawing/2014/main" id="{44878872-2DCC-700B-93D1-73715A59D1D7}"/>
              </a:ext>
            </a:extLst>
          </p:cNvPr>
          <p:cNvSpPr txBox="1"/>
          <p:nvPr/>
        </p:nvSpPr>
        <p:spPr>
          <a:xfrm>
            <a:off x="362309" y="810883"/>
            <a:ext cx="3038589" cy="369332"/>
          </a:xfrm>
          <a:prstGeom prst="rect">
            <a:avLst/>
          </a:prstGeom>
          <a:noFill/>
        </p:spPr>
        <p:txBody>
          <a:bodyPr wrap="none" rtlCol="0">
            <a:spAutoFit/>
          </a:bodyPr>
          <a:lstStyle/>
          <a:p>
            <a:r>
              <a:rPr lang="en-CH" dirty="0"/>
              <a:t>Plain-vanilla Change Detection</a:t>
            </a:r>
          </a:p>
        </p:txBody>
      </p:sp>
    </p:spTree>
    <p:extLst>
      <p:ext uri="{BB962C8B-B14F-4D97-AF65-F5344CB8AC3E}">
        <p14:creationId xmlns:p14="http://schemas.microsoft.com/office/powerpoint/2010/main" val="203283922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953E4C9-9477-F1D8-7D31-050EAB43ABA6}"/>
              </a:ext>
            </a:extLst>
          </p:cNvPr>
          <p:cNvPicPr>
            <a:picLocks noChangeAspect="1"/>
          </p:cNvPicPr>
          <p:nvPr/>
        </p:nvPicPr>
        <p:blipFill>
          <a:blip r:embed="rId2"/>
          <a:stretch>
            <a:fillRect/>
          </a:stretch>
        </p:blipFill>
        <p:spPr>
          <a:xfrm>
            <a:off x="3286975" y="0"/>
            <a:ext cx="8723557" cy="6858000"/>
          </a:xfrm>
          <a:prstGeom prst="rect">
            <a:avLst/>
          </a:prstGeom>
        </p:spPr>
      </p:pic>
      <p:sp>
        <p:nvSpPr>
          <p:cNvPr id="4" name="TextBox 3">
            <a:extLst>
              <a:ext uri="{FF2B5EF4-FFF2-40B4-BE49-F238E27FC236}">
                <a16:creationId xmlns:a16="http://schemas.microsoft.com/office/drawing/2014/main" id="{B18A9B18-4825-B98E-D749-8FDBFF164AC7}"/>
              </a:ext>
            </a:extLst>
          </p:cNvPr>
          <p:cNvSpPr txBox="1"/>
          <p:nvPr/>
        </p:nvSpPr>
        <p:spPr>
          <a:xfrm>
            <a:off x="379562" y="586596"/>
            <a:ext cx="3290901" cy="369332"/>
          </a:xfrm>
          <a:prstGeom prst="rect">
            <a:avLst/>
          </a:prstGeom>
          <a:noFill/>
        </p:spPr>
        <p:txBody>
          <a:bodyPr wrap="none" rtlCol="0">
            <a:spAutoFit/>
          </a:bodyPr>
          <a:lstStyle/>
          <a:p>
            <a:r>
              <a:rPr lang="en-CH" dirty="0"/>
              <a:t>Iconic memory (Pratte &amp; Greene)</a:t>
            </a:r>
          </a:p>
        </p:txBody>
      </p:sp>
      <p:pic>
        <p:nvPicPr>
          <p:cNvPr id="2" name="Picture 1">
            <a:extLst>
              <a:ext uri="{FF2B5EF4-FFF2-40B4-BE49-F238E27FC236}">
                <a16:creationId xmlns:a16="http://schemas.microsoft.com/office/drawing/2014/main" id="{81C09A61-272E-E06F-EDFA-CC7B790442D3}"/>
              </a:ext>
            </a:extLst>
          </p:cNvPr>
          <p:cNvPicPr>
            <a:picLocks noChangeAspect="1"/>
          </p:cNvPicPr>
          <p:nvPr/>
        </p:nvPicPr>
        <p:blipFill>
          <a:blip r:embed="rId3"/>
          <a:stretch>
            <a:fillRect/>
          </a:stretch>
        </p:blipFill>
        <p:spPr>
          <a:xfrm>
            <a:off x="181468" y="1415823"/>
            <a:ext cx="5362575" cy="5114925"/>
          </a:xfrm>
          <a:prstGeom prst="rect">
            <a:avLst/>
          </a:prstGeom>
        </p:spPr>
      </p:pic>
    </p:spTree>
    <p:extLst>
      <p:ext uri="{BB962C8B-B14F-4D97-AF65-F5344CB8AC3E}">
        <p14:creationId xmlns:p14="http://schemas.microsoft.com/office/powerpoint/2010/main" val="332807102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16D0359-3D37-FED7-6D3D-CC7B554C5E83}"/>
              </a:ext>
            </a:extLst>
          </p:cNvPr>
          <p:cNvPicPr>
            <a:picLocks noChangeAspect="1"/>
          </p:cNvPicPr>
          <p:nvPr/>
        </p:nvPicPr>
        <p:blipFill>
          <a:blip r:embed="rId2"/>
          <a:stretch>
            <a:fillRect/>
          </a:stretch>
        </p:blipFill>
        <p:spPr>
          <a:xfrm>
            <a:off x="323491" y="1739301"/>
            <a:ext cx="5334000" cy="4000500"/>
          </a:xfrm>
          <a:prstGeom prst="rect">
            <a:avLst/>
          </a:prstGeom>
        </p:spPr>
      </p:pic>
      <p:pic>
        <p:nvPicPr>
          <p:cNvPr id="3" name="Picture 2">
            <a:extLst>
              <a:ext uri="{FF2B5EF4-FFF2-40B4-BE49-F238E27FC236}">
                <a16:creationId xmlns:a16="http://schemas.microsoft.com/office/drawing/2014/main" id="{476F4F30-9463-B3D6-1F4F-8B915AF160CE}"/>
              </a:ext>
            </a:extLst>
          </p:cNvPr>
          <p:cNvPicPr>
            <a:picLocks noChangeAspect="1"/>
          </p:cNvPicPr>
          <p:nvPr/>
        </p:nvPicPr>
        <p:blipFill>
          <a:blip r:embed="rId3"/>
          <a:stretch>
            <a:fillRect/>
          </a:stretch>
        </p:blipFill>
        <p:spPr>
          <a:xfrm>
            <a:off x="5887528" y="1739301"/>
            <a:ext cx="5334000" cy="4000500"/>
          </a:xfrm>
          <a:prstGeom prst="rect">
            <a:avLst/>
          </a:prstGeom>
        </p:spPr>
      </p:pic>
    </p:spTree>
    <p:extLst>
      <p:ext uri="{BB962C8B-B14F-4D97-AF65-F5344CB8AC3E}">
        <p14:creationId xmlns:p14="http://schemas.microsoft.com/office/powerpoint/2010/main" val="207301145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992DCC8-7A67-0355-852A-98A42CBDB911}"/>
              </a:ext>
            </a:extLst>
          </p:cNvPr>
          <p:cNvPicPr>
            <a:picLocks noChangeAspect="1"/>
          </p:cNvPicPr>
          <p:nvPr/>
        </p:nvPicPr>
        <p:blipFill>
          <a:blip r:embed="rId2"/>
          <a:stretch>
            <a:fillRect/>
          </a:stretch>
        </p:blipFill>
        <p:spPr>
          <a:xfrm>
            <a:off x="2652712" y="1157287"/>
            <a:ext cx="6886575" cy="4543425"/>
          </a:xfrm>
          <a:prstGeom prst="rect">
            <a:avLst/>
          </a:prstGeom>
        </p:spPr>
      </p:pic>
    </p:spTree>
    <p:extLst>
      <p:ext uri="{BB962C8B-B14F-4D97-AF65-F5344CB8AC3E}">
        <p14:creationId xmlns:p14="http://schemas.microsoft.com/office/powerpoint/2010/main" val="108231817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A15BF19-313E-02DF-C37F-27AFCD3EDF8E}"/>
              </a:ext>
            </a:extLst>
          </p:cNvPr>
          <p:cNvPicPr>
            <a:picLocks noChangeAspect="1"/>
          </p:cNvPicPr>
          <p:nvPr/>
        </p:nvPicPr>
        <p:blipFill>
          <a:blip r:embed="rId2"/>
          <a:stretch>
            <a:fillRect/>
          </a:stretch>
        </p:blipFill>
        <p:spPr>
          <a:xfrm>
            <a:off x="2692977" y="380011"/>
            <a:ext cx="7036705" cy="5887198"/>
          </a:xfrm>
          <a:prstGeom prst="rect">
            <a:avLst/>
          </a:prstGeom>
        </p:spPr>
      </p:pic>
    </p:spTree>
    <p:extLst>
      <p:ext uri="{BB962C8B-B14F-4D97-AF65-F5344CB8AC3E}">
        <p14:creationId xmlns:p14="http://schemas.microsoft.com/office/powerpoint/2010/main" val="144152012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036ACBA-529F-C3B5-161D-C9BC8A278860}"/>
              </a:ext>
            </a:extLst>
          </p:cNvPr>
          <p:cNvPicPr>
            <a:picLocks noChangeAspect="1"/>
          </p:cNvPicPr>
          <p:nvPr/>
        </p:nvPicPr>
        <p:blipFill>
          <a:blip r:embed="rId2"/>
          <a:stretch>
            <a:fillRect/>
          </a:stretch>
        </p:blipFill>
        <p:spPr>
          <a:xfrm>
            <a:off x="6392338" y="200025"/>
            <a:ext cx="5600700" cy="6457950"/>
          </a:xfrm>
          <a:prstGeom prst="rect">
            <a:avLst/>
          </a:prstGeom>
        </p:spPr>
      </p:pic>
      <p:pic>
        <p:nvPicPr>
          <p:cNvPr id="4" name="Picture 3">
            <a:extLst>
              <a:ext uri="{FF2B5EF4-FFF2-40B4-BE49-F238E27FC236}">
                <a16:creationId xmlns:a16="http://schemas.microsoft.com/office/drawing/2014/main" id="{F1E9AC87-888E-F773-F6D2-C0BB0EDE55D4}"/>
              </a:ext>
            </a:extLst>
          </p:cNvPr>
          <p:cNvPicPr>
            <a:picLocks noChangeAspect="1"/>
          </p:cNvPicPr>
          <p:nvPr/>
        </p:nvPicPr>
        <p:blipFill>
          <a:blip r:embed="rId3"/>
          <a:stretch>
            <a:fillRect/>
          </a:stretch>
        </p:blipFill>
        <p:spPr>
          <a:xfrm>
            <a:off x="198962" y="672913"/>
            <a:ext cx="5739639" cy="4777861"/>
          </a:xfrm>
          <a:prstGeom prst="rect">
            <a:avLst/>
          </a:prstGeom>
        </p:spPr>
      </p:pic>
    </p:spTree>
    <p:extLst>
      <p:ext uri="{BB962C8B-B14F-4D97-AF65-F5344CB8AC3E}">
        <p14:creationId xmlns:p14="http://schemas.microsoft.com/office/powerpoint/2010/main" val="317110258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32FA99A-F5CF-4CF1-4E38-4C2B83D0AC5F}"/>
              </a:ext>
            </a:extLst>
          </p:cNvPr>
          <p:cNvPicPr>
            <a:picLocks noChangeAspect="1"/>
          </p:cNvPicPr>
          <p:nvPr/>
        </p:nvPicPr>
        <p:blipFill>
          <a:blip r:embed="rId2"/>
          <a:stretch>
            <a:fillRect/>
          </a:stretch>
        </p:blipFill>
        <p:spPr>
          <a:xfrm>
            <a:off x="3429000" y="1162050"/>
            <a:ext cx="5334000" cy="4533900"/>
          </a:xfrm>
          <a:prstGeom prst="rect">
            <a:avLst/>
          </a:prstGeom>
        </p:spPr>
      </p:pic>
    </p:spTree>
    <p:extLst>
      <p:ext uri="{BB962C8B-B14F-4D97-AF65-F5344CB8AC3E}">
        <p14:creationId xmlns:p14="http://schemas.microsoft.com/office/powerpoint/2010/main" val="363030763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1B3FE85-EEE0-3EA7-7292-AFF95A8FC22B}"/>
              </a:ext>
            </a:extLst>
          </p:cNvPr>
          <p:cNvPicPr>
            <a:picLocks noChangeAspect="1"/>
          </p:cNvPicPr>
          <p:nvPr/>
        </p:nvPicPr>
        <p:blipFill>
          <a:blip r:embed="rId2"/>
          <a:stretch>
            <a:fillRect/>
          </a:stretch>
        </p:blipFill>
        <p:spPr>
          <a:xfrm>
            <a:off x="3429000" y="1423987"/>
            <a:ext cx="5334000" cy="4010025"/>
          </a:xfrm>
          <a:prstGeom prst="rect">
            <a:avLst/>
          </a:prstGeom>
        </p:spPr>
      </p:pic>
    </p:spTree>
    <p:extLst>
      <p:ext uri="{BB962C8B-B14F-4D97-AF65-F5344CB8AC3E}">
        <p14:creationId xmlns:p14="http://schemas.microsoft.com/office/powerpoint/2010/main" val="7206684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C2A1781-00A2-28A5-4FF6-870AFDD42841}"/>
              </a:ext>
            </a:extLst>
          </p:cNvPr>
          <p:cNvPicPr>
            <a:picLocks noChangeAspect="1"/>
          </p:cNvPicPr>
          <p:nvPr/>
        </p:nvPicPr>
        <p:blipFill>
          <a:blip r:embed="rId2"/>
          <a:stretch>
            <a:fillRect/>
          </a:stretch>
        </p:blipFill>
        <p:spPr>
          <a:xfrm>
            <a:off x="2449516" y="0"/>
            <a:ext cx="8523284" cy="6858000"/>
          </a:xfrm>
          <a:prstGeom prst="rect">
            <a:avLst/>
          </a:prstGeom>
        </p:spPr>
      </p:pic>
      <p:sp>
        <p:nvSpPr>
          <p:cNvPr id="3" name="TextBox 2">
            <a:extLst>
              <a:ext uri="{FF2B5EF4-FFF2-40B4-BE49-F238E27FC236}">
                <a16:creationId xmlns:a16="http://schemas.microsoft.com/office/drawing/2014/main" id="{B2A9368A-87D5-9438-4A12-D22EA37171D5}"/>
              </a:ext>
            </a:extLst>
          </p:cNvPr>
          <p:cNvSpPr txBox="1"/>
          <p:nvPr/>
        </p:nvSpPr>
        <p:spPr>
          <a:xfrm>
            <a:off x="312821" y="613611"/>
            <a:ext cx="2108269" cy="646331"/>
          </a:xfrm>
          <a:prstGeom prst="rect">
            <a:avLst/>
          </a:prstGeom>
          <a:noFill/>
        </p:spPr>
        <p:txBody>
          <a:bodyPr wrap="none" rtlCol="0">
            <a:spAutoFit/>
          </a:bodyPr>
          <a:lstStyle/>
          <a:p>
            <a:r>
              <a:rPr lang="en-CH" dirty="0"/>
              <a:t>Cueing mechanisms,</a:t>
            </a:r>
          </a:p>
          <a:p>
            <a:r>
              <a:rPr lang="en-CH" dirty="0"/>
              <a:t>individually</a:t>
            </a:r>
          </a:p>
        </p:txBody>
      </p:sp>
    </p:spTree>
    <p:extLst>
      <p:ext uri="{BB962C8B-B14F-4D97-AF65-F5344CB8AC3E}">
        <p14:creationId xmlns:p14="http://schemas.microsoft.com/office/powerpoint/2010/main" val="78589335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FFA39F2-7327-DE17-C2ED-32E1874C8A30}"/>
              </a:ext>
            </a:extLst>
          </p:cNvPr>
          <p:cNvPicPr>
            <a:picLocks noChangeAspect="1"/>
          </p:cNvPicPr>
          <p:nvPr/>
        </p:nvPicPr>
        <p:blipFill>
          <a:blip r:embed="rId2"/>
          <a:stretch>
            <a:fillRect/>
          </a:stretch>
        </p:blipFill>
        <p:spPr>
          <a:xfrm>
            <a:off x="2523044" y="0"/>
            <a:ext cx="9668956" cy="6858000"/>
          </a:xfrm>
          <a:prstGeom prst="rect">
            <a:avLst/>
          </a:prstGeom>
        </p:spPr>
      </p:pic>
      <p:sp>
        <p:nvSpPr>
          <p:cNvPr id="3" name="TextBox 2">
            <a:extLst>
              <a:ext uri="{FF2B5EF4-FFF2-40B4-BE49-F238E27FC236}">
                <a16:creationId xmlns:a16="http://schemas.microsoft.com/office/drawing/2014/main" id="{5781A77A-D29B-4C2C-635F-5593E0ECC5F1}"/>
              </a:ext>
            </a:extLst>
          </p:cNvPr>
          <p:cNvSpPr txBox="1"/>
          <p:nvPr/>
        </p:nvSpPr>
        <p:spPr>
          <a:xfrm>
            <a:off x="348916" y="757989"/>
            <a:ext cx="2695073" cy="3416320"/>
          </a:xfrm>
          <a:prstGeom prst="rect">
            <a:avLst/>
          </a:prstGeom>
          <a:noFill/>
        </p:spPr>
        <p:txBody>
          <a:bodyPr wrap="square" rtlCol="0">
            <a:spAutoFit/>
          </a:bodyPr>
          <a:lstStyle/>
          <a:p>
            <a:r>
              <a:rPr lang="en-CH" dirty="0"/>
              <a:t>Setting wheel=0 (instead of only </a:t>
            </a:r>
            <a:r>
              <a:rPr lang="en-CH" dirty="0" err="1"/>
              <a:t>testdisplay</a:t>
            </a:r>
            <a:r>
              <a:rPr lang="en-CH" dirty="0"/>
              <a:t> = 0) in the conditions without visual interference reduces the retro-cue benefit without any mechanism</a:t>
            </a:r>
          </a:p>
          <a:p>
            <a:r>
              <a:rPr lang="en-CH" dirty="0">
                <a:sym typeface="Wingdings" panose="05000000000000000000" pitchFamily="2" charset="2"/>
              </a:rPr>
              <a:t> the condition “without any” still had the headstart before an update of FX (due to wheel=1), which is now removed. </a:t>
            </a:r>
            <a:endParaRPr lang="en-CH" dirty="0"/>
          </a:p>
        </p:txBody>
      </p:sp>
    </p:spTree>
    <p:extLst>
      <p:ext uri="{BB962C8B-B14F-4D97-AF65-F5344CB8AC3E}">
        <p14:creationId xmlns:p14="http://schemas.microsoft.com/office/powerpoint/2010/main" val="269751762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CF12984-B230-EE6B-29C1-478CD9C423B7}"/>
              </a:ext>
            </a:extLst>
          </p:cNvPr>
          <p:cNvSpPr txBox="1"/>
          <p:nvPr/>
        </p:nvSpPr>
        <p:spPr>
          <a:xfrm>
            <a:off x="276726" y="842211"/>
            <a:ext cx="2798488" cy="5909310"/>
          </a:xfrm>
          <a:prstGeom prst="rect">
            <a:avLst/>
          </a:prstGeom>
          <a:noFill/>
        </p:spPr>
        <p:txBody>
          <a:bodyPr wrap="square" rtlCol="0">
            <a:spAutoFit/>
          </a:bodyPr>
          <a:lstStyle/>
          <a:p>
            <a:r>
              <a:rPr lang="en-CH" dirty="0"/>
              <a:t>decreasing </a:t>
            </a:r>
            <a:r>
              <a:rPr lang="en-CH" dirty="0" err="1"/>
              <a:t>cSim</a:t>
            </a:r>
            <a:r>
              <a:rPr lang="en-CH" dirty="0"/>
              <a:t> to 4 – what is going on?!</a:t>
            </a:r>
          </a:p>
          <a:p>
            <a:endParaRPr lang="en-CH" dirty="0"/>
          </a:p>
          <a:p>
            <a:r>
              <a:rPr lang="en-CH" dirty="0"/>
              <a:t>Apparently, with slower consolidation more items end up not consolidated during the RI, and hence, not removed from FX through “inhibition of return”. Hence, they can be read out of FX at retrieval. However, in the valid cueing condition, FX decays during the CTI, so that possibility is lost. (this happens also in the invalid-cue condition, though ...). In any case, including read-out from FX during the CTI reverses the picture</a:t>
            </a:r>
          </a:p>
          <a:p>
            <a:endParaRPr lang="en-CH" dirty="0"/>
          </a:p>
        </p:txBody>
      </p:sp>
      <p:pic>
        <p:nvPicPr>
          <p:cNvPr id="3" name="Picture 2">
            <a:extLst>
              <a:ext uri="{FF2B5EF4-FFF2-40B4-BE49-F238E27FC236}">
                <a16:creationId xmlns:a16="http://schemas.microsoft.com/office/drawing/2014/main" id="{73F9EA15-D9DB-ED12-CEEB-7537AB38EE7C}"/>
              </a:ext>
            </a:extLst>
          </p:cNvPr>
          <p:cNvPicPr>
            <a:picLocks noChangeAspect="1"/>
          </p:cNvPicPr>
          <p:nvPr/>
        </p:nvPicPr>
        <p:blipFill>
          <a:blip r:embed="rId2"/>
          <a:stretch>
            <a:fillRect/>
          </a:stretch>
        </p:blipFill>
        <p:spPr>
          <a:xfrm>
            <a:off x="2794891" y="0"/>
            <a:ext cx="8551333" cy="6858000"/>
          </a:xfrm>
          <a:prstGeom prst="rect">
            <a:avLst/>
          </a:prstGeom>
        </p:spPr>
      </p:pic>
    </p:spTree>
    <p:extLst>
      <p:ext uri="{BB962C8B-B14F-4D97-AF65-F5344CB8AC3E}">
        <p14:creationId xmlns:p14="http://schemas.microsoft.com/office/powerpoint/2010/main" val="34740374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F79F1CE-3C4D-AB6B-7BD1-4CC2299D67CA}"/>
              </a:ext>
            </a:extLst>
          </p:cNvPr>
          <p:cNvSpPr txBox="1"/>
          <p:nvPr/>
        </p:nvSpPr>
        <p:spPr>
          <a:xfrm>
            <a:off x="601579" y="721895"/>
            <a:ext cx="2701089" cy="3970318"/>
          </a:xfrm>
          <a:prstGeom prst="rect">
            <a:avLst/>
          </a:prstGeom>
          <a:noFill/>
        </p:spPr>
        <p:txBody>
          <a:bodyPr wrap="square" rtlCol="0">
            <a:spAutoFit/>
          </a:bodyPr>
          <a:lstStyle/>
          <a:p>
            <a:r>
              <a:rPr lang="en-CH" dirty="0"/>
              <a:t>Eliminating consolidation as a mechanism, and instead including read-out from FX in the “head start” retrieval during the CTI. (“Without Any” is now CTI = 0.001)</a:t>
            </a:r>
          </a:p>
          <a:p>
            <a:endParaRPr lang="en-CH" dirty="0"/>
          </a:p>
          <a:p>
            <a:r>
              <a:rPr lang="en-CH" dirty="0"/>
              <a:t>This is now with </a:t>
            </a:r>
            <a:r>
              <a:rPr lang="en-CH" dirty="0" err="1"/>
              <a:t>cRate</a:t>
            </a:r>
            <a:r>
              <a:rPr lang="en-CH" dirty="0"/>
              <a:t> = 10 and </a:t>
            </a:r>
            <a:r>
              <a:rPr lang="en-CH" dirty="0" err="1"/>
              <a:t>cStrength</a:t>
            </a:r>
            <a:r>
              <a:rPr lang="en-CH" dirty="0"/>
              <a:t> = 0.9, therefore also slow consolidation (comparable to </a:t>
            </a:r>
            <a:r>
              <a:rPr lang="en-CH" dirty="0" err="1"/>
              <a:t>cRate</a:t>
            </a:r>
            <a:r>
              <a:rPr lang="en-CH" dirty="0"/>
              <a:t> = 4 and </a:t>
            </a:r>
            <a:r>
              <a:rPr lang="en-CH" dirty="0" err="1"/>
              <a:t>cStrength</a:t>
            </a:r>
            <a:r>
              <a:rPr lang="en-CH" dirty="0"/>
              <a:t> = 0.7)</a:t>
            </a:r>
          </a:p>
        </p:txBody>
      </p:sp>
      <p:pic>
        <p:nvPicPr>
          <p:cNvPr id="3" name="Picture 2">
            <a:extLst>
              <a:ext uri="{FF2B5EF4-FFF2-40B4-BE49-F238E27FC236}">
                <a16:creationId xmlns:a16="http://schemas.microsoft.com/office/drawing/2014/main" id="{907963B1-506F-8DB2-0B5B-AB149FA205B2}"/>
              </a:ext>
            </a:extLst>
          </p:cNvPr>
          <p:cNvPicPr>
            <a:picLocks noChangeAspect="1"/>
          </p:cNvPicPr>
          <p:nvPr/>
        </p:nvPicPr>
        <p:blipFill>
          <a:blip r:embed="rId2"/>
          <a:stretch>
            <a:fillRect/>
          </a:stretch>
        </p:blipFill>
        <p:spPr>
          <a:xfrm>
            <a:off x="3690906" y="174458"/>
            <a:ext cx="7661672" cy="6858000"/>
          </a:xfrm>
          <a:prstGeom prst="rect">
            <a:avLst/>
          </a:prstGeom>
        </p:spPr>
      </p:pic>
    </p:spTree>
    <p:extLst>
      <p:ext uri="{BB962C8B-B14F-4D97-AF65-F5344CB8AC3E}">
        <p14:creationId xmlns:p14="http://schemas.microsoft.com/office/powerpoint/2010/main" val="174498216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6DF7E60-7FF6-E07C-3E7E-5673C73C0B7B}"/>
              </a:ext>
            </a:extLst>
          </p:cNvPr>
          <p:cNvSpPr txBox="1"/>
          <p:nvPr/>
        </p:nvSpPr>
        <p:spPr>
          <a:xfrm>
            <a:off x="601579" y="721895"/>
            <a:ext cx="2701089" cy="3139321"/>
          </a:xfrm>
          <a:prstGeom prst="rect">
            <a:avLst/>
          </a:prstGeom>
          <a:noFill/>
        </p:spPr>
        <p:txBody>
          <a:bodyPr wrap="square" rtlCol="0">
            <a:spAutoFit/>
          </a:bodyPr>
          <a:lstStyle/>
          <a:p>
            <a:r>
              <a:rPr lang="en-CH" dirty="0"/>
              <a:t>As before, but increasing boundary(1) to 40 (and </a:t>
            </a:r>
            <a:r>
              <a:rPr lang="en-CH" dirty="0" err="1"/>
              <a:t>dnoise</a:t>
            </a:r>
            <a:r>
              <a:rPr lang="en-CH" dirty="0"/>
              <a:t> to 1.5) so that the head-start for retrieval does not result in much longer evidence accumulation</a:t>
            </a:r>
          </a:p>
          <a:p>
            <a:endParaRPr lang="en-CH" dirty="0"/>
          </a:p>
          <a:p>
            <a:r>
              <a:rPr lang="en-CH" dirty="0"/>
              <a:t>Bringing back consolidation (to </a:t>
            </a:r>
            <a:r>
              <a:rPr lang="en-CH"/>
              <a:t>little avail)</a:t>
            </a:r>
            <a:endParaRPr lang="en-CH" dirty="0"/>
          </a:p>
        </p:txBody>
      </p:sp>
      <p:pic>
        <p:nvPicPr>
          <p:cNvPr id="4" name="Picture 3">
            <a:extLst>
              <a:ext uri="{FF2B5EF4-FFF2-40B4-BE49-F238E27FC236}">
                <a16:creationId xmlns:a16="http://schemas.microsoft.com/office/drawing/2014/main" id="{E986D6B1-23A5-A750-CB60-4DCDC71CBFE5}"/>
              </a:ext>
            </a:extLst>
          </p:cNvPr>
          <p:cNvPicPr>
            <a:picLocks noChangeAspect="1"/>
          </p:cNvPicPr>
          <p:nvPr/>
        </p:nvPicPr>
        <p:blipFill>
          <a:blip r:embed="rId2"/>
          <a:stretch>
            <a:fillRect/>
          </a:stretch>
        </p:blipFill>
        <p:spPr>
          <a:xfrm>
            <a:off x="3538855" y="163286"/>
            <a:ext cx="6812462" cy="6858000"/>
          </a:xfrm>
          <a:prstGeom prst="rect">
            <a:avLst/>
          </a:prstGeom>
        </p:spPr>
      </p:pic>
    </p:spTree>
    <p:extLst>
      <p:ext uri="{BB962C8B-B14F-4D97-AF65-F5344CB8AC3E}">
        <p14:creationId xmlns:p14="http://schemas.microsoft.com/office/powerpoint/2010/main" val="107776775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2FDC157-C3D5-F098-1663-FA095AC1E199}"/>
              </a:ext>
            </a:extLst>
          </p:cNvPr>
          <p:cNvPicPr>
            <a:picLocks noChangeAspect="1"/>
          </p:cNvPicPr>
          <p:nvPr/>
        </p:nvPicPr>
        <p:blipFill>
          <a:blip r:embed="rId2"/>
          <a:stretch>
            <a:fillRect/>
          </a:stretch>
        </p:blipFill>
        <p:spPr>
          <a:xfrm>
            <a:off x="2727158" y="0"/>
            <a:ext cx="6737684" cy="6858000"/>
          </a:xfrm>
          <a:prstGeom prst="rect">
            <a:avLst/>
          </a:prstGeom>
        </p:spPr>
      </p:pic>
    </p:spTree>
    <p:extLst>
      <p:ext uri="{BB962C8B-B14F-4D97-AF65-F5344CB8AC3E}">
        <p14:creationId xmlns:p14="http://schemas.microsoft.com/office/powerpoint/2010/main" val="222216783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18C59F2-448B-0A41-8848-26A2598E072F}"/>
              </a:ext>
            </a:extLst>
          </p:cNvPr>
          <p:cNvPicPr>
            <a:picLocks noChangeAspect="1"/>
          </p:cNvPicPr>
          <p:nvPr/>
        </p:nvPicPr>
        <p:blipFill>
          <a:blip r:embed="rId2"/>
          <a:stretch>
            <a:fillRect/>
          </a:stretch>
        </p:blipFill>
        <p:spPr>
          <a:xfrm>
            <a:off x="3889959" y="0"/>
            <a:ext cx="8506617" cy="6858000"/>
          </a:xfrm>
          <a:prstGeom prst="rect">
            <a:avLst/>
          </a:prstGeom>
        </p:spPr>
      </p:pic>
      <p:sp>
        <p:nvSpPr>
          <p:cNvPr id="3" name="TextBox 2">
            <a:extLst>
              <a:ext uri="{FF2B5EF4-FFF2-40B4-BE49-F238E27FC236}">
                <a16:creationId xmlns:a16="http://schemas.microsoft.com/office/drawing/2014/main" id="{DEC6760E-F161-9C95-3BB0-401479470FD0}"/>
              </a:ext>
            </a:extLst>
          </p:cNvPr>
          <p:cNvSpPr txBox="1"/>
          <p:nvPr/>
        </p:nvSpPr>
        <p:spPr>
          <a:xfrm>
            <a:off x="402772" y="473528"/>
            <a:ext cx="2367643" cy="1200329"/>
          </a:xfrm>
          <a:prstGeom prst="rect">
            <a:avLst/>
          </a:prstGeom>
          <a:noFill/>
        </p:spPr>
        <p:txBody>
          <a:bodyPr wrap="square" rtlCol="0">
            <a:spAutoFit/>
          </a:bodyPr>
          <a:lstStyle/>
          <a:p>
            <a:r>
              <a:rPr lang="en-CH" dirty="0"/>
              <a:t>After re-introducing strengthening, and with </a:t>
            </a:r>
            <a:r>
              <a:rPr lang="en-CH" dirty="0" err="1"/>
              <a:t>dnoise</a:t>
            </a:r>
            <a:r>
              <a:rPr lang="en-CH" dirty="0"/>
              <a:t> = 2.5 and boundary = 70</a:t>
            </a:r>
          </a:p>
        </p:txBody>
      </p:sp>
    </p:spTree>
    <p:extLst>
      <p:ext uri="{BB962C8B-B14F-4D97-AF65-F5344CB8AC3E}">
        <p14:creationId xmlns:p14="http://schemas.microsoft.com/office/powerpoint/2010/main" val="45306159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7078187-4514-BB09-E283-FD38A30D5EDA}"/>
              </a:ext>
            </a:extLst>
          </p:cNvPr>
          <p:cNvPicPr>
            <a:picLocks noChangeAspect="1"/>
          </p:cNvPicPr>
          <p:nvPr/>
        </p:nvPicPr>
        <p:blipFill>
          <a:blip r:embed="rId2"/>
          <a:stretch>
            <a:fillRect/>
          </a:stretch>
        </p:blipFill>
        <p:spPr>
          <a:xfrm>
            <a:off x="4093028" y="413656"/>
            <a:ext cx="7627257" cy="5720443"/>
          </a:xfrm>
          <a:prstGeom prst="rect">
            <a:avLst/>
          </a:prstGeom>
        </p:spPr>
      </p:pic>
      <p:sp>
        <p:nvSpPr>
          <p:cNvPr id="6" name="TextBox 5">
            <a:extLst>
              <a:ext uri="{FF2B5EF4-FFF2-40B4-BE49-F238E27FC236}">
                <a16:creationId xmlns:a16="http://schemas.microsoft.com/office/drawing/2014/main" id="{27E6CA1B-A3B4-4B6F-E165-5585360FFA16}"/>
              </a:ext>
            </a:extLst>
          </p:cNvPr>
          <p:cNvSpPr txBox="1"/>
          <p:nvPr/>
        </p:nvSpPr>
        <p:spPr>
          <a:xfrm>
            <a:off x="680358" y="1072243"/>
            <a:ext cx="3096986" cy="923330"/>
          </a:xfrm>
          <a:prstGeom prst="rect">
            <a:avLst/>
          </a:prstGeom>
          <a:noFill/>
        </p:spPr>
        <p:txBody>
          <a:bodyPr wrap="square" rtlCol="0">
            <a:spAutoFit/>
          </a:bodyPr>
          <a:lstStyle/>
          <a:p>
            <a:r>
              <a:rPr lang="en-CH" dirty="0"/>
              <a:t>Hautekiet &amp; Oberauer (2026): Why no decay in the no-cue condition?</a:t>
            </a:r>
          </a:p>
        </p:txBody>
      </p:sp>
    </p:spTree>
    <p:extLst>
      <p:ext uri="{BB962C8B-B14F-4D97-AF65-F5344CB8AC3E}">
        <p14:creationId xmlns:p14="http://schemas.microsoft.com/office/powerpoint/2010/main" val="365964857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40A3BB-0E3E-9D2E-00E0-E65450D347D0}"/>
              </a:ext>
            </a:extLst>
          </p:cNvPr>
          <p:cNvSpPr txBox="1"/>
          <p:nvPr/>
        </p:nvSpPr>
        <p:spPr>
          <a:xfrm>
            <a:off x="680358" y="1072243"/>
            <a:ext cx="2258785" cy="1477328"/>
          </a:xfrm>
          <a:prstGeom prst="rect">
            <a:avLst/>
          </a:prstGeom>
          <a:noFill/>
        </p:spPr>
        <p:txBody>
          <a:bodyPr wrap="square" rtlCol="0">
            <a:spAutoFit/>
          </a:bodyPr>
          <a:lstStyle/>
          <a:p>
            <a:r>
              <a:rPr lang="en-CH" dirty="0"/>
              <a:t>With </a:t>
            </a:r>
            <a:r>
              <a:rPr lang="en-CH" dirty="0" err="1"/>
              <a:t>p.wnoise</a:t>
            </a:r>
            <a:r>
              <a:rPr lang="en-CH" dirty="0"/>
              <a:t> = 0.015 there is no discernible decay, probably because of the increased </a:t>
            </a:r>
            <a:r>
              <a:rPr lang="en-CH" dirty="0" err="1"/>
              <a:t>dnoise</a:t>
            </a:r>
            <a:endParaRPr lang="en-CH" dirty="0"/>
          </a:p>
        </p:txBody>
      </p:sp>
      <p:pic>
        <p:nvPicPr>
          <p:cNvPr id="3" name="Picture 2">
            <a:extLst>
              <a:ext uri="{FF2B5EF4-FFF2-40B4-BE49-F238E27FC236}">
                <a16:creationId xmlns:a16="http://schemas.microsoft.com/office/drawing/2014/main" id="{14C53652-0169-C81E-655B-139F34EA2709}"/>
              </a:ext>
            </a:extLst>
          </p:cNvPr>
          <p:cNvPicPr>
            <a:picLocks noChangeAspect="1"/>
          </p:cNvPicPr>
          <p:nvPr/>
        </p:nvPicPr>
        <p:blipFill>
          <a:blip r:embed="rId2"/>
          <a:stretch>
            <a:fillRect/>
          </a:stretch>
        </p:blipFill>
        <p:spPr>
          <a:xfrm>
            <a:off x="3105860" y="76200"/>
            <a:ext cx="6121793" cy="6858000"/>
          </a:xfrm>
          <a:prstGeom prst="rect">
            <a:avLst/>
          </a:prstGeom>
        </p:spPr>
      </p:pic>
    </p:spTree>
    <p:extLst>
      <p:ext uri="{BB962C8B-B14F-4D97-AF65-F5344CB8AC3E}">
        <p14:creationId xmlns:p14="http://schemas.microsoft.com/office/powerpoint/2010/main" val="181876588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6A6EAAB-FD36-6C94-F09D-69C7AAE8A7EF}"/>
              </a:ext>
            </a:extLst>
          </p:cNvPr>
          <p:cNvPicPr>
            <a:picLocks noChangeAspect="1"/>
          </p:cNvPicPr>
          <p:nvPr/>
        </p:nvPicPr>
        <p:blipFill>
          <a:blip r:embed="rId2"/>
          <a:stretch>
            <a:fillRect/>
          </a:stretch>
        </p:blipFill>
        <p:spPr>
          <a:xfrm>
            <a:off x="987879" y="54428"/>
            <a:ext cx="5538107" cy="6858000"/>
          </a:xfrm>
          <a:prstGeom prst="rect">
            <a:avLst/>
          </a:prstGeom>
        </p:spPr>
      </p:pic>
      <p:sp>
        <p:nvSpPr>
          <p:cNvPr id="3" name="TextBox 2">
            <a:extLst>
              <a:ext uri="{FF2B5EF4-FFF2-40B4-BE49-F238E27FC236}">
                <a16:creationId xmlns:a16="http://schemas.microsoft.com/office/drawing/2014/main" id="{36B2EEFF-8059-C43D-9037-39926F979B62}"/>
              </a:ext>
            </a:extLst>
          </p:cNvPr>
          <p:cNvSpPr txBox="1"/>
          <p:nvPr/>
        </p:nvSpPr>
        <p:spPr>
          <a:xfrm>
            <a:off x="261258" y="283029"/>
            <a:ext cx="1219199" cy="923330"/>
          </a:xfrm>
          <a:prstGeom prst="rect">
            <a:avLst/>
          </a:prstGeom>
          <a:noFill/>
        </p:spPr>
        <p:txBody>
          <a:bodyPr wrap="square" rtlCol="0">
            <a:spAutoFit/>
          </a:bodyPr>
          <a:lstStyle/>
          <a:p>
            <a:r>
              <a:rPr lang="en-CH" dirty="0"/>
              <a:t>With </a:t>
            </a:r>
            <a:r>
              <a:rPr lang="en-CH" dirty="0" err="1"/>
              <a:t>p.wnoise</a:t>
            </a:r>
            <a:r>
              <a:rPr lang="en-CH" dirty="0"/>
              <a:t> = 0.03</a:t>
            </a:r>
          </a:p>
        </p:txBody>
      </p:sp>
      <p:pic>
        <p:nvPicPr>
          <p:cNvPr id="4" name="Picture 3">
            <a:extLst>
              <a:ext uri="{FF2B5EF4-FFF2-40B4-BE49-F238E27FC236}">
                <a16:creationId xmlns:a16="http://schemas.microsoft.com/office/drawing/2014/main" id="{D5717519-7E19-5082-0A0B-E9D11AC06009}"/>
              </a:ext>
            </a:extLst>
          </p:cNvPr>
          <p:cNvPicPr>
            <a:picLocks noChangeAspect="1"/>
          </p:cNvPicPr>
          <p:nvPr/>
        </p:nvPicPr>
        <p:blipFill>
          <a:blip r:embed="rId3"/>
          <a:stretch>
            <a:fillRect/>
          </a:stretch>
        </p:blipFill>
        <p:spPr>
          <a:xfrm>
            <a:off x="6530163" y="-141514"/>
            <a:ext cx="5661837" cy="6858000"/>
          </a:xfrm>
          <a:prstGeom prst="rect">
            <a:avLst/>
          </a:prstGeom>
        </p:spPr>
      </p:pic>
    </p:spTree>
    <p:extLst>
      <p:ext uri="{BB962C8B-B14F-4D97-AF65-F5344CB8AC3E}">
        <p14:creationId xmlns:p14="http://schemas.microsoft.com/office/powerpoint/2010/main" val="161965592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DC85C32-6EE5-A4CC-2AAB-856670477036}"/>
              </a:ext>
            </a:extLst>
          </p:cNvPr>
          <p:cNvPicPr>
            <a:picLocks noChangeAspect="1"/>
          </p:cNvPicPr>
          <p:nvPr/>
        </p:nvPicPr>
        <p:blipFill>
          <a:blip r:embed="rId2"/>
          <a:stretch>
            <a:fillRect/>
          </a:stretch>
        </p:blipFill>
        <p:spPr>
          <a:xfrm>
            <a:off x="1870251" y="0"/>
            <a:ext cx="8451498" cy="6858000"/>
          </a:xfrm>
          <a:prstGeom prst="rect">
            <a:avLst/>
          </a:prstGeom>
        </p:spPr>
      </p:pic>
    </p:spTree>
    <p:extLst>
      <p:ext uri="{BB962C8B-B14F-4D97-AF65-F5344CB8AC3E}">
        <p14:creationId xmlns:p14="http://schemas.microsoft.com/office/powerpoint/2010/main" val="2656028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F1C9368-851E-21AF-26F2-9AF99A92E0EB}"/>
              </a:ext>
            </a:extLst>
          </p:cNvPr>
          <p:cNvPicPr>
            <a:picLocks noChangeAspect="1"/>
          </p:cNvPicPr>
          <p:nvPr/>
        </p:nvPicPr>
        <p:blipFill>
          <a:blip r:embed="rId2"/>
          <a:stretch>
            <a:fillRect/>
          </a:stretch>
        </p:blipFill>
        <p:spPr>
          <a:xfrm>
            <a:off x="4159777" y="0"/>
            <a:ext cx="7421189" cy="6858000"/>
          </a:xfrm>
          <a:prstGeom prst="rect">
            <a:avLst/>
          </a:prstGeom>
        </p:spPr>
      </p:pic>
      <p:sp>
        <p:nvSpPr>
          <p:cNvPr id="3" name="TextBox 2">
            <a:extLst>
              <a:ext uri="{FF2B5EF4-FFF2-40B4-BE49-F238E27FC236}">
                <a16:creationId xmlns:a16="http://schemas.microsoft.com/office/drawing/2014/main" id="{6CD58868-7141-AAF9-D03B-ABF50EA8506D}"/>
              </a:ext>
            </a:extLst>
          </p:cNvPr>
          <p:cNvSpPr txBox="1"/>
          <p:nvPr/>
        </p:nvSpPr>
        <p:spPr>
          <a:xfrm>
            <a:off x="611034" y="1006929"/>
            <a:ext cx="3708964" cy="369332"/>
          </a:xfrm>
          <a:prstGeom prst="rect">
            <a:avLst/>
          </a:prstGeom>
          <a:noFill/>
        </p:spPr>
        <p:txBody>
          <a:bodyPr wrap="none" rtlCol="0">
            <a:spAutoFit/>
          </a:bodyPr>
          <a:lstStyle/>
          <a:p>
            <a:r>
              <a:rPr lang="en-CH" dirty="0"/>
              <a:t>Reloading: Why no retro-cue benefit?</a:t>
            </a:r>
          </a:p>
        </p:txBody>
      </p:sp>
    </p:spTree>
    <p:extLst>
      <p:ext uri="{BB962C8B-B14F-4D97-AF65-F5344CB8AC3E}">
        <p14:creationId xmlns:p14="http://schemas.microsoft.com/office/powerpoint/2010/main" val="109629970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ABDB9B4-DA69-2EA2-719C-FBC4C6920173}"/>
              </a:ext>
            </a:extLst>
          </p:cNvPr>
          <p:cNvPicPr>
            <a:picLocks noChangeAspect="1"/>
          </p:cNvPicPr>
          <p:nvPr/>
        </p:nvPicPr>
        <p:blipFill>
          <a:blip r:embed="rId2"/>
          <a:stretch>
            <a:fillRect/>
          </a:stretch>
        </p:blipFill>
        <p:spPr>
          <a:xfrm>
            <a:off x="1499516" y="0"/>
            <a:ext cx="9192967" cy="6858000"/>
          </a:xfrm>
          <a:prstGeom prst="rect">
            <a:avLst/>
          </a:prstGeom>
        </p:spPr>
      </p:pic>
    </p:spTree>
    <p:extLst>
      <p:ext uri="{BB962C8B-B14F-4D97-AF65-F5344CB8AC3E}">
        <p14:creationId xmlns:p14="http://schemas.microsoft.com/office/powerpoint/2010/main" val="275370195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443C4B8-AE4E-40D9-1332-91DB6D1E6F94}"/>
              </a:ext>
            </a:extLst>
          </p:cNvPr>
          <p:cNvPicPr>
            <a:picLocks noChangeAspect="1"/>
          </p:cNvPicPr>
          <p:nvPr/>
        </p:nvPicPr>
        <p:blipFill>
          <a:blip r:embed="rId2"/>
          <a:stretch>
            <a:fillRect/>
          </a:stretch>
        </p:blipFill>
        <p:spPr>
          <a:xfrm>
            <a:off x="1773155" y="0"/>
            <a:ext cx="8645689" cy="6858000"/>
          </a:xfrm>
          <a:prstGeom prst="rect">
            <a:avLst/>
          </a:prstGeom>
        </p:spPr>
      </p:pic>
    </p:spTree>
    <p:extLst>
      <p:ext uri="{BB962C8B-B14F-4D97-AF65-F5344CB8AC3E}">
        <p14:creationId xmlns:p14="http://schemas.microsoft.com/office/powerpoint/2010/main" val="131885105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E3DF06E-CD9A-81DD-3E50-6515AA198711}"/>
              </a:ext>
            </a:extLst>
          </p:cNvPr>
          <p:cNvPicPr>
            <a:picLocks noChangeAspect="1"/>
          </p:cNvPicPr>
          <p:nvPr/>
        </p:nvPicPr>
        <p:blipFill>
          <a:blip r:embed="rId2"/>
          <a:stretch>
            <a:fillRect/>
          </a:stretch>
        </p:blipFill>
        <p:spPr>
          <a:xfrm>
            <a:off x="654503" y="0"/>
            <a:ext cx="10882993" cy="6858000"/>
          </a:xfrm>
          <a:prstGeom prst="rect">
            <a:avLst/>
          </a:prstGeom>
        </p:spPr>
      </p:pic>
    </p:spTree>
    <p:extLst>
      <p:ext uri="{BB962C8B-B14F-4D97-AF65-F5344CB8AC3E}">
        <p14:creationId xmlns:p14="http://schemas.microsoft.com/office/powerpoint/2010/main" val="163322378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8C755AF-9F91-3EFF-54F6-2BB2E3B4D0C1}"/>
              </a:ext>
            </a:extLst>
          </p:cNvPr>
          <p:cNvPicPr>
            <a:picLocks noChangeAspect="1"/>
          </p:cNvPicPr>
          <p:nvPr/>
        </p:nvPicPr>
        <p:blipFill>
          <a:blip r:embed="rId2"/>
          <a:stretch>
            <a:fillRect/>
          </a:stretch>
        </p:blipFill>
        <p:spPr>
          <a:xfrm>
            <a:off x="1439380" y="0"/>
            <a:ext cx="9313240" cy="6858000"/>
          </a:xfrm>
          <a:prstGeom prst="rect">
            <a:avLst/>
          </a:prstGeom>
        </p:spPr>
      </p:pic>
    </p:spTree>
    <p:extLst>
      <p:ext uri="{BB962C8B-B14F-4D97-AF65-F5344CB8AC3E}">
        <p14:creationId xmlns:p14="http://schemas.microsoft.com/office/powerpoint/2010/main" val="290313898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CE0804-C04F-57D2-06F2-4B6F646EA9F4}"/>
              </a:ext>
            </a:extLst>
          </p:cNvPr>
          <p:cNvPicPr>
            <a:picLocks noChangeAspect="1"/>
          </p:cNvPicPr>
          <p:nvPr/>
        </p:nvPicPr>
        <p:blipFill>
          <a:blip r:embed="rId2"/>
          <a:stretch>
            <a:fillRect/>
          </a:stretch>
        </p:blipFill>
        <p:spPr>
          <a:xfrm>
            <a:off x="2089011" y="0"/>
            <a:ext cx="8013977" cy="6858000"/>
          </a:xfrm>
          <a:prstGeom prst="rect">
            <a:avLst/>
          </a:prstGeom>
        </p:spPr>
      </p:pic>
    </p:spTree>
    <p:extLst>
      <p:ext uri="{BB962C8B-B14F-4D97-AF65-F5344CB8AC3E}">
        <p14:creationId xmlns:p14="http://schemas.microsoft.com/office/powerpoint/2010/main" val="350894895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DE61C11-E7F7-32CF-8B61-C0F5E92F6CB1}"/>
              </a:ext>
            </a:extLst>
          </p:cNvPr>
          <p:cNvPicPr>
            <a:picLocks noChangeAspect="1"/>
          </p:cNvPicPr>
          <p:nvPr/>
        </p:nvPicPr>
        <p:blipFill>
          <a:blip r:embed="rId2"/>
          <a:stretch>
            <a:fillRect/>
          </a:stretch>
        </p:blipFill>
        <p:spPr>
          <a:xfrm>
            <a:off x="543993" y="2258785"/>
            <a:ext cx="4849877" cy="3712301"/>
          </a:xfrm>
          <a:prstGeom prst="rect">
            <a:avLst/>
          </a:prstGeom>
        </p:spPr>
      </p:pic>
      <p:pic>
        <p:nvPicPr>
          <p:cNvPr id="3" name="Picture 2">
            <a:extLst>
              <a:ext uri="{FF2B5EF4-FFF2-40B4-BE49-F238E27FC236}">
                <a16:creationId xmlns:a16="http://schemas.microsoft.com/office/drawing/2014/main" id="{D366CA53-6B0C-D343-04C0-3C5F5684769D}"/>
              </a:ext>
            </a:extLst>
          </p:cNvPr>
          <p:cNvPicPr>
            <a:picLocks noChangeAspect="1"/>
          </p:cNvPicPr>
          <p:nvPr/>
        </p:nvPicPr>
        <p:blipFill>
          <a:blip r:embed="rId3"/>
          <a:stretch>
            <a:fillRect/>
          </a:stretch>
        </p:blipFill>
        <p:spPr>
          <a:xfrm>
            <a:off x="5581649" y="2079171"/>
            <a:ext cx="6164329" cy="4659086"/>
          </a:xfrm>
          <a:prstGeom prst="rect">
            <a:avLst/>
          </a:prstGeom>
        </p:spPr>
      </p:pic>
      <p:sp>
        <p:nvSpPr>
          <p:cNvPr id="4" name="TextBox 3">
            <a:extLst>
              <a:ext uri="{FF2B5EF4-FFF2-40B4-BE49-F238E27FC236}">
                <a16:creationId xmlns:a16="http://schemas.microsoft.com/office/drawing/2014/main" id="{AF3EBA94-419C-EE96-9818-5203CE680C3D}"/>
              </a:ext>
            </a:extLst>
          </p:cNvPr>
          <p:cNvSpPr txBox="1"/>
          <p:nvPr/>
        </p:nvSpPr>
        <p:spPr>
          <a:xfrm>
            <a:off x="576943" y="696686"/>
            <a:ext cx="10955628" cy="646331"/>
          </a:xfrm>
          <a:prstGeom prst="rect">
            <a:avLst/>
          </a:prstGeom>
          <a:noFill/>
        </p:spPr>
        <p:txBody>
          <a:bodyPr wrap="none" rtlCol="0">
            <a:spAutoFit/>
          </a:bodyPr>
          <a:lstStyle/>
          <a:p>
            <a:r>
              <a:rPr lang="en-CH" dirty="0"/>
              <a:t>After inserting a decay moment between display onset and retrieval from FX, the </a:t>
            </a:r>
            <a:r>
              <a:rPr lang="en-CH" dirty="0" err="1"/>
              <a:t>colorwheel</a:t>
            </a:r>
            <a:r>
              <a:rPr lang="en-CH" dirty="0"/>
              <a:t> intrusions are gone</a:t>
            </a:r>
          </a:p>
          <a:p>
            <a:r>
              <a:rPr lang="en-CH" dirty="0"/>
              <a:t>(</a:t>
            </a:r>
            <a:r>
              <a:rPr lang="en-CH" dirty="0" err="1"/>
              <a:t>P.filter</a:t>
            </a:r>
            <a:r>
              <a:rPr lang="en-CH" dirty="0"/>
              <a:t> = 0.01) (they come back a little bit with </a:t>
            </a:r>
            <a:r>
              <a:rPr lang="en-CH" dirty="0" err="1"/>
              <a:t>P.filter</a:t>
            </a:r>
            <a:r>
              <a:rPr lang="en-CH" dirty="0"/>
              <a:t> = 0.2 but not 0.1; 0.3 vs. 0.2 makes no discernible difference)</a:t>
            </a:r>
          </a:p>
        </p:txBody>
      </p:sp>
    </p:spTree>
    <p:extLst>
      <p:ext uri="{BB962C8B-B14F-4D97-AF65-F5344CB8AC3E}">
        <p14:creationId xmlns:p14="http://schemas.microsoft.com/office/powerpoint/2010/main" val="359477299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FE4CD81-400F-57E4-3B9D-3C6C06B6AFEB}"/>
              </a:ext>
            </a:extLst>
          </p:cNvPr>
          <p:cNvSpPr txBox="1"/>
          <p:nvPr/>
        </p:nvSpPr>
        <p:spPr>
          <a:xfrm>
            <a:off x="283029" y="253386"/>
            <a:ext cx="7739743" cy="646331"/>
          </a:xfrm>
          <a:prstGeom prst="rect">
            <a:avLst/>
          </a:prstGeom>
          <a:noFill/>
        </p:spPr>
        <p:txBody>
          <a:bodyPr wrap="square" rtlCol="0">
            <a:spAutoFit/>
          </a:bodyPr>
          <a:lstStyle/>
          <a:p>
            <a:r>
              <a:rPr lang="en-CH" dirty="0"/>
              <a:t>With </a:t>
            </a:r>
            <a:r>
              <a:rPr lang="en-CH" dirty="0" err="1"/>
              <a:t>P.filter</a:t>
            </a:r>
            <a:r>
              <a:rPr lang="en-CH" dirty="0"/>
              <a:t> = 0.1, after correction of SD of reorienting attention after </a:t>
            </a:r>
            <a:r>
              <a:rPr lang="en-CH" dirty="0" err="1"/>
              <a:t>color</a:t>
            </a:r>
            <a:r>
              <a:rPr lang="en-CH" dirty="0"/>
              <a:t>-wheel onset</a:t>
            </a:r>
          </a:p>
        </p:txBody>
      </p:sp>
      <p:pic>
        <p:nvPicPr>
          <p:cNvPr id="6" name="Picture 5">
            <a:extLst>
              <a:ext uri="{FF2B5EF4-FFF2-40B4-BE49-F238E27FC236}">
                <a16:creationId xmlns:a16="http://schemas.microsoft.com/office/drawing/2014/main" id="{316E12F9-C789-F947-9530-729F8B0BBB03}"/>
              </a:ext>
            </a:extLst>
          </p:cNvPr>
          <p:cNvPicPr>
            <a:picLocks noChangeAspect="1"/>
          </p:cNvPicPr>
          <p:nvPr/>
        </p:nvPicPr>
        <p:blipFill>
          <a:blip r:embed="rId2"/>
          <a:stretch>
            <a:fillRect/>
          </a:stretch>
        </p:blipFill>
        <p:spPr>
          <a:xfrm>
            <a:off x="321731" y="1208314"/>
            <a:ext cx="6532373" cy="4953000"/>
          </a:xfrm>
          <a:prstGeom prst="rect">
            <a:avLst/>
          </a:prstGeom>
        </p:spPr>
      </p:pic>
      <p:pic>
        <p:nvPicPr>
          <p:cNvPr id="7" name="Picture 6">
            <a:extLst>
              <a:ext uri="{FF2B5EF4-FFF2-40B4-BE49-F238E27FC236}">
                <a16:creationId xmlns:a16="http://schemas.microsoft.com/office/drawing/2014/main" id="{308B3256-B5F3-F6E8-CBCE-B3A5F5DAE333}"/>
              </a:ext>
            </a:extLst>
          </p:cNvPr>
          <p:cNvPicPr>
            <a:picLocks noChangeAspect="1"/>
          </p:cNvPicPr>
          <p:nvPr/>
        </p:nvPicPr>
        <p:blipFill>
          <a:blip r:embed="rId3"/>
          <a:stretch>
            <a:fillRect/>
          </a:stretch>
        </p:blipFill>
        <p:spPr>
          <a:xfrm>
            <a:off x="6608335" y="1066018"/>
            <a:ext cx="5801726" cy="5480957"/>
          </a:xfrm>
          <a:prstGeom prst="rect">
            <a:avLst/>
          </a:prstGeom>
        </p:spPr>
      </p:pic>
      <p:pic>
        <p:nvPicPr>
          <p:cNvPr id="8" name="Picture 7">
            <a:extLst>
              <a:ext uri="{FF2B5EF4-FFF2-40B4-BE49-F238E27FC236}">
                <a16:creationId xmlns:a16="http://schemas.microsoft.com/office/drawing/2014/main" id="{98D271EC-D906-81B8-F03B-E6713B58E00A}"/>
              </a:ext>
            </a:extLst>
          </p:cNvPr>
          <p:cNvPicPr>
            <a:picLocks noChangeAspect="1"/>
          </p:cNvPicPr>
          <p:nvPr/>
        </p:nvPicPr>
        <p:blipFill>
          <a:blip r:embed="rId4"/>
          <a:stretch>
            <a:fillRect/>
          </a:stretch>
        </p:blipFill>
        <p:spPr>
          <a:xfrm>
            <a:off x="7561820" y="0"/>
            <a:ext cx="4246544" cy="2993571"/>
          </a:xfrm>
          <a:prstGeom prst="rect">
            <a:avLst/>
          </a:prstGeom>
        </p:spPr>
      </p:pic>
    </p:spTree>
    <p:extLst>
      <p:ext uri="{BB962C8B-B14F-4D97-AF65-F5344CB8AC3E}">
        <p14:creationId xmlns:p14="http://schemas.microsoft.com/office/powerpoint/2010/main" val="55296517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DF78885-D14C-8C43-D27B-A7C0B95F62CF}"/>
              </a:ext>
            </a:extLst>
          </p:cNvPr>
          <p:cNvPicPr>
            <a:picLocks noChangeAspect="1"/>
          </p:cNvPicPr>
          <p:nvPr/>
        </p:nvPicPr>
        <p:blipFill>
          <a:blip r:embed="rId2"/>
          <a:stretch>
            <a:fillRect/>
          </a:stretch>
        </p:blipFill>
        <p:spPr>
          <a:xfrm>
            <a:off x="382848" y="903513"/>
            <a:ext cx="6055744" cy="5731329"/>
          </a:xfrm>
          <a:prstGeom prst="rect">
            <a:avLst/>
          </a:prstGeom>
        </p:spPr>
      </p:pic>
      <p:sp>
        <p:nvSpPr>
          <p:cNvPr id="6" name="TextBox 5">
            <a:extLst>
              <a:ext uri="{FF2B5EF4-FFF2-40B4-BE49-F238E27FC236}">
                <a16:creationId xmlns:a16="http://schemas.microsoft.com/office/drawing/2014/main" id="{6217022F-E2A2-A662-AD34-C856DECEB0C9}"/>
              </a:ext>
            </a:extLst>
          </p:cNvPr>
          <p:cNvSpPr txBox="1"/>
          <p:nvPr/>
        </p:nvSpPr>
        <p:spPr>
          <a:xfrm>
            <a:off x="538843" y="324395"/>
            <a:ext cx="3853543" cy="369332"/>
          </a:xfrm>
          <a:prstGeom prst="rect">
            <a:avLst/>
          </a:prstGeom>
          <a:noFill/>
        </p:spPr>
        <p:txBody>
          <a:bodyPr wrap="square" rtlCol="0">
            <a:spAutoFit/>
          </a:bodyPr>
          <a:lstStyle/>
          <a:p>
            <a:r>
              <a:rPr lang="en-CH" dirty="0"/>
              <a:t>Reloading (</a:t>
            </a:r>
            <a:r>
              <a:rPr lang="en-CH" dirty="0" err="1"/>
              <a:t>P.filter</a:t>
            </a:r>
            <a:r>
              <a:rPr lang="en-CH" dirty="0"/>
              <a:t> = 0.1)</a:t>
            </a:r>
          </a:p>
        </p:txBody>
      </p:sp>
    </p:spTree>
    <p:extLst>
      <p:ext uri="{BB962C8B-B14F-4D97-AF65-F5344CB8AC3E}">
        <p14:creationId xmlns:p14="http://schemas.microsoft.com/office/powerpoint/2010/main" val="405623801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FBF87ED-2E05-474D-0133-170575F56B1C}"/>
              </a:ext>
            </a:extLst>
          </p:cNvPr>
          <p:cNvPicPr>
            <a:picLocks noChangeAspect="1"/>
          </p:cNvPicPr>
          <p:nvPr/>
        </p:nvPicPr>
        <p:blipFill>
          <a:blip r:embed="rId2"/>
          <a:stretch>
            <a:fillRect/>
          </a:stretch>
        </p:blipFill>
        <p:spPr>
          <a:xfrm>
            <a:off x="140545" y="655626"/>
            <a:ext cx="5598511" cy="6164273"/>
          </a:xfrm>
          <a:prstGeom prst="rect">
            <a:avLst/>
          </a:prstGeom>
        </p:spPr>
      </p:pic>
      <p:sp>
        <p:nvSpPr>
          <p:cNvPr id="3" name="TextBox 2">
            <a:extLst>
              <a:ext uri="{FF2B5EF4-FFF2-40B4-BE49-F238E27FC236}">
                <a16:creationId xmlns:a16="http://schemas.microsoft.com/office/drawing/2014/main" id="{B33B1116-6768-3B37-7513-562E2D1D80E0}"/>
              </a:ext>
            </a:extLst>
          </p:cNvPr>
          <p:cNvSpPr txBox="1"/>
          <p:nvPr/>
        </p:nvSpPr>
        <p:spPr>
          <a:xfrm>
            <a:off x="538843" y="324395"/>
            <a:ext cx="3853543" cy="369332"/>
          </a:xfrm>
          <a:prstGeom prst="rect">
            <a:avLst/>
          </a:prstGeom>
          <a:noFill/>
        </p:spPr>
        <p:txBody>
          <a:bodyPr wrap="square" rtlCol="0">
            <a:spAutoFit/>
          </a:bodyPr>
          <a:lstStyle/>
          <a:p>
            <a:r>
              <a:rPr lang="en-CH" dirty="0"/>
              <a:t>CD cueing (</a:t>
            </a:r>
            <a:r>
              <a:rPr lang="en-CH" dirty="0" err="1"/>
              <a:t>P.filter</a:t>
            </a:r>
            <a:r>
              <a:rPr lang="en-CH" dirty="0"/>
              <a:t> = 0.3)</a:t>
            </a:r>
          </a:p>
        </p:txBody>
      </p:sp>
      <p:pic>
        <p:nvPicPr>
          <p:cNvPr id="4" name="Picture 3">
            <a:extLst>
              <a:ext uri="{FF2B5EF4-FFF2-40B4-BE49-F238E27FC236}">
                <a16:creationId xmlns:a16="http://schemas.microsoft.com/office/drawing/2014/main" id="{FAD3A9B3-5BA8-B0C5-85CA-E608C74A8E35}"/>
              </a:ext>
            </a:extLst>
          </p:cNvPr>
          <p:cNvPicPr>
            <a:picLocks noChangeAspect="1"/>
          </p:cNvPicPr>
          <p:nvPr/>
        </p:nvPicPr>
        <p:blipFill>
          <a:blip r:embed="rId3"/>
          <a:stretch>
            <a:fillRect/>
          </a:stretch>
        </p:blipFill>
        <p:spPr>
          <a:xfrm>
            <a:off x="5629295" y="776111"/>
            <a:ext cx="6422160" cy="5652685"/>
          </a:xfrm>
          <a:prstGeom prst="rect">
            <a:avLst/>
          </a:prstGeom>
        </p:spPr>
      </p:pic>
    </p:spTree>
    <p:extLst>
      <p:ext uri="{BB962C8B-B14F-4D97-AF65-F5344CB8AC3E}">
        <p14:creationId xmlns:p14="http://schemas.microsoft.com/office/powerpoint/2010/main" val="29265655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5287E57-A4C0-3F70-38B9-A0810FB1D338}"/>
              </a:ext>
            </a:extLst>
          </p:cNvPr>
          <p:cNvPicPr>
            <a:picLocks noChangeAspect="1"/>
          </p:cNvPicPr>
          <p:nvPr/>
        </p:nvPicPr>
        <p:blipFill>
          <a:blip r:embed="rId2"/>
          <a:stretch>
            <a:fillRect/>
          </a:stretch>
        </p:blipFill>
        <p:spPr>
          <a:xfrm>
            <a:off x="2938002" y="332014"/>
            <a:ext cx="8142710" cy="6193971"/>
          </a:xfrm>
          <a:prstGeom prst="rect">
            <a:avLst/>
          </a:prstGeom>
        </p:spPr>
      </p:pic>
      <p:sp>
        <p:nvSpPr>
          <p:cNvPr id="3" name="TextBox 2">
            <a:extLst>
              <a:ext uri="{FF2B5EF4-FFF2-40B4-BE49-F238E27FC236}">
                <a16:creationId xmlns:a16="http://schemas.microsoft.com/office/drawing/2014/main" id="{C05AE1E3-B7E2-01CC-BC53-858496FE7A51}"/>
              </a:ext>
            </a:extLst>
          </p:cNvPr>
          <p:cNvSpPr txBox="1"/>
          <p:nvPr/>
        </p:nvSpPr>
        <p:spPr>
          <a:xfrm>
            <a:off x="538844" y="324395"/>
            <a:ext cx="2563586" cy="369332"/>
          </a:xfrm>
          <a:prstGeom prst="rect">
            <a:avLst/>
          </a:prstGeom>
          <a:noFill/>
        </p:spPr>
        <p:txBody>
          <a:bodyPr wrap="square" rtlCol="0">
            <a:spAutoFit/>
          </a:bodyPr>
          <a:lstStyle/>
          <a:p>
            <a:r>
              <a:rPr lang="en-CH" dirty="0"/>
              <a:t>Refreshing (</a:t>
            </a:r>
            <a:r>
              <a:rPr lang="en-CH" dirty="0" err="1"/>
              <a:t>P.filter</a:t>
            </a:r>
            <a:r>
              <a:rPr lang="en-CH" dirty="0"/>
              <a:t> = 0.3)</a:t>
            </a:r>
          </a:p>
        </p:txBody>
      </p:sp>
    </p:spTree>
    <p:extLst>
      <p:ext uri="{BB962C8B-B14F-4D97-AF65-F5344CB8AC3E}">
        <p14:creationId xmlns:p14="http://schemas.microsoft.com/office/powerpoint/2010/main" val="98423507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F38A349-C698-63CB-6E36-CCC252473225}"/>
              </a:ext>
            </a:extLst>
          </p:cNvPr>
          <p:cNvPicPr>
            <a:picLocks noChangeAspect="1"/>
          </p:cNvPicPr>
          <p:nvPr/>
        </p:nvPicPr>
        <p:blipFill>
          <a:blip r:embed="rId2"/>
          <a:stretch>
            <a:fillRect/>
          </a:stretch>
        </p:blipFill>
        <p:spPr>
          <a:xfrm>
            <a:off x="2332429" y="0"/>
            <a:ext cx="9464798" cy="6858000"/>
          </a:xfrm>
          <a:prstGeom prst="rect">
            <a:avLst/>
          </a:prstGeom>
        </p:spPr>
      </p:pic>
      <p:sp>
        <p:nvSpPr>
          <p:cNvPr id="3" name="TextBox 2">
            <a:extLst>
              <a:ext uri="{FF2B5EF4-FFF2-40B4-BE49-F238E27FC236}">
                <a16:creationId xmlns:a16="http://schemas.microsoft.com/office/drawing/2014/main" id="{A12B027F-7761-F3A7-1328-804A84C2B602}"/>
              </a:ext>
            </a:extLst>
          </p:cNvPr>
          <p:cNvSpPr txBox="1"/>
          <p:nvPr/>
        </p:nvSpPr>
        <p:spPr>
          <a:xfrm>
            <a:off x="478972" y="810986"/>
            <a:ext cx="1812472" cy="923330"/>
          </a:xfrm>
          <a:prstGeom prst="rect">
            <a:avLst/>
          </a:prstGeom>
          <a:noFill/>
        </p:spPr>
        <p:txBody>
          <a:bodyPr wrap="square" rtlCol="0">
            <a:spAutoFit/>
          </a:bodyPr>
          <a:lstStyle/>
          <a:p>
            <a:r>
              <a:rPr lang="en-CH" dirty="0"/>
              <a:t>Prolific, </a:t>
            </a:r>
            <a:r>
              <a:rPr lang="en-CH" dirty="0" err="1"/>
              <a:t>cStrength</a:t>
            </a:r>
            <a:r>
              <a:rPr lang="en-CH" dirty="0"/>
              <a:t> reduced to 0.6</a:t>
            </a:r>
          </a:p>
        </p:txBody>
      </p:sp>
    </p:spTree>
    <p:extLst>
      <p:ext uri="{BB962C8B-B14F-4D97-AF65-F5344CB8AC3E}">
        <p14:creationId xmlns:p14="http://schemas.microsoft.com/office/powerpoint/2010/main" val="181507427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DB71F2A-A8E9-00E0-AA6B-63127D5B3026}"/>
              </a:ext>
            </a:extLst>
          </p:cNvPr>
          <p:cNvPicPr>
            <a:picLocks noChangeAspect="1"/>
          </p:cNvPicPr>
          <p:nvPr/>
        </p:nvPicPr>
        <p:blipFill>
          <a:blip r:embed="rId2"/>
          <a:stretch>
            <a:fillRect/>
          </a:stretch>
        </p:blipFill>
        <p:spPr>
          <a:xfrm>
            <a:off x="1838809" y="0"/>
            <a:ext cx="8514381" cy="6858000"/>
          </a:xfrm>
          <a:prstGeom prst="rect">
            <a:avLst/>
          </a:prstGeom>
        </p:spPr>
      </p:pic>
    </p:spTree>
    <p:extLst>
      <p:ext uri="{BB962C8B-B14F-4D97-AF65-F5344CB8AC3E}">
        <p14:creationId xmlns:p14="http://schemas.microsoft.com/office/powerpoint/2010/main" val="224701504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359A6B3-8268-FD0E-4227-DDF95EF53AFA}"/>
              </a:ext>
            </a:extLst>
          </p:cNvPr>
          <p:cNvPicPr>
            <a:picLocks noChangeAspect="1"/>
          </p:cNvPicPr>
          <p:nvPr/>
        </p:nvPicPr>
        <p:blipFill>
          <a:blip r:embed="rId2"/>
          <a:stretch>
            <a:fillRect/>
          </a:stretch>
        </p:blipFill>
        <p:spPr>
          <a:xfrm>
            <a:off x="0" y="81643"/>
            <a:ext cx="6501895" cy="6482443"/>
          </a:xfrm>
          <a:prstGeom prst="rect">
            <a:avLst/>
          </a:prstGeom>
        </p:spPr>
      </p:pic>
      <p:pic>
        <p:nvPicPr>
          <p:cNvPr id="4" name="Picture 3">
            <a:extLst>
              <a:ext uri="{FF2B5EF4-FFF2-40B4-BE49-F238E27FC236}">
                <a16:creationId xmlns:a16="http://schemas.microsoft.com/office/drawing/2014/main" id="{A34CBC49-F63E-3ECC-77A1-BDDF0EFFA968}"/>
              </a:ext>
            </a:extLst>
          </p:cNvPr>
          <p:cNvPicPr>
            <a:picLocks noChangeAspect="1"/>
          </p:cNvPicPr>
          <p:nvPr/>
        </p:nvPicPr>
        <p:blipFill>
          <a:blip r:embed="rId3"/>
          <a:stretch>
            <a:fillRect/>
          </a:stretch>
        </p:blipFill>
        <p:spPr>
          <a:xfrm>
            <a:off x="5999713" y="141514"/>
            <a:ext cx="6318724" cy="6716486"/>
          </a:xfrm>
          <a:prstGeom prst="rect">
            <a:avLst/>
          </a:prstGeom>
        </p:spPr>
      </p:pic>
    </p:spTree>
    <p:extLst>
      <p:ext uri="{BB962C8B-B14F-4D97-AF65-F5344CB8AC3E}">
        <p14:creationId xmlns:p14="http://schemas.microsoft.com/office/powerpoint/2010/main" val="303015103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C2D68C5-8562-6386-2C2A-5D5C82DD233C}"/>
              </a:ext>
            </a:extLst>
          </p:cNvPr>
          <p:cNvPicPr>
            <a:picLocks noChangeAspect="1"/>
          </p:cNvPicPr>
          <p:nvPr/>
        </p:nvPicPr>
        <p:blipFill>
          <a:blip r:embed="rId2"/>
          <a:stretch>
            <a:fillRect/>
          </a:stretch>
        </p:blipFill>
        <p:spPr>
          <a:xfrm>
            <a:off x="5921829" y="38100"/>
            <a:ext cx="6270171" cy="6858000"/>
          </a:xfrm>
          <a:prstGeom prst="rect">
            <a:avLst/>
          </a:prstGeom>
        </p:spPr>
      </p:pic>
      <p:pic>
        <p:nvPicPr>
          <p:cNvPr id="3" name="Picture 2">
            <a:extLst>
              <a:ext uri="{FF2B5EF4-FFF2-40B4-BE49-F238E27FC236}">
                <a16:creationId xmlns:a16="http://schemas.microsoft.com/office/drawing/2014/main" id="{593A6A9B-B339-A1ED-8C02-9249BC4F985B}"/>
              </a:ext>
            </a:extLst>
          </p:cNvPr>
          <p:cNvPicPr>
            <a:picLocks noChangeAspect="1"/>
          </p:cNvPicPr>
          <p:nvPr/>
        </p:nvPicPr>
        <p:blipFill>
          <a:blip r:embed="rId3"/>
          <a:stretch>
            <a:fillRect/>
          </a:stretch>
        </p:blipFill>
        <p:spPr>
          <a:xfrm>
            <a:off x="-63359" y="195942"/>
            <a:ext cx="6159359" cy="5949043"/>
          </a:xfrm>
          <a:prstGeom prst="rect">
            <a:avLst/>
          </a:prstGeom>
        </p:spPr>
      </p:pic>
    </p:spTree>
    <p:extLst>
      <p:ext uri="{BB962C8B-B14F-4D97-AF65-F5344CB8AC3E}">
        <p14:creationId xmlns:p14="http://schemas.microsoft.com/office/powerpoint/2010/main" val="215407862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E7D8038-E0C5-E2A8-22E1-E052F7B7C560}"/>
              </a:ext>
            </a:extLst>
          </p:cNvPr>
          <p:cNvPicPr>
            <a:picLocks noChangeAspect="1"/>
          </p:cNvPicPr>
          <p:nvPr/>
        </p:nvPicPr>
        <p:blipFill>
          <a:blip r:embed="rId2"/>
          <a:stretch>
            <a:fillRect/>
          </a:stretch>
        </p:blipFill>
        <p:spPr>
          <a:xfrm>
            <a:off x="0" y="84666"/>
            <a:ext cx="12192000" cy="6688667"/>
          </a:xfrm>
          <a:prstGeom prst="rect">
            <a:avLst/>
          </a:prstGeom>
        </p:spPr>
      </p:pic>
    </p:spTree>
    <p:extLst>
      <p:ext uri="{BB962C8B-B14F-4D97-AF65-F5344CB8AC3E}">
        <p14:creationId xmlns:p14="http://schemas.microsoft.com/office/powerpoint/2010/main" val="403762552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73CBCE7-C49C-DB87-A9E9-6485DBAB0910}"/>
              </a:ext>
            </a:extLst>
          </p:cNvPr>
          <p:cNvPicPr>
            <a:picLocks noChangeAspect="1"/>
          </p:cNvPicPr>
          <p:nvPr/>
        </p:nvPicPr>
        <p:blipFill>
          <a:blip r:embed="rId2"/>
          <a:stretch>
            <a:fillRect/>
          </a:stretch>
        </p:blipFill>
        <p:spPr>
          <a:xfrm>
            <a:off x="0" y="84666"/>
            <a:ext cx="12192000" cy="6688667"/>
          </a:xfrm>
          <a:prstGeom prst="rect">
            <a:avLst/>
          </a:prstGeom>
        </p:spPr>
      </p:pic>
    </p:spTree>
    <p:extLst>
      <p:ext uri="{BB962C8B-B14F-4D97-AF65-F5344CB8AC3E}">
        <p14:creationId xmlns:p14="http://schemas.microsoft.com/office/powerpoint/2010/main" val="66426678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1D729B3-2735-5E06-AD1B-A95251E01F4B}"/>
              </a:ext>
            </a:extLst>
          </p:cNvPr>
          <p:cNvPicPr>
            <a:picLocks noChangeAspect="1"/>
          </p:cNvPicPr>
          <p:nvPr/>
        </p:nvPicPr>
        <p:blipFill>
          <a:blip r:embed="rId2"/>
          <a:stretch>
            <a:fillRect/>
          </a:stretch>
        </p:blipFill>
        <p:spPr>
          <a:xfrm>
            <a:off x="576943" y="0"/>
            <a:ext cx="12192000" cy="6688667"/>
          </a:xfrm>
          <a:prstGeom prst="rect">
            <a:avLst/>
          </a:prstGeom>
        </p:spPr>
      </p:pic>
      <p:sp>
        <p:nvSpPr>
          <p:cNvPr id="3" name="TextBox 2">
            <a:extLst>
              <a:ext uri="{FF2B5EF4-FFF2-40B4-BE49-F238E27FC236}">
                <a16:creationId xmlns:a16="http://schemas.microsoft.com/office/drawing/2014/main" id="{0021C9B9-BB8B-DAF4-9C34-2FAA45348B79}"/>
              </a:ext>
            </a:extLst>
          </p:cNvPr>
          <p:cNvSpPr txBox="1"/>
          <p:nvPr/>
        </p:nvSpPr>
        <p:spPr>
          <a:xfrm>
            <a:off x="288472" y="593271"/>
            <a:ext cx="1447799" cy="1477328"/>
          </a:xfrm>
          <a:prstGeom prst="rect">
            <a:avLst/>
          </a:prstGeom>
          <a:noFill/>
        </p:spPr>
        <p:txBody>
          <a:bodyPr wrap="square" rtlCol="0">
            <a:spAutoFit/>
          </a:bodyPr>
          <a:lstStyle/>
          <a:p>
            <a:r>
              <a:rPr lang="en-CH" dirty="0"/>
              <a:t>After making consolidation of an entire array ballistic (or not)</a:t>
            </a:r>
          </a:p>
        </p:txBody>
      </p:sp>
    </p:spTree>
    <p:extLst>
      <p:ext uri="{BB962C8B-B14F-4D97-AF65-F5344CB8AC3E}">
        <p14:creationId xmlns:p14="http://schemas.microsoft.com/office/powerpoint/2010/main" val="38813058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FE7251-367D-6E54-B237-F8356A5E1CA7}"/>
              </a:ext>
            </a:extLst>
          </p:cNvPr>
          <p:cNvPicPr>
            <a:picLocks noChangeAspect="1"/>
          </p:cNvPicPr>
          <p:nvPr/>
        </p:nvPicPr>
        <p:blipFill>
          <a:blip r:embed="rId2"/>
          <a:stretch>
            <a:fillRect/>
          </a:stretch>
        </p:blipFill>
        <p:spPr>
          <a:xfrm>
            <a:off x="538843" y="84666"/>
            <a:ext cx="12110357" cy="6688667"/>
          </a:xfrm>
          <a:prstGeom prst="rect">
            <a:avLst/>
          </a:prstGeom>
        </p:spPr>
      </p:pic>
    </p:spTree>
    <p:extLst>
      <p:ext uri="{BB962C8B-B14F-4D97-AF65-F5344CB8AC3E}">
        <p14:creationId xmlns:p14="http://schemas.microsoft.com/office/powerpoint/2010/main" val="268975781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B714A6B-39AC-C7F5-D69B-2867F77598EA}"/>
              </a:ext>
            </a:extLst>
          </p:cNvPr>
          <p:cNvPicPr>
            <a:picLocks noChangeAspect="1"/>
          </p:cNvPicPr>
          <p:nvPr/>
        </p:nvPicPr>
        <p:blipFill>
          <a:blip r:embed="rId2"/>
          <a:stretch>
            <a:fillRect/>
          </a:stretch>
        </p:blipFill>
        <p:spPr>
          <a:xfrm>
            <a:off x="1703614" y="216833"/>
            <a:ext cx="10583520" cy="6559524"/>
          </a:xfrm>
          <a:prstGeom prst="rect">
            <a:avLst/>
          </a:prstGeom>
        </p:spPr>
      </p:pic>
      <p:sp>
        <p:nvSpPr>
          <p:cNvPr id="3" name="TextBox 2">
            <a:extLst>
              <a:ext uri="{FF2B5EF4-FFF2-40B4-BE49-F238E27FC236}">
                <a16:creationId xmlns:a16="http://schemas.microsoft.com/office/drawing/2014/main" id="{C9523347-7BC0-4EBA-6601-302DB2D4DB2E}"/>
              </a:ext>
            </a:extLst>
          </p:cNvPr>
          <p:cNvSpPr txBox="1"/>
          <p:nvPr/>
        </p:nvSpPr>
        <p:spPr>
          <a:xfrm>
            <a:off x="353786" y="865414"/>
            <a:ext cx="2144485" cy="2031325"/>
          </a:xfrm>
          <a:prstGeom prst="rect">
            <a:avLst/>
          </a:prstGeom>
          <a:noFill/>
        </p:spPr>
        <p:txBody>
          <a:bodyPr wrap="square" rtlCol="0">
            <a:spAutoFit/>
          </a:bodyPr>
          <a:lstStyle/>
          <a:p>
            <a:r>
              <a:rPr lang="en-CH" dirty="0"/>
              <a:t>After correction of RI after the second array (matching ISI); with ballistic consolidation of only one item per array. Now test = n-AFC</a:t>
            </a:r>
          </a:p>
        </p:txBody>
      </p:sp>
    </p:spTree>
    <p:extLst>
      <p:ext uri="{BB962C8B-B14F-4D97-AF65-F5344CB8AC3E}">
        <p14:creationId xmlns:p14="http://schemas.microsoft.com/office/powerpoint/2010/main" val="135357583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9DFD3B4-90D6-996B-47C3-0C87E17C3EB0}"/>
              </a:ext>
            </a:extLst>
          </p:cNvPr>
          <p:cNvPicPr>
            <a:picLocks noChangeAspect="1"/>
          </p:cNvPicPr>
          <p:nvPr/>
        </p:nvPicPr>
        <p:blipFill>
          <a:blip r:embed="rId2"/>
          <a:stretch>
            <a:fillRect/>
          </a:stretch>
        </p:blipFill>
        <p:spPr>
          <a:xfrm>
            <a:off x="1323760" y="0"/>
            <a:ext cx="9544480" cy="6858000"/>
          </a:xfrm>
          <a:prstGeom prst="rect">
            <a:avLst/>
          </a:prstGeom>
        </p:spPr>
      </p:pic>
    </p:spTree>
    <p:extLst>
      <p:ext uri="{BB962C8B-B14F-4D97-AF65-F5344CB8AC3E}">
        <p14:creationId xmlns:p14="http://schemas.microsoft.com/office/powerpoint/2010/main" val="133119415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7B0D175-D8A3-8CBC-EC26-5E5F6CB1F3AA}"/>
              </a:ext>
            </a:extLst>
          </p:cNvPr>
          <p:cNvPicPr>
            <a:picLocks noChangeAspect="1"/>
          </p:cNvPicPr>
          <p:nvPr/>
        </p:nvPicPr>
        <p:blipFill>
          <a:blip r:embed="rId2"/>
          <a:stretch>
            <a:fillRect/>
          </a:stretch>
        </p:blipFill>
        <p:spPr>
          <a:xfrm>
            <a:off x="647517" y="0"/>
            <a:ext cx="10896966" cy="6858000"/>
          </a:xfrm>
          <a:prstGeom prst="rect">
            <a:avLst/>
          </a:prstGeom>
        </p:spPr>
      </p:pic>
    </p:spTree>
    <p:extLst>
      <p:ext uri="{BB962C8B-B14F-4D97-AF65-F5344CB8AC3E}">
        <p14:creationId xmlns:p14="http://schemas.microsoft.com/office/powerpoint/2010/main" val="97540275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54CC18-E7A5-AC66-443D-ED9455DCC9FB}"/>
              </a:ext>
            </a:extLst>
          </p:cNvPr>
          <p:cNvPicPr>
            <a:picLocks noChangeAspect="1"/>
          </p:cNvPicPr>
          <p:nvPr/>
        </p:nvPicPr>
        <p:blipFill>
          <a:blip r:embed="rId2"/>
          <a:stretch>
            <a:fillRect/>
          </a:stretch>
        </p:blipFill>
        <p:spPr>
          <a:xfrm>
            <a:off x="1277204" y="0"/>
            <a:ext cx="10170991" cy="6858000"/>
          </a:xfrm>
          <a:prstGeom prst="rect">
            <a:avLst/>
          </a:prstGeom>
        </p:spPr>
      </p:pic>
    </p:spTree>
    <p:extLst>
      <p:ext uri="{BB962C8B-B14F-4D97-AF65-F5344CB8AC3E}">
        <p14:creationId xmlns:p14="http://schemas.microsoft.com/office/powerpoint/2010/main" val="163946081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3A88C9E-EF8C-B05E-52C6-BC858A9F1BB7}"/>
              </a:ext>
            </a:extLst>
          </p:cNvPr>
          <p:cNvPicPr>
            <a:picLocks noChangeAspect="1"/>
          </p:cNvPicPr>
          <p:nvPr/>
        </p:nvPicPr>
        <p:blipFill>
          <a:blip r:embed="rId2"/>
          <a:stretch>
            <a:fillRect/>
          </a:stretch>
        </p:blipFill>
        <p:spPr>
          <a:xfrm>
            <a:off x="643034" y="288471"/>
            <a:ext cx="5396201" cy="6193971"/>
          </a:xfrm>
          <a:prstGeom prst="rect">
            <a:avLst/>
          </a:prstGeom>
        </p:spPr>
      </p:pic>
      <p:pic>
        <p:nvPicPr>
          <p:cNvPr id="4" name="Picture 3">
            <a:extLst>
              <a:ext uri="{FF2B5EF4-FFF2-40B4-BE49-F238E27FC236}">
                <a16:creationId xmlns:a16="http://schemas.microsoft.com/office/drawing/2014/main" id="{1CDDA8D8-D875-FF2A-9C22-D51AB78A3186}"/>
              </a:ext>
            </a:extLst>
          </p:cNvPr>
          <p:cNvPicPr>
            <a:picLocks noChangeAspect="1"/>
          </p:cNvPicPr>
          <p:nvPr/>
        </p:nvPicPr>
        <p:blipFill>
          <a:blip r:embed="rId3"/>
          <a:stretch>
            <a:fillRect/>
          </a:stretch>
        </p:blipFill>
        <p:spPr>
          <a:xfrm>
            <a:off x="5905325" y="236763"/>
            <a:ext cx="5643641" cy="6384473"/>
          </a:xfrm>
          <a:prstGeom prst="rect">
            <a:avLst/>
          </a:prstGeom>
        </p:spPr>
      </p:pic>
    </p:spTree>
    <p:extLst>
      <p:ext uri="{BB962C8B-B14F-4D97-AF65-F5344CB8AC3E}">
        <p14:creationId xmlns:p14="http://schemas.microsoft.com/office/powerpoint/2010/main" val="69542889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4CCDC34-29A4-9F81-F3DB-6E63C963F9F5}"/>
              </a:ext>
            </a:extLst>
          </p:cNvPr>
          <p:cNvPicPr>
            <a:picLocks noChangeAspect="1"/>
          </p:cNvPicPr>
          <p:nvPr/>
        </p:nvPicPr>
        <p:blipFill>
          <a:blip r:embed="rId2"/>
          <a:stretch>
            <a:fillRect/>
          </a:stretch>
        </p:blipFill>
        <p:spPr>
          <a:xfrm>
            <a:off x="746507" y="178639"/>
            <a:ext cx="7989280" cy="6407217"/>
          </a:xfrm>
          <a:prstGeom prst="rect">
            <a:avLst/>
          </a:prstGeom>
        </p:spPr>
      </p:pic>
    </p:spTree>
    <p:extLst>
      <p:ext uri="{BB962C8B-B14F-4D97-AF65-F5344CB8AC3E}">
        <p14:creationId xmlns:p14="http://schemas.microsoft.com/office/powerpoint/2010/main" val="227860166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D270B6-00EE-C6C7-33F5-B329C9414EBB}"/>
              </a:ext>
            </a:extLst>
          </p:cNvPr>
          <p:cNvPicPr>
            <a:picLocks noChangeAspect="1"/>
          </p:cNvPicPr>
          <p:nvPr/>
        </p:nvPicPr>
        <p:blipFill>
          <a:blip r:embed="rId2"/>
          <a:stretch>
            <a:fillRect/>
          </a:stretch>
        </p:blipFill>
        <p:spPr>
          <a:xfrm>
            <a:off x="157195" y="435428"/>
            <a:ext cx="5611754" cy="4561114"/>
          </a:xfrm>
          <a:prstGeom prst="rect">
            <a:avLst/>
          </a:prstGeom>
        </p:spPr>
      </p:pic>
      <p:pic>
        <p:nvPicPr>
          <p:cNvPr id="3" name="Picture 2">
            <a:extLst>
              <a:ext uri="{FF2B5EF4-FFF2-40B4-BE49-F238E27FC236}">
                <a16:creationId xmlns:a16="http://schemas.microsoft.com/office/drawing/2014/main" id="{FA1336B1-DD10-5654-099A-0D9DCD0EF500}"/>
              </a:ext>
            </a:extLst>
          </p:cNvPr>
          <p:cNvPicPr>
            <a:picLocks noChangeAspect="1"/>
          </p:cNvPicPr>
          <p:nvPr/>
        </p:nvPicPr>
        <p:blipFill>
          <a:blip r:embed="rId3"/>
          <a:stretch>
            <a:fillRect/>
          </a:stretch>
        </p:blipFill>
        <p:spPr>
          <a:xfrm>
            <a:off x="5161762" y="2078458"/>
            <a:ext cx="6600252" cy="4970041"/>
          </a:xfrm>
          <a:prstGeom prst="rect">
            <a:avLst/>
          </a:prstGeom>
        </p:spPr>
      </p:pic>
      <p:sp>
        <p:nvSpPr>
          <p:cNvPr id="4" name="TextBox 3">
            <a:extLst>
              <a:ext uri="{FF2B5EF4-FFF2-40B4-BE49-F238E27FC236}">
                <a16:creationId xmlns:a16="http://schemas.microsoft.com/office/drawing/2014/main" id="{99567A09-1FE1-5736-B943-A857ED92E064}"/>
              </a:ext>
            </a:extLst>
          </p:cNvPr>
          <p:cNvSpPr txBox="1"/>
          <p:nvPr/>
        </p:nvSpPr>
        <p:spPr>
          <a:xfrm>
            <a:off x="6052457" y="767443"/>
            <a:ext cx="2395977" cy="369332"/>
          </a:xfrm>
          <a:prstGeom prst="rect">
            <a:avLst/>
          </a:prstGeom>
          <a:noFill/>
        </p:spPr>
        <p:txBody>
          <a:bodyPr wrap="none" rtlCol="0">
            <a:spAutoFit/>
          </a:bodyPr>
          <a:lstStyle/>
          <a:p>
            <a:r>
              <a:rPr lang="en-CH" dirty="0"/>
              <a:t>Now with </a:t>
            </a:r>
            <a:r>
              <a:rPr lang="en-CH" dirty="0" err="1"/>
              <a:t>P.ballistic</a:t>
            </a:r>
            <a:r>
              <a:rPr lang="en-CH" dirty="0"/>
              <a:t> = 1</a:t>
            </a:r>
          </a:p>
        </p:txBody>
      </p:sp>
    </p:spTree>
    <p:extLst>
      <p:ext uri="{BB962C8B-B14F-4D97-AF65-F5344CB8AC3E}">
        <p14:creationId xmlns:p14="http://schemas.microsoft.com/office/powerpoint/2010/main" val="18540378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792007B-AB7A-C54F-3E5B-CB3208552A81}"/>
              </a:ext>
            </a:extLst>
          </p:cNvPr>
          <p:cNvPicPr>
            <a:picLocks noChangeAspect="1"/>
          </p:cNvPicPr>
          <p:nvPr/>
        </p:nvPicPr>
        <p:blipFill>
          <a:blip r:embed="rId2"/>
          <a:stretch>
            <a:fillRect/>
          </a:stretch>
        </p:blipFill>
        <p:spPr>
          <a:xfrm>
            <a:off x="589479" y="0"/>
            <a:ext cx="8487555" cy="6858000"/>
          </a:xfrm>
          <a:prstGeom prst="rect">
            <a:avLst/>
          </a:prstGeom>
        </p:spPr>
      </p:pic>
      <p:sp>
        <p:nvSpPr>
          <p:cNvPr id="3" name="TextBox 2">
            <a:extLst>
              <a:ext uri="{FF2B5EF4-FFF2-40B4-BE49-F238E27FC236}">
                <a16:creationId xmlns:a16="http://schemas.microsoft.com/office/drawing/2014/main" id="{69B8CB45-415F-4B1B-9D53-BDFE19E08FC6}"/>
              </a:ext>
            </a:extLst>
          </p:cNvPr>
          <p:cNvSpPr txBox="1"/>
          <p:nvPr/>
        </p:nvSpPr>
        <p:spPr>
          <a:xfrm>
            <a:off x="8441871" y="908957"/>
            <a:ext cx="3238500" cy="2585323"/>
          </a:xfrm>
          <a:prstGeom prst="rect">
            <a:avLst/>
          </a:prstGeom>
          <a:noFill/>
        </p:spPr>
        <p:txBody>
          <a:bodyPr wrap="square" rtlCol="0">
            <a:spAutoFit/>
          </a:bodyPr>
          <a:lstStyle/>
          <a:p>
            <a:r>
              <a:rPr lang="en-CH" dirty="0"/>
              <a:t>Explanation: At small set size, consolidation causes overtime only at short SOA (at long SOA, consolidation is always over before the end of the SOA). Longer set sizes cause overtime also at long </a:t>
            </a:r>
            <a:r>
              <a:rPr lang="en-CH" dirty="0" err="1"/>
              <a:t>SOAs</a:t>
            </a:r>
            <a:r>
              <a:rPr lang="en-CH" dirty="0"/>
              <a:t>, because often one consolidation process is still ongoing.  </a:t>
            </a:r>
          </a:p>
        </p:txBody>
      </p:sp>
    </p:spTree>
    <p:extLst>
      <p:ext uri="{BB962C8B-B14F-4D97-AF65-F5344CB8AC3E}">
        <p14:creationId xmlns:p14="http://schemas.microsoft.com/office/powerpoint/2010/main" val="311700737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D5C4E78-F067-F261-E069-DF506B35ED3D}"/>
              </a:ext>
            </a:extLst>
          </p:cNvPr>
          <p:cNvPicPr>
            <a:picLocks noChangeAspect="1"/>
          </p:cNvPicPr>
          <p:nvPr/>
        </p:nvPicPr>
        <p:blipFill>
          <a:blip r:embed="rId2"/>
          <a:stretch>
            <a:fillRect/>
          </a:stretch>
        </p:blipFill>
        <p:spPr>
          <a:xfrm>
            <a:off x="707656" y="759197"/>
            <a:ext cx="10477415" cy="6011717"/>
          </a:xfrm>
          <a:prstGeom prst="rect">
            <a:avLst/>
          </a:prstGeom>
        </p:spPr>
      </p:pic>
    </p:spTree>
    <p:extLst>
      <p:ext uri="{BB962C8B-B14F-4D97-AF65-F5344CB8AC3E}">
        <p14:creationId xmlns:p14="http://schemas.microsoft.com/office/powerpoint/2010/main" val="416105789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1667A31-B97A-CEF2-3DB1-9C2C2700DB7F}"/>
              </a:ext>
            </a:extLst>
          </p:cNvPr>
          <p:cNvPicPr>
            <a:picLocks noChangeAspect="1"/>
          </p:cNvPicPr>
          <p:nvPr/>
        </p:nvPicPr>
        <p:blipFill>
          <a:blip r:embed="rId2"/>
          <a:stretch>
            <a:fillRect/>
          </a:stretch>
        </p:blipFill>
        <p:spPr>
          <a:xfrm>
            <a:off x="-48132" y="171449"/>
            <a:ext cx="6269318" cy="6515100"/>
          </a:xfrm>
          <a:prstGeom prst="rect">
            <a:avLst/>
          </a:prstGeom>
        </p:spPr>
      </p:pic>
      <p:pic>
        <p:nvPicPr>
          <p:cNvPr id="3" name="Picture 2">
            <a:extLst>
              <a:ext uri="{FF2B5EF4-FFF2-40B4-BE49-F238E27FC236}">
                <a16:creationId xmlns:a16="http://schemas.microsoft.com/office/drawing/2014/main" id="{C5743682-6E83-4FEF-C783-E5FD54D3605F}"/>
              </a:ext>
            </a:extLst>
          </p:cNvPr>
          <p:cNvPicPr>
            <a:picLocks noChangeAspect="1"/>
          </p:cNvPicPr>
          <p:nvPr/>
        </p:nvPicPr>
        <p:blipFill>
          <a:blip r:embed="rId3"/>
          <a:stretch>
            <a:fillRect/>
          </a:stretch>
        </p:blipFill>
        <p:spPr>
          <a:xfrm>
            <a:off x="5758543" y="231321"/>
            <a:ext cx="6134099" cy="6395357"/>
          </a:xfrm>
          <a:prstGeom prst="rect">
            <a:avLst/>
          </a:prstGeom>
        </p:spPr>
      </p:pic>
      <p:sp>
        <p:nvSpPr>
          <p:cNvPr id="5" name="TextBox 4">
            <a:extLst>
              <a:ext uri="{FF2B5EF4-FFF2-40B4-BE49-F238E27FC236}">
                <a16:creationId xmlns:a16="http://schemas.microsoft.com/office/drawing/2014/main" id="{446459EB-72F7-D0DB-CAF4-F7256343089F}"/>
              </a:ext>
            </a:extLst>
          </p:cNvPr>
          <p:cNvSpPr txBox="1"/>
          <p:nvPr/>
        </p:nvSpPr>
        <p:spPr>
          <a:xfrm>
            <a:off x="3516086" y="4239986"/>
            <a:ext cx="2155371" cy="1200329"/>
          </a:xfrm>
          <a:prstGeom prst="rect">
            <a:avLst/>
          </a:prstGeom>
          <a:noFill/>
        </p:spPr>
        <p:txBody>
          <a:bodyPr wrap="square" rtlCol="0">
            <a:spAutoFit/>
          </a:bodyPr>
          <a:lstStyle/>
          <a:p>
            <a:r>
              <a:rPr lang="en-CH" dirty="0"/>
              <a:t>After applying ballistic to the entire array, and </a:t>
            </a:r>
            <a:r>
              <a:rPr lang="en-CH" dirty="0" err="1"/>
              <a:t>P.ballistic</a:t>
            </a:r>
            <a:r>
              <a:rPr lang="en-CH" dirty="0"/>
              <a:t> = 1</a:t>
            </a:r>
          </a:p>
        </p:txBody>
      </p:sp>
    </p:spTree>
    <p:extLst>
      <p:ext uri="{BB962C8B-B14F-4D97-AF65-F5344CB8AC3E}">
        <p14:creationId xmlns:p14="http://schemas.microsoft.com/office/powerpoint/2010/main" val="161759063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681B36E-838B-F9AB-2676-2018832664B1}"/>
              </a:ext>
            </a:extLst>
          </p:cNvPr>
          <p:cNvPicPr>
            <a:picLocks noChangeAspect="1"/>
          </p:cNvPicPr>
          <p:nvPr/>
        </p:nvPicPr>
        <p:blipFill>
          <a:blip r:embed="rId2"/>
          <a:stretch>
            <a:fillRect/>
          </a:stretch>
        </p:blipFill>
        <p:spPr>
          <a:xfrm>
            <a:off x="1426028" y="440870"/>
            <a:ext cx="8171543" cy="6128657"/>
          </a:xfrm>
          <a:prstGeom prst="rect">
            <a:avLst/>
          </a:prstGeom>
        </p:spPr>
      </p:pic>
    </p:spTree>
    <p:extLst>
      <p:ext uri="{BB962C8B-B14F-4D97-AF65-F5344CB8AC3E}">
        <p14:creationId xmlns:p14="http://schemas.microsoft.com/office/powerpoint/2010/main" val="326402004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15D6403-34EB-AE06-B254-34960F9EBBF1}"/>
              </a:ext>
            </a:extLst>
          </p:cNvPr>
          <p:cNvPicPr>
            <a:picLocks noChangeAspect="1"/>
          </p:cNvPicPr>
          <p:nvPr/>
        </p:nvPicPr>
        <p:blipFill>
          <a:blip r:embed="rId2"/>
          <a:stretch>
            <a:fillRect/>
          </a:stretch>
        </p:blipFill>
        <p:spPr>
          <a:xfrm>
            <a:off x="0" y="-87085"/>
            <a:ext cx="6417557" cy="5045528"/>
          </a:xfrm>
          <a:prstGeom prst="rect">
            <a:avLst/>
          </a:prstGeom>
        </p:spPr>
      </p:pic>
      <p:pic>
        <p:nvPicPr>
          <p:cNvPr id="3" name="Picture 2">
            <a:extLst>
              <a:ext uri="{FF2B5EF4-FFF2-40B4-BE49-F238E27FC236}">
                <a16:creationId xmlns:a16="http://schemas.microsoft.com/office/drawing/2014/main" id="{558B9380-1E01-6227-10BA-9F844D781AFD}"/>
              </a:ext>
            </a:extLst>
          </p:cNvPr>
          <p:cNvPicPr>
            <a:picLocks noChangeAspect="1"/>
          </p:cNvPicPr>
          <p:nvPr/>
        </p:nvPicPr>
        <p:blipFill>
          <a:blip r:embed="rId3"/>
          <a:stretch>
            <a:fillRect/>
          </a:stretch>
        </p:blipFill>
        <p:spPr>
          <a:xfrm>
            <a:off x="5683043" y="2220380"/>
            <a:ext cx="5665314" cy="4501548"/>
          </a:xfrm>
          <a:prstGeom prst="rect">
            <a:avLst/>
          </a:prstGeom>
        </p:spPr>
      </p:pic>
    </p:spTree>
    <p:extLst>
      <p:ext uri="{BB962C8B-B14F-4D97-AF65-F5344CB8AC3E}">
        <p14:creationId xmlns:p14="http://schemas.microsoft.com/office/powerpoint/2010/main" val="251152410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6B01CF1-662F-BCE1-94D4-73AC5F4EBA01}"/>
              </a:ext>
            </a:extLst>
          </p:cNvPr>
          <p:cNvPicPr>
            <a:picLocks noChangeAspect="1"/>
          </p:cNvPicPr>
          <p:nvPr/>
        </p:nvPicPr>
        <p:blipFill>
          <a:blip r:embed="rId2"/>
          <a:stretch>
            <a:fillRect/>
          </a:stretch>
        </p:blipFill>
        <p:spPr>
          <a:xfrm>
            <a:off x="237379" y="65315"/>
            <a:ext cx="6147907" cy="6858000"/>
          </a:xfrm>
          <a:prstGeom prst="rect">
            <a:avLst/>
          </a:prstGeom>
        </p:spPr>
      </p:pic>
      <p:pic>
        <p:nvPicPr>
          <p:cNvPr id="3" name="Picture 2">
            <a:extLst>
              <a:ext uri="{FF2B5EF4-FFF2-40B4-BE49-F238E27FC236}">
                <a16:creationId xmlns:a16="http://schemas.microsoft.com/office/drawing/2014/main" id="{CA7AB1FC-0786-688A-EEB7-B7B55F7BF8AA}"/>
              </a:ext>
            </a:extLst>
          </p:cNvPr>
          <p:cNvPicPr>
            <a:picLocks noChangeAspect="1"/>
          </p:cNvPicPr>
          <p:nvPr/>
        </p:nvPicPr>
        <p:blipFill>
          <a:blip r:embed="rId3"/>
          <a:stretch>
            <a:fillRect/>
          </a:stretch>
        </p:blipFill>
        <p:spPr>
          <a:xfrm>
            <a:off x="6044093" y="65315"/>
            <a:ext cx="6147907" cy="6858000"/>
          </a:xfrm>
          <a:prstGeom prst="rect">
            <a:avLst/>
          </a:prstGeom>
        </p:spPr>
      </p:pic>
    </p:spTree>
    <p:extLst>
      <p:ext uri="{BB962C8B-B14F-4D97-AF65-F5344CB8AC3E}">
        <p14:creationId xmlns:p14="http://schemas.microsoft.com/office/powerpoint/2010/main" val="102787166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4B451BD-8376-69A2-463E-BEE07F5738F3}"/>
              </a:ext>
            </a:extLst>
          </p:cNvPr>
          <p:cNvSpPr txBox="1"/>
          <p:nvPr/>
        </p:nvSpPr>
        <p:spPr>
          <a:xfrm>
            <a:off x="397329" y="647700"/>
            <a:ext cx="4327071" cy="369332"/>
          </a:xfrm>
          <a:prstGeom prst="rect">
            <a:avLst/>
          </a:prstGeom>
          <a:noFill/>
        </p:spPr>
        <p:txBody>
          <a:bodyPr wrap="square" rtlCol="0">
            <a:spAutoFit/>
          </a:bodyPr>
          <a:lstStyle/>
          <a:p>
            <a:r>
              <a:rPr lang="en-CH" dirty="0" err="1"/>
              <a:t>IMTrackSignals</a:t>
            </a:r>
            <a:endParaRPr lang="en-CH" dirty="0"/>
          </a:p>
        </p:txBody>
      </p:sp>
      <p:pic>
        <p:nvPicPr>
          <p:cNvPr id="4" name="Picture 3">
            <a:extLst>
              <a:ext uri="{FF2B5EF4-FFF2-40B4-BE49-F238E27FC236}">
                <a16:creationId xmlns:a16="http://schemas.microsoft.com/office/drawing/2014/main" id="{FF1CC830-8C46-286F-00D4-E39897892EFB}"/>
              </a:ext>
            </a:extLst>
          </p:cNvPr>
          <p:cNvPicPr>
            <a:picLocks noChangeAspect="1"/>
          </p:cNvPicPr>
          <p:nvPr/>
        </p:nvPicPr>
        <p:blipFill>
          <a:blip r:embed="rId2"/>
          <a:stretch>
            <a:fillRect/>
          </a:stretch>
        </p:blipFill>
        <p:spPr>
          <a:xfrm>
            <a:off x="109257" y="1409699"/>
            <a:ext cx="6028244" cy="4631871"/>
          </a:xfrm>
          <a:prstGeom prst="rect">
            <a:avLst/>
          </a:prstGeom>
        </p:spPr>
      </p:pic>
      <p:pic>
        <p:nvPicPr>
          <p:cNvPr id="5" name="Picture 4">
            <a:extLst>
              <a:ext uri="{FF2B5EF4-FFF2-40B4-BE49-F238E27FC236}">
                <a16:creationId xmlns:a16="http://schemas.microsoft.com/office/drawing/2014/main" id="{93FE2F01-1CBE-989E-87CE-572B5524D794}"/>
              </a:ext>
            </a:extLst>
          </p:cNvPr>
          <p:cNvPicPr>
            <a:picLocks noChangeAspect="1"/>
          </p:cNvPicPr>
          <p:nvPr/>
        </p:nvPicPr>
        <p:blipFill>
          <a:blip r:embed="rId3"/>
          <a:stretch>
            <a:fillRect/>
          </a:stretch>
        </p:blipFill>
        <p:spPr>
          <a:xfrm>
            <a:off x="5723636" y="647700"/>
            <a:ext cx="6978974" cy="5562600"/>
          </a:xfrm>
          <a:prstGeom prst="rect">
            <a:avLst/>
          </a:prstGeom>
        </p:spPr>
      </p:pic>
    </p:spTree>
    <p:extLst>
      <p:ext uri="{BB962C8B-B14F-4D97-AF65-F5344CB8AC3E}">
        <p14:creationId xmlns:p14="http://schemas.microsoft.com/office/powerpoint/2010/main" val="328943012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497844E-5751-69CB-9169-78BE553A1E1F}"/>
              </a:ext>
            </a:extLst>
          </p:cNvPr>
          <p:cNvPicPr>
            <a:picLocks noChangeAspect="1"/>
          </p:cNvPicPr>
          <p:nvPr/>
        </p:nvPicPr>
        <p:blipFill>
          <a:blip r:embed="rId2"/>
          <a:stretch>
            <a:fillRect/>
          </a:stretch>
        </p:blipFill>
        <p:spPr>
          <a:xfrm>
            <a:off x="-200527" y="1036320"/>
            <a:ext cx="6371172" cy="5247805"/>
          </a:xfrm>
          <a:prstGeom prst="rect">
            <a:avLst/>
          </a:prstGeom>
        </p:spPr>
      </p:pic>
      <p:pic>
        <p:nvPicPr>
          <p:cNvPr id="3" name="Picture 2">
            <a:extLst>
              <a:ext uri="{FF2B5EF4-FFF2-40B4-BE49-F238E27FC236}">
                <a16:creationId xmlns:a16="http://schemas.microsoft.com/office/drawing/2014/main" id="{6EB0963B-5EC4-58BB-166F-42C4B42F3751}"/>
              </a:ext>
            </a:extLst>
          </p:cNvPr>
          <p:cNvPicPr>
            <a:picLocks noChangeAspect="1"/>
          </p:cNvPicPr>
          <p:nvPr/>
        </p:nvPicPr>
        <p:blipFill>
          <a:blip r:embed="rId3"/>
          <a:stretch>
            <a:fillRect/>
          </a:stretch>
        </p:blipFill>
        <p:spPr>
          <a:xfrm>
            <a:off x="5897305" y="1036320"/>
            <a:ext cx="5872301" cy="5164677"/>
          </a:xfrm>
          <a:prstGeom prst="rect">
            <a:avLst/>
          </a:prstGeom>
        </p:spPr>
      </p:pic>
    </p:spTree>
    <p:extLst>
      <p:ext uri="{BB962C8B-B14F-4D97-AF65-F5344CB8AC3E}">
        <p14:creationId xmlns:p14="http://schemas.microsoft.com/office/powerpoint/2010/main" val="381300602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3C8A63E-C69F-28A6-F9E9-6FC4A84B1EE1}"/>
              </a:ext>
            </a:extLst>
          </p:cNvPr>
          <p:cNvPicPr>
            <a:picLocks noChangeAspect="1"/>
          </p:cNvPicPr>
          <p:nvPr/>
        </p:nvPicPr>
        <p:blipFill>
          <a:blip r:embed="rId2"/>
          <a:stretch>
            <a:fillRect/>
          </a:stretch>
        </p:blipFill>
        <p:spPr>
          <a:xfrm>
            <a:off x="1626181" y="0"/>
            <a:ext cx="8939638" cy="6858000"/>
          </a:xfrm>
          <a:prstGeom prst="rect">
            <a:avLst/>
          </a:prstGeom>
        </p:spPr>
      </p:pic>
    </p:spTree>
    <p:extLst>
      <p:ext uri="{BB962C8B-B14F-4D97-AF65-F5344CB8AC3E}">
        <p14:creationId xmlns:p14="http://schemas.microsoft.com/office/powerpoint/2010/main" val="375202795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229CBC-EC93-6A45-AF69-0679A7E59A93}"/>
              </a:ext>
            </a:extLst>
          </p:cNvPr>
          <p:cNvSpPr txBox="1"/>
          <p:nvPr/>
        </p:nvSpPr>
        <p:spPr>
          <a:xfrm>
            <a:off x="81643" y="201386"/>
            <a:ext cx="1640877" cy="646331"/>
          </a:xfrm>
          <a:prstGeom prst="rect">
            <a:avLst/>
          </a:prstGeom>
          <a:noFill/>
        </p:spPr>
        <p:txBody>
          <a:bodyPr wrap="square" rtlCol="0">
            <a:spAutoFit/>
          </a:bodyPr>
          <a:lstStyle/>
          <a:p>
            <a:r>
              <a:rPr lang="en-CH" dirty="0"/>
              <a:t>Sequential presentation</a:t>
            </a:r>
          </a:p>
        </p:txBody>
      </p:sp>
      <p:pic>
        <p:nvPicPr>
          <p:cNvPr id="5" name="Picture 4">
            <a:extLst>
              <a:ext uri="{FF2B5EF4-FFF2-40B4-BE49-F238E27FC236}">
                <a16:creationId xmlns:a16="http://schemas.microsoft.com/office/drawing/2014/main" id="{2EC3CB25-08C4-53CB-90CB-A075F8399190}"/>
              </a:ext>
            </a:extLst>
          </p:cNvPr>
          <p:cNvPicPr>
            <a:picLocks noChangeAspect="1"/>
          </p:cNvPicPr>
          <p:nvPr/>
        </p:nvPicPr>
        <p:blipFill>
          <a:blip r:embed="rId2"/>
          <a:stretch>
            <a:fillRect/>
          </a:stretch>
        </p:blipFill>
        <p:spPr>
          <a:xfrm>
            <a:off x="5347103" y="847717"/>
            <a:ext cx="6893883" cy="5595256"/>
          </a:xfrm>
          <a:prstGeom prst="rect">
            <a:avLst/>
          </a:prstGeom>
        </p:spPr>
      </p:pic>
      <p:pic>
        <p:nvPicPr>
          <p:cNvPr id="7" name="Picture 6">
            <a:extLst>
              <a:ext uri="{FF2B5EF4-FFF2-40B4-BE49-F238E27FC236}">
                <a16:creationId xmlns:a16="http://schemas.microsoft.com/office/drawing/2014/main" id="{42EB7E8F-9FDF-BADD-508A-E877F6489EC4}"/>
              </a:ext>
            </a:extLst>
          </p:cNvPr>
          <p:cNvPicPr>
            <a:picLocks noChangeAspect="1"/>
          </p:cNvPicPr>
          <p:nvPr/>
        </p:nvPicPr>
        <p:blipFill>
          <a:blip r:embed="rId3"/>
          <a:stretch>
            <a:fillRect/>
          </a:stretch>
        </p:blipFill>
        <p:spPr>
          <a:xfrm>
            <a:off x="-70287" y="838200"/>
            <a:ext cx="5850601" cy="5342523"/>
          </a:xfrm>
          <a:prstGeom prst="rect">
            <a:avLst/>
          </a:prstGeom>
        </p:spPr>
      </p:pic>
    </p:spTree>
    <p:extLst>
      <p:ext uri="{BB962C8B-B14F-4D97-AF65-F5344CB8AC3E}">
        <p14:creationId xmlns:p14="http://schemas.microsoft.com/office/powerpoint/2010/main" val="424048325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C25B00A-B6F8-94DA-90A5-BC461C306F45}"/>
              </a:ext>
            </a:extLst>
          </p:cNvPr>
          <p:cNvPicPr>
            <a:picLocks noChangeAspect="1"/>
          </p:cNvPicPr>
          <p:nvPr/>
        </p:nvPicPr>
        <p:blipFill>
          <a:blip r:embed="rId2"/>
          <a:stretch>
            <a:fillRect/>
          </a:stretch>
        </p:blipFill>
        <p:spPr>
          <a:xfrm>
            <a:off x="1503734" y="0"/>
            <a:ext cx="9184532" cy="6858000"/>
          </a:xfrm>
          <a:prstGeom prst="rect">
            <a:avLst/>
          </a:prstGeom>
        </p:spPr>
      </p:pic>
    </p:spTree>
    <p:extLst>
      <p:ext uri="{BB962C8B-B14F-4D97-AF65-F5344CB8AC3E}">
        <p14:creationId xmlns:p14="http://schemas.microsoft.com/office/powerpoint/2010/main" val="400084932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67C9704-1CE2-2D2D-A69C-3A6A6BEBCA97}"/>
              </a:ext>
            </a:extLst>
          </p:cNvPr>
          <p:cNvPicPr>
            <a:picLocks noChangeAspect="1"/>
          </p:cNvPicPr>
          <p:nvPr/>
        </p:nvPicPr>
        <p:blipFill>
          <a:blip r:embed="rId2"/>
          <a:stretch>
            <a:fillRect/>
          </a:stretch>
        </p:blipFill>
        <p:spPr>
          <a:xfrm>
            <a:off x="1481971" y="373138"/>
            <a:ext cx="10710029" cy="5875641"/>
          </a:xfrm>
          <a:prstGeom prst="rect">
            <a:avLst/>
          </a:prstGeom>
        </p:spPr>
      </p:pic>
      <p:pic>
        <p:nvPicPr>
          <p:cNvPr id="3" name="Picture 2">
            <a:extLst>
              <a:ext uri="{FF2B5EF4-FFF2-40B4-BE49-F238E27FC236}">
                <a16:creationId xmlns:a16="http://schemas.microsoft.com/office/drawing/2014/main" id="{EF4C17FF-6490-D830-5B48-9F51F6C96C71}"/>
              </a:ext>
            </a:extLst>
          </p:cNvPr>
          <p:cNvPicPr>
            <a:picLocks noChangeAspect="1"/>
          </p:cNvPicPr>
          <p:nvPr/>
        </p:nvPicPr>
        <p:blipFill>
          <a:blip r:embed="rId3"/>
          <a:stretch>
            <a:fillRect/>
          </a:stretch>
        </p:blipFill>
        <p:spPr>
          <a:xfrm>
            <a:off x="1578399" y="288470"/>
            <a:ext cx="9131630" cy="6531429"/>
          </a:xfrm>
          <a:prstGeom prst="rect">
            <a:avLst/>
          </a:prstGeom>
        </p:spPr>
      </p:pic>
      <p:sp>
        <p:nvSpPr>
          <p:cNvPr id="4" name="TextBox 3">
            <a:extLst>
              <a:ext uri="{FF2B5EF4-FFF2-40B4-BE49-F238E27FC236}">
                <a16:creationId xmlns:a16="http://schemas.microsoft.com/office/drawing/2014/main" id="{54E67F15-5B5F-0C7C-21A1-3FC75EB5D051}"/>
              </a:ext>
            </a:extLst>
          </p:cNvPr>
          <p:cNvSpPr txBox="1"/>
          <p:nvPr/>
        </p:nvSpPr>
        <p:spPr>
          <a:xfrm>
            <a:off x="299358" y="751114"/>
            <a:ext cx="1779814" cy="2031325"/>
          </a:xfrm>
          <a:prstGeom prst="rect">
            <a:avLst/>
          </a:prstGeom>
          <a:noFill/>
        </p:spPr>
        <p:txBody>
          <a:bodyPr wrap="square" rtlCol="0">
            <a:spAutoFit/>
          </a:bodyPr>
          <a:lstStyle/>
          <a:p>
            <a:r>
              <a:rPr lang="en-CH" dirty="0"/>
              <a:t>Underlying figure: Before placing </a:t>
            </a:r>
            <a:r>
              <a:rPr lang="en-CH" dirty="0" err="1"/>
              <a:t>IndDiff</a:t>
            </a:r>
            <a:r>
              <a:rPr lang="en-CH" dirty="0"/>
              <a:t> after mechanism implementation; overlaid figure: after ...</a:t>
            </a:r>
          </a:p>
        </p:txBody>
      </p:sp>
    </p:spTree>
    <p:extLst>
      <p:ext uri="{BB962C8B-B14F-4D97-AF65-F5344CB8AC3E}">
        <p14:creationId xmlns:p14="http://schemas.microsoft.com/office/powerpoint/2010/main" val="144859403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70C17B9-09D8-0B08-5212-7A57D30B9072}"/>
              </a:ext>
            </a:extLst>
          </p:cNvPr>
          <p:cNvPicPr>
            <a:picLocks noChangeAspect="1"/>
          </p:cNvPicPr>
          <p:nvPr/>
        </p:nvPicPr>
        <p:blipFill>
          <a:blip r:embed="rId2"/>
          <a:stretch>
            <a:fillRect/>
          </a:stretch>
        </p:blipFill>
        <p:spPr>
          <a:xfrm>
            <a:off x="838200" y="544512"/>
            <a:ext cx="11353800" cy="6228821"/>
          </a:xfrm>
          <a:prstGeom prst="rect">
            <a:avLst/>
          </a:prstGeom>
        </p:spPr>
      </p:pic>
      <p:pic>
        <p:nvPicPr>
          <p:cNvPr id="3" name="Picture 2">
            <a:extLst>
              <a:ext uri="{FF2B5EF4-FFF2-40B4-BE49-F238E27FC236}">
                <a16:creationId xmlns:a16="http://schemas.microsoft.com/office/drawing/2014/main" id="{9E0B2617-305C-3E74-78AF-6AC12F16EFBC}"/>
              </a:ext>
            </a:extLst>
          </p:cNvPr>
          <p:cNvPicPr>
            <a:picLocks noChangeAspect="1"/>
          </p:cNvPicPr>
          <p:nvPr/>
        </p:nvPicPr>
        <p:blipFill>
          <a:blip r:embed="rId3"/>
          <a:stretch>
            <a:fillRect/>
          </a:stretch>
        </p:blipFill>
        <p:spPr>
          <a:xfrm>
            <a:off x="1287751" y="84667"/>
            <a:ext cx="9616497" cy="6858000"/>
          </a:xfrm>
          <a:prstGeom prst="rect">
            <a:avLst/>
          </a:prstGeom>
        </p:spPr>
      </p:pic>
    </p:spTree>
    <p:extLst>
      <p:ext uri="{BB962C8B-B14F-4D97-AF65-F5344CB8AC3E}">
        <p14:creationId xmlns:p14="http://schemas.microsoft.com/office/powerpoint/2010/main" val="261359568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696B95-2DE0-4E7E-24E3-813CAC86ADDA}"/>
              </a:ext>
            </a:extLst>
          </p:cNvPr>
          <p:cNvPicPr>
            <a:picLocks noChangeAspect="1"/>
          </p:cNvPicPr>
          <p:nvPr/>
        </p:nvPicPr>
        <p:blipFill>
          <a:blip r:embed="rId2"/>
          <a:stretch>
            <a:fillRect/>
          </a:stretch>
        </p:blipFill>
        <p:spPr>
          <a:xfrm>
            <a:off x="3990081" y="-38100"/>
            <a:ext cx="6965923" cy="6858000"/>
          </a:xfrm>
          <a:prstGeom prst="rect">
            <a:avLst/>
          </a:prstGeom>
        </p:spPr>
      </p:pic>
      <p:sp>
        <p:nvSpPr>
          <p:cNvPr id="3" name="TextBox 2">
            <a:extLst>
              <a:ext uri="{FF2B5EF4-FFF2-40B4-BE49-F238E27FC236}">
                <a16:creationId xmlns:a16="http://schemas.microsoft.com/office/drawing/2014/main" id="{DAAE7E75-12BD-BBCB-CFD7-ADF15A59B045}"/>
              </a:ext>
            </a:extLst>
          </p:cNvPr>
          <p:cNvSpPr txBox="1"/>
          <p:nvPr/>
        </p:nvSpPr>
        <p:spPr>
          <a:xfrm>
            <a:off x="386444" y="805543"/>
            <a:ext cx="3603638" cy="4801314"/>
          </a:xfrm>
          <a:prstGeom prst="rect">
            <a:avLst/>
          </a:prstGeom>
          <a:noFill/>
        </p:spPr>
        <p:txBody>
          <a:bodyPr wrap="square" rtlCol="0">
            <a:spAutoFit/>
          </a:bodyPr>
          <a:lstStyle/>
          <a:p>
            <a:r>
              <a:rPr lang="en-CH" dirty="0"/>
              <a:t>After increasing boundary(1) to 70: There is still a headstart benefit – what causes it? Performance without mechanism became poorer by the raised boundary?!</a:t>
            </a:r>
          </a:p>
          <a:p>
            <a:r>
              <a:rPr lang="en-CH" dirty="0"/>
              <a:t>Why is adding visual interference beneficial with valid cue rather than harmful with neutral cue?</a:t>
            </a:r>
          </a:p>
          <a:p>
            <a:endParaRPr lang="en-CH" dirty="0"/>
          </a:p>
          <a:p>
            <a:r>
              <a:rPr lang="en-CH" dirty="0"/>
              <a:t>The headstart benefit might come from the fact that with CSI&gt;0, retrieval occurs before the test display. Even when filter = 0 (no </a:t>
            </a:r>
            <a:r>
              <a:rPr lang="en-CH" dirty="0" err="1"/>
              <a:t>colorwheel</a:t>
            </a:r>
            <a:r>
              <a:rPr lang="en-CH" dirty="0"/>
              <a:t> intrusion), the FX is erased at this point (completely because </a:t>
            </a:r>
            <a:r>
              <a:rPr lang="en-CH" dirty="0" err="1"/>
              <a:t>P.eraseFX</a:t>
            </a:r>
            <a:r>
              <a:rPr lang="en-CH" dirty="0"/>
              <a:t> = 0), so retrieval with CSI=0 does not benefit from FX</a:t>
            </a:r>
          </a:p>
        </p:txBody>
      </p:sp>
    </p:spTree>
    <p:extLst>
      <p:ext uri="{BB962C8B-B14F-4D97-AF65-F5344CB8AC3E}">
        <p14:creationId xmlns:p14="http://schemas.microsoft.com/office/powerpoint/2010/main" val="285703058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D657259-5F7F-6D1C-ABC3-DFCB2B2878E4}"/>
              </a:ext>
            </a:extLst>
          </p:cNvPr>
          <p:cNvPicPr>
            <a:picLocks noChangeAspect="1"/>
          </p:cNvPicPr>
          <p:nvPr/>
        </p:nvPicPr>
        <p:blipFill>
          <a:blip r:embed="rId2"/>
          <a:stretch>
            <a:fillRect/>
          </a:stretch>
        </p:blipFill>
        <p:spPr>
          <a:xfrm>
            <a:off x="264014" y="1017813"/>
            <a:ext cx="6169701" cy="4849587"/>
          </a:xfrm>
          <a:prstGeom prst="rect">
            <a:avLst/>
          </a:prstGeom>
        </p:spPr>
      </p:pic>
      <p:sp>
        <p:nvSpPr>
          <p:cNvPr id="3" name="TextBox 2">
            <a:extLst>
              <a:ext uri="{FF2B5EF4-FFF2-40B4-BE49-F238E27FC236}">
                <a16:creationId xmlns:a16="http://schemas.microsoft.com/office/drawing/2014/main" id="{FC3372CF-71FA-E64D-BD92-AB7CBF39A9AF}"/>
              </a:ext>
            </a:extLst>
          </p:cNvPr>
          <p:cNvSpPr txBox="1"/>
          <p:nvPr/>
        </p:nvSpPr>
        <p:spPr>
          <a:xfrm>
            <a:off x="468086" y="359229"/>
            <a:ext cx="10858499" cy="369332"/>
          </a:xfrm>
          <a:prstGeom prst="rect">
            <a:avLst/>
          </a:prstGeom>
          <a:noFill/>
        </p:spPr>
        <p:txBody>
          <a:bodyPr wrap="square" rtlCol="0">
            <a:spAutoFit/>
          </a:bodyPr>
          <a:lstStyle/>
          <a:p>
            <a:r>
              <a:rPr lang="en-CH" dirty="0"/>
              <a:t>After fixing that issue by erasing FX in the conditions with other mechanisms (and using boundary = 30)</a:t>
            </a:r>
          </a:p>
        </p:txBody>
      </p:sp>
      <p:pic>
        <p:nvPicPr>
          <p:cNvPr id="4" name="Picture 3">
            <a:extLst>
              <a:ext uri="{FF2B5EF4-FFF2-40B4-BE49-F238E27FC236}">
                <a16:creationId xmlns:a16="http://schemas.microsoft.com/office/drawing/2014/main" id="{87057586-964B-A93D-F678-08ED740BB72C}"/>
              </a:ext>
            </a:extLst>
          </p:cNvPr>
          <p:cNvPicPr>
            <a:picLocks noChangeAspect="1"/>
          </p:cNvPicPr>
          <p:nvPr/>
        </p:nvPicPr>
        <p:blipFill>
          <a:blip r:embed="rId3"/>
          <a:stretch>
            <a:fillRect/>
          </a:stretch>
        </p:blipFill>
        <p:spPr>
          <a:xfrm>
            <a:off x="5813883" y="1694196"/>
            <a:ext cx="6256839" cy="4924318"/>
          </a:xfrm>
          <a:prstGeom prst="rect">
            <a:avLst/>
          </a:prstGeom>
        </p:spPr>
      </p:pic>
    </p:spTree>
    <p:extLst>
      <p:ext uri="{BB962C8B-B14F-4D97-AF65-F5344CB8AC3E}">
        <p14:creationId xmlns:p14="http://schemas.microsoft.com/office/powerpoint/2010/main" val="196246385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105DCD6-B32D-FF73-D0E4-5D675A1FD28D}"/>
              </a:ext>
            </a:extLst>
          </p:cNvPr>
          <p:cNvPicPr>
            <a:picLocks noChangeAspect="1"/>
          </p:cNvPicPr>
          <p:nvPr/>
        </p:nvPicPr>
        <p:blipFill>
          <a:blip r:embed="rId2"/>
          <a:stretch>
            <a:fillRect/>
          </a:stretch>
        </p:blipFill>
        <p:spPr>
          <a:xfrm>
            <a:off x="1393119" y="324654"/>
            <a:ext cx="8485667" cy="6208691"/>
          </a:xfrm>
          <a:prstGeom prst="rect">
            <a:avLst/>
          </a:prstGeom>
        </p:spPr>
      </p:pic>
    </p:spTree>
    <p:extLst>
      <p:ext uri="{BB962C8B-B14F-4D97-AF65-F5344CB8AC3E}">
        <p14:creationId xmlns:p14="http://schemas.microsoft.com/office/powerpoint/2010/main" val="85503560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E66AF04-066B-9B81-1C72-B35B53E383B4}"/>
              </a:ext>
            </a:extLst>
          </p:cNvPr>
          <p:cNvPicPr>
            <a:picLocks noChangeAspect="1"/>
          </p:cNvPicPr>
          <p:nvPr/>
        </p:nvPicPr>
        <p:blipFill>
          <a:blip r:embed="rId2"/>
          <a:stretch>
            <a:fillRect/>
          </a:stretch>
        </p:blipFill>
        <p:spPr>
          <a:xfrm>
            <a:off x="239950" y="130628"/>
            <a:ext cx="6270138" cy="4474029"/>
          </a:xfrm>
          <a:prstGeom prst="rect">
            <a:avLst/>
          </a:prstGeom>
        </p:spPr>
      </p:pic>
      <p:pic>
        <p:nvPicPr>
          <p:cNvPr id="3" name="Picture 2">
            <a:extLst>
              <a:ext uri="{FF2B5EF4-FFF2-40B4-BE49-F238E27FC236}">
                <a16:creationId xmlns:a16="http://schemas.microsoft.com/office/drawing/2014/main" id="{4875F455-8587-B2D4-07EF-EF0FAE492BE3}"/>
              </a:ext>
            </a:extLst>
          </p:cNvPr>
          <p:cNvPicPr>
            <a:picLocks noChangeAspect="1"/>
          </p:cNvPicPr>
          <p:nvPr/>
        </p:nvPicPr>
        <p:blipFill>
          <a:blip r:embed="rId3"/>
          <a:stretch>
            <a:fillRect/>
          </a:stretch>
        </p:blipFill>
        <p:spPr>
          <a:xfrm>
            <a:off x="6259286" y="1751239"/>
            <a:ext cx="6030686" cy="4523015"/>
          </a:xfrm>
          <a:prstGeom prst="rect">
            <a:avLst/>
          </a:prstGeom>
        </p:spPr>
      </p:pic>
      <p:sp>
        <p:nvSpPr>
          <p:cNvPr id="4" name="TextBox 3">
            <a:extLst>
              <a:ext uri="{FF2B5EF4-FFF2-40B4-BE49-F238E27FC236}">
                <a16:creationId xmlns:a16="http://schemas.microsoft.com/office/drawing/2014/main" id="{BCFC8C8F-D115-0CFB-9FE5-D08905A5E76B}"/>
              </a:ext>
            </a:extLst>
          </p:cNvPr>
          <p:cNvSpPr txBox="1"/>
          <p:nvPr/>
        </p:nvSpPr>
        <p:spPr>
          <a:xfrm>
            <a:off x="7010400" y="707571"/>
            <a:ext cx="1911805" cy="369332"/>
          </a:xfrm>
          <a:prstGeom prst="rect">
            <a:avLst/>
          </a:prstGeom>
          <a:noFill/>
        </p:spPr>
        <p:txBody>
          <a:bodyPr wrap="none" rtlCol="0">
            <a:spAutoFit/>
          </a:bodyPr>
          <a:lstStyle/>
          <a:p>
            <a:r>
              <a:rPr lang="en-CH" dirty="0"/>
              <a:t>With filter(2) = 0.1</a:t>
            </a:r>
          </a:p>
        </p:txBody>
      </p:sp>
    </p:spTree>
    <p:extLst>
      <p:ext uri="{BB962C8B-B14F-4D97-AF65-F5344CB8AC3E}">
        <p14:creationId xmlns:p14="http://schemas.microsoft.com/office/powerpoint/2010/main" val="70254123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6FCC869-7388-8D1D-64E1-2D22CD741CD9}"/>
              </a:ext>
            </a:extLst>
          </p:cNvPr>
          <p:cNvPicPr>
            <a:picLocks noChangeAspect="1"/>
          </p:cNvPicPr>
          <p:nvPr/>
        </p:nvPicPr>
        <p:blipFill>
          <a:blip r:embed="rId2"/>
          <a:stretch>
            <a:fillRect/>
          </a:stretch>
        </p:blipFill>
        <p:spPr>
          <a:xfrm>
            <a:off x="365234" y="239486"/>
            <a:ext cx="9145001" cy="6215743"/>
          </a:xfrm>
          <a:prstGeom prst="rect">
            <a:avLst/>
          </a:prstGeom>
        </p:spPr>
      </p:pic>
    </p:spTree>
    <p:extLst>
      <p:ext uri="{BB962C8B-B14F-4D97-AF65-F5344CB8AC3E}">
        <p14:creationId xmlns:p14="http://schemas.microsoft.com/office/powerpoint/2010/main" val="255857720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0EEB47F-DB6E-5E0C-E4E4-352A23F09DC3}"/>
              </a:ext>
            </a:extLst>
          </p:cNvPr>
          <p:cNvPicPr>
            <a:picLocks noChangeAspect="1"/>
          </p:cNvPicPr>
          <p:nvPr/>
        </p:nvPicPr>
        <p:blipFill>
          <a:blip r:embed="rId2"/>
          <a:stretch>
            <a:fillRect/>
          </a:stretch>
        </p:blipFill>
        <p:spPr>
          <a:xfrm>
            <a:off x="466371" y="152400"/>
            <a:ext cx="5047244" cy="4198733"/>
          </a:xfrm>
          <a:prstGeom prst="rect">
            <a:avLst/>
          </a:prstGeom>
        </p:spPr>
      </p:pic>
      <p:sp>
        <p:nvSpPr>
          <p:cNvPr id="3" name="TextBox 2">
            <a:extLst>
              <a:ext uri="{FF2B5EF4-FFF2-40B4-BE49-F238E27FC236}">
                <a16:creationId xmlns:a16="http://schemas.microsoft.com/office/drawing/2014/main" id="{DA53AF96-D2CC-6E8D-79BF-307AFEC14F28}"/>
              </a:ext>
            </a:extLst>
          </p:cNvPr>
          <p:cNvSpPr txBox="1"/>
          <p:nvPr/>
        </p:nvSpPr>
        <p:spPr>
          <a:xfrm>
            <a:off x="7010401" y="707571"/>
            <a:ext cx="4620986" cy="646331"/>
          </a:xfrm>
          <a:prstGeom prst="rect">
            <a:avLst/>
          </a:prstGeom>
          <a:noFill/>
        </p:spPr>
        <p:txBody>
          <a:bodyPr wrap="square" rtlCol="0">
            <a:spAutoFit/>
          </a:bodyPr>
          <a:lstStyle/>
          <a:p>
            <a:r>
              <a:rPr lang="en-CH" dirty="0"/>
              <a:t>With filter(2) = 0.1 and </a:t>
            </a:r>
            <a:r>
              <a:rPr lang="en-CH" dirty="0" err="1"/>
              <a:t>dnoise</a:t>
            </a:r>
            <a:r>
              <a:rPr lang="en-CH" dirty="0"/>
              <a:t> increased (from 1.5) to 3</a:t>
            </a:r>
          </a:p>
        </p:txBody>
      </p:sp>
      <p:pic>
        <p:nvPicPr>
          <p:cNvPr id="4" name="Picture 3">
            <a:extLst>
              <a:ext uri="{FF2B5EF4-FFF2-40B4-BE49-F238E27FC236}">
                <a16:creationId xmlns:a16="http://schemas.microsoft.com/office/drawing/2014/main" id="{EBC6F44B-E9E4-B9A4-B854-1DE8AB303E3F}"/>
              </a:ext>
            </a:extLst>
          </p:cNvPr>
          <p:cNvPicPr>
            <a:picLocks noChangeAspect="1"/>
          </p:cNvPicPr>
          <p:nvPr/>
        </p:nvPicPr>
        <p:blipFill>
          <a:blip r:embed="rId3"/>
          <a:stretch>
            <a:fillRect/>
          </a:stretch>
        </p:blipFill>
        <p:spPr>
          <a:xfrm>
            <a:off x="5558892" y="1605643"/>
            <a:ext cx="6208567" cy="4740727"/>
          </a:xfrm>
          <a:prstGeom prst="rect">
            <a:avLst/>
          </a:prstGeom>
        </p:spPr>
      </p:pic>
    </p:spTree>
    <p:extLst>
      <p:ext uri="{BB962C8B-B14F-4D97-AF65-F5344CB8AC3E}">
        <p14:creationId xmlns:p14="http://schemas.microsoft.com/office/powerpoint/2010/main" val="14443952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6C7593E-EB8F-4ED9-9B88-23EF81B98414}"/>
              </a:ext>
            </a:extLst>
          </p:cNvPr>
          <p:cNvPicPr>
            <a:picLocks noChangeAspect="1"/>
          </p:cNvPicPr>
          <p:nvPr/>
        </p:nvPicPr>
        <p:blipFill>
          <a:blip r:embed="rId2"/>
          <a:stretch>
            <a:fillRect/>
          </a:stretch>
        </p:blipFill>
        <p:spPr>
          <a:xfrm>
            <a:off x="1866900" y="0"/>
            <a:ext cx="8907956" cy="6528387"/>
          </a:xfrm>
          <a:prstGeom prst="rect">
            <a:avLst/>
          </a:prstGeom>
        </p:spPr>
      </p:pic>
      <p:sp>
        <p:nvSpPr>
          <p:cNvPr id="3" name="TextBox 2">
            <a:extLst>
              <a:ext uri="{FF2B5EF4-FFF2-40B4-BE49-F238E27FC236}">
                <a16:creationId xmlns:a16="http://schemas.microsoft.com/office/drawing/2014/main" id="{35942FEC-7B2A-EE61-E3DC-D15884A6551C}"/>
              </a:ext>
            </a:extLst>
          </p:cNvPr>
          <p:cNvSpPr txBox="1"/>
          <p:nvPr/>
        </p:nvSpPr>
        <p:spPr>
          <a:xfrm>
            <a:off x="310243" y="370113"/>
            <a:ext cx="1321196" cy="369332"/>
          </a:xfrm>
          <a:prstGeom prst="rect">
            <a:avLst/>
          </a:prstGeom>
          <a:noFill/>
        </p:spPr>
        <p:txBody>
          <a:bodyPr wrap="none" rtlCol="0">
            <a:spAutoFit/>
          </a:bodyPr>
          <a:lstStyle/>
          <a:p>
            <a:r>
              <a:rPr lang="en-CH" dirty="0" err="1"/>
              <a:t>dnoise</a:t>
            </a:r>
            <a:r>
              <a:rPr lang="en-CH" dirty="0"/>
              <a:t> = 1.5</a:t>
            </a:r>
          </a:p>
        </p:txBody>
      </p:sp>
    </p:spTree>
    <p:extLst>
      <p:ext uri="{BB962C8B-B14F-4D97-AF65-F5344CB8AC3E}">
        <p14:creationId xmlns:p14="http://schemas.microsoft.com/office/powerpoint/2010/main" val="218652281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FD03C9E-EDA1-117A-0C52-11DB773A4B89}"/>
              </a:ext>
            </a:extLst>
          </p:cNvPr>
          <p:cNvPicPr>
            <a:picLocks noChangeAspect="1"/>
          </p:cNvPicPr>
          <p:nvPr/>
        </p:nvPicPr>
        <p:blipFill>
          <a:blip r:embed="rId2"/>
          <a:stretch>
            <a:fillRect/>
          </a:stretch>
        </p:blipFill>
        <p:spPr>
          <a:xfrm>
            <a:off x="312991" y="76189"/>
            <a:ext cx="5771734" cy="5519056"/>
          </a:xfrm>
          <a:prstGeom prst="rect">
            <a:avLst/>
          </a:prstGeom>
        </p:spPr>
      </p:pic>
      <p:pic>
        <p:nvPicPr>
          <p:cNvPr id="3" name="Picture 2">
            <a:extLst>
              <a:ext uri="{FF2B5EF4-FFF2-40B4-BE49-F238E27FC236}">
                <a16:creationId xmlns:a16="http://schemas.microsoft.com/office/drawing/2014/main" id="{74F64AD2-C343-1302-64EF-BF9874BBBFDE}"/>
              </a:ext>
            </a:extLst>
          </p:cNvPr>
          <p:cNvPicPr>
            <a:picLocks noChangeAspect="1"/>
          </p:cNvPicPr>
          <p:nvPr/>
        </p:nvPicPr>
        <p:blipFill>
          <a:blip r:embed="rId3"/>
          <a:stretch>
            <a:fillRect/>
          </a:stretch>
        </p:blipFill>
        <p:spPr>
          <a:xfrm>
            <a:off x="5840183" y="21759"/>
            <a:ext cx="6564086" cy="5573486"/>
          </a:xfrm>
          <a:prstGeom prst="rect">
            <a:avLst/>
          </a:prstGeom>
        </p:spPr>
      </p:pic>
      <p:sp>
        <p:nvSpPr>
          <p:cNvPr id="4" name="TextBox 3">
            <a:extLst>
              <a:ext uri="{FF2B5EF4-FFF2-40B4-BE49-F238E27FC236}">
                <a16:creationId xmlns:a16="http://schemas.microsoft.com/office/drawing/2014/main" id="{CE081CA2-D209-C115-EDB4-84842F7BEF0E}"/>
              </a:ext>
            </a:extLst>
          </p:cNvPr>
          <p:cNvSpPr txBox="1"/>
          <p:nvPr/>
        </p:nvSpPr>
        <p:spPr>
          <a:xfrm>
            <a:off x="696685" y="5747658"/>
            <a:ext cx="11217728" cy="923330"/>
          </a:xfrm>
          <a:prstGeom prst="rect">
            <a:avLst/>
          </a:prstGeom>
          <a:noFill/>
        </p:spPr>
        <p:txBody>
          <a:bodyPr wrap="square" rtlCol="0">
            <a:spAutoFit/>
          </a:bodyPr>
          <a:lstStyle/>
          <a:p>
            <a:r>
              <a:rPr lang="en-CH" dirty="0"/>
              <a:t>Why is ABA not better than CBA, but 2 </a:t>
            </a:r>
            <a:r>
              <a:rPr lang="en-CH" dirty="0" err="1"/>
              <a:t>refreshings</a:t>
            </a:r>
            <a:r>
              <a:rPr lang="en-CH" dirty="0"/>
              <a:t> &gt; 1 refreshing? Probably because the 1-refreshing items suffer competition from the 2-refreshing item (they are hardly better than no-cue control when refreshed last, whereas CBA is much better than None)</a:t>
            </a:r>
          </a:p>
        </p:txBody>
      </p:sp>
    </p:spTree>
    <p:extLst>
      <p:ext uri="{BB962C8B-B14F-4D97-AF65-F5344CB8AC3E}">
        <p14:creationId xmlns:p14="http://schemas.microsoft.com/office/powerpoint/2010/main" val="347047564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B2EAA46-D158-43FA-8246-B924D9DE9CDF}"/>
              </a:ext>
            </a:extLst>
          </p:cNvPr>
          <p:cNvPicPr>
            <a:picLocks noChangeAspect="1"/>
          </p:cNvPicPr>
          <p:nvPr/>
        </p:nvPicPr>
        <p:blipFill>
          <a:blip r:embed="rId2"/>
          <a:stretch>
            <a:fillRect/>
          </a:stretch>
        </p:blipFill>
        <p:spPr>
          <a:xfrm>
            <a:off x="2538775" y="669471"/>
            <a:ext cx="8243525" cy="5741389"/>
          </a:xfrm>
          <a:prstGeom prst="rect">
            <a:avLst/>
          </a:prstGeom>
        </p:spPr>
      </p:pic>
      <p:sp>
        <p:nvSpPr>
          <p:cNvPr id="3" name="TextBox 2">
            <a:extLst>
              <a:ext uri="{FF2B5EF4-FFF2-40B4-BE49-F238E27FC236}">
                <a16:creationId xmlns:a16="http://schemas.microsoft.com/office/drawing/2014/main" id="{D5B69404-487B-A201-57A6-FE6E71B40D07}"/>
              </a:ext>
            </a:extLst>
          </p:cNvPr>
          <p:cNvSpPr txBox="1"/>
          <p:nvPr/>
        </p:nvSpPr>
        <p:spPr>
          <a:xfrm>
            <a:off x="310243" y="370113"/>
            <a:ext cx="3080330" cy="369332"/>
          </a:xfrm>
          <a:prstGeom prst="rect">
            <a:avLst/>
          </a:prstGeom>
          <a:noFill/>
        </p:spPr>
        <p:txBody>
          <a:bodyPr wrap="none" rtlCol="0">
            <a:spAutoFit/>
          </a:bodyPr>
          <a:lstStyle/>
          <a:p>
            <a:r>
              <a:rPr lang="en-CH" dirty="0"/>
              <a:t>increasing </a:t>
            </a:r>
            <a:r>
              <a:rPr lang="en-CH" dirty="0" err="1"/>
              <a:t>dnoise</a:t>
            </a:r>
            <a:r>
              <a:rPr lang="en-CH" dirty="0"/>
              <a:t> from 1.5 to 3</a:t>
            </a:r>
          </a:p>
        </p:txBody>
      </p:sp>
    </p:spTree>
    <p:extLst>
      <p:ext uri="{BB962C8B-B14F-4D97-AF65-F5344CB8AC3E}">
        <p14:creationId xmlns:p14="http://schemas.microsoft.com/office/powerpoint/2010/main" val="325149240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DDC3E80-ACBD-8A1A-B83B-F5D9D7878C19}"/>
              </a:ext>
            </a:extLst>
          </p:cNvPr>
          <p:cNvPicPr>
            <a:picLocks noChangeAspect="1"/>
          </p:cNvPicPr>
          <p:nvPr/>
        </p:nvPicPr>
        <p:blipFill>
          <a:blip r:embed="rId2"/>
          <a:stretch>
            <a:fillRect/>
          </a:stretch>
        </p:blipFill>
        <p:spPr>
          <a:xfrm>
            <a:off x="0" y="2085245"/>
            <a:ext cx="12192000" cy="2687510"/>
          </a:xfrm>
          <a:prstGeom prst="rect">
            <a:avLst/>
          </a:prstGeom>
        </p:spPr>
      </p:pic>
    </p:spTree>
    <p:extLst>
      <p:ext uri="{BB962C8B-B14F-4D97-AF65-F5344CB8AC3E}">
        <p14:creationId xmlns:p14="http://schemas.microsoft.com/office/powerpoint/2010/main" val="118567401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D67206A-6D44-5DCF-F501-5E0191E9B9D9}"/>
              </a:ext>
            </a:extLst>
          </p:cNvPr>
          <p:cNvPicPr>
            <a:picLocks noChangeAspect="1"/>
          </p:cNvPicPr>
          <p:nvPr/>
        </p:nvPicPr>
        <p:blipFill>
          <a:blip r:embed="rId2"/>
          <a:stretch>
            <a:fillRect/>
          </a:stretch>
        </p:blipFill>
        <p:spPr>
          <a:xfrm>
            <a:off x="396339" y="70758"/>
            <a:ext cx="5590804" cy="4597090"/>
          </a:xfrm>
          <a:prstGeom prst="rect">
            <a:avLst/>
          </a:prstGeom>
        </p:spPr>
      </p:pic>
      <p:pic>
        <p:nvPicPr>
          <p:cNvPr id="3" name="Picture 2">
            <a:extLst>
              <a:ext uri="{FF2B5EF4-FFF2-40B4-BE49-F238E27FC236}">
                <a16:creationId xmlns:a16="http://schemas.microsoft.com/office/drawing/2014/main" id="{0FE67298-0DCF-0BA1-8B05-5E267D1CD114}"/>
              </a:ext>
            </a:extLst>
          </p:cNvPr>
          <p:cNvPicPr>
            <a:picLocks noChangeAspect="1"/>
          </p:cNvPicPr>
          <p:nvPr/>
        </p:nvPicPr>
        <p:blipFill>
          <a:blip r:embed="rId3"/>
          <a:stretch>
            <a:fillRect/>
          </a:stretch>
        </p:blipFill>
        <p:spPr>
          <a:xfrm>
            <a:off x="5912534" y="1578228"/>
            <a:ext cx="5740000" cy="4889445"/>
          </a:xfrm>
          <a:prstGeom prst="rect">
            <a:avLst/>
          </a:prstGeom>
        </p:spPr>
      </p:pic>
    </p:spTree>
    <p:extLst>
      <p:ext uri="{BB962C8B-B14F-4D97-AF65-F5344CB8AC3E}">
        <p14:creationId xmlns:p14="http://schemas.microsoft.com/office/powerpoint/2010/main" val="371778843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D7430E0-3630-89B1-EBD9-D5490A31FF46}"/>
              </a:ext>
            </a:extLst>
          </p:cNvPr>
          <p:cNvPicPr>
            <a:picLocks noChangeAspect="1"/>
          </p:cNvPicPr>
          <p:nvPr/>
        </p:nvPicPr>
        <p:blipFill>
          <a:blip r:embed="rId2"/>
          <a:stretch>
            <a:fillRect/>
          </a:stretch>
        </p:blipFill>
        <p:spPr>
          <a:xfrm>
            <a:off x="2064202" y="658586"/>
            <a:ext cx="6964786" cy="5225143"/>
          </a:xfrm>
          <a:prstGeom prst="rect">
            <a:avLst/>
          </a:prstGeom>
        </p:spPr>
      </p:pic>
    </p:spTree>
    <p:extLst>
      <p:ext uri="{BB962C8B-B14F-4D97-AF65-F5344CB8AC3E}">
        <p14:creationId xmlns:p14="http://schemas.microsoft.com/office/powerpoint/2010/main" val="119473669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7F1DB54-571D-0AB7-6A21-A848EFEE4173}"/>
              </a:ext>
            </a:extLst>
          </p:cNvPr>
          <p:cNvPicPr>
            <a:picLocks noChangeAspect="1"/>
          </p:cNvPicPr>
          <p:nvPr/>
        </p:nvPicPr>
        <p:blipFill>
          <a:blip r:embed="rId2"/>
          <a:stretch>
            <a:fillRect/>
          </a:stretch>
        </p:blipFill>
        <p:spPr>
          <a:xfrm>
            <a:off x="4282357" y="582385"/>
            <a:ext cx="7082330" cy="5793013"/>
          </a:xfrm>
          <a:prstGeom prst="rect">
            <a:avLst/>
          </a:prstGeom>
        </p:spPr>
      </p:pic>
      <p:sp>
        <p:nvSpPr>
          <p:cNvPr id="3" name="TextBox 2">
            <a:extLst>
              <a:ext uri="{FF2B5EF4-FFF2-40B4-BE49-F238E27FC236}">
                <a16:creationId xmlns:a16="http://schemas.microsoft.com/office/drawing/2014/main" id="{DD5483EC-4F99-A4CA-CA14-63B263F74CE8}"/>
              </a:ext>
            </a:extLst>
          </p:cNvPr>
          <p:cNvSpPr txBox="1"/>
          <p:nvPr/>
        </p:nvSpPr>
        <p:spPr>
          <a:xfrm>
            <a:off x="457200" y="723900"/>
            <a:ext cx="2188029" cy="1200329"/>
          </a:xfrm>
          <a:prstGeom prst="rect">
            <a:avLst/>
          </a:prstGeom>
          <a:noFill/>
        </p:spPr>
        <p:txBody>
          <a:bodyPr wrap="square" rtlCol="0">
            <a:spAutoFit/>
          </a:bodyPr>
          <a:lstStyle/>
          <a:p>
            <a:r>
              <a:rPr lang="en-CH" dirty="0"/>
              <a:t>Pre-cue after revision: boost to strength of encoding into FX</a:t>
            </a:r>
          </a:p>
        </p:txBody>
      </p:sp>
    </p:spTree>
    <p:extLst>
      <p:ext uri="{BB962C8B-B14F-4D97-AF65-F5344CB8AC3E}">
        <p14:creationId xmlns:p14="http://schemas.microsoft.com/office/powerpoint/2010/main" val="341359200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DC1FA86-11FE-B0A8-0167-DC528FEDE9D2}"/>
              </a:ext>
            </a:extLst>
          </p:cNvPr>
          <p:cNvPicPr>
            <a:picLocks noChangeAspect="1"/>
          </p:cNvPicPr>
          <p:nvPr/>
        </p:nvPicPr>
        <p:blipFill>
          <a:blip r:embed="rId2"/>
          <a:stretch>
            <a:fillRect/>
          </a:stretch>
        </p:blipFill>
        <p:spPr>
          <a:xfrm>
            <a:off x="2728846" y="233056"/>
            <a:ext cx="7415443" cy="6260273"/>
          </a:xfrm>
          <a:prstGeom prst="rect">
            <a:avLst/>
          </a:prstGeom>
        </p:spPr>
      </p:pic>
    </p:spTree>
    <p:extLst>
      <p:ext uri="{BB962C8B-B14F-4D97-AF65-F5344CB8AC3E}">
        <p14:creationId xmlns:p14="http://schemas.microsoft.com/office/powerpoint/2010/main" val="195691472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1247ED6-319F-371F-9D8C-92D3AF284DC1}"/>
              </a:ext>
            </a:extLst>
          </p:cNvPr>
          <p:cNvPicPr>
            <a:picLocks noChangeAspect="1"/>
          </p:cNvPicPr>
          <p:nvPr/>
        </p:nvPicPr>
        <p:blipFill>
          <a:blip r:embed="rId2"/>
          <a:stretch>
            <a:fillRect/>
          </a:stretch>
        </p:blipFill>
        <p:spPr>
          <a:xfrm>
            <a:off x="277585" y="1279762"/>
            <a:ext cx="6351816" cy="4659848"/>
          </a:xfrm>
          <a:prstGeom prst="rect">
            <a:avLst/>
          </a:prstGeom>
        </p:spPr>
      </p:pic>
      <p:sp>
        <p:nvSpPr>
          <p:cNvPr id="3" name="TextBox 2">
            <a:extLst>
              <a:ext uri="{FF2B5EF4-FFF2-40B4-BE49-F238E27FC236}">
                <a16:creationId xmlns:a16="http://schemas.microsoft.com/office/drawing/2014/main" id="{B3BE5121-31B2-9244-2CD6-768F65BFCB9C}"/>
              </a:ext>
            </a:extLst>
          </p:cNvPr>
          <p:cNvSpPr txBox="1"/>
          <p:nvPr/>
        </p:nvSpPr>
        <p:spPr>
          <a:xfrm>
            <a:off x="424543" y="680357"/>
            <a:ext cx="11217728" cy="369332"/>
          </a:xfrm>
          <a:prstGeom prst="rect">
            <a:avLst/>
          </a:prstGeom>
          <a:noFill/>
        </p:spPr>
        <p:txBody>
          <a:bodyPr wrap="square" rtlCol="0">
            <a:spAutoFit/>
          </a:bodyPr>
          <a:lstStyle/>
          <a:p>
            <a:r>
              <a:rPr lang="en-CH" dirty="0"/>
              <a:t>After letting only 1 retrieval happen, either upon retro cue or upon test (i.e., removing the second retrieval at test)</a:t>
            </a:r>
          </a:p>
        </p:txBody>
      </p:sp>
      <p:pic>
        <p:nvPicPr>
          <p:cNvPr id="4" name="Picture 3">
            <a:extLst>
              <a:ext uri="{FF2B5EF4-FFF2-40B4-BE49-F238E27FC236}">
                <a16:creationId xmlns:a16="http://schemas.microsoft.com/office/drawing/2014/main" id="{0C73C3D0-4545-007A-ADA2-6D405C545474}"/>
              </a:ext>
            </a:extLst>
          </p:cNvPr>
          <p:cNvPicPr>
            <a:picLocks noChangeAspect="1"/>
          </p:cNvPicPr>
          <p:nvPr/>
        </p:nvPicPr>
        <p:blipFill>
          <a:blip r:embed="rId3"/>
          <a:stretch>
            <a:fillRect/>
          </a:stretch>
        </p:blipFill>
        <p:spPr>
          <a:xfrm>
            <a:off x="6380994" y="1219200"/>
            <a:ext cx="5811045" cy="4659848"/>
          </a:xfrm>
          <a:prstGeom prst="rect">
            <a:avLst/>
          </a:prstGeom>
        </p:spPr>
      </p:pic>
    </p:spTree>
    <p:extLst>
      <p:ext uri="{BB962C8B-B14F-4D97-AF65-F5344CB8AC3E}">
        <p14:creationId xmlns:p14="http://schemas.microsoft.com/office/powerpoint/2010/main" val="141436796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BDEB4D1-4942-FF8C-4983-1FA72D8342F6}"/>
              </a:ext>
            </a:extLst>
          </p:cNvPr>
          <p:cNvSpPr txBox="1"/>
          <p:nvPr/>
        </p:nvSpPr>
        <p:spPr>
          <a:xfrm>
            <a:off x="685800" y="838200"/>
            <a:ext cx="4190827" cy="369332"/>
          </a:xfrm>
          <a:prstGeom prst="rect">
            <a:avLst/>
          </a:prstGeom>
          <a:noFill/>
        </p:spPr>
        <p:txBody>
          <a:bodyPr wrap="none" rtlCol="0">
            <a:spAutoFit/>
          </a:bodyPr>
          <a:lstStyle/>
          <a:p>
            <a:r>
              <a:rPr lang="en-CH" dirty="0"/>
              <a:t>rolling back that change did not help much</a:t>
            </a:r>
          </a:p>
        </p:txBody>
      </p:sp>
      <p:pic>
        <p:nvPicPr>
          <p:cNvPr id="3" name="Picture 2">
            <a:extLst>
              <a:ext uri="{FF2B5EF4-FFF2-40B4-BE49-F238E27FC236}">
                <a16:creationId xmlns:a16="http://schemas.microsoft.com/office/drawing/2014/main" id="{4BC943C9-2850-48C5-9E43-B3B008E9DCA1}"/>
              </a:ext>
            </a:extLst>
          </p:cNvPr>
          <p:cNvPicPr>
            <a:picLocks noChangeAspect="1"/>
          </p:cNvPicPr>
          <p:nvPr/>
        </p:nvPicPr>
        <p:blipFill>
          <a:blip r:embed="rId2"/>
          <a:stretch>
            <a:fillRect/>
          </a:stretch>
        </p:blipFill>
        <p:spPr>
          <a:xfrm>
            <a:off x="-46735" y="1247196"/>
            <a:ext cx="7151584" cy="5241471"/>
          </a:xfrm>
          <a:prstGeom prst="rect">
            <a:avLst/>
          </a:prstGeom>
        </p:spPr>
      </p:pic>
      <p:sp>
        <p:nvSpPr>
          <p:cNvPr id="4" name="TextBox 3">
            <a:extLst>
              <a:ext uri="{FF2B5EF4-FFF2-40B4-BE49-F238E27FC236}">
                <a16:creationId xmlns:a16="http://schemas.microsoft.com/office/drawing/2014/main" id="{92FACA55-B37D-89F2-98B1-AB183C436970}"/>
              </a:ext>
            </a:extLst>
          </p:cNvPr>
          <p:cNvSpPr txBox="1"/>
          <p:nvPr/>
        </p:nvSpPr>
        <p:spPr>
          <a:xfrm>
            <a:off x="6923314" y="625929"/>
            <a:ext cx="4904015" cy="938719"/>
          </a:xfrm>
          <a:prstGeom prst="rect">
            <a:avLst/>
          </a:prstGeom>
          <a:noFill/>
        </p:spPr>
        <p:txBody>
          <a:bodyPr wrap="square" rtlCol="0">
            <a:spAutoFit/>
          </a:bodyPr>
          <a:lstStyle/>
          <a:p>
            <a:r>
              <a:rPr lang="en-CH" sz="1100" dirty="0"/>
              <a:t>The good pattern could be reproduced with “Mediated” in the Archive but not the branch June8. Differences with the current version:</a:t>
            </a:r>
          </a:p>
          <a:p>
            <a:r>
              <a:rPr lang="en-CH" sz="1100" dirty="0"/>
              <a:t>IOR on FX has been parameterized</a:t>
            </a:r>
          </a:p>
          <a:p>
            <a:r>
              <a:rPr lang="en-CH" sz="1100" dirty="0" err="1"/>
              <a:t>cRateSD</a:t>
            </a:r>
            <a:r>
              <a:rPr lang="en-CH" sz="1100" dirty="0"/>
              <a:t> has been corrected in the reorienting time during retrieval</a:t>
            </a:r>
          </a:p>
          <a:p>
            <a:endParaRPr lang="en-CH" sz="1100" dirty="0"/>
          </a:p>
        </p:txBody>
      </p:sp>
    </p:spTree>
    <p:extLst>
      <p:ext uri="{BB962C8B-B14F-4D97-AF65-F5344CB8AC3E}">
        <p14:creationId xmlns:p14="http://schemas.microsoft.com/office/powerpoint/2010/main" val="4178743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DCD9144-FB7B-1158-572B-E257333FF79E}"/>
              </a:ext>
            </a:extLst>
          </p:cNvPr>
          <p:cNvPicPr>
            <a:picLocks noChangeAspect="1"/>
          </p:cNvPicPr>
          <p:nvPr/>
        </p:nvPicPr>
        <p:blipFill>
          <a:blip r:embed="rId2"/>
          <a:stretch>
            <a:fillRect/>
          </a:stretch>
        </p:blipFill>
        <p:spPr>
          <a:xfrm>
            <a:off x="751114" y="1144242"/>
            <a:ext cx="8343900" cy="5713758"/>
          </a:xfrm>
          <a:prstGeom prst="rect">
            <a:avLst/>
          </a:prstGeom>
        </p:spPr>
      </p:pic>
      <p:sp>
        <p:nvSpPr>
          <p:cNvPr id="3" name="TextBox 2">
            <a:extLst>
              <a:ext uri="{FF2B5EF4-FFF2-40B4-BE49-F238E27FC236}">
                <a16:creationId xmlns:a16="http://schemas.microsoft.com/office/drawing/2014/main" id="{9062C9DE-08BD-4C7E-9998-334273E6ACDB}"/>
              </a:ext>
            </a:extLst>
          </p:cNvPr>
          <p:cNvSpPr txBox="1"/>
          <p:nvPr/>
        </p:nvSpPr>
        <p:spPr>
          <a:xfrm>
            <a:off x="8795657" y="1039586"/>
            <a:ext cx="2418291" cy="369332"/>
          </a:xfrm>
          <a:prstGeom prst="rect">
            <a:avLst/>
          </a:prstGeom>
          <a:noFill/>
        </p:spPr>
        <p:txBody>
          <a:bodyPr wrap="none" rtlCol="0">
            <a:spAutoFit/>
          </a:bodyPr>
          <a:lstStyle/>
          <a:p>
            <a:r>
              <a:rPr lang="en-CH"/>
              <a:t>setting IOR = 1 fixes this</a:t>
            </a:r>
          </a:p>
        </p:txBody>
      </p:sp>
    </p:spTree>
    <p:extLst>
      <p:ext uri="{BB962C8B-B14F-4D97-AF65-F5344CB8AC3E}">
        <p14:creationId xmlns:p14="http://schemas.microsoft.com/office/powerpoint/2010/main" val="351307009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54C0199-9A10-510A-E562-7D0398D11BD9}"/>
              </a:ext>
            </a:extLst>
          </p:cNvPr>
          <p:cNvSpPr txBox="1"/>
          <p:nvPr/>
        </p:nvSpPr>
        <p:spPr>
          <a:xfrm>
            <a:off x="631371" y="658586"/>
            <a:ext cx="4572000" cy="646331"/>
          </a:xfrm>
          <a:prstGeom prst="rect">
            <a:avLst/>
          </a:prstGeom>
          <a:noFill/>
        </p:spPr>
        <p:txBody>
          <a:bodyPr wrap="square" rtlCol="0">
            <a:spAutoFit/>
          </a:bodyPr>
          <a:lstStyle/>
          <a:p>
            <a:r>
              <a:rPr lang="en-CH" dirty="0"/>
              <a:t>After fixing the decay of W to time-based rather timestep-based, and doubling </a:t>
            </a:r>
            <a:r>
              <a:rPr lang="en-CH" dirty="0" err="1"/>
              <a:t>wnoise</a:t>
            </a:r>
            <a:r>
              <a:rPr lang="en-CH" dirty="0"/>
              <a:t>: </a:t>
            </a:r>
          </a:p>
        </p:txBody>
      </p:sp>
      <p:pic>
        <p:nvPicPr>
          <p:cNvPr id="7" name="Picture 6">
            <a:extLst>
              <a:ext uri="{FF2B5EF4-FFF2-40B4-BE49-F238E27FC236}">
                <a16:creationId xmlns:a16="http://schemas.microsoft.com/office/drawing/2014/main" id="{B2408CC2-811D-EDFA-A94D-D03EAA32C105}"/>
              </a:ext>
            </a:extLst>
          </p:cNvPr>
          <p:cNvPicPr>
            <a:picLocks noChangeAspect="1"/>
          </p:cNvPicPr>
          <p:nvPr/>
        </p:nvPicPr>
        <p:blipFill>
          <a:blip r:embed="rId2"/>
          <a:stretch>
            <a:fillRect/>
          </a:stretch>
        </p:blipFill>
        <p:spPr>
          <a:xfrm>
            <a:off x="221462" y="1245046"/>
            <a:ext cx="6101067" cy="4740729"/>
          </a:xfrm>
          <a:prstGeom prst="rect">
            <a:avLst/>
          </a:prstGeom>
        </p:spPr>
      </p:pic>
      <p:sp>
        <p:nvSpPr>
          <p:cNvPr id="8" name="TextBox 7">
            <a:extLst>
              <a:ext uri="{FF2B5EF4-FFF2-40B4-BE49-F238E27FC236}">
                <a16:creationId xmlns:a16="http://schemas.microsoft.com/office/drawing/2014/main" id="{CC93CC1A-D965-A7EF-F2CA-3F8B04B2BB22}"/>
              </a:ext>
            </a:extLst>
          </p:cNvPr>
          <p:cNvSpPr txBox="1"/>
          <p:nvPr/>
        </p:nvSpPr>
        <p:spPr>
          <a:xfrm>
            <a:off x="800100" y="5943600"/>
            <a:ext cx="6335486" cy="369332"/>
          </a:xfrm>
          <a:prstGeom prst="rect">
            <a:avLst/>
          </a:prstGeom>
          <a:noFill/>
        </p:spPr>
        <p:txBody>
          <a:bodyPr wrap="square" rtlCol="0">
            <a:spAutoFit/>
          </a:bodyPr>
          <a:lstStyle/>
          <a:p>
            <a:r>
              <a:rPr lang="en-CH" dirty="0"/>
              <a:t>But increasing </a:t>
            </a:r>
            <a:r>
              <a:rPr lang="en-CH" dirty="0" err="1"/>
              <a:t>wnoise</a:t>
            </a:r>
            <a:r>
              <a:rPr lang="en-CH" dirty="0"/>
              <a:t> that much destroys guided refreshing </a:t>
            </a:r>
          </a:p>
        </p:txBody>
      </p:sp>
      <p:sp>
        <p:nvSpPr>
          <p:cNvPr id="9" name="TextBox 8">
            <a:extLst>
              <a:ext uri="{FF2B5EF4-FFF2-40B4-BE49-F238E27FC236}">
                <a16:creationId xmlns:a16="http://schemas.microsoft.com/office/drawing/2014/main" id="{DDFA18F8-D063-DA82-4510-A2AA6ECAB3DF}"/>
              </a:ext>
            </a:extLst>
          </p:cNvPr>
          <p:cNvSpPr txBox="1"/>
          <p:nvPr/>
        </p:nvSpPr>
        <p:spPr>
          <a:xfrm>
            <a:off x="6950528" y="613675"/>
            <a:ext cx="4572000" cy="2308324"/>
          </a:xfrm>
          <a:prstGeom prst="rect">
            <a:avLst/>
          </a:prstGeom>
          <a:noFill/>
        </p:spPr>
        <p:txBody>
          <a:bodyPr wrap="square" rtlCol="0">
            <a:spAutoFit/>
          </a:bodyPr>
          <a:lstStyle/>
          <a:p>
            <a:r>
              <a:rPr lang="en-CH" dirty="0"/>
              <a:t>Problem: The Hautekiet &amp; Oberauer experiment uses no test-display interference, and hence, FX is not erased. It also hardly decays at set size 5, and is therefore well available at 1 second. Thereby, there is hardly any decay between 1 and 3 s. There is also little retro-cue effect because the retro-cue is not needed for protection against decay. </a:t>
            </a:r>
          </a:p>
        </p:txBody>
      </p:sp>
    </p:spTree>
    <p:extLst>
      <p:ext uri="{BB962C8B-B14F-4D97-AF65-F5344CB8AC3E}">
        <p14:creationId xmlns:p14="http://schemas.microsoft.com/office/powerpoint/2010/main" val="1792545921"/>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F5EDED6-79FC-D0D5-FE63-A90544DE0898}"/>
              </a:ext>
            </a:extLst>
          </p:cNvPr>
          <p:cNvPicPr>
            <a:picLocks noChangeAspect="1"/>
          </p:cNvPicPr>
          <p:nvPr/>
        </p:nvPicPr>
        <p:blipFill>
          <a:blip r:embed="rId2"/>
          <a:stretch>
            <a:fillRect/>
          </a:stretch>
        </p:blipFill>
        <p:spPr>
          <a:xfrm>
            <a:off x="-111243" y="544285"/>
            <a:ext cx="6574177" cy="4893129"/>
          </a:xfrm>
          <a:prstGeom prst="rect">
            <a:avLst/>
          </a:prstGeom>
        </p:spPr>
      </p:pic>
      <p:pic>
        <p:nvPicPr>
          <p:cNvPr id="4" name="Picture 3">
            <a:extLst>
              <a:ext uri="{FF2B5EF4-FFF2-40B4-BE49-F238E27FC236}">
                <a16:creationId xmlns:a16="http://schemas.microsoft.com/office/drawing/2014/main" id="{FE7DB0C5-6FB9-A46E-D660-69ACA19715B6}"/>
              </a:ext>
            </a:extLst>
          </p:cNvPr>
          <p:cNvPicPr>
            <a:picLocks noChangeAspect="1"/>
          </p:cNvPicPr>
          <p:nvPr/>
        </p:nvPicPr>
        <p:blipFill>
          <a:blip r:embed="rId3"/>
          <a:stretch>
            <a:fillRect/>
          </a:stretch>
        </p:blipFill>
        <p:spPr>
          <a:xfrm>
            <a:off x="5820648" y="2661556"/>
            <a:ext cx="6489715" cy="3891643"/>
          </a:xfrm>
          <a:prstGeom prst="rect">
            <a:avLst/>
          </a:prstGeom>
        </p:spPr>
      </p:pic>
    </p:spTree>
    <p:extLst>
      <p:ext uri="{BB962C8B-B14F-4D97-AF65-F5344CB8AC3E}">
        <p14:creationId xmlns:p14="http://schemas.microsoft.com/office/powerpoint/2010/main" val="2014650610"/>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4AAA616-E7AF-4497-2EDD-54F9DBD6C734}"/>
              </a:ext>
            </a:extLst>
          </p:cNvPr>
          <p:cNvPicPr>
            <a:picLocks noChangeAspect="1"/>
          </p:cNvPicPr>
          <p:nvPr/>
        </p:nvPicPr>
        <p:blipFill>
          <a:blip r:embed="rId2"/>
          <a:stretch>
            <a:fillRect/>
          </a:stretch>
        </p:blipFill>
        <p:spPr>
          <a:xfrm>
            <a:off x="141970" y="304800"/>
            <a:ext cx="5857363" cy="4011386"/>
          </a:xfrm>
          <a:prstGeom prst="rect">
            <a:avLst/>
          </a:prstGeom>
        </p:spPr>
      </p:pic>
      <p:pic>
        <p:nvPicPr>
          <p:cNvPr id="3" name="Picture 2">
            <a:extLst>
              <a:ext uri="{FF2B5EF4-FFF2-40B4-BE49-F238E27FC236}">
                <a16:creationId xmlns:a16="http://schemas.microsoft.com/office/drawing/2014/main" id="{5EAB334D-7C84-B320-CCF7-6778C60DACBD}"/>
              </a:ext>
            </a:extLst>
          </p:cNvPr>
          <p:cNvPicPr>
            <a:picLocks noChangeAspect="1"/>
          </p:cNvPicPr>
          <p:nvPr/>
        </p:nvPicPr>
        <p:blipFill>
          <a:blip r:embed="rId3"/>
          <a:stretch>
            <a:fillRect/>
          </a:stretch>
        </p:blipFill>
        <p:spPr>
          <a:xfrm>
            <a:off x="5520432" y="2129802"/>
            <a:ext cx="6774983" cy="4532255"/>
          </a:xfrm>
          <a:prstGeom prst="rect">
            <a:avLst/>
          </a:prstGeom>
        </p:spPr>
      </p:pic>
    </p:spTree>
    <p:extLst>
      <p:ext uri="{BB962C8B-B14F-4D97-AF65-F5344CB8AC3E}">
        <p14:creationId xmlns:p14="http://schemas.microsoft.com/office/powerpoint/2010/main" val="168625218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A727288-A550-EC06-EE3A-0352589E4C60}"/>
              </a:ext>
            </a:extLst>
          </p:cNvPr>
          <p:cNvSpPr txBox="1"/>
          <p:nvPr/>
        </p:nvSpPr>
        <p:spPr>
          <a:xfrm>
            <a:off x="764005" y="547437"/>
            <a:ext cx="4053417" cy="369332"/>
          </a:xfrm>
          <a:prstGeom prst="rect">
            <a:avLst/>
          </a:prstGeom>
          <a:noFill/>
        </p:spPr>
        <p:txBody>
          <a:bodyPr wrap="none" rtlCol="0">
            <a:spAutoFit/>
          </a:bodyPr>
          <a:lstStyle/>
          <a:p>
            <a:r>
              <a:rPr lang="en-CH" dirty="0"/>
              <a:t>Sensory memory with inhibition = 0.004</a:t>
            </a:r>
          </a:p>
        </p:txBody>
      </p:sp>
      <p:sp>
        <p:nvSpPr>
          <p:cNvPr id="5" name="TextBox 4">
            <a:extLst>
              <a:ext uri="{FF2B5EF4-FFF2-40B4-BE49-F238E27FC236}">
                <a16:creationId xmlns:a16="http://schemas.microsoft.com/office/drawing/2014/main" id="{8E6ECE2A-8297-967A-5D4E-5C5FA6EB4AF3}"/>
              </a:ext>
            </a:extLst>
          </p:cNvPr>
          <p:cNvSpPr txBox="1"/>
          <p:nvPr/>
        </p:nvSpPr>
        <p:spPr>
          <a:xfrm>
            <a:off x="6246395" y="547437"/>
            <a:ext cx="4053417" cy="369332"/>
          </a:xfrm>
          <a:prstGeom prst="rect">
            <a:avLst/>
          </a:prstGeom>
          <a:noFill/>
        </p:spPr>
        <p:txBody>
          <a:bodyPr wrap="none" rtlCol="0">
            <a:spAutoFit/>
          </a:bodyPr>
          <a:lstStyle/>
          <a:p>
            <a:r>
              <a:rPr lang="en-CH" dirty="0"/>
              <a:t>Sensory memory with inhibition = 0.002</a:t>
            </a:r>
          </a:p>
        </p:txBody>
      </p:sp>
      <p:pic>
        <p:nvPicPr>
          <p:cNvPr id="6" name="Picture 5">
            <a:extLst>
              <a:ext uri="{FF2B5EF4-FFF2-40B4-BE49-F238E27FC236}">
                <a16:creationId xmlns:a16="http://schemas.microsoft.com/office/drawing/2014/main" id="{B3F0CF21-7DCA-6D3B-B45E-C37D90F368FC}"/>
              </a:ext>
            </a:extLst>
          </p:cNvPr>
          <p:cNvPicPr>
            <a:picLocks noChangeAspect="1"/>
          </p:cNvPicPr>
          <p:nvPr/>
        </p:nvPicPr>
        <p:blipFill>
          <a:blip r:embed="rId2"/>
          <a:stretch>
            <a:fillRect/>
          </a:stretch>
        </p:blipFill>
        <p:spPr>
          <a:xfrm>
            <a:off x="5872859" y="1003910"/>
            <a:ext cx="5316566" cy="5252511"/>
          </a:xfrm>
          <a:prstGeom prst="rect">
            <a:avLst/>
          </a:prstGeom>
        </p:spPr>
      </p:pic>
      <p:pic>
        <p:nvPicPr>
          <p:cNvPr id="2" name="Picture 1">
            <a:extLst>
              <a:ext uri="{FF2B5EF4-FFF2-40B4-BE49-F238E27FC236}">
                <a16:creationId xmlns:a16="http://schemas.microsoft.com/office/drawing/2014/main" id="{A7C6B81B-6840-DF8D-1775-E1A4CCDD6618}"/>
              </a:ext>
            </a:extLst>
          </p:cNvPr>
          <p:cNvPicPr>
            <a:picLocks noChangeAspect="1"/>
          </p:cNvPicPr>
          <p:nvPr/>
        </p:nvPicPr>
        <p:blipFill>
          <a:blip r:embed="rId3"/>
          <a:stretch>
            <a:fillRect/>
          </a:stretch>
        </p:blipFill>
        <p:spPr>
          <a:xfrm>
            <a:off x="0" y="1320190"/>
            <a:ext cx="5872859" cy="4533900"/>
          </a:xfrm>
          <a:prstGeom prst="rect">
            <a:avLst/>
          </a:prstGeom>
        </p:spPr>
      </p:pic>
    </p:spTree>
    <p:extLst>
      <p:ext uri="{BB962C8B-B14F-4D97-AF65-F5344CB8AC3E}">
        <p14:creationId xmlns:p14="http://schemas.microsoft.com/office/powerpoint/2010/main" val="3298071007"/>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076DC-AE41-6665-CF99-65FD50F0EAF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151D427-23F9-5FAC-3D14-D301329D1209}"/>
              </a:ext>
            </a:extLst>
          </p:cNvPr>
          <p:cNvSpPr txBox="1"/>
          <p:nvPr/>
        </p:nvSpPr>
        <p:spPr>
          <a:xfrm>
            <a:off x="764005" y="547437"/>
            <a:ext cx="4200189" cy="369332"/>
          </a:xfrm>
          <a:prstGeom prst="rect">
            <a:avLst/>
          </a:prstGeom>
          <a:noFill/>
        </p:spPr>
        <p:txBody>
          <a:bodyPr wrap="none" rtlCol="0">
            <a:spAutoFit/>
          </a:bodyPr>
          <a:lstStyle/>
          <a:p>
            <a:r>
              <a:rPr lang="en-CH" dirty="0"/>
              <a:t>Alpha with inhibition = 0.002 and IOR = 0.1</a:t>
            </a:r>
          </a:p>
        </p:txBody>
      </p:sp>
      <p:pic>
        <p:nvPicPr>
          <p:cNvPr id="9" name="Picture 8">
            <a:extLst>
              <a:ext uri="{FF2B5EF4-FFF2-40B4-BE49-F238E27FC236}">
                <a16:creationId xmlns:a16="http://schemas.microsoft.com/office/drawing/2014/main" id="{6619F889-692D-CC14-0848-A645B4C151DA}"/>
              </a:ext>
            </a:extLst>
          </p:cNvPr>
          <p:cNvPicPr>
            <a:picLocks noChangeAspect="1"/>
          </p:cNvPicPr>
          <p:nvPr/>
        </p:nvPicPr>
        <p:blipFill>
          <a:blip r:embed="rId2"/>
          <a:stretch>
            <a:fillRect/>
          </a:stretch>
        </p:blipFill>
        <p:spPr>
          <a:xfrm>
            <a:off x="76701" y="916770"/>
            <a:ext cx="5303455" cy="4184620"/>
          </a:xfrm>
          <a:prstGeom prst="rect">
            <a:avLst/>
          </a:prstGeom>
        </p:spPr>
      </p:pic>
      <p:pic>
        <p:nvPicPr>
          <p:cNvPr id="10" name="Picture 9">
            <a:extLst>
              <a:ext uri="{FF2B5EF4-FFF2-40B4-BE49-F238E27FC236}">
                <a16:creationId xmlns:a16="http://schemas.microsoft.com/office/drawing/2014/main" id="{EA72D78D-0F67-99C3-7B4B-21055C624F8F}"/>
              </a:ext>
            </a:extLst>
          </p:cNvPr>
          <p:cNvPicPr>
            <a:picLocks noChangeAspect="1"/>
          </p:cNvPicPr>
          <p:nvPr/>
        </p:nvPicPr>
        <p:blipFill>
          <a:blip r:embed="rId3"/>
          <a:stretch>
            <a:fillRect/>
          </a:stretch>
        </p:blipFill>
        <p:spPr>
          <a:xfrm>
            <a:off x="5762373" y="124577"/>
            <a:ext cx="6107369" cy="4682040"/>
          </a:xfrm>
          <a:prstGeom prst="rect">
            <a:avLst/>
          </a:prstGeom>
        </p:spPr>
      </p:pic>
      <p:pic>
        <p:nvPicPr>
          <p:cNvPr id="11" name="Picture 10">
            <a:extLst>
              <a:ext uri="{FF2B5EF4-FFF2-40B4-BE49-F238E27FC236}">
                <a16:creationId xmlns:a16="http://schemas.microsoft.com/office/drawing/2014/main" id="{55FF52AC-AFC9-8693-AD25-57C9DB1D5809}"/>
              </a:ext>
            </a:extLst>
          </p:cNvPr>
          <p:cNvPicPr>
            <a:picLocks noChangeAspect="1"/>
          </p:cNvPicPr>
          <p:nvPr/>
        </p:nvPicPr>
        <p:blipFill>
          <a:blip r:embed="rId4"/>
          <a:stretch>
            <a:fillRect/>
          </a:stretch>
        </p:blipFill>
        <p:spPr>
          <a:xfrm>
            <a:off x="7937563" y="3453314"/>
            <a:ext cx="3932179" cy="3280109"/>
          </a:xfrm>
          <a:prstGeom prst="rect">
            <a:avLst/>
          </a:prstGeom>
        </p:spPr>
      </p:pic>
    </p:spTree>
    <p:extLst>
      <p:ext uri="{BB962C8B-B14F-4D97-AF65-F5344CB8AC3E}">
        <p14:creationId xmlns:p14="http://schemas.microsoft.com/office/powerpoint/2010/main" val="254093432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F1936-0B10-A12F-8DC6-6D2FB6B4799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6986502-5687-0DDE-75F3-38CCE518353C}"/>
              </a:ext>
            </a:extLst>
          </p:cNvPr>
          <p:cNvSpPr txBox="1"/>
          <p:nvPr/>
        </p:nvSpPr>
        <p:spPr>
          <a:xfrm>
            <a:off x="764005" y="547437"/>
            <a:ext cx="4200189" cy="369332"/>
          </a:xfrm>
          <a:prstGeom prst="rect">
            <a:avLst/>
          </a:prstGeom>
          <a:noFill/>
        </p:spPr>
        <p:txBody>
          <a:bodyPr wrap="none" rtlCol="0">
            <a:spAutoFit/>
          </a:bodyPr>
          <a:lstStyle/>
          <a:p>
            <a:r>
              <a:rPr lang="en-CH" dirty="0"/>
              <a:t>Alpha with inhibition = 0.002 and IOR = 0.5</a:t>
            </a:r>
          </a:p>
        </p:txBody>
      </p:sp>
      <p:pic>
        <p:nvPicPr>
          <p:cNvPr id="2" name="Picture 1">
            <a:extLst>
              <a:ext uri="{FF2B5EF4-FFF2-40B4-BE49-F238E27FC236}">
                <a16:creationId xmlns:a16="http://schemas.microsoft.com/office/drawing/2014/main" id="{7F71313F-8369-E3F6-0683-749D43C01E6D}"/>
              </a:ext>
            </a:extLst>
          </p:cNvPr>
          <p:cNvPicPr>
            <a:picLocks noChangeAspect="1"/>
          </p:cNvPicPr>
          <p:nvPr/>
        </p:nvPicPr>
        <p:blipFill>
          <a:blip r:embed="rId2"/>
          <a:stretch>
            <a:fillRect/>
          </a:stretch>
        </p:blipFill>
        <p:spPr>
          <a:xfrm>
            <a:off x="171450" y="916769"/>
            <a:ext cx="5369082" cy="4064305"/>
          </a:xfrm>
          <a:prstGeom prst="rect">
            <a:avLst/>
          </a:prstGeom>
        </p:spPr>
      </p:pic>
      <p:pic>
        <p:nvPicPr>
          <p:cNvPr id="4" name="Picture 3">
            <a:extLst>
              <a:ext uri="{FF2B5EF4-FFF2-40B4-BE49-F238E27FC236}">
                <a16:creationId xmlns:a16="http://schemas.microsoft.com/office/drawing/2014/main" id="{C225AD56-B37C-1049-7948-B030D7C398FA}"/>
              </a:ext>
            </a:extLst>
          </p:cNvPr>
          <p:cNvPicPr>
            <a:picLocks noChangeAspect="1"/>
          </p:cNvPicPr>
          <p:nvPr/>
        </p:nvPicPr>
        <p:blipFill>
          <a:blip r:embed="rId3"/>
          <a:stretch>
            <a:fillRect/>
          </a:stretch>
        </p:blipFill>
        <p:spPr>
          <a:xfrm>
            <a:off x="5819273" y="463466"/>
            <a:ext cx="5705475" cy="4391025"/>
          </a:xfrm>
          <a:prstGeom prst="rect">
            <a:avLst/>
          </a:prstGeom>
        </p:spPr>
      </p:pic>
      <p:pic>
        <p:nvPicPr>
          <p:cNvPr id="5" name="Picture 4">
            <a:extLst>
              <a:ext uri="{FF2B5EF4-FFF2-40B4-BE49-F238E27FC236}">
                <a16:creationId xmlns:a16="http://schemas.microsoft.com/office/drawing/2014/main" id="{6809F332-748B-CF56-249F-DDBEA7C61EEA}"/>
              </a:ext>
            </a:extLst>
          </p:cNvPr>
          <p:cNvPicPr>
            <a:picLocks noChangeAspect="1"/>
          </p:cNvPicPr>
          <p:nvPr/>
        </p:nvPicPr>
        <p:blipFill>
          <a:blip r:embed="rId4"/>
          <a:stretch>
            <a:fillRect/>
          </a:stretch>
        </p:blipFill>
        <p:spPr>
          <a:xfrm>
            <a:off x="8223584" y="3176337"/>
            <a:ext cx="3722474" cy="3097630"/>
          </a:xfrm>
          <a:prstGeom prst="rect">
            <a:avLst/>
          </a:prstGeom>
        </p:spPr>
      </p:pic>
      <p:sp>
        <p:nvSpPr>
          <p:cNvPr id="6" name="TextBox 5">
            <a:extLst>
              <a:ext uri="{FF2B5EF4-FFF2-40B4-BE49-F238E27FC236}">
                <a16:creationId xmlns:a16="http://schemas.microsoft.com/office/drawing/2014/main" id="{9B27CCBF-B36E-2056-0382-EA34B4CF50F3}"/>
              </a:ext>
            </a:extLst>
          </p:cNvPr>
          <p:cNvSpPr txBox="1"/>
          <p:nvPr/>
        </p:nvSpPr>
        <p:spPr>
          <a:xfrm>
            <a:off x="764005" y="5350406"/>
            <a:ext cx="4253163" cy="923330"/>
          </a:xfrm>
          <a:prstGeom prst="rect">
            <a:avLst/>
          </a:prstGeom>
          <a:noFill/>
        </p:spPr>
        <p:txBody>
          <a:bodyPr wrap="square" rtlCol="0">
            <a:spAutoFit/>
          </a:bodyPr>
          <a:lstStyle/>
          <a:p>
            <a:r>
              <a:rPr lang="en-CH" dirty="0"/>
              <a:t>IOR destroys the early cross-over of alpha curves because it reduces the strength of FX at lower set sizes</a:t>
            </a:r>
          </a:p>
        </p:txBody>
      </p:sp>
    </p:spTree>
    <p:extLst>
      <p:ext uri="{BB962C8B-B14F-4D97-AF65-F5344CB8AC3E}">
        <p14:creationId xmlns:p14="http://schemas.microsoft.com/office/powerpoint/2010/main" val="186917302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C66B9-C14B-A2D1-EB1B-3F75D6E444F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6038AE0-8E15-452F-3111-F1978FD30FB2}"/>
              </a:ext>
            </a:extLst>
          </p:cNvPr>
          <p:cNvSpPr txBox="1"/>
          <p:nvPr/>
        </p:nvSpPr>
        <p:spPr>
          <a:xfrm>
            <a:off x="764005" y="547437"/>
            <a:ext cx="4200189" cy="369332"/>
          </a:xfrm>
          <a:prstGeom prst="rect">
            <a:avLst/>
          </a:prstGeom>
          <a:noFill/>
        </p:spPr>
        <p:txBody>
          <a:bodyPr wrap="none" rtlCol="0">
            <a:spAutoFit/>
          </a:bodyPr>
          <a:lstStyle/>
          <a:p>
            <a:r>
              <a:rPr lang="en-CH" dirty="0"/>
              <a:t>Alpha with inhibition = 0.004 and IOR = 0.3</a:t>
            </a:r>
          </a:p>
        </p:txBody>
      </p:sp>
      <p:pic>
        <p:nvPicPr>
          <p:cNvPr id="7" name="Picture 6">
            <a:extLst>
              <a:ext uri="{FF2B5EF4-FFF2-40B4-BE49-F238E27FC236}">
                <a16:creationId xmlns:a16="http://schemas.microsoft.com/office/drawing/2014/main" id="{600EB6B6-CDD7-5E3B-6D02-81856534C68F}"/>
              </a:ext>
            </a:extLst>
          </p:cNvPr>
          <p:cNvPicPr>
            <a:picLocks noChangeAspect="1"/>
          </p:cNvPicPr>
          <p:nvPr/>
        </p:nvPicPr>
        <p:blipFill>
          <a:blip r:embed="rId2"/>
          <a:stretch>
            <a:fillRect/>
          </a:stretch>
        </p:blipFill>
        <p:spPr>
          <a:xfrm>
            <a:off x="0" y="890587"/>
            <a:ext cx="6153150" cy="4676775"/>
          </a:xfrm>
          <a:prstGeom prst="rect">
            <a:avLst/>
          </a:prstGeom>
        </p:spPr>
      </p:pic>
      <p:pic>
        <p:nvPicPr>
          <p:cNvPr id="8" name="Picture 7">
            <a:extLst>
              <a:ext uri="{FF2B5EF4-FFF2-40B4-BE49-F238E27FC236}">
                <a16:creationId xmlns:a16="http://schemas.microsoft.com/office/drawing/2014/main" id="{26C79DD0-D536-12D4-BF1F-A7E751E65D7C}"/>
              </a:ext>
            </a:extLst>
          </p:cNvPr>
          <p:cNvPicPr>
            <a:picLocks noChangeAspect="1"/>
          </p:cNvPicPr>
          <p:nvPr/>
        </p:nvPicPr>
        <p:blipFill>
          <a:blip r:embed="rId3"/>
          <a:stretch>
            <a:fillRect/>
          </a:stretch>
        </p:blipFill>
        <p:spPr>
          <a:xfrm>
            <a:off x="6343650" y="390525"/>
            <a:ext cx="5334000" cy="4000500"/>
          </a:xfrm>
          <a:prstGeom prst="rect">
            <a:avLst/>
          </a:prstGeom>
        </p:spPr>
      </p:pic>
      <p:pic>
        <p:nvPicPr>
          <p:cNvPr id="9" name="Picture 8">
            <a:extLst>
              <a:ext uri="{FF2B5EF4-FFF2-40B4-BE49-F238E27FC236}">
                <a16:creationId xmlns:a16="http://schemas.microsoft.com/office/drawing/2014/main" id="{5F9FD94A-F15B-3559-EBFE-258EEB80FD77}"/>
              </a:ext>
            </a:extLst>
          </p:cNvPr>
          <p:cNvPicPr>
            <a:picLocks noChangeAspect="1"/>
          </p:cNvPicPr>
          <p:nvPr/>
        </p:nvPicPr>
        <p:blipFill>
          <a:blip r:embed="rId4"/>
          <a:stretch>
            <a:fillRect/>
          </a:stretch>
        </p:blipFill>
        <p:spPr>
          <a:xfrm>
            <a:off x="7959725" y="3009900"/>
            <a:ext cx="4445000" cy="3333750"/>
          </a:xfrm>
          <a:prstGeom prst="rect">
            <a:avLst/>
          </a:prstGeom>
        </p:spPr>
      </p:pic>
      <p:pic>
        <p:nvPicPr>
          <p:cNvPr id="10" name="Picture 9">
            <a:extLst>
              <a:ext uri="{FF2B5EF4-FFF2-40B4-BE49-F238E27FC236}">
                <a16:creationId xmlns:a16="http://schemas.microsoft.com/office/drawing/2014/main" id="{28C81F47-D160-7BAA-20E6-E00F82BADFAA}"/>
              </a:ext>
            </a:extLst>
          </p:cNvPr>
          <p:cNvPicPr>
            <a:picLocks noChangeAspect="1"/>
          </p:cNvPicPr>
          <p:nvPr/>
        </p:nvPicPr>
        <p:blipFill>
          <a:blip r:embed="rId5"/>
          <a:stretch>
            <a:fillRect/>
          </a:stretch>
        </p:blipFill>
        <p:spPr>
          <a:xfrm>
            <a:off x="4346575" y="4005262"/>
            <a:ext cx="3803650" cy="2852738"/>
          </a:xfrm>
          <a:prstGeom prst="rect">
            <a:avLst/>
          </a:prstGeom>
        </p:spPr>
      </p:pic>
    </p:spTree>
    <p:extLst>
      <p:ext uri="{BB962C8B-B14F-4D97-AF65-F5344CB8AC3E}">
        <p14:creationId xmlns:p14="http://schemas.microsoft.com/office/powerpoint/2010/main" val="373845231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3CB87-3E35-CFEA-C8C0-F2589650A0E0}"/>
              </a:ext>
            </a:extLst>
          </p:cNvPr>
          <p:cNvSpPr>
            <a:spLocks noGrp="1"/>
          </p:cNvSpPr>
          <p:nvPr>
            <p:ph type="title"/>
          </p:nvPr>
        </p:nvSpPr>
        <p:spPr/>
        <p:txBody>
          <a:bodyPr>
            <a:normAutofit/>
          </a:bodyPr>
          <a:lstStyle/>
          <a:p>
            <a:r>
              <a:rPr lang="en-CH" sz="2800" dirty="0"/>
              <a:t>Correlations of alpha slope with parameters</a:t>
            </a:r>
          </a:p>
        </p:txBody>
      </p:sp>
      <p:sp>
        <p:nvSpPr>
          <p:cNvPr id="3" name="Content Placeholder 2">
            <a:extLst>
              <a:ext uri="{FF2B5EF4-FFF2-40B4-BE49-F238E27FC236}">
                <a16:creationId xmlns:a16="http://schemas.microsoft.com/office/drawing/2014/main" id="{118372EB-061D-28B6-8083-7208912AB2C9}"/>
              </a:ext>
            </a:extLst>
          </p:cNvPr>
          <p:cNvSpPr>
            <a:spLocks noGrp="1"/>
          </p:cNvSpPr>
          <p:nvPr>
            <p:ph idx="1"/>
          </p:nvPr>
        </p:nvSpPr>
        <p:spPr/>
        <p:txBody>
          <a:bodyPr/>
          <a:lstStyle/>
          <a:p>
            <a:r>
              <a:rPr lang="en-CH" dirty="0"/>
              <a:t>IOR: 0.4: smaller IOR makes slope go more negative</a:t>
            </a:r>
          </a:p>
          <a:p>
            <a:r>
              <a:rPr lang="en-CH" dirty="0" err="1"/>
              <a:t>kappaf_ctx</a:t>
            </a:r>
            <a:r>
              <a:rPr lang="en-CH" dirty="0"/>
              <a:t>: 0.3:  smaller value makes slope go more negative</a:t>
            </a:r>
          </a:p>
          <a:p>
            <a:r>
              <a:rPr lang="en-CH" dirty="0" err="1"/>
              <a:t>inhibFX</a:t>
            </a:r>
            <a:r>
              <a:rPr lang="en-CH" dirty="0"/>
              <a:t>: -.57: larger values make slope go </a:t>
            </a:r>
            <a:r>
              <a:rPr lang="en-CH"/>
              <a:t>more negative</a:t>
            </a:r>
            <a:endParaRPr lang="en-CH" dirty="0"/>
          </a:p>
        </p:txBody>
      </p:sp>
    </p:spTree>
    <p:extLst>
      <p:ext uri="{BB962C8B-B14F-4D97-AF65-F5344CB8AC3E}">
        <p14:creationId xmlns:p14="http://schemas.microsoft.com/office/powerpoint/2010/main" val="3701963161"/>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FB5CC-A7B9-4148-3455-24FE6ACC6B9A}"/>
              </a:ext>
            </a:extLst>
          </p:cNvPr>
          <p:cNvSpPr>
            <a:spLocks noGrp="1"/>
          </p:cNvSpPr>
          <p:nvPr>
            <p:ph type="title"/>
          </p:nvPr>
        </p:nvSpPr>
        <p:spPr/>
        <p:txBody>
          <a:bodyPr>
            <a:normAutofit/>
          </a:bodyPr>
          <a:lstStyle/>
          <a:p>
            <a:r>
              <a:rPr lang="en-CH" sz="1800" dirty="0"/>
              <a:t>IOR = 0.5, </a:t>
            </a:r>
            <a:r>
              <a:rPr lang="en-CH" sz="1800" dirty="0" err="1"/>
              <a:t>dnoise</a:t>
            </a:r>
            <a:r>
              <a:rPr lang="en-CH" sz="1800" dirty="0"/>
              <a:t> = 1, </a:t>
            </a:r>
            <a:r>
              <a:rPr lang="en-CH" sz="1800" dirty="0" err="1"/>
              <a:t>wnoise</a:t>
            </a:r>
            <a:r>
              <a:rPr lang="en-CH" sz="1800" dirty="0"/>
              <a:t> = 0.12, </a:t>
            </a:r>
            <a:r>
              <a:rPr lang="en-CH" sz="1800" dirty="0" err="1"/>
              <a:t>kappaf_feat</a:t>
            </a:r>
            <a:r>
              <a:rPr lang="en-CH" sz="1800" dirty="0"/>
              <a:t> and </a:t>
            </a:r>
            <a:r>
              <a:rPr lang="en-CH" sz="1800" dirty="0" err="1"/>
              <a:t>kappaf_ctx</a:t>
            </a:r>
            <a:r>
              <a:rPr lang="en-CH" sz="1800" dirty="0"/>
              <a:t> reduced to 10</a:t>
            </a:r>
          </a:p>
        </p:txBody>
      </p:sp>
      <p:pic>
        <p:nvPicPr>
          <p:cNvPr id="4" name="Picture 3">
            <a:extLst>
              <a:ext uri="{FF2B5EF4-FFF2-40B4-BE49-F238E27FC236}">
                <a16:creationId xmlns:a16="http://schemas.microsoft.com/office/drawing/2014/main" id="{B2FD76C9-92A0-D845-7C16-D12888872389}"/>
              </a:ext>
            </a:extLst>
          </p:cNvPr>
          <p:cNvPicPr>
            <a:picLocks noChangeAspect="1"/>
          </p:cNvPicPr>
          <p:nvPr/>
        </p:nvPicPr>
        <p:blipFill>
          <a:blip r:embed="rId2"/>
          <a:stretch>
            <a:fillRect/>
          </a:stretch>
        </p:blipFill>
        <p:spPr>
          <a:xfrm>
            <a:off x="531696" y="1325563"/>
            <a:ext cx="6007195" cy="4471389"/>
          </a:xfrm>
          <a:prstGeom prst="rect">
            <a:avLst/>
          </a:prstGeom>
        </p:spPr>
      </p:pic>
      <p:pic>
        <p:nvPicPr>
          <p:cNvPr id="5" name="Picture 4">
            <a:extLst>
              <a:ext uri="{FF2B5EF4-FFF2-40B4-BE49-F238E27FC236}">
                <a16:creationId xmlns:a16="http://schemas.microsoft.com/office/drawing/2014/main" id="{A36B0E68-2826-C166-805E-9C29A84BBDAA}"/>
              </a:ext>
            </a:extLst>
          </p:cNvPr>
          <p:cNvPicPr>
            <a:picLocks noChangeAspect="1"/>
          </p:cNvPicPr>
          <p:nvPr/>
        </p:nvPicPr>
        <p:blipFill>
          <a:blip r:embed="rId3"/>
          <a:stretch>
            <a:fillRect/>
          </a:stretch>
        </p:blipFill>
        <p:spPr>
          <a:xfrm>
            <a:off x="6232680" y="1446378"/>
            <a:ext cx="6050688" cy="4350574"/>
          </a:xfrm>
          <a:prstGeom prst="rect">
            <a:avLst/>
          </a:prstGeom>
        </p:spPr>
      </p:pic>
      <p:pic>
        <p:nvPicPr>
          <p:cNvPr id="6" name="Picture 5">
            <a:extLst>
              <a:ext uri="{FF2B5EF4-FFF2-40B4-BE49-F238E27FC236}">
                <a16:creationId xmlns:a16="http://schemas.microsoft.com/office/drawing/2014/main" id="{A5FF35A0-36A4-AE37-368F-8F4518910053}"/>
              </a:ext>
            </a:extLst>
          </p:cNvPr>
          <p:cNvPicPr>
            <a:picLocks noChangeAspect="1"/>
          </p:cNvPicPr>
          <p:nvPr/>
        </p:nvPicPr>
        <p:blipFill>
          <a:blip r:embed="rId4"/>
          <a:stretch>
            <a:fillRect/>
          </a:stretch>
        </p:blipFill>
        <p:spPr>
          <a:xfrm>
            <a:off x="8669547" y="3662876"/>
            <a:ext cx="3613821" cy="2729298"/>
          </a:xfrm>
          <a:prstGeom prst="rect">
            <a:avLst/>
          </a:prstGeom>
        </p:spPr>
      </p:pic>
    </p:spTree>
    <p:extLst>
      <p:ext uri="{BB962C8B-B14F-4D97-AF65-F5344CB8AC3E}">
        <p14:creationId xmlns:p14="http://schemas.microsoft.com/office/powerpoint/2010/main" val="1133590219"/>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369460E-88D1-3541-D1BC-F0C2532B2931}"/>
              </a:ext>
            </a:extLst>
          </p:cNvPr>
          <p:cNvPicPr>
            <a:picLocks noChangeAspect="1"/>
          </p:cNvPicPr>
          <p:nvPr/>
        </p:nvPicPr>
        <p:blipFill>
          <a:blip r:embed="rId2"/>
          <a:stretch>
            <a:fillRect/>
          </a:stretch>
        </p:blipFill>
        <p:spPr>
          <a:xfrm>
            <a:off x="613611" y="144379"/>
            <a:ext cx="3776664" cy="3176337"/>
          </a:xfrm>
          <a:prstGeom prst="rect">
            <a:avLst/>
          </a:prstGeom>
        </p:spPr>
      </p:pic>
      <p:pic>
        <p:nvPicPr>
          <p:cNvPr id="3" name="Picture 2">
            <a:extLst>
              <a:ext uri="{FF2B5EF4-FFF2-40B4-BE49-F238E27FC236}">
                <a16:creationId xmlns:a16="http://schemas.microsoft.com/office/drawing/2014/main" id="{A44F44DC-228E-AAA0-2822-2476670E726D}"/>
              </a:ext>
            </a:extLst>
          </p:cNvPr>
          <p:cNvPicPr>
            <a:picLocks noChangeAspect="1"/>
          </p:cNvPicPr>
          <p:nvPr/>
        </p:nvPicPr>
        <p:blipFill>
          <a:blip r:embed="rId3"/>
          <a:stretch>
            <a:fillRect/>
          </a:stretch>
        </p:blipFill>
        <p:spPr>
          <a:xfrm>
            <a:off x="468968" y="3201481"/>
            <a:ext cx="3981345" cy="3512140"/>
          </a:xfrm>
          <a:prstGeom prst="rect">
            <a:avLst/>
          </a:prstGeom>
        </p:spPr>
      </p:pic>
      <p:pic>
        <p:nvPicPr>
          <p:cNvPr id="4" name="Picture 3">
            <a:extLst>
              <a:ext uri="{FF2B5EF4-FFF2-40B4-BE49-F238E27FC236}">
                <a16:creationId xmlns:a16="http://schemas.microsoft.com/office/drawing/2014/main" id="{D22597C2-4CE0-AA5F-04FB-8C023D3C2E69}"/>
              </a:ext>
            </a:extLst>
          </p:cNvPr>
          <p:cNvPicPr>
            <a:picLocks noChangeAspect="1"/>
          </p:cNvPicPr>
          <p:nvPr/>
        </p:nvPicPr>
        <p:blipFill>
          <a:blip r:embed="rId4"/>
          <a:stretch>
            <a:fillRect/>
          </a:stretch>
        </p:blipFill>
        <p:spPr>
          <a:xfrm>
            <a:off x="5495463" y="144379"/>
            <a:ext cx="4228058" cy="3429000"/>
          </a:xfrm>
          <a:prstGeom prst="rect">
            <a:avLst/>
          </a:prstGeom>
        </p:spPr>
      </p:pic>
      <p:pic>
        <p:nvPicPr>
          <p:cNvPr id="5" name="Picture 4">
            <a:extLst>
              <a:ext uri="{FF2B5EF4-FFF2-40B4-BE49-F238E27FC236}">
                <a16:creationId xmlns:a16="http://schemas.microsoft.com/office/drawing/2014/main" id="{AFE764D0-A644-FF80-9C70-57DE68DFBE5D}"/>
              </a:ext>
            </a:extLst>
          </p:cNvPr>
          <p:cNvPicPr>
            <a:picLocks noChangeAspect="1"/>
          </p:cNvPicPr>
          <p:nvPr/>
        </p:nvPicPr>
        <p:blipFill>
          <a:blip r:embed="rId5"/>
          <a:stretch>
            <a:fillRect/>
          </a:stretch>
        </p:blipFill>
        <p:spPr>
          <a:xfrm>
            <a:off x="5618819" y="3620063"/>
            <a:ext cx="3981345" cy="3183795"/>
          </a:xfrm>
          <a:prstGeom prst="rect">
            <a:avLst/>
          </a:prstGeom>
        </p:spPr>
      </p:pic>
    </p:spTree>
    <p:extLst>
      <p:ext uri="{BB962C8B-B14F-4D97-AF65-F5344CB8AC3E}">
        <p14:creationId xmlns:p14="http://schemas.microsoft.com/office/powerpoint/2010/main" val="791854019"/>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AA47D-4350-0106-FB42-5938E65E3D32}"/>
              </a:ext>
            </a:extLst>
          </p:cNvPr>
          <p:cNvSpPr>
            <a:spLocks noGrp="1"/>
          </p:cNvSpPr>
          <p:nvPr>
            <p:ph type="title"/>
          </p:nvPr>
        </p:nvSpPr>
        <p:spPr/>
        <p:txBody>
          <a:bodyPr/>
          <a:lstStyle/>
          <a:p>
            <a:r>
              <a:rPr lang="en-CH" dirty="0"/>
              <a:t>CD and Retro-Cueing</a:t>
            </a:r>
          </a:p>
        </p:txBody>
      </p:sp>
      <p:pic>
        <p:nvPicPr>
          <p:cNvPr id="4" name="Picture 3">
            <a:extLst>
              <a:ext uri="{FF2B5EF4-FFF2-40B4-BE49-F238E27FC236}">
                <a16:creationId xmlns:a16="http://schemas.microsoft.com/office/drawing/2014/main" id="{4DFEF44C-1419-FBEF-037B-24EF8B2BBAC7}"/>
              </a:ext>
            </a:extLst>
          </p:cNvPr>
          <p:cNvPicPr>
            <a:picLocks noChangeAspect="1"/>
          </p:cNvPicPr>
          <p:nvPr/>
        </p:nvPicPr>
        <p:blipFill>
          <a:blip r:embed="rId2"/>
          <a:stretch>
            <a:fillRect/>
          </a:stretch>
        </p:blipFill>
        <p:spPr>
          <a:xfrm>
            <a:off x="339608" y="1382486"/>
            <a:ext cx="5005281" cy="5655128"/>
          </a:xfrm>
          <a:prstGeom prst="rect">
            <a:avLst/>
          </a:prstGeom>
        </p:spPr>
      </p:pic>
      <p:pic>
        <p:nvPicPr>
          <p:cNvPr id="6" name="Picture 5">
            <a:extLst>
              <a:ext uri="{FF2B5EF4-FFF2-40B4-BE49-F238E27FC236}">
                <a16:creationId xmlns:a16="http://schemas.microsoft.com/office/drawing/2014/main" id="{FE147E8F-01CD-ACE3-0BE8-6040BEA3784F}"/>
              </a:ext>
            </a:extLst>
          </p:cNvPr>
          <p:cNvPicPr>
            <a:picLocks noChangeAspect="1"/>
          </p:cNvPicPr>
          <p:nvPr/>
        </p:nvPicPr>
        <p:blipFill>
          <a:blip r:embed="rId3"/>
          <a:stretch>
            <a:fillRect/>
          </a:stretch>
        </p:blipFill>
        <p:spPr>
          <a:xfrm>
            <a:off x="5843481" y="0"/>
            <a:ext cx="6454127" cy="5061857"/>
          </a:xfrm>
          <a:prstGeom prst="rect">
            <a:avLst/>
          </a:prstGeom>
        </p:spPr>
      </p:pic>
      <p:pic>
        <p:nvPicPr>
          <p:cNvPr id="8" name="Picture 7">
            <a:extLst>
              <a:ext uri="{FF2B5EF4-FFF2-40B4-BE49-F238E27FC236}">
                <a16:creationId xmlns:a16="http://schemas.microsoft.com/office/drawing/2014/main" id="{9EF5620E-2F96-51EA-0AB7-459C44E863B8}"/>
              </a:ext>
            </a:extLst>
          </p:cNvPr>
          <p:cNvPicPr>
            <a:picLocks noChangeAspect="1"/>
          </p:cNvPicPr>
          <p:nvPr/>
        </p:nvPicPr>
        <p:blipFill>
          <a:blip r:embed="rId4"/>
          <a:stretch>
            <a:fillRect/>
          </a:stretch>
        </p:blipFill>
        <p:spPr>
          <a:xfrm>
            <a:off x="8413406" y="3609396"/>
            <a:ext cx="3974536" cy="2448504"/>
          </a:xfrm>
          <a:prstGeom prst="rect">
            <a:avLst/>
          </a:prstGeom>
        </p:spPr>
      </p:pic>
    </p:spTree>
    <p:extLst>
      <p:ext uri="{BB962C8B-B14F-4D97-AF65-F5344CB8AC3E}">
        <p14:creationId xmlns:p14="http://schemas.microsoft.com/office/powerpoint/2010/main" val="400651277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8DF0A1-B44F-033C-6871-991332DFD55F}"/>
              </a:ext>
            </a:extLst>
          </p:cNvPr>
          <p:cNvPicPr>
            <a:picLocks noChangeAspect="1"/>
          </p:cNvPicPr>
          <p:nvPr/>
        </p:nvPicPr>
        <p:blipFill>
          <a:blip r:embed="rId2"/>
          <a:stretch>
            <a:fillRect/>
          </a:stretch>
        </p:blipFill>
        <p:spPr>
          <a:xfrm>
            <a:off x="1289112" y="132348"/>
            <a:ext cx="9003903" cy="6359279"/>
          </a:xfrm>
          <a:prstGeom prst="rect">
            <a:avLst/>
          </a:prstGeom>
        </p:spPr>
      </p:pic>
    </p:spTree>
    <p:extLst>
      <p:ext uri="{BB962C8B-B14F-4D97-AF65-F5344CB8AC3E}">
        <p14:creationId xmlns:p14="http://schemas.microsoft.com/office/powerpoint/2010/main" val="3220849203"/>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0996015-75E2-08C1-690E-7DF0E68B0356}"/>
              </a:ext>
            </a:extLst>
          </p:cNvPr>
          <p:cNvPicPr>
            <a:picLocks noChangeAspect="1"/>
          </p:cNvPicPr>
          <p:nvPr/>
        </p:nvPicPr>
        <p:blipFill>
          <a:blip r:embed="rId2"/>
          <a:stretch>
            <a:fillRect/>
          </a:stretch>
        </p:blipFill>
        <p:spPr>
          <a:xfrm>
            <a:off x="0" y="1818570"/>
            <a:ext cx="6334125" cy="4552950"/>
          </a:xfrm>
          <a:prstGeom prst="rect">
            <a:avLst/>
          </a:prstGeom>
        </p:spPr>
      </p:pic>
      <p:sp>
        <p:nvSpPr>
          <p:cNvPr id="5" name="TextBox 4">
            <a:extLst>
              <a:ext uri="{FF2B5EF4-FFF2-40B4-BE49-F238E27FC236}">
                <a16:creationId xmlns:a16="http://schemas.microsoft.com/office/drawing/2014/main" id="{B9CA9FD3-1FF2-7059-C26B-0D3371E94B81}"/>
              </a:ext>
            </a:extLst>
          </p:cNvPr>
          <p:cNvSpPr txBox="1"/>
          <p:nvPr/>
        </p:nvSpPr>
        <p:spPr>
          <a:xfrm>
            <a:off x="859536" y="737616"/>
            <a:ext cx="2209259" cy="369332"/>
          </a:xfrm>
          <a:prstGeom prst="rect">
            <a:avLst/>
          </a:prstGeom>
          <a:noFill/>
        </p:spPr>
        <p:txBody>
          <a:bodyPr wrap="none" rtlCol="0">
            <a:spAutoFit/>
          </a:bodyPr>
          <a:lstStyle/>
          <a:p>
            <a:r>
              <a:rPr lang="en-CH" dirty="0"/>
              <a:t>Set Size, Sim and Seq</a:t>
            </a:r>
          </a:p>
        </p:txBody>
      </p:sp>
      <p:pic>
        <p:nvPicPr>
          <p:cNvPr id="6" name="Picture 5">
            <a:extLst>
              <a:ext uri="{FF2B5EF4-FFF2-40B4-BE49-F238E27FC236}">
                <a16:creationId xmlns:a16="http://schemas.microsoft.com/office/drawing/2014/main" id="{9F7DF704-2370-6FE2-B5D1-F88D6886DCD6}"/>
              </a:ext>
            </a:extLst>
          </p:cNvPr>
          <p:cNvPicPr>
            <a:picLocks noChangeAspect="1"/>
          </p:cNvPicPr>
          <p:nvPr/>
        </p:nvPicPr>
        <p:blipFill>
          <a:blip r:embed="rId3"/>
          <a:stretch>
            <a:fillRect/>
          </a:stretch>
        </p:blipFill>
        <p:spPr>
          <a:xfrm>
            <a:off x="5791553" y="1818570"/>
            <a:ext cx="6147768" cy="4552950"/>
          </a:xfrm>
          <a:prstGeom prst="rect">
            <a:avLst/>
          </a:prstGeom>
        </p:spPr>
      </p:pic>
    </p:spTree>
    <p:extLst>
      <p:ext uri="{BB962C8B-B14F-4D97-AF65-F5344CB8AC3E}">
        <p14:creationId xmlns:p14="http://schemas.microsoft.com/office/powerpoint/2010/main" val="706642589"/>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2855D14-7F2B-918D-4DC6-891E6B5B076A}"/>
              </a:ext>
            </a:extLst>
          </p:cNvPr>
          <p:cNvSpPr txBox="1"/>
          <p:nvPr/>
        </p:nvSpPr>
        <p:spPr>
          <a:xfrm>
            <a:off x="859536" y="737616"/>
            <a:ext cx="2209259" cy="369332"/>
          </a:xfrm>
          <a:prstGeom prst="rect">
            <a:avLst/>
          </a:prstGeom>
          <a:noFill/>
        </p:spPr>
        <p:txBody>
          <a:bodyPr wrap="none" rtlCol="0">
            <a:spAutoFit/>
          </a:bodyPr>
          <a:lstStyle/>
          <a:p>
            <a:r>
              <a:rPr lang="en-CH" dirty="0"/>
              <a:t>Set Size, Sim and Seq</a:t>
            </a:r>
          </a:p>
        </p:txBody>
      </p:sp>
      <p:pic>
        <p:nvPicPr>
          <p:cNvPr id="2" name="Picture 1">
            <a:extLst>
              <a:ext uri="{FF2B5EF4-FFF2-40B4-BE49-F238E27FC236}">
                <a16:creationId xmlns:a16="http://schemas.microsoft.com/office/drawing/2014/main" id="{A6D9300E-E8A6-AD55-0DB3-542D3149C3DE}"/>
              </a:ext>
            </a:extLst>
          </p:cNvPr>
          <p:cNvPicPr>
            <a:picLocks noChangeAspect="1"/>
          </p:cNvPicPr>
          <p:nvPr/>
        </p:nvPicPr>
        <p:blipFill>
          <a:blip r:embed="rId2"/>
          <a:stretch>
            <a:fillRect/>
          </a:stretch>
        </p:blipFill>
        <p:spPr>
          <a:xfrm>
            <a:off x="-107576" y="1411640"/>
            <a:ext cx="6696075" cy="5095875"/>
          </a:xfrm>
          <a:prstGeom prst="rect">
            <a:avLst/>
          </a:prstGeom>
        </p:spPr>
      </p:pic>
      <p:pic>
        <p:nvPicPr>
          <p:cNvPr id="4" name="Picture 3">
            <a:extLst>
              <a:ext uri="{FF2B5EF4-FFF2-40B4-BE49-F238E27FC236}">
                <a16:creationId xmlns:a16="http://schemas.microsoft.com/office/drawing/2014/main" id="{798DF69C-F750-6523-55A8-0FBC7DFE9BE8}"/>
              </a:ext>
            </a:extLst>
          </p:cNvPr>
          <p:cNvPicPr>
            <a:picLocks noChangeAspect="1"/>
          </p:cNvPicPr>
          <p:nvPr/>
        </p:nvPicPr>
        <p:blipFill>
          <a:blip r:embed="rId3"/>
          <a:stretch>
            <a:fillRect/>
          </a:stretch>
        </p:blipFill>
        <p:spPr>
          <a:xfrm>
            <a:off x="6096000" y="1411640"/>
            <a:ext cx="6534150" cy="4895850"/>
          </a:xfrm>
          <a:prstGeom prst="rect">
            <a:avLst/>
          </a:prstGeom>
        </p:spPr>
      </p:pic>
    </p:spTree>
    <p:extLst>
      <p:ext uri="{BB962C8B-B14F-4D97-AF65-F5344CB8AC3E}">
        <p14:creationId xmlns:p14="http://schemas.microsoft.com/office/powerpoint/2010/main" val="661821220"/>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C3F2F6B-25FC-6991-B6A9-552B61247132}"/>
              </a:ext>
            </a:extLst>
          </p:cNvPr>
          <p:cNvPicPr>
            <a:picLocks noChangeAspect="1"/>
          </p:cNvPicPr>
          <p:nvPr/>
        </p:nvPicPr>
        <p:blipFill>
          <a:blip r:embed="rId2"/>
          <a:stretch>
            <a:fillRect/>
          </a:stretch>
        </p:blipFill>
        <p:spPr>
          <a:xfrm>
            <a:off x="2781300" y="862012"/>
            <a:ext cx="6629400" cy="5133975"/>
          </a:xfrm>
          <a:prstGeom prst="rect">
            <a:avLst/>
          </a:prstGeom>
        </p:spPr>
      </p:pic>
    </p:spTree>
    <p:extLst>
      <p:ext uri="{BB962C8B-B14F-4D97-AF65-F5344CB8AC3E}">
        <p14:creationId xmlns:p14="http://schemas.microsoft.com/office/powerpoint/2010/main" val="2614210564"/>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5CCA7E0-3717-5682-1898-38DBF7939DFE}"/>
              </a:ext>
            </a:extLst>
          </p:cNvPr>
          <p:cNvPicPr>
            <a:picLocks noChangeAspect="1"/>
          </p:cNvPicPr>
          <p:nvPr/>
        </p:nvPicPr>
        <p:blipFill>
          <a:blip r:embed="rId2"/>
          <a:stretch>
            <a:fillRect/>
          </a:stretch>
        </p:blipFill>
        <p:spPr>
          <a:xfrm>
            <a:off x="269854" y="742773"/>
            <a:ext cx="5826146" cy="4645908"/>
          </a:xfrm>
          <a:prstGeom prst="rect">
            <a:avLst/>
          </a:prstGeom>
        </p:spPr>
      </p:pic>
      <p:pic>
        <p:nvPicPr>
          <p:cNvPr id="3" name="Picture 2">
            <a:extLst>
              <a:ext uri="{FF2B5EF4-FFF2-40B4-BE49-F238E27FC236}">
                <a16:creationId xmlns:a16="http://schemas.microsoft.com/office/drawing/2014/main" id="{00AA8DA1-94E6-27B3-3AF5-C6589F2C3B0B}"/>
              </a:ext>
            </a:extLst>
          </p:cNvPr>
          <p:cNvPicPr>
            <a:picLocks noChangeAspect="1"/>
          </p:cNvPicPr>
          <p:nvPr/>
        </p:nvPicPr>
        <p:blipFill>
          <a:blip r:embed="rId3"/>
          <a:stretch>
            <a:fillRect/>
          </a:stretch>
        </p:blipFill>
        <p:spPr>
          <a:xfrm>
            <a:off x="6096000" y="599898"/>
            <a:ext cx="5625290" cy="4931657"/>
          </a:xfrm>
          <a:prstGeom prst="rect">
            <a:avLst/>
          </a:prstGeom>
        </p:spPr>
      </p:pic>
    </p:spTree>
    <p:extLst>
      <p:ext uri="{BB962C8B-B14F-4D97-AF65-F5344CB8AC3E}">
        <p14:creationId xmlns:p14="http://schemas.microsoft.com/office/powerpoint/2010/main" val="3778964417"/>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8D4CDC2-0211-EEBA-A2E5-1CC97F0D38E0}"/>
              </a:ext>
            </a:extLst>
          </p:cNvPr>
          <p:cNvSpPr txBox="1"/>
          <p:nvPr/>
        </p:nvSpPr>
        <p:spPr>
          <a:xfrm>
            <a:off x="859536" y="737616"/>
            <a:ext cx="5943487" cy="369332"/>
          </a:xfrm>
          <a:prstGeom prst="rect">
            <a:avLst/>
          </a:prstGeom>
          <a:noFill/>
        </p:spPr>
        <p:txBody>
          <a:bodyPr wrap="none" rtlCol="0">
            <a:spAutoFit/>
          </a:bodyPr>
          <a:lstStyle/>
          <a:p>
            <a:r>
              <a:rPr lang="en-CH" dirty="0"/>
              <a:t>Set Size, Change Detection (after reducing boundary(2) to 10)</a:t>
            </a:r>
          </a:p>
        </p:txBody>
      </p:sp>
      <p:pic>
        <p:nvPicPr>
          <p:cNvPr id="2" name="Picture 1">
            <a:extLst>
              <a:ext uri="{FF2B5EF4-FFF2-40B4-BE49-F238E27FC236}">
                <a16:creationId xmlns:a16="http://schemas.microsoft.com/office/drawing/2014/main" id="{28DF61AB-F56B-E3A2-7017-26D2188690C2}"/>
              </a:ext>
            </a:extLst>
          </p:cNvPr>
          <p:cNvPicPr>
            <a:picLocks noChangeAspect="1"/>
          </p:cNvPicPr>
          <p:nvPr/>
        </p:nvPicPr>
        <p:blipFill>
          <a:blip r:embed="rId2"/>
          <a:stretch>
            <a:fillRect/>
          </a:stretch>
        </p:blipFill>
        <p:spPr>
          <a:xfrm>
            <a:off x="373788" y="1582851"/>
            <a:ext cx="5885427" cy="4468565"/>
          </a:xfrm>
          <a:prstGeom prst="rect">
            <a:avLst/>
          </a:prstGeom>
        </p:spPr>
      </p:pic>
      <p:pic>
        <p:nvPicPr>
          <p:cNvPr id="3" name="Picture 2">
            <a:extLst>
              <a:ext uri="{FF2B5EF4-FFF2-40B4-BE49-F238E27FC236}">
                <a16:creationId xmlns:a16="http://schemas.microsoft.com/office/drawing/2014/main" id="{67C8CCDB-FB01-FD76-D2E1-062D4842D1D4}"/>
              </a:ext>
            </a:extLst>
          </p:cNvPr>
          <p:cNvPicPr>
            <a:picLocks noChangeAspect="1"/>
          </p:cNvPicPr>
          <p:nvPr/>
        </p:nvPicPr>
        <p:blipFill>
          <a:blip r:embed="rId3"/>
          <a:stretch>
            <a:fillRect/>
          </a:stretch>
        </p:blipFill>
        <p:spPr>
          <a:xfrm>
            <a:off x="6185473" y="1474930"/>
            <a:ext cx="5791200" cy="4486275"/>
          </a:xfrm>
          <a:prstGeom prst="rect">
            <a:avLst/>
          </a:prstGeom>
        </p:spPr>
      </p:pic>
    </p:spTree>
    <p:extLst>
      <p:ext uri="{BB962C8B-B14F-4D97-AF65-F5344CB8AC3E}">
        <p14:creationId xmlns:p14="http://schemas.microsoft.com/office/powerpoint/2010/main" val="224262975"/>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84D39E6-9368-D25C-720D-960EACCD6C77}"/>
              </a:ext>
            </a:extLst>
          </p:cNvPr>
          <p:cNvPicPr>
            <a:picLocks noChangeAspect="1"/>
          </p:cNvPicPr>
          <p:nvPr/>
        </p:nvPicPr>
        <p:blipFill>
          <a:blip r:embed="rId2"/>
          <a:stretch>
            <a:fillRect/>
          </a:stretch>
        </p:blipFill>
        <p:spPr>
          <a:xfrm>
            <a:off x="212254" y="1472504"/>
            <a:ext cx="6210300" cy="4762500"/>
          </a:xfrm>
          <a:prstGeom prst="rect">
            <a:avLst/>
          </a:prstGeom>
        </p:spPr>
      </p:pic>
      <p:sp>
        <p:nvSpPr>
          <p:cNvPr id="3" name="TextBox 2">
            <a:extLst>
              <a:ext uri="{FF2B5EF4-FFF2-40B4-BE49-F238E27FC236}">
                <a16:creationId xmlns:a16="http://schemas.microsoft.com/office/drawing/2014/main" id="{87F75F49-2470-E1B9-32B9-10667EA2B6D3}"/>
              </a:ext>
            </a:extLst>
          </p:cNvPr>
          <p:cNvSpPr txBox="1"/>
          <p:nvPr/>
        </p:nvSpPr>
        <p:spPr>
          <a:xfrm>
            <a:off x="859536" y="737616"/>
            <a:ext cx="7399333" cy="369332"/>
          </a:xfrm>
          <a:prstGeom prst="rect">
            <a:avLst/>
          </a:prstGeom>
          <a:noFill/>
        </p:spPr>
        <p:txBody>
          <a:bodyPr wrap="none" rtlCol="0">
            <a:spAutoFit/>
          </a:bodyPr>
          <a:lstStyle/>
          <a:p>
            <a:r>
              <a:rPr lang="en-CH" dirty="0"/>
              <a:t>For comparison: Archive, Mediated (May 2026), after some necessary repairs</a:t>
            </a:r>
          </a:p>
        </p:txBody>
      </p:sp>
      <p:pic>
        <p:nvPicPr>
          <p:cNvPr id="4" name="Picture 3">
            <a:extLst>
              <a:ext uri="{FF2B5EF4-FFF2-40B4-BE49-F238E27FC236}">
                <a16:creationId xmlns:a16="http://schemas.microsoft.com/office/drawing/2014/main" id="{573DC4E6-5D3C-2643-04F4-7983867B011B}"/>
              </a:ext>
            </a:extLst>
          </p:cNvPr>
          <p:cNvPicPr>
            <a:picLocks noChangeAspect="1"/>
          </p:cNvPicPr>
          <p:nvPr/>
        </p:nvPicPr>
        <p:blipFill>
          <a:blip r:embed="rId3"/>
          <a:stretch>
            <a:fillRect/>
          </a:stretch>
        </p:blipFill>
        <p:spPr>
          <a:xfrm>
            <a:off x="6179206" y="1472504"/>
            <a:ext cx="6134100" cy="4467225"/>
          </a:xfrm>
          <a:prstGeom prst="rect">
            <a:avLst/>
          </a:prstGeom>
        </p:spPr>
      </p:pic>
    </p:spTree>
    <p:extLst>
      <p:ext uri="{BB962C8B-B14F-4D97-AF65-F5344CB8AC3E}">
        <p14:creationId xmlns:p14="http://schemas.microsoft.com/office/powerpoint/2010/main" val="223511836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3960AE8-D199-73FD-93E0-8E9D9119AE57}"/>
              </a:ext>
            </a:extLst>
          </p:cNvPr>
          <p:cNvPicPr>
            <a:picLocks noChangeAspect="1"/>
          </p:cNvPicPr>
          <p:nvPr/>
        </p:nvPicPr>
        <p:blipFill>
          <a:blip r:embed="rId2"/>
          <a:stretch>
            <a:fillRect/>
          </a:stretch>
        </p:blipFill>
        <p:spPr>
          <a:xfrm>
            <a:off x="76200" y="1916565"/>
            <a:ext cx="6019800" cy="4505325"/>
          </a:xfrm>
          <a:prstGeom prst="rect">
            <a:avLst/>
          </a:prstGeom>
        </p:spPr>
      </p:pic>
      <p:sp>
        <p:nvSpPr>
          <p:cNvPr id="3" name="TextBox 2">
            <a:extLst>
              <a:ext uri="{FF2B5EF4-FFF2-40B4-BE49-F238E27FC236}">
                <a16:creationId xmlns:a16="http://schemas.microsoft.com/office/drawing/2014/main" id="{DE039503-D53B-7434-89E8-8BEB586DFAB0}"/>
              </a:ext>
            </a:extLst>
          </p:cNvPr>
          <p:cNvSpPr txBox="1"/>
          <p:nvPr/>
        </p:nvSpPr>
        <p:spPr>
          <a:xfrm>
            <a:off x="859536" y="737616"/>
            <a:ext cx="7399333" cy="369332"/>
          </a:xfrm>
          <a:prstGeom prst="rect">
            <a:avLst/>
          </a:prstGeom>
          <a:noFill/>
        </p:spPr>
        <p:txBody>
          <a:bodyPr wrap="none" rtlCol="0">
            <a:spAutoFit/>
          </a:bodyPr>
          <a:lstStyle/>
          <a:p>
            <a:r>
              <a:rPr lang="en-CH" dirty="0"/>
              <a:t>For comparison: Archive, Mediated (May 2026), after some necessary repairs</a:t>
            </a:r>
          </a:p>
        </p:txBody>
      </p:sp>
      <p:pic>
        <p:nvPicPr>
          <p:cNvPr id="4" name="Picture 3">
            <a:extLst>
              <a:ext uri="{FF2B5EF4-FFF2-40B4-BE49-F238E27FC236}">
                <a16:creationId xmlns:a16="http://schemas.microsoft.com/office/drawing/2014/main" id="{FF7E6AE2-2B60-B59B-2D10-4BDA2F6AEC48}"/>
              </a:ext>
            </a:extLst>
          </p:cNvPr>
          <p:cNvPicPr>
            <a:picLocks noChangeAspect="1"/>
          </p:cNvPicPr>
          <p:nvPr/>
        </p:nvPicPr>
        <p:blipFill>
          <a:blip r:embed="rId3"/>
          <a:stretch>
            <a:fillRect/>
          </a:stretch>
        </p:blipFill>
        <p:spPr>
          <a:xfrm>
            <a:off x="5748642" y="1916565"/>
            <a:ext cx="6253466" cy="4451469"/>
          </a:xfrm>
          <a:prstGeom prst="rect">
            <a:avLst/>
          </a:prstGeom>
        </p:spPr>
      </p:pic>
    </p:spTree>
    <p:extLst>
      <p:ext uri="{BB962C8B-B14F-4D97-AF65-F5344CB8AC3E}">
        <p14:creationId xmlns:p14="http://schemas.microsoft.com/office/powerpoint/2010/main" val="3185787889"/>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7D869C2-D148-E39F-08A7-F458CA2F10C4}"/>
              </a:ext>
            </a:extLst>
          </p:cNvPr>
          <p:cNvPicPr>
            <a:picLocks noChangeAspect="1"/>
          </p:cNvPicPr>
          <p:nvPr/>
        </p:nvPicPr>
        <p:blipFill>
          <a:blip r:embed="rId2"/>
          <a:stretch>
            <a:fillRect/>
          </a:stretch>
        </p:blipFill>
        <p:spPr>
          <a:xfrm>
            <a:off x="131260" y="1487744"/>
            <a:ext cx="6011672" cy="4508754"/>
          </a:xfrm>
          <a:prstGeom prst="rect">
            <a:avLst/>
          </a:prstGeom>
        </p:spPr>
      </p:pic>
      <p:sp>
        <p:nvSpPr>
          <p:cNvPr id="3" name="TextBox 2">
            <a:extLst>
              <a:ext uri="{FF2B5EF4-FFF2-40B4-BE49-F238E27FC236}">
                <a16:creationId xmlns:a16="http://schemas.microsoft.com/office/drawing/2014/main" id="{72803830-66E8-D34D-2468-BEAE970668CF}"/>
              </a:ext>
            </a:extLst>
          </p:cNvPr>
          <p:cNvSpPr txBox="1"/>
          <p:nvPr/>
        </p:nvSpPr>
        <p:spPr>
          <a:xfrm>
            <a:off x="981456" y="565550"/>
            <a:ext cx="4496235" cy="923330"/>
          </a:xfrm>
          <a:prstGeom prst="rect">
            <a:avLst/>
          </a:prstGeom>
          <a:noFill/>
        </p:spPr>
        <p:txBody>
          <a:bodyPr wrap="square" rtlCol="0">
            <a:spAutoFit/>
          </a:bodyPr>
          <a:lstStyle/>
          <a:p>
            <a:r>
              <a:rPr lang="en-CH" dirty="0"/>
              <a:t>For comparison: Archive, March 2026 (</a:t>
            </a:r>
            <a:r>
              <a:rPr lang="en-CH" dirty="0" err="1"/>
              <a:t>SetsizeCD</a:t>
            </a:r>
            <a:r>
              <a:rPr lang="en-CH" dirty="0"/>
              <a:t>: new probes integrated over all sizes of changes)</a:t>
            </a:r>
          </a:p>
        </p:txBody>
      </p:sp>
      <p:pic>
        <p:nvPicPr>
          <p:cNvPr id="5" name="Picture 4">
            <a:extLst>
              <a:ext uri="{FF2B5EF4-FFF2-40B4-BE49-F238E27FC236}">
                <a16:creationId xmlns:a16="http://schemas.microsoft.com/office/drawing/2014/main" id="{F59DCFB1-197C-1B6A-7940-8366101C32B2}"/>
              </a:ext>
            </a:extLst>
          </p:cNvPr>
          <p:cNvPicPr>
            <a:picLocks noChangeAspect="1"/>
          </p:cNvPicPr>
          <p:nvPr/>
        </p:nvPicPr>
        <p:blipFill>
          <a:blip r:embed="rId3"/>
          <a:stretch>
            <a:fillRect/>
          </a:stretch>
        </p:blipFill>
        <p:spPr>
          <a:xfrm>
            <a:off x="6142932" y="1993983"/>
            <a:ext cx="5578854" cy="3652136"/>
          </a:xfrm>
          <a:prstGeom prst="rect">
            <a:avLst/>
          </a:prstGeom>
        </p:spPr>
      </p:pic>
      <p:sp>
        <p:nvSpPr>
          <p:cNvPr id="6" name="TextBox 5">
            <a:extLst>
              <a:ext uri="{FF2B5EF4-FFF2-40B4-BE49-F238E27FC236}">
                <a16:creationId xmlns:a16="http://schemas.microsoft.com/office/drawing/2014/main" id="{80D47AB2-A986-B438-B375-1B03EE72C978}"/>
              </a:ext>
            </a:extLst>
          </p:cNvPr>
          <p:cNvSpPr txBox="1"/>
          <p:nvPr/>
        </p:nvSpPr>
        <p:spPr>
          <a:xfrm>
            <a:off x="6480638" y="842549"/>
            <a:ext cx="4984506" cy="369332"/>
          </a:xfrm>
          <a:prstGeom prst="rect">
            <a:avLst/>
          </a:prstGeom>
          <a:noFill/>
        </p:spPr>
        <p:txBody>
          <a:bodyPr wrap="none" rtlCol="0">
            <a:spAutoFit/>
          </a:bodyPr>
          <a:lstStyle/>
          <a:p>
            <a:r>
              <a:rPr lang="en-CH" dirty="0"/>
              <a:t>Transplanted into current environment (</a:t>
            </a:r>
            <a:r>
              <a:rPr lang="en-CH" dirty="0" err="1"/>
              <a:t>SetsizeCD</a:t>
            </a:r>
            <a:r>
              <a:rPr lang="en-CH" dirty="0"/>
              <a:t>):</a:t>
            </a:r>
          </a:p>
        </p:txBody>
      </p:sp>
    </p:spTree>
    <p:extLst>
      <p:ext uri="{BB962C8B-B14F-4D97-AF65-F5344CB8AC3E}">
        <p14:creationId xmlns:p14="http://schemas.microsoft.com/office/powerpoint/2010/main" val="205354251"/>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88E2656-8724-7A1A-7310-65C49D6A099F}"/>
              </a:ext>
            </a:extLst>
          </p:cNvPr>
          <p:cNvPicPr>
            <a:picLocks noChangeAspect="1"/>
          </p:cNvPicPr>
          <p:nvPr/>
        </p:nvPicPr>
        <p:blipFill>
          <a:blip r:embed="rId2"/>
          <a:stretch>
            <a:fillRect/>
          </a:stretch>
        </p:blipFill>
        <p:spPr>
          <a:xfrm>
            <a:off x="290819" y="1367974"/>
            <a:ext cx="5534025" cy="4581525"/>
          </a:xfrm>
          <a:prstGeom prst="rect">
            <a:avLst/>
          </a:prstGeom>
        </p:spPr>
      </p:pic>
      <p:pic>
        <p:nvPicPr>
          <p:cNvPr id="4" name="Picture 3">
            <a:extLst>
              <a:ext uri="{FF2B5EF4-FFF2-40B4-BE49-F238E27FC236}">
                <a16:creationId xmlns:a16="http://schemas.microsoft.com/office/drawing/2014/main" id="{E9FB8CF7-8182-A101-945F-DF83E8831A3A}"/>
              </a:ext>
            </a:extLst>
          </p:cNvPr>
          <p:cNvPicPr>
            <a:picLocks noChangeAspect="1"/>
          </p:cNvPicPr>
          <p:nvPr/>
        </p:nvPicPr>
        <p:blipFill>
          <a:blip r:embed="rId3"/>
          <a:stretch>
            <a:fillRect/>
          </a:stretch>
        </p:blipFill>
        <p:spPr>
          <a:xfrm>
            <a:off x="6025207" y="1752107"/>
            <a:ext cx="5534025" cy="4182465"/>
          </a:xfrm>
          <a:prstGeom prst="rect">
            <a:avLst/>
          </a:prstGeom>
        </p:spPr>
      </p:pic>
      <p:sp>
        <p:nvSpPr>
          <p:cNvPr id="5" name="TextBox 4">
            <a:extLst>
              <a:ext uri="{FF2B5EF4-FFF2-40B4-BE49-F238E27FC236}">
                <a16:creationId xmlns:a16="http://schemas.microsoft.com/office/drawing/2014/main" id="{DD2C6988-9704-11EE-2FC4-66BFC7345096}"/>
              </a:ext>
            </a:extLst>
          </p:cNvPr>
          <p:cNvSpPr txBox="1"/>
          <p:nvPr/>
        </p:nvSpPr>
        <p:spPr>
          <a:xfrm>
            <a:off x="859536" y="737616"/>
            <a:ext cx="3835024" cy="369332"/>
          </a:xfrm>
          <a:prstGeom prst="rect">
            <a:avLst/>
          </a:prstGeom>
          <a:noFill/>
        </p:spPr>
        <p:txBody>
          <a:bodyPr wrap="none" rtlCol="0">
            <a:spAutoFit/>
          </a:bodyPr>
          <a:lstStyle/>
          <a:p>
            <a:r>
              <a:rPr lang="en-CH" dirty="0"/>
              <a:t>For comparison: Archive, March 2026</a:t>
            </a:r>
          </a:p>
        </p:txBody>
      </p:sp>
      <p:sp>
        <p:nvSpPr>
          <p:cNvPr id="6" name="TextBox 5">
            <a:extLst>
              <a:ext uri="{FF2B5EF4-FFF2-40B4-BE49-F238E27FC236}">
                <a16:creationId xmlns:a16="http://schemas.microsoft.com/office/drawing/2014/main" id="{DAB1271D-073B-2872-773E-E5B6BE62D3EC}"/>
              </a:ext>
            </a:extLst>
          </p:cNvPr>
          <p:cNvSpPr txBox="1"/>
          <p:nvPr/>
        </p:nvSpPr>
        <p:spPr>
          <a:xfrm>
            <a:off x="6480638" y="842549"/>
            <a:ext cx="3883243" cy="369332"/>
          </a:xfrm>
          <a:prstGeom prst="rect">
            <a:avLst/>
          </a:prstGeom>
          <a:noFill/>
        </p:spPr>
        <p:txBody>
          <a:bodyPr wrap="none" rtlCol="0">
            <a:spAutoFit/>
          </a:bodyPr>
          <a:lstStyle/>
          <a:p>
            <a:r>
              <a:rPr lang="en-CH" dirty="0"/>
              <a:t>Transplanted into current environment:</a:t>
            </a:r>
          </a:p>
        </p:txBody>
      </p:sp>
    </p:spTree>
    <p:extLst>
      <p:ext uri="{BB962C8B-B14F-4D97-AF65-F5344CB8AC3E}">
        <p14:creationId xmlns:p14="http://schemas.microsoft.com/office/powerpoint/2010/main" val="376635360"/>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D5C0151-F25F-0587-5DA1-BD7A3CAC5C2C}"/>
              </a:ext>
            </a:extLst>
          </p:cNvPr>
          <p:cNvSpPr txBox="1"/>
          <p:nvPr/>
        </p:nvSpPr>
        <p:spPr>
          <a:xfrm>
            <a:off x="667753" y="553453"/>
            <a:ext cx="1599477" cy="369332"/>
          </a:xfrm>
          <a:prstGeom prst="rect">
            <a:avLst/>
          </a:prstGeom>
          <a:noFill/>
        </p:spPr>
        <p:txBody>
          <a:bodyPr wrap="none" rtlCol="0">
            <a:spAutoFit/>
          </a:bodyPr>
          <a:lstStyle/>
          <a:p>
            <a:r>
              <a:rPr lang="en-CH" dirty="0" err="1"/>
              <a:t>Setsize</a:t>
            </a:r>
            <a:r>
              <a:rPr lang="en-CH" dirty="0"/>
              <a:t>, </a:t>
            </a:r>
            <a:r>
              <a:rPr lang="en-CH" dirty="0" err="1"/>
              <a:t>ind</a:t>
            </a:r>
            <a:r>
              <a:rPr lang="en-CH" dirty="0"/>
              <a:t> diff</a:t>
            </a:r>
          </a:p>
        </p:txBody>
      </p:sp>
      <p:pic>
        <p:nvPicPr>
          <p:cNvPr id="3" name="Picture 2">
            <a:extLst>
              <a:ext uri="{FF2B5EF4-FFF2-40B4-BE49-F238E27FC236}">
                <a16:creationId xmlns:a16="http://schemas.microsoft.com/office/drawing/2014/main" id="{3128D985-9981-7AB8-3444-984722C0E82C}"/>
              </a:ext>
            </a:extLst>
          </p:cNvPr>
          <p:cNvPicPr>
            <a:picLocks noChangeAspect="1"/>
          </p:cNvPicPr>
          <p:nvPr/>
        </p:nvPicPr>
        <p:blipFill>
          <a:blip r:embed="rId2"/>
          <a:stretch>
            <a:fillRect/>
          </a:stretch>
        </p:blipFill>
        <p:spPr>
          <a:xfrm>
            <a:off x="5743575" y="1686622"/>
            <a:ext cx="6448425" cy="4800600"/>
          </a:xfrm>
          <a:prstGeom prst="rect">
            <a:avLst/>
          </a:prstGeom>
        </p:spPr>
      </p:pic>
      <p:pic>
        <p:nvPicPr>
          <p:cNvPr id="4" name="Picture 3">
            <a:extLst>
              <a:ext uri="{FF2B5EF4-FFF2-40B4-BE49-F238E27FC236}">
                <a16:creationId xmlns:a16="http://schemas.microsoft.com/office/drawing/2014/main" id="{AFE9F9FC-6F17-DDF8-281A-C5A14B12A508}"/>
              </a:ext>
            </a:extLst>
          </p:cNvPr>
          <p:cNvPicPr>
            <a:picLocks noChangeAspect="1"/>
          </p:cNvPicPr>
          <p:nvPr/>
        </p:nvPicPr>
        <p:blipFill>
          <a:blip r:embed="rId3"/>
          <a:stretch>
            <a:fillRect/>
          </a:stretch>
        </p:blipFill>
        <p:spPr>
          <a:xfrm>
            <a:off x="217797" y="1828103"/>
            <a:ext cx="5545317" cy="4659119"/>
          </a:xfrm>
          <a:prstGeom prst="rect">
            <a:avLst/>
          </a:prstGeom>
        </p:spPr>
      </p:pic>
    </p:spTree>
    <p:extLst>
      <p:ext uri="{BB962C8B-B14F-4D97-AF65-F5344CB8AC3E}">
        <p14:creationId xmlns:p14="http://schemas.microsoft.com/office/powerpoint/2010/main" val="3130643829"/>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1FC5569-779C-7485-DBA9-2308A434A2EE}"/>
              </a:ext>
            </a:extLst>
          </p:cNvPr>
          <p:cNvPicPr>
            <a:picLocks noChangeAspect="1"/>
          </p:cNvPicPr>
          <p:nvPr/>
        </p:nvPicPr>
        <p:blipFill>
          <a:blip r:embed="rId2"/>
          <a:stretch>
            <a:fillRect/>
          </a:stretch>
        </p:blipFill>
        <p:spPr>
          <a:xfrm>
            <a:off x="469513" y="1009650"/>
            <a:ext cx="6457950" cy="4838700"/>
          </a:xfrm>
          <a:prstGeom prst="rect">
            <a:avLst/>
          </a:prstGeom>
        </p:spPr>
      </p:pic>
    </p:spTree>
    <p:extLst>
      <p:ext uri="{BB962C8B-B14F-4D97-AF65-F5344CB8AC3E}">
        <p14:creationId xmlns:p14="http://schemas.microsoft.com/office/powerpoint/2010/main" val="2386631180"/>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9C0930-FB48-691D-9165-54C7210D6B4A}"/>
              </a:ext>
            </a:extLst>
          </p:cNvPr>
          <p:cNvSpPr txBox="1"/>
          <p:nvPr/>
        </p:nvSpPr>
        <p:spPr>
          <a:xfrm>
            <a:off x="667753" y="553453"/>
            <a:ext cx="4131580" cy="369332"/>
          </a:xfrm>
          <a:prstGeom prst="rect">
            <a:avLst/>
          </a:prstGeom>
          <a:noFill/>
        </p:spPr>
        <p:txBody>
          <a:bodyPr wrap="none" rtlCol="0">
            <a:spAutoFit/>
          </a:bodyPr>
          <a:lstStyle/>
          <a:p>
            <a:r>
              <a:rPr lang="en-CH" dirty="0" err="1"/>
              <a:t>Setsize</a:t>
            </a:r>
            <a:r>
              <a:rPr lang="en-CH" dirty="0"/>
              <a:t>, tracking alpha, CDA, simultaneous</a:t>
            </a:r>
          </a:p>
        </p:txBody>
      </p:sp>
      <p:pic>
        <p:nvPicPr>
          <p:cNvPr id="5" name="Picture 4">
            <a:extLst>
              <a:ext uri="{FF2B5EF4-FFF2-40B4-BE49-F238E27FC236}">
                <a16:creationId xmlns:a16="http://schemas.microsoft.com/office/drawing/2014/main" id="{B27D652A-8D31-BBA9-7694-39D3C215A665}"/>
              </a:ext>
            </a:extLst>
          </p:cNvPr>
          <p:cNvPicPr>
            <a:picLocks noChangeAspect="1"/>
          </p:cNvPicPr>
          <p:nvPr/>
        </p:nvPicPr>
        <p:blipFill>
          <a:blip r:embed="rId2"/>
          <a:stretch>
            <a:fillRect/>
          </a:stretch>
        </p:blipFill>
        <p:spPr>
          <a:xfrm>
            <a:off x="241634" y="1187367"/>
            <a:ext cx="5972677" cy="4479508"/>
          </a:xfrm>
          <a:prstGeom prst="rect">
            <a:avLst/>
          </a:prstGeom>
        </p:spPr>
      </p:pic>
      <p:pic>
        <p:nvPicPr>
          <p:cNvPr id="6" name="Picture 5">
            <a:extLst>
              <a:ext uri="{FF2B5EF4-FFF2-40B4-BE49-F238E27FC236}">
                <a16:creationId xmlns:a16="http://schemas.microsoft.com/office/drawing/2014/main" id="{A488C67A-668F-05A5-BAFB-ED84BABA1662}"/>
              </a:ext>
            </a:extLst>
          </p:cNvPr>
          <p:cNvPicPr>
            <a:picLocks noChangeAspect="1"/>
          </p:cNvPicPr>
          <p:nvPr/>
        </p:nvPicPr>
        <p:blipFill>
          <a:blip r:embed="rId3"/>
          <a:stretch>
            <a:fillRect/>
          </a:stretch>
        </p:blipFill>
        <p:spPr>
          <a:xfrm>
            <a:off x="6004745" y="1187367"/>
            <a:ext cx="6149877" cy="4365207"/>
          </a:xfrm>
          <a:prstGeom prst="rect">
            <a:avLst/>
          </a:prstGeom>
        </p:spPr>
      </p:pic>
      <p:pic>
        <p:nvPicPr>
          <p:cNvPr id="7" name="Picture 6">
            <a:extLst>
              <a:ext uri="{FF2B5EF4-FFF2-40B4-BE49-F238E27FC236}">
                <a16:creationId xmlns:a16="http://schemas.microsoft.com/office/drawing/2014/main" id="{879DFCF6-E836-76E7-76F8-70B4F014EDEA}"/>
              </a:ext>
            </a:extLst>
          </p:cNvPr>
          <p:cNvPicPr>
            <a:picLocks noChangeAspect="1"/>
          </p:cNvPicPr>
          <p:nvPr/>
        </p:nvPicPr>
        <p:blipFill>
          <a:blip r:embed="rId4"/>
          <a:stretch>
            <a:fillRect/>
          </a:stretch>
        </p:blipFill>
        <p:spPr>
          <a:xfrm>
            <a:off x="8625724" y="4048626"/>
            <a:ext cx="3528898" cy="2585786"/>
          </a:xfrm>
          <a:prstGeom prst="rect">
            <a:avLst/>
          </a:prstGeom>
        </p:spPr>
      </p:pic>
    </p:spTree>
    <p:extLst>
      <p:ext uri="{BB962C8B-B14F-4D97-AF65-F5344CB8AC3E}">
        <p14:creationId xmlns:p14="http://schemas.microsoft.com/office/powerpoint/2010/main" val="1101347120"/>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EA65CB9-A903-1988-3D85-AF11F3F837B4}"/>
              </a:ext>
            </a:extLst>
          </p:cNvPr>
          <p:cNvPicPr>
            <a:picLocks noChangeAspect="1"/>
          </p:cNvPicPr>
          <p:nvPr/>
        </p:nvPicPr>
        <p:blipFill>
          <a:blip r:embed="rId2"/>
          <a:stretch>
            <a:fillRect/>
          </a:stretch>
        </p:blipFill>
        <p:spPr>
          <a:xfrm>
            <a:off x="431731" y="185737"/>
            <a:ext cx="4425714" cy="3600955"/>
          </a:xfrm>
          <a:prstGeom prst="rect">
            <a:avLst/>
          </a:prstGeom>
        </p:spPr>
      </p:pic>
      <p:pic>
        <p:nvPicPr>
          <p:cNvPr id="3" name="Picture 2">
            <a:extLst>
              <a:ext uri="{FF2B5EF4-FFF2-40B4-BE49-F238E27FC236}">
                <a16:creationId xmlns:a16="http://schemas.microsoft.com/office/drawing/2014/main" id="{EF561B0D-583A-F284-C024-CA22C7775C27}"/>
              </a:ext>
            </a:extLst>
          </p:cNvPr>
          <p:cNvPicPr>
            <a:picLocks noChangeAspect="1"/>
          </p:cNvPicPr>
          <p:nvPr/>
        </p:nvPicPr>
        <p:blipFill>
          <a:blip r:embed="rId3"/>
          <a:stretch>
            <a:fillRect/>
          </a:stretch>
        </p:blipFill>
        <p:spPr>
          <a:xfrm>
            <a:off x="220869" y="3786692"/>
            <a:ext cx="5222500" cy="3129563"/>
          </a:xfrm>
          <a:prstGeom prst="rect">
            <a:avLst/>
          </a:prstGeom>
        </p:spPr>
      </p:pic>
      <p:pic>
        <p:nvPicPr>
          <p:cNvPr id="4" name="Picture 3">
            <a:extLst>
              <a:ext uri="{FF2B5EF4-FFF2-40B4-BE49-F238E27FC236}">
                <a16:creationId xmlns:a16="http://schemas.microsoft.com/office/drawing/2014/main" id="{E4C346C9-ECFA-3EDE-889D-B2F02E53ECC6}"/>
              </a:ext>
            </a:extLst>
          </p:cNvPr>
          <p:cNvPicPr>
            <a:picLocks noChangeAspect="1"/>
          </p:cNvPicPr>
          <p:nvPr/>
        </p:nvPicPr>
        <p:blipFill>
          <a:blip r:embed="rId4"/>
          <a:stretch>
            <a:fillRect/>
          </a:stretch>
        </p:blipFill>
        <p:spPr>
          <a:xfrm>
            <a:off x="5068307" y="1760949"/>
            <a:ext cx="6096000" cy="4562475"/>
          </a:xfrm>
          <a:prstGeom prst="rect">
            <a:avLst/>
          </a:prstGeom>
        </p:spPr>
      </p:pic>
      <p:pic>
        <p:nvPicPr>
          <p:cNvPr id="5" name="Picture 4">
            <a:extLst>
              <a:ext uri="{FF2B5EF4-FFF2-40B4-BE49-F238E27FC236}">
                <a16:creationId xmlns:a16="http://schemas.microsoft.com/office/drawing/2014/main" id="{923F6E21-4748-49BB-0197-DFA6770C8457}"/>
              </a:ext>
            </a:extLst>
          </p:cNvPr>
          <p:cNvPicPr>
            <a:picLocks noChangeAspect="1"/>
          </p:cNvPicPr>
          <p:nvPr/>
        </p:nvPicPr>
        <p:blipFill>
          <a:blip r:embed="rId5"/>
          <a:stretch>
            <a:fillRect/>
          </a:stretch>
        </p:blipFill>
        <p:spPr>
          <a:xfrm>
            <a:off x="9262334" y="4556479"/>
            <a:ext cx="2929666" cy="2197250"/>
          </a:xfrm>
          <a:prstGeom prst="rect">
            <a:avLst/>
          </a:prstGeom>
        </p:spPr>
      </p:pic>
      <p:sp>
        <p:nvSpPr>
          <p:cNvPr id="6" name="TextBox 5">
            <a:extLst>
              <a:ext uri="{FF2B5EF4-FFF2-40B4-BE49-F238E27FC236}">
                <a16:creationId xmlns:a16="http://schemas.microsoft.com/office/drawing/2014/main" id="{5F8DCE18-1284-F154-E5B6-90FD4E62ECDF}"/>
              </a:ext>
            </a:extLst>
          </p:cNvPr>
          <p:cNvSpPr txBox="1"/>
          <p:nvPr/>
        </p:nvSpPr>
        <p:spPr>
          <a:xfrm>
            <a:off x="5443369" y="563412"/>
            <a:ext cx="3851760" cy="369332"/>
          </a:xfrm>
          <a:prstGeom prst="rect">
            <a:avLst/>
          </a:prstGeom>
          <a:noFill/>
        </p:spPr>
        <p:txBody>
          <a:bodyPr wrap="none" rtlCol="0">
            <a:spAutoFit/>
          </a:bodyPr>
          <a:lstStyle/>
          <a:p>
            <a:r>
              <a:rPr lang="en-CH" dirty="0" err="1"/>
              <a:t>Setsize</a:t>
            </a:r>
            <a:r>
              <a:rPr lang="en-CH" dirty="0"/>
              <a:t>, tracking alpha, CDA, sequential</a:t>
            </a:r>
          </a:p>
        </p:txBody>
      </p:sp>
    </p:spTree>
    <p:extLst>
      <p:ext uri="{BB962C8B-B14F-4D97-AF65-F5344CB8AC3E}">
        <p14:creationId xmlns:p14="http://schemas.microsoft.com/office/powerpoint/2010/main" val="3685491928"/>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3820203-0A75-21F1-68F6-AFFAB7691A4C}"/>
              </a:ext>
            </a:extLst>
          </p:cNvPr>
          <p:cNvSpPr txBox="1"/>
          <p:nvPr/>
        </p:nvSpPr>
        <p:spPr>
          <a:xfrm>
            <a:off x="667753" y="553453"/>
            <a:ext cx="3495957" cy="369332"/>
          </a:xfrm>
          <a:prstGeom prst="rect">
            <a:avLst/>
          </a:prstGeom>
          <a:noFill/>
        </p:spPr>
        <p:txBody>
          <a:bodyPr wrap="none" rtlCol="0">
            <a:spAutoFit/>
          </a:bodyPr>
          <a:lstStyle/>
          <a:p>
            <a:r>
              <a:rPr lang="en-CH" dirty="0"/>
              <a:t>Sensory Memory (Pratte &amp; Greene)</a:t>
            </a:r>
          </a:p>
        </p:txBody>
      </p:sp>
      <p:pic>
        <p:nvPicPr>
          <p:cNvPr id="2" name="Picture 1">
            <a:extLst>
              <a:ext uri="{FF2B5EF4-FFF2-40B4-BE49-F238E27FC236}">
                <a16:creationId xmlns:a16="http://schemas.microsoft.com/office/drawing/2014/main" id="{5CE309EC-CDF7-A316-D14E-C224917678D7}"/>
              </a:ext>
            </a:extLst>
          </p:cNvPr>
          <p:cNvPicPr>
            <a:picLocks noChangeAspect="1"/>
          </p:cNvPicPr>
          <p:nvPr/>
        </p:nvPicPr>
        <p:blipFill>
          <a:blip r:embed="rId2"/>
          <a:stretch>
            <a:fillRect/>
          </a:stretch>
        </p:blipFill>
        <p:spPr>
          <a:xfrm>
            <a:off x="1201674" y="1084897"/>
            <a:ext cx="6057900" cy="4810125"/>
          </a:xfrm>
          <a:prstGeom prst="rect">
            <a:avLst/>
          </a:prstGeom>
        </p:spPr>
      </p:pic>
    </p:spTree>
    <p:extLst>
      <p:ext uri="{BB962C8B-B14F-4D97-AF65-F5344CB8AC3E}">
        <p14:creationId xmlns:p14="http://schemas.microsoft.com/office/powerpoint/2010/main" val="3809169806"/>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EF38142-E9F9-C599-6490-CAB52847132A}"/>
              </a:ext>
            </a:extLst>
          </p:cNvPr>
          <p:cNvPicPr>
            <a:picLocks noChangeAspect="1"/>
          </p:cNvPicPr>
          <p:nvPr/>
        </p:nvPicPr>
        <p:blipFill>
          <a:blip r:embed="rId2"/>
          <a:stretch>
            <a:fillRect/>
          </a:stretch>
        </p:blipFill>
        <p:spPr>
          <a:xfrm>
            <a:off x="-106363" y="1111250"/>
            <a:ext cx="6105525" cy="4838700"/>
          </a:xfrm>
          <a:prstGeom prst="rect">
            <a:avLst/>
          </a:prstGeom>
        </p:spPr>
      </p:pic>
      <p:sp>
        <p:nvSpPr>
          <p:cNvPr id="3" name="TextBox 2">
            <a:extLst>
              <a:ext uri="{FF2B5EF4-FFF2-40B4-BE49-F238E27FC236}">
                <a16:creationId xmlns:a16="http://schemas.microsoft.com/office/drawing/2014/main" id="{4D2D19EA-C0B3-B6E2-B525-363A959AF9FE}"/>
              </a:ext>
            </a:extLst>
          </p:cNvPr>
          <p:cNvSpPr txBox="1"/>
          <p:nvPr/>
        </p:nvSpPr>
        <p:spPr>
          <a:xfrm>
            <a:off x="667753" y="553453"/>
            <a:ext cx="1537600" cy="369332"/>
          </a:xfrm>
          <a:prstGeom prst="rect">
            <a:avLst/>
          </a:prstGeom>
          <a:noFill/>
        </p:spPr>
        <p:txBody>
          <a:bodyPr wrap="none" rtlCol="0">
            <a:spAutoFit/>
          </a:bodyPr>
          <a:lstStyle/>
          <a:p>
            <a:r>
              <a:rPr lang="en-CH" dirty="0"/>
              <a:t>Set Size and RI</a:t>
            </a:r>
          </a:p>
        </p:txBody>
      </p:sp>
      <p:pic>
        <p:nvPicPr>
          <p:cNvPr id="4" name="Picture 3">
            <a:extLst>
              <a:ext uri="{FF2B5EF4-FFF2-40B4-BE49-F238E27FC236}">
                <a16:creationId xmlns:a16="http://schemas.microsoft.com/office/drawing/2014/main" id="{0D85E8CA-1885-85BE-C011-FF742D5EBB71}"/>
              </a:ext>
            </a:extLst>
          </p:cNvPr>
          <p:cNvPicPr>
            <a:picLocks noChangeAspect="1"/>
          </p:cNvPicPr>
          <p:nvPr/>
        </p:nvPicPr>
        <p:blipFill>
          <a:blip r:embed="rId3"/>
          <a:stretch>
            <a:fillRect/>
          </a:stretch>
        </p:blipFill>
        <p:spPr>
          <a:xfrm>
            <a:off x="5740224" y="1111250"/>
            <a:ext cx="6431736" cy="4966493"/>
          </a:xfrm>
          <a:prstGeom prst="rect">
            <a:avLst/>
          </a:prstGeom>
        </p:spPr>
      </p:pic>
    </p:spTree>
    <p:extLst>
      <p:ext uri="{BB962C8B-B14F-4D97-AF65-F5344CB8AC3E}">
        <p14:creationId xmlns:p14="http://schemas.microsoft.com/office/powerpoint/2010/main" val="4278624567"/>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031FEDC-4455-9E2F-603B-E2FCA64B3161}"/>
              </a:ext>
            </a:extLst>
          </p:cNvPr>
          <p:cNvPicPr>
            <a:picLocks noChangeAspect="1"/>
          </p:cNvPicPr>
          <p:nvPr/>
        </p:nvPicPr>
        <p:blipFill>
          <a:blip r:embed="rId2"/>
          <a:stretch>
            <a:fillRect/>
          </a:stretch>
        </p:blipFill>
        <p:spPr>
          <a:xfrm>
            <a:off x="0" y="547687"/>
            <a:ext cx="6181725" cy="5762625"/>
          </a:xfrm>
          <a:prstGeom prst="rect">
            <a:avLst/>
          </a:prstGeom>
        </p:spPr>
      </p:pic>
      <p:pic>
        <p:nvPicPr>
          <p:cNvPr id="3" name="Picture 2">
            <a:extLst>
              <a:ext uri="{FF2B5EF4-FFF2-40B4-BE49-F238E27FC236}">
                <a16:creationId xmlns:a16="http://schemas.microsoft.com/office/drawing/2014/main" id="{ACF46723-2CC5-92DE-20FF-EC43D51F30BF}"/>
              </a:ext>
            </a:extLst>
          </p:cNvPr>
          <p:cNvPicPr>
            <a:picLocks noChangeAspect="1"/>
          </p:cNvPicPr>
          <p:nvPr/>
        </p:nvPicPr>
        <p:blipFill>
          <a:blip r:embed="rId3"/>
          <a:stretch>
            <a:fillRect/>
          </a:stretch>
        </p:blipFill>
        <p:spPr>
          <a:xfrm>
            <a:off x="5834284" y="623944"/>
            <a:ext cx="6363710" cy="5609243"/>
          </a:xfrm>
          <a:prstGeom prst="rect">
            <a:avLst/>
          </a:prstGeom>
        </p:spPr>
      </p:pic>
    </p:spTree>
    <p:extLst>
      <p:ext uri="{BB962C8B-B14F-4D97-AF65-F5344CB8AC3E}">
        <p14:creationId xmlns:p14="http://schemas.microsoft.com/office/powerpoint/2010/main" val="3261230990"/>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7466435-4FFF-A62A-DCB3-9CE1F1C864E3}"/>
              </a:ext>
            </a:extLst>
          </p:cNvPr>
          <p:cNvSpPr txBox="1"/>
          <p:nvPr/>
        </p:nvSpPr>
        <p:spPr>
          <a:xfrm>
            <a:off x="667753" y="553453"/>
            <a:ext cx="4733925" cy="369332"/>
          </a:xfrm>
          <a:prstGeom prst="rect">
            <a:avLst/>
          </a:prstGeom>
          <a:noFill/>
        </p:spPr>
        <p:txBody>
          <a:bodyPr wrap="none" rtlCol="0">
            <a:spAutoFit/>
          </a:bodyPr>
          <a:lstStyle/>
          <a:p>
            <a:r>
              <a:rPr lang="en-CH" dirty="0"/>
              <a:t>Sim. and Seq. Consolidation (Shepherdson et al.)</a:t>
            </a:r>
          </a:p>
        </p:txBody>
      </p:sp>
      <p:pic>
        <p:nvPicPr>
          <p:cNvPr id="2" name="Picture 1">
            <a:extLst>
              <a:ext uri="{FF2B5EF4-FFF2-40B4-BE49-F238E27FC236}">
                <a16:creationId xmlns:a16="http://schemas.microsoft.com/office/drawing/2014/main" id="{DFA45792-260B-C3F6-730C-78DA1FEACD94}"/>
              </a:ext>
            </a:extLst>
          </p:cNvPr>
          <p:cNvPicPr>
            <a:picLocks noChangeAspect="1"/>
          </p:cNvPicPr>
          <p:nvPr/>
        </p:nvPicPr>
        <p:blipFill>
          <a:blip r:embed="rId2"/>
          <a:stretch>
            <a:fillRect/>
          </a:stretch>
        </p:blipFill>
        <p:spPr>
          <a:xfrm>
            <a:off x="400050" y="1497330"/>
            <a:ext cx="5695950" cy="4229100"/>
          </a:xfrm>
          <a:prstGeom prst="rect">
            <a:avLst/>
          </a:prstGeom>
        </p:spPr>
      </p:pic>
      <p:pic>
        <p:nvPicPr>
          <p:cNvPr id="3" name="Picture 2">
            <a:extLst>
              <a:ext uri="{FF2B5EF4-FFF2-40B4-BE49-F238E27FC236}">
                <a16:creationId xmlns:a16="http://schemas.microsoft.com/office/drawing/2014/main" id="{14AAA26B-3EE4-AA9D-3675-6D5F243CFC23}"/>
              </a:ext>
            </a:extLst>
          </p:cNvPr>
          <p:cNvPicPr>
            <a:picLocks noChangeAspect="1"/>
          </p:cNvPicPr>
          <p:nvPr/>
        </p:nvPicPr>
        <p:blipFill>
          <a:blip r:embed="rId3"/>
          <a:stretch>
            <a:fillRect/>
          </a:stretch>
        </p:blipFill>
        <p:spPr>
          <a:xfrm>
            <a:off x="5953524" y="1163955"/>
            <a:ext cx="6467475" cy="4562475"/>
          </a:xfrm>
          <a:prstGeom prst="rect">
            <a:avLst/>
          </a:prstGeom>
        </p:spPr>
      </p:pic>
    </p:spTree>
    <p:extLst>
      <p:ext uri="{BB962C8B-B14F-4D97-AF65-F5344CB8AC3E}">
        <p14:creationId xmlns:p14="http://schemas.microsoft.com/office/powerpoint/2010/main" val="2906325639"/>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6034C-21F9-CB12-D860-6C1809C7404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11274B5-328D-2193-2C83-C13C312A5B6D}"/>
              </a:ext>
            </a:extLst>
          </p:cNvPr>
          <p:cNvSpPr txBox="1"/>
          <p:nvPr/>
        </p:nvSpPr>
        <p:spPr>
          <a:xfrm>
            <a:off x="667753" y="553453"/>
            <a:ext cx="4733925" cy="369332"/>
          </a:xfrm>
          <a:prstGeom prst="rect">
            <a:avLst/>
          </a:prstGeom>
          <a:noFill/>
        </p:spPr>
        <p:txBody>
          <a:bodyPr wrap="none" rtlCol="0">
            <a:spAutoFit/>
          </a:bodyPr>
          <a:lstStyle/>
          <a:p>
            <a:r>
              <a:rPr lang="en-CH" dirty="0"/>
              <a:t>Sim. and Seq. Consolidation (Shepherdson et al.)</a:t>
            </a:r>
          </a:p>
        </p:txBody>
      </p:sp>
      <p:pic>
        <p:nvPicPr>
          <p:cNvPr id="2" name="Picture 1">
            <a:extLst>
              <a:ext uri="{FF2B5EF4-FFF2-40B4-BE49-F238E27FC236}">
                <a16:creationId xmlns:a16="http://schemas.microsoft.com/office/drawing/2014/main" id="{7290A47B-3914-A4DA-CF47-6DE9FF928238}"/>
              </a:ext>
            </a:extLst>
          </p:cNvPr>
          <p:cNvPicPr>
            <a:picLocks noChangeAspect="1"/>
          </p:cNvPicPr>
          <p:nvPr/>
        </p:nvPicPr>
        <p:blipFill>
          <a:blip r:embed="rId2"/>
          <a:stretch>
            <a:fillRect/>
          </a:stretch>
        </p:blipFill>
        <p:spPr>
          <a:xfrm>
            <a:off x="3009900" y="1181100"/>
            <a:ext cx="6172200" cy="4495800"/>
          </a:xfrm>
          <a:prstGeom prst="rect">
            <a:avLst/>
          </a:prstGeom>
        </p:spPr>
      </p:pic>
    </p:spTree>
    <p:extLst>
      <p:ext uri="{BB962C8B-B14F-4D97-AF65-F5344CB8AC3E}">
        <p14:creationId xmlns:p14="http://schemas.microsoft.com/office/powerpoint/2010/main" val="1435137351"/>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9192BC4-B35A-CF33-A5F5-08D35D41ADF0}"/>
              </a:ext>
            </a:extLst>
          </p:cNvPr>
          <p:cNvPicPr>
            <a:picLocks noChangeAspect="1"/>
          </p:cNvPicPr>
          <p:nvPr/>
        </p:nvPicPr>
        <p:blipFill>
          <a:blip r:embed="rId2"/>
          <a:stretch>
            <a:fillRect/>
          </a:stretch>
        </p:blipFill>
        <p:spPr>
          <a:xfrm>
            <a:off x="254778" y="1250663"/>
            <a:ext cx="6043884" cy="4563335"/>
          </a:xfrm>
          <a:prstGeom prst="rect">
            <a:avLst/>
          </a:prstGeom>
        </p:spPr>
      </p:pic>
      <p:sp>
        <p:nvSpPr>
          <p:cNvPr id="3" name="TextBox 2">
            <a:extLst>
              <a:ext uri="{FF2B5EF4-FFF2-40B4-BE49-F238E27FC236}">
                <a16:creationId xmlns:a16="http://schemas.microsoft.com/office/drawing/2014/main" id="{6FB2E03D-9B3E-69F7-779D-02C6445B10D6}"/>
              </a:ext>
            </a:extLst>
          </p:cNvPr>
          <p:cNvSpPr txBox="1"/>
          <p:nvPr/>
        </p:nvSpPr>
        <p:spPr>
          <a:xfrm>
            <a:off x="667753" y="553453"/>
            <a:ext cx="3143425" cy="369332"/>
          </a:xfrm>
          <a:prstGeom prst="rect">
            <a:avLst/>
          </a:prstGeom>
          <a:noFill/>
        </p:spPr>
        <p:txBody>
          <a:bodyPr wrap="none" rtlCol="0">
            <a:spAutoFit/>
          </a:bodyPr>
          <a:lstStyle/>
          <a:p>
            <a:r>
              <a:rPr lang="en-CH" dirty="0"/>
              <a:t>Consolidation (Ricker &amp; Sandry)</a:t>
            </a:r>
          </a:p>
        </p:txBody>
      </p:sp>
      <p:pic>
        <p:nvPicPr>
          <p:cNvPr id="4" name="Picture 3">
            <a:extLst>
              <a:ext uri="{FF2B5EF4-FFF2-40B4-BE49-F238E27FC236}">
                <a16:creationId xmlns:a16="http://schemas.microsoft.com/office/drawing/2014/main" id="{7EC6F574-8CAD-4B2B-3C99-115944151B17}"/>
              </a:ext>
            </a:extLst>
          </p:cNvPr>
          <p:cNvPicPr>
            <a:picLocks noChangeAspect="1"/>
          </p:cNvPicPr>
          <p:nvPr/>
        </p:nvPicPr>
        <p:blipFill>
          <a:blip r:embed="rId3"/>
          <a:stretch>
            <a:fillRect/>
          </a:stretch>
        </p:blipFill>
        <p:spPr>
          <a:xfrm>
            <a:off x="5909354" y="1492536"/>
            <a:ext cx="6579642" cy="5306163"/>
          </a:xfrm>
          <a:prstGeom prst="rect">
            <a:avLst/>
          </a:prstGeom>
        </p:spPr>
      </p:pic>
    </p:spTree>
    <p:extLst>
      <p:ext uri="{BB962C8B-B14F-4D97-AF65-F5344CB8AC3E}">
        <p14:creationId xmlns:p14="http://schemas.microsoft.com/office/powerpoint/2010/main" val="164793742"/>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48E2312-9F1C-5874-CE32-23F806C254D7}"/>
              </a:ext>
            </a:extLst>
          </p:cNvPr>
          <p:cNvSpPr txBox="1"/>
          <p:nvPr/>
        </p:nvSpPr>
        <p:spPr>
          <a:xfrm>
            <a:off x="667753" y="553453"/>
            <a:ext cx="1177438" cy="369332"/>
          </a:xfrm>
          <a:prstGeom prst="rect">
            <a:avLst/>
          </a:prstGeom>
          <a:noFill/>
        </p:spPr>
        <p:txBody>
          <a:bodyPr wrap="none" rtlCol="0">
            <a:spAutoFit/>
          </a:bodyPr>
          <a:lstStyle/>
          <a:p>
            <a:r>
              <a:rPr lang="en-CH" dirty="0"/>
              <a:t>Refreshing</a:t>
            </a:r>
          </a:p>
        </p:txBody>
      </p:sp>
      <p:pic>
        <p:nvPicPr>
          <p:cNvPr id="2" name="Picture 1">
            <a:extLst>
              <a:ext uri="{FF2B5EF4-FFF2-40B4-BE49-F238E27FC236}">
                <a16:creationId xmlns:a16="http://schemas.microsoft.com/office/drawing/2014/main" id="{1EAD167A-3E2F-68A3-5865-493638CFB535}"/>
              </a:ext>
            </a:extLst>
          </p:cNvPr>
          <p:cNvPicPr>
            <a:picLocks noChangeAspect="1"/>
          </p:cNvPicPr>
          <p:nvPr/>
        </p:nvPicPr>
        <p:blipFill>
          <a:blip r:embed="rId2"/>
          <a:stretch>
            <a:fillRect/>
          </a:stretch>
        </p:blipFill>
        <p:spPr>
          <a:xfrm>
            <a:off x="0" y="847725"/>
            <a:ext cx="7400925" cy="6010275"/>
          </a:xfrm>
          <a:prstGeom prst="rect">
            <a:avLst/>
          </a:prstGeom>
        </p:spPr>
      </p:pic>
      <p:pic>
        <p:nvPicPr>
          <p:cNvPr id="3" name="Picture 2">
            <a:extLst>
              <a:ext uri="{FF2B5EF4-FFF2-40B4-BE49-F238E27FC236}">
                <a16:creationId xmlns:a16="http://schemas.microsoft.com/office/drawing/2014/main" id="{8848E435-354D-4574-C990-D91840DAC861}"/>
              </a:ext>
            </a:extLst>
          </p:cNvPr>
          <p:cNvPicPr>
            <a:picLocks noChangeAspect="1"/>
          </p:cNvPicPr>
          <p:nvPr/>
        </p:nvPicPr>
        <p:blipFill>
          <a:blip r:embed="rId3"/>
          <a:stretch>
            <a:fillRect/>
          </a:stretch>
        </p:blipFill>
        <p:spPr>
          <a:xfrm>
            <a:off x="7014401" y="2691779"/>
            <a:ext cx="5086350" cy="3986388"/>
          </a:xfrm>
          <a:prstGeom prst="rect">
            <a:avLst/>
          </a:prstGeom>
        </p:spPr>
      </p:pic>
    </p:spTree>
    <p:extLst>
      <p:ext uri="{BB962C8B-B14F-4D97-AF65-F5344CB8AC3E}">
        <p14:creationId xmlns:p14="http://schemas.microsoft.com/office/powerpoint/2010/main" val="3402160094"/>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480108-E57E-EAF8-5D9D-B9C5D8CE831F}"/>
              </a:ext>
            </a:extLst>
          </p:cNvPr>
          <p:cNvSpPr txBox="1"/>
          <p:nvPr/>
        </p:nvSpPr>
        <p:spPr>
          <a:xfrm>
            <a:off x="859536" y="737616"/>
            <a:ext cx="3218125" cy="369332"/>
          </a:xfrm>
          <a:prstGeom prst="rect">
            <a:avLst/>
          </a:prstGeom>
          <a:noFill/>
        </p:spPr>
        <p:txBody>
          <a:bodyPr wrap="none" rtlCol="0">
            <a:spAutoFit/>
          </a:bodyPr>
          <a:lstStyle/>
          <a:p>
            <a:r>
              <a:rPr lang="en-CH" dirty="0"/>
              <a:t>Sim. Seq. Consolidation (Prolific)</a:t>
            </a:r>
          </a:p>
        </p:txBody>
      </p:sp>
      <p:pic>
        <p:nvPicPr>
          <p:cNvPr id="3" name="Picture 2">
            <a:extLst>
              <a:ext uri="{FF2B5EF4-FFF2-40B4-BE49-F238E27FC236}">
                <a16:creationId xmlns:a16="http://schemas.microsoft.com/office/drawing/2014/main" id="{3142454F-43D9-E339-3CA7-7F3241C3AFE8}"/>
              </a:ext>
            </a:extLst>
          </p:cNvPr>
          <p:cNvPicPr>
            <a:picLocks noChangeAspect="1"/>
          </p:cNvPicPr>
          <p:nvPr/>
        </p:nvPicPr>
        <p:blipFill>
          <a:blip r:embed="rId2"/>
          <a:stretch>
            <a:fillRect/>
          </a:stretch>
        </p:blipFill>
        <p:spPr>
          <a:xfrm>
            <a:off x="314325" y="1527474"/>
            <a:ext cx="5781675" cy="4362450"/>
          </a:xfrm>
          <a:prstGeom prst="rect">
            <a:avLst/>
          </a:prstGeom>
        </p:spPr>
      </p:pic>
      <p:pic>
        <p:nvPicPr>
          <p:cNvPr id="4" name="Picture 3">
            <a:extLst>
              <a:ext uri="{FF2B5EF4-FFF2-40B4-BE49-F238E27FC236}">
                <a16:creationId xmlns:a16="http://schemas.microsoft.com/office/drawing/2014/main" id="{E040CECD-D4B7-2907-90E0-2E01276DE009}"/>
              </a:ext>
            </a:extLst>
          </p:cNvPr>
          <p:cNvPicPr>
            <a:picLocks noChangeAspect="1"/>
          </p:cNvPicPr>
          <p:nvPr/>
        </p:nvPicPr>
        <p:blipFill>
          <a:blip r:embed="rId3"/>
          <a:stretch>
            <a:fillRect/>
          </a:stretch>
        </p:blipFill>
        <p:spPr>
          <a:xfrm>
            <a:off x="5724980" y="1613646"/>
            <a:ext cx="6078539" cy="4276277"/>
          </a:xfrm>
          <a:prstGeom prst="rect">
            <a:avLst/>
          </a:prstGeom>
        </p:spPr>
      </p:pic>
    </p:spTree>
    <p:extLst>
      <p:ext uri="{BB962C8B-B14F-4D97-AF65-F5344CB8AC3E}">
        <p14:creationId xmlns:p14="http://schemas.microsoft.com/office/powerpoint/2010/main" val="822641766"/>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755F2-D3AD-7DF1-2F1D-05C3E9EDF34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5929495-7C7A-6547-104E-A059309ED4D7}"/>
              </a:ext>
            </a:extLst>
          </p:cNvPr>
          <p:cNvSpPr txBox="1"/>
          <p:nvPr/>
        </p:nvSpPr>
        <p:spPr>
          <a:xfrm>
            <a:off x="859536" y="737616"/>
            <a:ext cx="3539239" cy="369332"/>
          </a:xfrm>
          <a:prstGeom prst="rect">
            <a:avLst/>
          </a:prstGeom>
          <a:noFill/>
        </p:spPr>
        <p:txBody>
          <a:bodyPr wrap="none" rtlCol="0">
            <a:spAutoFit/>
          </a:bodyPr>
          <a:lstStyle/>
          <a:p>
            <a:r>
              <a:rPr lang="en-CH" dirty="0"/>
              <a:t>Sim. Seq. Consolidation (Zurich Lab)</a:t>
            </a:r>
          </a:p>
        </p:txBody>
      </p:sp>
    </p:spTree>
    <p:extLst>
      <p:ext uri="{BB962C8B-B14F-4D97-AF65-F5344CB8AC3E}">
        <p14:creationId xmlns:p14="http://schemas.microsoft.com/office/powerpoint/2010/main" val="2944172987"/>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F1E9BA5-9451-A757-9041-D416F929E175}"/>
              </a:ext>
            </a:extLst>
          </p:cNvPr>
          <p:cNvPicPr>
            <a:picLocks noChangeAspect="1"/>
          </p:cNvPicPr>
          <p:nvPr/>
        </p:nvPicPr>
        <p:blipFill>
          <a:blip r:embed="rId2"/>
          <a:stretch>
            <a:fillRect/>
          </a:stretch>
        </p:blipFill>
        <p:spPr>
          <a:xfrm>
            <a:off x="6005267" y="1291249"/>
            <a:ext cx="6505575" cy="4924425"/>
          </a:xfrm>
          <a:prstGeom prst="rect">
            <a:avLst/>
          </a:prstGeom>
        </p:spPr>
      </p:pic>
      <p:pic>
        <p:nvPicPr>
          <p:cNvPr id="3" name="Picture 2">
            <a:extLst>
              <a:ext uri="{FF2B5EF4-FFF2-40B4-BE49-F238E27FC236}">
                <a16:creationId xmlns:a16="http://schemas.microsoft.com/office/drawing/2014/main" id="{76CE3325-F452-404F-AE4F-2DA10DE1F6BA}"/>
              </a:ext>
            </a:extLst>
          </p:cNvPr>
          <p:cNvPicPr>
            <a:picLocks noChangeAspect="1"/>
          </p:cNvPicPr>
          <p:nvPr/>
        </p:nvPicPr>
        <p:blipFill>
          <a:blip r:embed="rId3"/>
          <a:stretch>
            <a:fillRect/>
          </a:stretch>
        </p:blipFill>
        <p:spPr>
          <a:xfrm>
            <a:off x="194404" y="1152431"/>
            <a:ext cx="6235894" cy="4957211"/>
          </a:xfrm>
          <a:prstGeom prst="rect">
            <a:avLst/>
          </a:prstGeom>
        </p:spPr>
      </p:pic>
      <p:sp>
        <p:nvSpPr>
          <p:cNvPr id="4" name="TextBox 3">
            <a:extLst>
              <a:ext uri="{FF2B5EF4-FFF2-40B4-BE49-F238E27FC236}">
                <a16:creationId xmlns:a16="http://schemas.microsoft.com/office/drawing/2014/main" id="{50560E6D-CBD4-AD2C-33D0-0639AEC63E51}"/>
              </a:ext>
            </a:extLst>
          </p:cNvPr>
          <p:cNvSpPr txBox="1"/>
          <p:nvPr/>
        </p:nvSpPr>
        <p:spPr>
          <a:xfrm>
            <a:off x="859536" y="737616"/>
            <a:ext cx="2382575" cy="369332"/>
          </a:xfrm>
          <a:prstGeom prst="rect">
            <a:avLst/>
          </a:prstGeom>
          <a:noFill/>
        </p:spPr>
        <p:txBody>
          <a:bodyPr wrap="none" rtlCol="0">
            <a:spAutoFit/>
          </a:bodyPr>
          <a:lstStyle/>
          <a:p>
            <a:r>
              <a:rPr lang="en-CH" dirty="0" err="1"/>
              <a:t>Stevanovski</a:t>
            </a:r>
            <a:r>
              <a:rPr lang="en-CH" dirty="0"/>
              <a:t> &amp; Jolicoeur</a:t>
            </a:r>
          </a:p>
        </p:txBody>
      </p:sp>
    </p:spTree>
    <p:extLst>
      <p:ext uri="{BB962C8B-B14F-4D97-AF65-F5344CB8AC3E}">
        <p14:creationId xmlns:p14="http://schemas.microsoft.com/office/powerpoint/2010/main" val="1782760666"/>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927E8D4-D4C1-CD89-3930-971EBF283211}"/>
              </a:ext>
            </a:extLst>
          </p:cNvPr>
          <p:cNvPicPr>
            <a:picLocks noChangeAspect="1"/>
          </p:cNvPicPr>
          <p:nvPr/>
        </p:nvPicPr>
        <p:blipFill>
          <a:blip r:embed="rId2"/>
          <a:stretch>
            <a:fillRect/>
          </a:stretch>
        </p:blipFill>
        <p:spPr>
          <a:xfrm>
            <a:off x="552450" y="1266573"/>
            <a:ext cx="6515100" cy="5191125"/>
          </a:xfrm>
          <a:prstGeom prst="rect">
            <a:avLst/>
          </a:prstGeom>
        </p:spPr>
      </p:pic>
      <p:sp>
        <p:nvSpPr>
          <p:cNvPr id="7" name="TextBox 6">
            <a:extLst>
              <a:ext uri="{FF2B5EF4-FFF2-40B4-BE49-F238E27FC236}">
                <a16:creationId xmlns:a16="http://schemas.microsoft.com/office/drawing/2014/main" id="{2E2E88A8-C4C4-62AA-FE2E-650CB742E4DB}"/>
              </a:ext>
            </a:extLst>
          </p:cNvPr>
          <p:cNvSpPr txBox="1"/>
          <p:nvPr/>
        </p:nvSpPr>
        <p:spPr>
          <a:xfrm>
            <a:off x="859536" y="737616"/>
            <a:ext cx="1514197" cy="369332"/>
          </a:xfrm>
          <a:prstGeom prst="rect">
            <a:avLst/>
          </a:prstGeom>
          <a:noFill/>
        </p:spPr>
        <p:txBody>
          <a:bodyPr wrap="none" rtlCol="0">
            <a:spAutoFit/>
          </a:bodyPr>
          <a:lstStyle/>
          <a:p>
            <a:r>
              <a:rPr lang="en-CH" dirty="0"/>
              <a:t>Retro-Cue x RI</a:t>
            </a:r>
          </a:p>
        </p:txBody>
      </p:sp>
      <p:pic>
        <p:nvPicPr>
          <p:cNvPr id="8" name="Picture 7">
            <a:extLst>
              <a:ext uri="{FF2B5EF4-FFF2-40B4-BE49-F238E27FC236}">
                <a16:creationId xmlns:a16="http://schemas.microsoft.com/office/drawing/2014/main" id="{6430710E-C6AC-7CE5-8DAB-3719C9022B5A}"/>
              </a:ext>
            </a:extLst>
          </p:cNvPr>
          <p:cNvPicPr>
            <a:picLocks noChangeAspect="1"/>
          </p:cNvPicPr>
          <p:nvPr/>
        </p:nvPicPr>
        <p:blipFill>
          <a:blip r:embed="rId3"/>
          <a:stretch>
            <a:fillRect/>
          </a:stretch>
        </p:blipFill>
        <p:spPr>
          <a:xfrm>
            <a:off x="6739690" y="2261936"/>
            <a:ext cx="5237246" cy="3885197"/>
          </a:xfrm>
          <a:prstGeom prst="rect">
            <a:avLst/>
          </a:prstGeom>
        </p:spPr>
      </p:pic>
    </p:spTree>
    <p:extLst>
      <p:ext uri="{BB962C8B-B14F-4D97-AF65-F5344CB8AC3E}">
        <p14:creationId xmlns:p14="http://schemas.microsoft.com/office/powerpoint/2010/main" val="3226295247"/>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487BAA2-AA66-1372-BDD6-5919445FF4ED}"/>
              </a:ext>
            </a:extLst>
          </p:cNvPr>
          <p:cNvPicPr>
            <a:picLocks noChangeAspect="1"/>
          </p:cNvPicPr>
          <p:nvPr/>
        </p:nvPicPr>
        <p:blipFill>
          <a:blip r:embed="rId2"/>
          <a:stretch>
            <a:fillRect/>
          </a:stretch>
        </p:blipFill>
        <p:spPr>
          <a:xfrm>
            <a:off x="1199044" y="2437539"/>
            <a:ext cx="5334000" cy="4000500"/>
          </a:xfrm>
          <a:prstGeom prst="rect">
            <a:avLst/>
          </a:prstGeom>
        </p:spPr>
      </p:pic>
      <p:sp>
        <p:nvSpPr>
          <p:cNvPr id="3" name="TextBox 2">
            <a:extLst>
              <a:ext uri="{FF2B5EF4-FFF2-40B4-BE49-F238E27FC236}">
                <a16:creationId xmlns:a16="http://schemas.microsoft.com/office/drawing/2014/main" id="{9584CB27-0413-678C-F4A6-6542740DC8F9}"/>
              </a:ext>
            </a:extLst>
          </p:cNvPr>
          <p:cNvSpPr txBox="1"/>
          <p:nvPr/>
        </p:nvSpPr>
        <p:spPr>
          <a:xfrm>
            <a:off x="859536" y="737616"/>
            <a:ext cx="2343142" cy="369332"/>
          </a:xfrm>
          <a:prstGeom prst="rect">
            <a:avLst/>
          </a:prstGeom>
          <a:noFill/>
        </p:spPr>
        <p:txBody>
          <a:bodyPr wrap="none" rtlCol="0">
            <a:spAutoFit/>
          </a:bodyPr>
          <a:lstStyle/>
          <a:p>
            <a:r>
              <a:rPr lang="en-CH" dirty="0"/>
              <a:t>CD, Retro-Cue x </a:t>
            </a:r>
            <a:r>
              <a:rPr lang="en-CH" dirty="0" err="1"/>
              <a:t>Setsize</a:t>
            </a:r>
            <a:endParaRPr lang="en-CH" dirty="0"/>
          </a:p>
        </p:txBody>
      </p:sp>
    </p:spTree>
    <p:extLst>
      <p:ext uri="{BB962C8B-B14F-4D97-AF65-F5344CB8AC3E}">
        <p14:creationId xmlns:p14="http://schemas.microsoft.com/office/powerpoint/2010/main" val="23386778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159597</TotalTime>
  <Words>1403</Words>
  <Application>Microsoft Office PowerPoint</Application>
  <PresentationFormat>Widescreen</PresentationFormat>
  <Paragraphs>117</Paragraphs>
  <Slides>167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167</vt:i4>
      </vt:variant>
    </vt:vector>
  </HeadingPairs>
  <TitlesOfParts>
    <vt:vector size="172" baseType="lpstr">
      <vt:lpstr>Arial</vt:lpstr>
      <vt:lpstr>Calibri</vt:lpstr>
      <vt:lpstr>Calibri Light</vt:lpstr>
      <vt:lpstr>Wingdings</vt:lpstr>
      <vt:lpstr>Office Theme</vt:lpstr>
      <vt:lpstr>IM Simulation </vt:lpstr>
      <vt:lpstr>From Previous Versions:  Effect of Pbase and Delta on SPC</vt:lpstr>
      <vt:lpstr>PowerPoint Presentation</vt:lpstr>
      <vt:lpstr>PowerPoint Presentation</vt:lpstr>
      <vt:lpstr>PowerPoint Presentation</vt:lpstr>
      <vt:lpstr>From Previous Versions:  Parametric variations of parameters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This Version: Parametric Variations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This Version: Experiments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Correlations of alpha slope with parameters</vt:lpstr>
      <vt:lpstr>IOR = 0.5, dnoise = 1, wnoise = 0.12, kappaf_feat and kappaf_ctx reduced to 10</vt:lpstr>
      <vt:lpstr>PowerPoint Presentation</vt:lpstr>
      <vt:lpstr>CD and Retro-Cueing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Klaus Oberauer</dc:creator>
  <cp:lastModifiedBy>Klaus Oberauer</cp:lastModifiedBy>
  <cp:revision>321</cp:revision>
  <dcterms:created xsi:type="dcterms:W3CDTF">2024-08-13T19:20:17Z</dcterms:created>
  <dcterms:modified xsi:type="dcterms:W3CDTF">2026-09-14T16:28:54Z</dcterms:modified>
</cp:coreProperties>
</file>
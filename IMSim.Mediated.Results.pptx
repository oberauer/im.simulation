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 id="508" r:id="rId135"/>
    <p:sldId id="512" r:id="rId136"/>
    <p:sldId id="513" r:id="rId137"/>
    <p:sldId id="515" r:id="rId138"/>
    <p:sldId id="511" r:id="rId139"/>
    <p:sldId id="518" r:id="rId140"/>
    <p:sldId id="509" r:id="rId141"/>
    <p:sldId id="514" r:id="rId142"/>
    <p:sldId id="516" r:id="rId143"/>
    <p:sldId id="517" r:id="rId144"/>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14" autoAdjust="0"/>
    <p:restoredTop sz="94660"/>
  </p:normalViewPr>
  <p:slideViewPr>
    <p:cSldViewPr snapToGrid="0">
      <p:cViewPr varScale="1">
        <p:scale>
          <a:sx n="111" d="100"/>
          <a:sy n="111" d="100"/>
        </p:scale>
        <p:origin x="5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40" Type="http://schemas.openxmlformats.org/officeDocument/2006/relationships/slide" Target="slides/slide139.xml"/><Relationship Id="rId14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slide" Target="slides/slide142.xml"/><Relationship Id="rId14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86.png"/></Relationships>
</file>

<file path=ppt/slides/_rels/slide136.xml.rels><?xml version="1.0" encoding="UTF-8" standalone="yes"?>
<Relationships xmlns="http://schemas.openxmlformats.org/package/2006/relationships"><Relationship Id="rId3" Type="http://schemas.openxmlformats.org/officeDocument/2006/relationships/image" Target="../media/image188.png"/><Relationship Id="rId2" Type="http://schemas.openxmlformats.org/officeDocument/2006/relationships/image" Target="../media/image187.png"/><Relationship Id="rId1" Type="http://schemas.openxmlformats.org/officeDocument/2006/relationships/slideLayout" Target="../slideLayouts/slideLayout7.xml"/><Relationship Id="rId4" Type="http://schemas.openxmlformats.org/officeDocument/2006/relationships/image" Target="../media/image189.png"/></Relationships>
</file>

<file path=ppt/slides/_rels/slide137.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190.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195.png"/><Relationship Id="rId2" Type="http://schemas.openxmlformats.org/officeDocument/2006/relationships/image" Target="../media/image194.png"/><Relationship Id="rId1" Type="http://schemas.openxmlformats.org/officeDocument/2006/relationships/slideLayout" Target="../slideLayouts/slideLayout2.xml"/><Relationship Id="rId4" Type="http://schemas.openxmlformats.org/officeDocument/2006/relationships/image" Target="../media/image196.png"/></Relationships>
</file>

<file path=ppt/slides/_rels/slide140.xml.rels><?xml version="1.0" encoding="UTF-8" standalone="yes"?>
<Relationships xmlns="http://schemas.openxmlformats.org/package/2006/relationships"><Relationship Id="rId3" Type="http://schemas.openxmlformats.org/officeDocument/2006/relationships/image" Target="../media/image198.png"/><Relationship Id="rId2" Type="http://schemas.openxmlformats.org/officeDocument/2006/relationships/image" Target="../media/image197.png"/><Relationship Id="rId1" Type="http://schemas.openxmlformats.org/officeDocument/2006/relationships/slideLayout" Target="../slideLayouts/slideLayout7.xml"/><Relationship Id="rId5" Type="http://schemas.openxmlformats.org/officeDocument/2006/relationships/image" Target="../media/image200.png"/><Relationship Id="rId4" Type="http://schemas.openxmlformats.org/officeDocument/2006/relationships/image" Target="../media/image199.png"/></Relationships>
</file>

<file path=ppt/slides/_rels/slide141.xml.rels><?xml version="1.0" encoding="UTF-8" standalone="yes"?>
<Relationships xmlns="http://schemas.openxmlformats.org/package/2006/relationships"><Relationship Id="rId3" Type="http://schemas.openxmlformats.org/officeDocument/2006/relationships/image" Target="../media/image202.png"/><Relationship Id="rId2" Type="http://schemas.openxmlformats.org/officeDocument/2006/relationships/image" Target="../media/image201.png"/><Relationship Id="rId1" Type="http://schemas.openxmlformats.org/officeDocument/2006/relationships/slideLayout" Target="../slideLayouts/slideLayout2.xml"/><Relationship Id="rId4" Type="http://schemas.openxmlformats.org/officeDocument/2006/relationships/image" Target="../media/image203.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205.png"/><Relationship Id="rId2" Type="http://schemas.openxmlformats.org/officeDocument/2006/relationships/image" Target="../media/image20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A727288-A550-EC06-EE3A-0352589E4C60}"/>
              </a:ext>
            </a:extLst>
          </p:cNvPr>
          <p:cNvSpPr txBox="1"/>
          <p:nvPr/>
        </p:nvSpPr>
        <p:spPr>
          <a:xfrm>
            <a:off x="764005" y="547437"/>
            <a:ext cx="4053417" cy="369332"/>
          </a:xfrm>
          <a:prstGeom prst="rect">
            <a:avLst/>
          </a:prstGeom>
          <a:noFill/>
        </p:spPr>
        <p:txBody>
          <a:bodyPr wrap="none" rtlCol="0">
            <a:spAutoFit/>
          </a:bodyPr>
          <a:lstStyle/>
          <a:p>
            <a:r>
              <a:rPr lang="en-CH" dirty="0"/>
              <a:t>Sensory memory with inhibition = 0.004</a:t>
            </a:r>
          </a:p>
        </p:txBody>
      </p:sp>
      <p:sp>
        <p:nvSpPr>
          <p:cNvPr id="5" name="TextBox 4">
            <a:extLst>
              <a:ext uri="{FF2B5EF4-FFF2-40B4-BE49-F238E27FC236}">
                <a16:creationId xmlns:a16="http://schemas.microsoft.com/office/drawing/2014/main" id="{8E6ECE2A-8297-967A-5D4E-5C5FA6EB4AF3}"/>
              </a:ext>
            </a:extLst>
          </p:cNvPr>
          <p:cNvSpPr txBox="1"/>
          <p:nvPr/>
        </p:nvSpPr>
        <p:spPr>
          <a:xfrm>
            <a:off x="6246395" y="547437"/>
            <a:ext cx="4053417" cy="369332"/>
          </a:xfrm>
          <a:prstGeom prst="rect">
            <a:avLst/>
          </a:prstGeom>
          <a:noFill/>
        </p:spPr>
        <p:txBody>
          <a:bodyPr wrap="none" rtlCol="0">
            <a:spAutoFit/>
          </a:bodyPr>
          <a:lstStyle/>
          <a:p>
            <a:r>
              <a:rPr lang="en-CH" dirty="0"/>
              <a:t>Sensory memory with inhibition = 0.002</a:t>
            </a:r>
          </a:p>
        </p:txBody>
      </p:sp>
      <p:pic>
        <p:nvPicPr>
          <p:cNvPr id="6" name="Picture 5">
            <a:extLst>
              <a:ext uri="{FF2B5EF4-FFF2-40B4-BE49-F238E27FC236}">
                <a16:creationId xmlns:a16="http://schemas.microsoft.com/office/drawing/2014/main" id="{B3F0CF21-7DCA-6D3B-B45E-C37D90F368FC}"/>
              </a:ext>
            </a:extLst>
          </p:cNvPr>
          <p:cNvPicPr>
            <a:picLocks noChangeAspect="1"/>
          </p:cNvPicPr>
          <p:nvPr/>
        </p:nvPicPr>
        <p:blipFill>
          <a:blip r:embed="rId2"/>
          <a:stretch>
            <a:fillRect/>
          </a:stretch>
        </p:blipFill>
        <p:spPr>
          <a:xfrm>
            <a:off x="5872859" y="1003910"/>
            <a:ext cx="5316566" cy="5252511"/>
          </a:xfrm>
          <a:prstGeom prst="rect">
            <a:avLst/>
          </a:prstGeom>
        </p:spPr>
      </p:pic>
      <p:pic>
        <p:nvPicPr>
          <p:cNvPr id="2" name="Picture 1">
            <a:extLst>
              <a:ext uri="{FF2B5EF4-FFF2-40B4-BE49-F238E27FC236}">
                <a16:creationId xmlns:a16="http://schemas.microsoft.com/office/drawing/2014/main" id="{A7C6B81B-6840-DF8D-1775-E1A4CCDD6618}"/>
              </a:ext>
            </a:extLst>
          </p:cNvPr>
          <p:cNvPicPr>
            <a:picLocks noChangeAspect="1"/>
          </p:cNvPicPr>
          <p:nvPr/>
        </p:nvPicPr>
        <p:blipFill>
          <a:blip r:embed="rId3"/>
          <a:stretch>
            <a:fillRect/>
          </a:stretch>
        </p:blipFill>
        <p:spPr>
          <a:xfrm>
            <a:off x="0" y="1320190"/>
            <a:ext cx="5872859" cy="4533900"/>
          </a:xfrm>
          <a:prstGeom prst="rect">
            <a:avLst/>
          </a:prstGeom>
        </p:spPr>
      </p:pic>
    </p:spTree>
    <p:extLst>
      <p:ext uri="{BB962C8B-B14F-4D97-AF65-F5344CB8AC3E}">
        <p14:creationId xmlns:p14="http://schemas.microsoft.com/office/powerpoint/2010/main" val="329807100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076DC-AE41-6665-CF99-65FD50F0EAF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51D427-23F9-5FAC-3D14-D301329D1209}"/>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0.1</a:t>
            </a:r>
          </a:p>
        </p:txBody>
      </p:sp>
      <p:pic>
        <p:nvPicPr>
          <p:cNvPr id="9" name="Picture 8">
            <a:extLst>
              <a:ext uri="{FF2B5EF4-FFF2-40B4-BE49-F238E27FC236}">
                <a16:creationId xmlns:a16="http://schemas.microsoft.com/office/drawing/2014/main" id="{6619F889-692D-CC14-0848-A645B4C151DA}"/>
              </a:ext>
            </a:extLst>
          </p:cNvPr>
          <p:cNvPicPr>
            <a:picLocks noChangeAspect="1"/>
          </p:cNvPicPr>
          <p:nvPr/>
        </p:nvPicPr>
        <p:blipFill>
          <a:blip r:embed="rId2"/>
          <a:stretch>
            <a:fillRect/>
          </a:stretch>
        </p:blipFill>
        <p:spPr>
          <a:xfrm>
            <a:off x="76701" y="916770"/>
            <a:ext cx="5303455" cy="4184620"/>
          </a:xfrm>
          <a:prstGeom prst="rect">
            <a:avLst/>
          </a:prstGeom>
        </p:spPr>
      </p:pic>
      <p:pic>
        <p:nvPicPr>
          <p:cNvPr id="10" name="Picture 9">
            <a:extLst>
              <a:ext uri="{FF2B5EF4-FFF2-40B4-BE49-F238E27FC236}">
                <a16:creationId xmlns:a16="http://schemas.microsoft.com/office/drawing/2014/main" id="{EA72D78D-0F67-99C3-7B4B-21055C624F8F}"/>
              </a:ext>
            </a:extLst>
          </p:cNvPr>
          <p:cNvPicPr>
            <a:picLocks noChangeAspect="1"/>
          </p:cNvPicPr>
          <p:nvPr/>
        </p:nvPicPr>
        <p:blipFill>
          <a:blip r:embed="rId3"/>
          <a:stretch>
            <a:fillRect/>
          </a:stretch>
        </p:blipFill>
        <p:spPr>
          <a:xfrm>
            <a:off x="5762373" y="124577"/>
            <a:ext cx="6107369" cy="4682040"/>
          </a:xfrm>
          <a:prstGeom prst="rect">
            <a:avLst/>
          </a:prstGeom>
        </p:spPr>
      </p:pic>
      <p:pic>
        <p:nvPicPr>
          <p:cNvPr id="11" name="Picture 10">
            <a:extLst>
              <a:ext uri="{FF2B5EF4-FFF2-40B4-BE49-F238E27FC236}">
                <a16:creationId xmlns:a16="http://schemas.microsoft.com/office/drawing/2014/main" id="{55FF52AC-AFC9-8693-AD25-57C9DB1D5809}"/>
              </a:ext>
            </a:extLst>
          </p:cNvPr>
          <p:cNvPicPr>
            <a:picLocks noChangeAspect="1"/>
          </p:cNvPicPr>
          <p:nvPr/>
        </p:nvPicPr>
        <p:blipFill>
          <a:blip r:embed="rId4"/>
          <a:stretch>
            <a:fillRect/>
          </a:stretch>
        </p:blipFill>
        <p:spPr>
          <a:xfrm>
            <a:off x="7937563" y="3453314"/>
            <a:ext cx="3932179" cy="3280109"/>
          </a:xfrm>
          <a:prstGeom prst="rect">
            <a:avLst/>
          </a:prstGeom>
        </p:spPr>
      </p:pic>
    </p:spTree>
    <p:extLst>
      <p:ext uri="{BB962C8B-B14F-4D97-AF65-F5344CB8AC3E}">
        <p14:creationId xmlns:p14="http://schemas.microsoft.com/office/powerpoint/2010/main" val="254093432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F1936-0B10-A12F-8DC6-6D2FB6B479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986502-5687-0DDE-75F3-38CCE518353C}"/>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0.5</a:t>
            </a:r>
          </a:p>
        </p:txBody>
      </p:sp>
      <p:pic>
        <p:nvPicPr>
          <p:cNvPr id="2" name="Picture 1">
            <a:extLst>
              <a:ext uri="{FF2B5EF4-FFF2-40B4-BE49-F238E27FC236}">
                <a16:creationId xmlns:a16="http://schemas.microsoft.com/office/drawing/2014/main" id="{7F71313F-8369-E3F6-0683-749D43C01E6D}"/>
              </a:ext>
            </a:extLst>
          </p:cNvPr>
          <p:cNvPicPr>
            <a:picLocks noChangeAspect="1"/>
          </p:cNvPicPr>
          <p:nvPr/>
        </p:nvPicPr>
        <p:blipFill>
          <a:blip r:embed="rId2"/>
          <a:stretch>
            <a:fillRect/>
          </a:stretch>
        </p:blipFill>
        <p:spPr>
          <a:xfrm>
            <a:off x="171450" y="916769"/>
            <a:ext cx="5369082" cy="4064305"/>
          </a:xfrm>
          <a:prstGeom prst="rect">
            <a:avLst/>
          </a:prstGeom>
        </p:spPr>
      </p:pic>
      <p:pic>
        <p:nvPicPr>
          <p:cNvPr id="4" name="Picture 3">
            <a:extLst>
              <a:ext uri="{FF2B5EF4-FFF2-40B4-BE49-F238E27FC236}">
                <a16:creationId xmlns:a16="http://schemas.microsoft.com/office/drawing/2014/main" id="{C225AD56-B37C-1049-7948-B030D7C398FA}"/>
              </a:ext>
            </a:extLst>
          </p:cNvPr>
          <p:cNvPicPr>
            <a:picLocks noChangeAspect="1"/>
          </p:cNvPicPr>
          <p:nvPr/>
        </p:nvPicPr>
        <p:blipFill>
          <a:blip r:embed="rId3"/>
          <a:stretch>
            <a:fillRect/>
          </a:stretch>
        </p:blipFill>
        <p:spPr>
          <a:xfrm>
            <a:off x="5819273" y="463466"/>
            <a:ext cx="5705475" cy="4391025"/>
          </a:xfrm>
          <a:prstGeom prst="rect">
            <a:avLst/>
          </a:prstGeom>
        </p:spPr>
      </p:pic>
      <p:pic>
        <p:nvPicPr>
          <p:cNvPr id="5" name="Picture 4">
            <a:extLst>
              <a:ext uri="{FF2B5EF4-FFF2-40B4-BE49-F238E27FC236}">
                <a16:creationId xmlns:a16="http://schemas.microsoft.com/office/drawing/2014/main" id="{6809F332-748B-CF56-249F-DDBEA7C61EEA}"/>
              </a:ext>
            </a:extLst>
          </p:cNvPr>
          <p:cNvPicPr>
            <a:picLocks noChangeAspect="1"/>
          </p:cNvPicPr>
          <p:nvPr/>
        </p:nvPicPr>
        <p:blipFill>
          <a:blip r:embed="rId4"/>
          <a:stretch>
            <a:fillRect/>
          </a:stretch>
        </p:blipFill>
        <p:spPr>
          <a:xfrm>
            <a:off x="8223584" y="3176337"/>
            <a:ext cx="3722474" cy="3097630"/>
          </a:xfrm>
          <a:prstGeom prst="rect">
            <a:avLst/>
          </a:prstGeom>
        </p:spPr>
      </p:pic>
      <p:sp>
        <p:nvSpPr>
          <p:cNvPr id="6" name="TextBox 5">
            <a:extLst>
              <a:ext uri="{FF2B5EF4-FFF2-40B4-BE49-F238E27FC236}">
                <a16:creationId xmlns:a16="http://schemas.microsoft.com/office/drawing/2014/main" id="{9B27CCBF-B36E-2056-0382-EA34B4CF50F3}"/>
              </a:ext>
            </a:extLst>
          </p:cNvPr>
          <p:cNvSpPr txBox="1"/>
          <p:nvPr/>
        </p:nvSpPr>
        <p:spPr>
          <a:xfrm>
            <a:off x="764005" y="5350406"/>
            <a:ext cx="4253163" cy="923330"/>
          </a:xfrm>
          <a:prstGeom prst="rect">
            <a:avLst/>
          </a:prstGeom>
          <a:noFill/>
        </p:spPr>
        <p:txBody>
          <a:bodyPr wrap="square" rtlCol="0">
            <a:spAutoFit/>
          </a:bodyPr>
          <a:lstStyle/>
          <a:p>
            <a:r>
              <a:rPr lang="en-CH" dirty="0"/>
              <a:t>IOR destroys the early cross-over of alpha curves because it reduces the strength of FX at lower set sizes</a:t>
            </a:r>
          </a:p>
        </p:txBody>
      </p:sp>
    </p:spTree>
    <p:extLst>
      <p:ext uri="{BB962C8B-B14F-4D97-AF65-F5344CB8AC3E}">
        <p14:creationId xmlns:p14="http://schemas.microsoft.com/office/powerpoint/2010/main" val="186917302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C66B9-C14B-A2D1-EB1B-3F75D6E444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038AE0-8E15-452F-3111-F1978FD30FB2}"/>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0.004 and IOR = 0.3</a:t>
            </a:r>
          </a:p>
        </p:txBody>
      </p:sp>
      <p:pic>
        <p:nvPicPr>
          <p:cNvPr id="7" name="Picture 6">
            <a:extLst>
              <a:ext uri="{FF2B5EF4-FFF2-40B4-BE49-F238E27FC236}">
                <a16:creationId xmlns:a16="http://schemas.microsoft.com/office/drawing/2014/main" id="{600EB6B6-CDD7-5E3B-6D02-81856534C68F}"/>
              </a:ext>
            </a:extLst>
          </p:cNvPr>
          <p:cNvPicPr>
            <a:picLocks noChangeAspect="1"/>
          </p:cNvPicPr>
          <p:nvPr/>
        </p:nvPicPr>
        <p:blipFill>
          <a:blip r:embed="rId2"/>
          <a:stretch>
            <a:fillRect/>
          </a:stretch>
        </p:blipFill>
        <p:spPr>
          <a:xfrm>
            <a:off x="0" y="890587"/>
            <a:ext cx="6153150" cy="4676775"/>
          </a:xfrm>
          <a:prstGeom prst="rect">
            <a:avLst/>
          </a:prstGeom>
        </p:spPr>
      </p:pic>
      <p:pic>
        <p:nvPicPr>
          <p:cNvPr id="8" name="Picture 7">
            <a:extLst>
              <a:ext uri="{FF2B5EF4-FFF2-40B4-BE49-F238E27FC236}">
                <a16:creationId xmlns:a16="http://schemas.microsoft.com/office/drawing/2014/main" id="{26C79DD0-D536-12D4-BF1F-A7E751E65D7C}"/>
              </a:ext>
            </a:extLst>
          </p:cNvPr>
          <p:cNvPicPr>
            <a:picLocks noChangeAspect="1"/>
          </p:cNvPicPr>
          <p:nvPr/>
        </p:nvPicPr>
        <p:blipFill>
          <a:blip r:embed="rId3"/>
          <a:stretch>
            <a:fillRect/>
          </a:stretch>
        </p:blipFill>
        <p:spPr>
          <a:xfrm>
            <a:off x="6343650" y="390525"/>
            <a:ext cx="5334000" cy="4000500"/>
          </a:xfrm>
          <a:prstGeom prst="rect">
            <a:avLst/>
          </a:prstGeom>
        </p:spPr>
      </p:pic>
      <p:pic>
        <p:nvPicPr>
          <p:cNvPr id="9" name="Picture 8">
            <a:extLst>
              <a:ext uri="{FF2B5EF4-FFF2-40B4-BE49-F238E27FC236}">
                <a16:creationId xmlns:a16="http://schemas.microsoft.com/office/drawing/2014/main" id="{5F9FD94A-F15B-3559-EBFE-258EEB80FD77}"/>
              </a:ext>
            </a:extLst>
          </p:cNvPr>
          <p:cNvPicPr>
            <a:picLocks noChangeAspect="1"/>
          </p:cNvPicPr>
          <p:nvPr/>
        </p:nvPicPr>
        <p:blipFill>
          <a:blip r:embed="rId4"/>
          <a:stretch>
            <a:fillRect/>
          </a:stretch>
        </p:blipFill>
        <p:spPr>
          <a:xfrm>
            <a:off x="7959725" y="3009900"/>
            <a:ext cx="4445000" cy="3333750"/>
          </a:xfrm>
          <a:prstGeom prst="rect">
            <a:avLst/>
          </a:prstGeom>
        </p:spPr>
      </p:pic>
      <p:pic>
        <p:nvPicPr>
          <p:cNvPr id="10" name="Picture 9">
            <a:extLst>
              <a:ext uri="{FF2B5EF4-FFF2-40B4-BE49-F238E27FC236}">
                <a16:creationId xmlns:a16="http://schemas.microsoft.com/office/drawing/2014/main" id="{28C81F47-D160-7BAA-20E6-E00F82BADFAA}"/>
              </a:ext>
            </a:extLst>
          </p:cNvPr>
          <p:cNvPicPr>
            <a:picLocks noChangeAspect="1"/>
          </p:cNvPicPr>
          <p:nvPr/>
        </p:nvPicPr>
        <p:blipFill>
          <a:blip r:embed="rId5"/>
          <a:stretch>
            <a:fillRect/>
          </a:stretch>
        </p:blipFill>
        <p:spPr>
          <a:xfrm>
            <a:off x="4346575" y="4005262"/>
            <a:ext cx="3803650" cy="2852738"/>
          </a:xfrm>
          <a:prstGeom prst="rect">
            <a:avLst/>
          </a:prstGeom>
        </p:spPr>
      </p:pic>
    </p:spTree>
    <p:extLst>
      <p:ext uri="{BB962C8B-B14F-4D97-AF65-F5344CB8AC3E}">
        <p14:creationId xmlns:p14="http://schemas.microsoft.com/office/powerpoint/2010/main" val="373845231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3CB87-3E35-CFEA-C8C0-F2589650A0E0}"/>
              </a:ext>
            </a:extLst>
          </p:cNvPr>
          <p:cNvSpPr>
            <a:spLocks noGrp="1"/>
          </p:cNvSpPr>
          <p:nvPr>
            <p:ph type="title"/>
          </p:nvPr>
        </p:nvSpPr>
        <p:spPr/>
        <p:txBody>
          <a:bodyPr>
            <a:normAutofit/>
          </a:bodyPr>
          <a:lstStyle/>
          <a:p>
            <a:r>
              <a:rPr lang="en-CH" sz="2800" dirty="0"/>
              <a:t>Correlations of alpha slope with parameters</a:t>
            </a:r>
          </a:p>
        </p:txBody>
      </p:sp>
      <p:sp>
        <p:nvSpPr>
          <p:cNvPr id="3" name="Content Placeholder 2">
            <a:extLst>
              <a:ext uri="{FF2B5EF4-FFF2-40B4-BE49-F238E27FC236}">
                <a16:creationId xmlns:a16="http://schemas.microsoft.com/office/drawing/2014/main" id="{118372EB-061D-28B6-8083-7208912AB2C9}"/>
              </a:ext>
            </a:extLst>
          </p:cNvPr>
          <p:cNvSpPr>
            <a:spLocks noGrp="1"/>
          </p:cNvSpPr>
          <p:nvPr>
            <p:ph idx="1"/>
          </p:nvPr>
        </p:nvSpPr>
        <p:spPr/>
        <p:txBody>
          <a:bodyPr/>
          <a:lstStyle/>
          <a:p>
            <a:r>
              <a:rPr lang="en-CH" dirty="0"/>
              <a:t>IOR: 0.4: smaller IOR makes slope go more negative</a:t>
            </a:r>
          </a:p>
          <a:p>
            <a:r>
              <a:rPr lang="en-CH" dirty="0" err="1"/>
              <a:t>kappaf_ctx</a:t>
            </a:r>
            <a:r>
              <a:rPr lang="en-CH" dirty="0"/>
              <a:t>: 0.3:  smaller value makes slope go more negative</a:t>
            </a:r>
          </a:p>
          <a:p>
            <a:r>
              <a:rPr lang="en-CH" dirty="0" err="1"/>
              <a:t>inhibFX</a:t>
            </a:r>
            <a:r>
              <a:rPr lang="en-CH" dirty="0"/>
              <a:t>: -.57: larger values make slope go </a:t>
            </a:r>
            <a:r>
              <a:rPr lang="en-CH"/>
              <a:t>more negative</a:t>
            </a:r>
            <a:endParaRPr lang="en-CH" dirty="0"/>
          </a:p>
        </p:txBody>
      </p:sp>
    </p:spTree>
    <p:extLst>
      <p:ext uri="{BB962C8B-B14F-4D97-AF65-F5344CB8AC3E}">
        <p14:creationId xmlns:p14="http://schemas.microsoft.com/office/powerpoint/2010/main" val="370196316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FB5CC-A7B9-4148-3455-24FE6ACC6B9A}"/>
              </a:ext>
            </a:extLst>
          </p:cNvPr>
          <p:cNvSpPr>
            <a:spLocks noGrp="1"/>
          </p:cNvSpPr>
          <p:nvPr>
            <p:ph type="title"/>
          </p:nvPr>
        </p:nvSpPr>
        <p:spPr/>
        <p:txBody>
          <a:bodyPr>
            <a:normAutofit/>
          </a:bodyPr>
          <a:lstStyle/>
          <a:p>
            <a:r>
              <a:rPr lang="en-CH" sz="1800" dirty="0"/>
              <a:t>IOR = 0.5, </a:t>
            </a:r>
            <a:r>
              <a:rPr lang="en-CH" sz="1800" dirty="0" err="1"/>
              <a:t>dnoise</a:t>
            </a:r>
            <a:r>
              <a:rPr lang="en-CH" sz="1800" dirty="0"/>
              <a:t> = 1, </a:t>
            </a:r>
            <a:r>
              <a:rPr lang="en-CH" sz="1800" dirty="0" err="1"/>
              <a:t>wnoise</a:t>
            </a:r>
            <a:r>
              <a:rPr lang="en-CH" sz="1800" dirty="0"/>
              <a:t> = 0.12, </a:t>
            </a:r>
            <a:r>
              <a:rPr lang="en-CH" sz="1800" dirty="0" err="1"/>
              <a:t>kappaf_feat</a:t>
            </a:r>
            <a:r>
              <a:rPr lang="en-CH" sz="1800" dirty="0"/>
              <a:t> and </a:t>
            </a:r>
            <a:r>
              <a:rPr lang="en-CH" sz="1800" dirty="0" err="1"/>
              <a:t>kappaf_ctx</a:t>
            </a:r>
            <a:r>
              <a:rPr lang="en-CH" sz="1800" dirty="0"/>
              <a:t> reduced to 10</a:t>
            </a:r>
          </a:p>
        </p:txBody>
      </p:sp>
      <p:pic>
        <p:nvPicPr>
          <p:cNvPr id="4" name="Picture 3">
            <a:extLst>
              <a:ext uri="{FF2B5EF4-FFF2-40B4-BE49-F238E27FC236}">
                <a16:creationId xmlns:a16="http://schemas.microsoft.com/office/drawing/2014/main" id="{B2FD76C9-92A0-D845-7C16-D12888872389}"/>
              </a:ext>
            </a:extLst>
          </p:cNvPr>
          <p:cNvPicPr>
            <a:picLocks noChangeAspect="1"/>
          </p:cNvPicPr>
          <p:nvPr/>
        </p:nvPicPr>
        <p:blipFill>
          <a:blip r:embed="rId2"/>
          <a:stretch>
            <a:fillRect/>
          </a:stretch>
        </p:blipFill>
        <p:spPr>
          <a:xfrm>
            <a:off x="531696" y="1325563"/>
            <a:ext cx="6007195" cy="4471389"/>
          </a:xfrm>
          <a:prstGeom prst="rect">
            <a:avLst/>
          </a:prstGeom>
        </p:spPr>
      </p:pic>
      <p:pic>
        <p:nvPicPr>
          <p:cNvPr id="5" name="Picture 4">
            <a:extLst>
              <a:ext uri="{FF2B5EF4-FFF2-40B4-BE49-F238E27FC236}">
                <a16:creationId xmlns:a16="http://schemas.microsoft.com/office/drawing/2014/main" id="{A36B0E68-2826-C166-805E-9C29A84BBDAA}"/>
              </a:ext>
            </a:extLst>
          </p:cNvPr>
          <p:cNvPicPr>
            <a:picLocks noChangeAspect="1"/>
          </p:cNvPicPr>
          <p:nvPr/>
        </p:nvPicPr>
        <p:blipFill>
          <a:blip r:embed="rId3"/>
          <a:stretch>
            <a:fillRect/>
          </a:stretch>
        </p:blipFill>
        <p:spPr>
          <a:xfrm>
            <a:off x="6232680" y="1446378"/>
            <a:ext cx="6050688" cy="4350574"/>
          </a:xfrm>
          <a:prstGeom prst="rect">
            <a:avLst/>
          </a:prstGeom>
        </p:spPr>
      </p:pic>
      <p:pic>
        <p:nvPicPr>
          <p:cNvPr id="6" name="Picture 5">
            <a:extLst>
              <a:ext uri="{FF2B5EF4-FFF2-40B4-BE49-F238E27FC236}">
                <a16:creationId xmlns:a16="http://schemas.microsoft.com/office/drawing/2014/main" id="{A5FF35A0-36A4-AE37-368F-8F4518910053}"/>
              </a:ext>
            </a:extLst>
          </p:cNvPr>
          <p:cNvPicPr>
            <a:picLocks noChangeAspect="1"/>
          </p:cNvPicPr>
          <p:nvPr/>
        </p:nvPicPr>
        <p:blipFill>
          <a:blip r:embed="rId4"/>
          <a:stretch>
            <a:fillRect/>
          </a:stretch>
        </p:blipFill>
        <p:spPr>
          <a:xfrm>
            <a:off x="8669547" y="3662876"/>
            <a:ext cx="3613821" cy="2729298"/>
          </a:xfrm>
          <a:prstGeom prst="rect">
            <a:avLst/>
          </a:prstGeom>
        </p:spPr>
      </p:pic>
    </p:spTree>
    <p:extLst>
      <p:ext uri="{BB962C8B-B14F-4D97-AF65-F5344CB8AC3E}">
        <p14:creationId xmlns:p14="http://schemas.microsoft.com/office/powerpoint/2010/main" val="11335902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369460E-88D1-3541-D1BC-F0C2532B2931}"/>
              </a:ext>
            </a:extLst>
          </p:cNvPr>
          <p:cNvPicPr>
            <a:picLocks noChangeAspect="1"/>
          </p:cNvPicPr>
          <p:nvPr/>
        </p:nvPicPr>
        <p:blipFill>
          <a:blip r:embed="rId2"/>
          <a:stretch>
            <a:fillRect/>
          </a:stretch>
        </p:blipFill>
        <p:spPr>
          <a:xfrm>
            <a:off x="613611" y="144379"/>
            <a:ext cx="3776664" cy="3176337"/>
          </a:xfrm>
          <a:prstGeom prst="rect">
            <a:avLst/>
          </a:prstGeom>
        </p:spPr>
      </p:pic>
      <p:pic>
        <p:nvPicPr>
          <p:cNvPr id="3" name="Picture 2">
            <a:extLst>
              <a:ext uri="{FF2B5EF4-FFF2-40B4-BE49-F238E27FC236}">
                <a16:creationId xmlns:a16="http://schemas.microsoft.com/office/drawing/2014/main" id="{A44F44DC-228E-AAA0-2822-2476670E726D}"/>
              </a:ext>
            </a:extLst>
          </p:cNvPr>
          <p:cNvPicPr>
            <a:picLocks noChangeAspect="1"/>
          </p:cNvPicPr>
          <p:nvPr/>
        </p:nvPicPr>
        <p:blipFill>
          <a:blip r:embed="rId3"/>
          <a:stretch>
            <a:fillRect/>
          </a:stretch>
        </p:blipFill>
        <p:spPr>
          <a:xfrm>
            <a:off x="468968" y="3201481"/>
            <a:ext cx="3981345" cy="3512140"/>
          </a:xfrm>
          <a:prstGeom prst="rect">
            <a:avLst/>
          </a:prstGeom>
        </p:spPr>
      </p:pic>
      <p:pic>
        <p:nvPicPr>
          <p:cNvPr id="4" name="Picture 3">
            <a:extLst>
              <a:ext uri="{FF2B5EF4-FFF2-40B4-BE49-F238E27FC236}">
                <a16:creationId xmlns:a16="http://schemas.microsoft.com/office/drawing/2014/main" id="{D22597C2-4CE0-AA5F-04FB-8C023D3C2E69}"/>
              </a:ext>
            </a:extLst>
          </p:cNvPr>
          <p:cNvPicPr>
            <a:picLocks noChangeAspect="1"/>
          </p:cNvPicPr>
          <p:nvPr/>
        </p:nvPicPr>
        <p:blipFill>
          <a:blip r:embed="rId4"/>
          <a:stretch>
            <a:fillRect/>
          </a:stretch>
        </p:blipFill>
        <p:spPr>
          <a:xfrm>
            <a:off x="5495463" y="144379"/>
            <a:ext cx="4228058" cy="3429000"/>
          </a:xfrm>
          <a:prstGeom prst="rect">
            <a:avLst/>
          </a:prstGeom>
        </p:spPr>
      </p:pic>
      <p:pic>
        <p:nvPicPr>
          <p:cNvPr id="5" name="Picture 4">
            <a:extLst>
              <a:ext uri="{FF2B5EF4-FFF2-40B4-BE49-F238E27FC236}">
                <a16:creationId xmlns:a16="http://schemas.microsoft.com/office/drawing/2014/main" id="{AFE764D0-A644-FF80-9C70-57DE68DFBE5D}"/>
              </a:ext>
            </a:extLst>
          </p:cNvPr>
          <p:cNvPicPr>
            <a:picLocks noChangeAspect="1"/>
          </p:cNvPicPr>
          <p:nvPr/>
        </p:nvPicPr>
        <p:blipFill>
          <a:blip r:embed="rId5"/>
          <a:stretch>
            <a:fillRect/>
          </a:stretch>
        </p:blipFill>
        <p:spPr>
          <a:xfrm>
            <a:off x="5618819" y="3620063"/>
            <a:ext cx="3981345" cy="3183795"/>
          </a:xfrm>
          <a:prstGeom prst="rect">
            <a:avLst/>
          </a:prstGeom>
        </p:spPr>
      </p:pic>
    </p:spTree>
    <p:extLst>
      <p:ext uri="{BB962C8B-B14F-4D97-AF65-F5344CB8AC3E}">
        <p14:creationId xmlns:p14="http://schemas.microsoft.com/office/powerpoint/2010/main" val="79185401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AA47D-4350-0106-FB42-5938E65E3D32}"/>
              </a:ext>
            </a:extLst>
          </p:cNvPr>
          <p:cNvSpPr>
            <a:spLocks noGrp="1"/>
          </p:cNvSpPr>
          <p:nvPr>
            <p:ph type="title"/>
          </p:nvPr>
        </p:nvSpPr>
        <p:spPr/>
        <p:txBody>
          <a:bodyPr/>
          <a:lstStyle/>
          <a:p>
            <a:r>
              <a:rPr lang="en-CH" dirty="0"/>
              <a:t>CD and Retro-Cueing</a:t>
            </a:r>
          </a:p>
        </p:txBody>
      </p:sp>
      <p:pic>
        <p:nvPicPr>
          <p:cNvPr id="4" name="Picture 3">
            <a:extLst>
              <a:ext uri="{FF2B5EF4-FFF2-40B4-BE49-F238E27FC236}">
                <a16:creationId xmlns:a16="http://schemas.microsoft.com/office/drawing/2014/main" id="{4DFEF44C-1419-FBEF-037B-24EF8B2BBAC7}"/>
              </a:ext>
            </a:extLst>
          </p:cNvPr>
          <p:cNvPicPr>
            <a:picLocks noChangeAspect="1"/>
          </p:cNvPicPr>
          <p:nvPr/>
        </p:nvPicPr>
        <p:blipFill>
          <a:blip r:embed="rId2"/>
          <a:stretch>
            <a:fillRect/>
          </a:stretch>
        </p:blipFill>
        <p:spPr>
          <a:xfrm>
            <a:off x="339608" y="1382486"/>
            <a:ext cx="5005281" cy="5655128"/>
          </a:xfrm>
          <a:prstGeom prst="rect">
            <a:avLst/>
          </a:prstGeom>
        </p:spPr>
      </p:pic>
      <p:pic>
        <p:nvPicPr>
          <p:cNvPr id="6" name="Picture 5">
            <a:extLst>
              <a:ext uri="{FF2B5EF4-FFF2-40B4-BE49-F238E27FC236}">
                <a16:creationId xmlns:a16="http://schemas.microsoft.com/office/drawing/2014/main" id="{FE147E8F-01CD-ACE3-0BE8-6040BEA3784F}"/>
              </a:ext>
            </a:extLst>
          </p:cNvPr>
          <p:cNvPicPr>
            <a:picLocks noChangeAspect="1"/>
          </p:cNvPicPr>
          <p:nvPr/>
        </p:nvPicPr>
        <p:blipFill>
          <a:blip r:embed="rId3"/>
          <a:stretch>
            <a:fillRect/>
          </a:stretch>
        </p:blipFill>
        <p:spPr>
          <a:xfrm>
            <a:off x="5843481" y="0"/>
            <a:ext cx="6454127" cy="5061857"/>
          </a:xfrm>
          <a:prstGeom prst="rect">
            <a:avLst/>
          </a:prstGeom>
        </p:spPr>
      </p:pic>
      <p:pic>
        <p:nvPicPr>
          <p:cNvPr id="8" name="Picture 7">
            <a:extLst>
              <a:ext uri="{FF2B5EF4-FFF2-40B4-BE49-F238E27FC236}">
                <a16:creationId xmlns:a16="http://schemas.microsoft.com/office/drawing/2014/main" id="{9EF5620E-2F96-51EA-0AB7-459C44E863B8}"/>
              </a:ext>
            </a:extLst>
          </p:cNvPr>
          <p:cNvPicPr>
            <a:picLocks noChangeAspect="1"/>
          </p:cNvPicPr>
          <p:nvPr/>
        </p:nvPicPr>
        <p:blipFill>
          <a:blip r:embed="rId4"/>
          <a:stretch>
            <a:fillRect/>
          </a:stretch>
        </p:blipFill>
        <p:spPr>
          <a:xfrm>
            <a:off x="8413406" y="3609396"/>
            <a:ext cx="3974536" cy="2448504"/>
          </a:xfrm>
          <a:prstGeom prst="rect">
            <a:avLst/>
          </a:prstGeom>
        </p:spPr>
      </p:pic>
    </p:spTree>
    <p:extLst>
      <p:ext uri="{BB962C8B-B14F-4D97-AF65-F5344CB8AC3E}">
        <p14:creationId xmlns:p14="http://schemas.microsoft.com/office/powerpoint/2010/main" val="400651277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ACCC5-0860-C128-609B-E2BCC3CBFB73}"/>
              </a:ext>
            </a:extLst>
          </p:cNvPr>
          <p:cNvSpPr>
            <a:spLocks noGrp="1"/>
          </p:cNvSpPr>
          <p:nvPr>
            <p:ph type="title"/>
          </p:nvPr>
        </p:nvSpPr>
        <p:spPr/>
        <p:txBody>
          <a:bodyPr/>
          <a:lstStyle/>
          <a:p>
            <a:endParaRPr lang="en-CH"/>
          </a:p>
        </p:txBody>
      </p:sp>
      <p:sp>
        <p:nvSpPr>
          <p:cNvPr id="3" name="Content Placeholder 2">
            <a:extLst>
              <a:ext uri="{FF2B5EF4-FFF2-40B4-BE49-F238E27FC236}">
                <a16:creationId xmlns:a16="http://schemas.microsoft.com/office/drawing/2014/main" id="{A48771F1-2A05-6FF3-2F0D-3D41883039E4}"/>
              </a:ext>
            </a:extLst>
          </p:cNvPr>
          <p:cNvSpPr>
            <a:spLocks noGrp="1"/>
          </p:cNvSpPr>
          <p:nvPr>
            <p:ph idx="1"/>
          </p:nvPr>
        </p:nvSpPr>
        <p:spPr/>
        <p:txBody>
          <a:bodyPr/>
          <a:lstStyle/>
          <a:p>
            <a:endParaRPr lang="en-CH"/>
          </a:p>
        </p:txBody>
      </p:sp>
    </p:spTree>
    <p:extLst>
      <p:ext uri="{BB962C8B-B14F-4D97-AF65-F5344CB8AC3E}">
        <p14:creationId xmlns:p14="http://schemas.microsoft.com/office/powerpoint/2010/main" val="322084920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4E95CD-910C-6009-3343-A84BC0E5F4DB}"/>
              </a:ext>
            </a:extLst>
          </p:cNvPr>
          <p:cNvSpPr>
            <a:spLocks noGrp="1"/>
          </p:cNvSpPr>
          <p:nvPr>
            <p:ph type="title"/>
          </p:nvPr>
        </p:nvSpPr>
        <p:spPr/>
        <p:txBody>
          <a:bodyPr/>
          <a:lstStyle/>
          <a:p>
            <a:r>
              <a:rPr lang="en-CH" dirty="0"/>
              <a:t>With Global Inhibition for B</a:t>
            </a:r>
          </a:p>
        </p:txBody>
      </p:sp>
      <p:pic>
        <p:nvPicPr>
          <p:cNvPr id="7" name="Picture 6">
            <a:extLst>
              <a:ext uri="{FF2B5EF4-FFF2-40B4-BE49-F238E27FC236}">
                <a16:creationId xmlns:a16="http://schemas.microsoft.com/office/drawing/2014/main" id="{B106B275-730F-7C2D-631B-4DBF69D3FDA9}"/>
              </a:ext>
            </a:extLst>
          </p:cNvPr>
          <p:cNvPicPr>
            <a:picLocks noChangeAspect="1"/>
          </p:cNvPicPr>
          <p:nvPr/>
        </p:nvPicPr>
        <p:blipFill>
          <a:blip r:embed="rId2"/>
          <a:stretch>
            <a:fillRect/>
          </a:stretch>
        </p:blipFill>
        <p:spPr>
          <a:xfrm>
            <a:off x="625450" y="1530051"/>
            <a:ext cx="5981370" cy="5167312"/>
          </a:xfrm>
          <a:prstGeom prst="rect">
            <a:avLst/>
          </a:prstGeom>
        </p:spPr>
      </p:pic>
      <p:pic>
        <p:nvPicPr>
          <p:cNvPr id="9" name="Picture 8">
            <a:extLst>
              <a:ext uri="{FF2B5EF4-FFF2-40B4-BE49-F238E27FC236}">
                <a16:creationId xmlns:a16="http://schemas.microsoft.com/office/drawing/2014/main" id="{31917268-CAA7-AE86-0E22-105DD28042DA}"/>
              </a:ext>
            </a:extLst>
          </p:cNvPr>
          <p:cNvPicPr>
            <a:picLocks noChangeAspect="1"/>
          </p:cNvPicPr>
          <p:nvPr/>
        </p:nvPicPr>
        <p:blipFill>
          <a:blip r:embed="rId3"/>
          <a:stretch>
            <a:fillRect/>
          </a:stretch>
        </p:blipFill>
        <p:spPr>
          <a:xfrm>
            <a:off x="6874457" y="1964724"/>
            <a:ext cx="5378979" cy="4666480"/>
          </a:xfrm>
          <a:prstGeom prst="rect">
            <a:avLst/>
          </a:prstGeom>
        </p:spPr>
      </p:pic>
    </p:spTree>
    <p:extLst>
      <p:ext uri="{BB962C8B-B14F-4D97-AF65-F5344CB8AC3E}">
        <p14:creationId xmlns:p14="http://schemas.microsoft.com/office/powerpoint/2010/main" val="23806082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122124</TotalTime>
  <Words>1227</Words>
  <Application>Microsoft Office PowerPoint</Application>
  <PresentationFormat>Widescreen</PresentationFormat>
  <Paragraphs>95</Paragraphs>
  <Slides>143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143</vt:i4>
      </vt:variant>
    </vt:vector>
  </HeadingPairs>
  <TitlesOfParts>
    <vt:vector size="148"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Correlations of alpha slope with parameters</vt:lpstr>
      <vt:lpstr>IOR = 0.5, dnoise = 1, wnoise = 0.12, kappaf_feat and kappaf_ctx reduced to 10</vt:lpstr>
      <vt:lpstr>PowerPoint Presentation</vt:lpstr>
      <vt:lpstr>CD and Retro-Cueing</vt:lpstr>
      <vt:lpstr>PowerPoint Presentation</vt:lpstr>
      <vt:lpstr>With Global Inhibition for B</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283</cp:revision>
  <dcterms:created xsi:type="dcterms:W3CDTF">2024-08-13T19:20:17Z</dcterms:created>
  <dcterms:modified xsi:type="dcterms:W3CDTF">2026-08-02T05:02:32Z</dcterms:modified>
</cp:coreProperties>
</file>
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471" r:id="rId33"/>
    <p:sldId id="396" r:id="rId34"/>
    <p:sldId id="274" r:id="rId35"/>
    <p:sldId id="259" r:id="rId36"/>
    <p:sldId id="260" r:id="rId37"/>
    <p:sldId id="413" r:id="rId38"/>
    <p:sldId id="410" r:id="rId39"/>
    <p:sldId id="414" r:id="rId40"/>
    <p:sldId id="407" r:id="rId41"/>
    <p:sldId id="411" r:id="rId42"/>
    <p:sldId id="412" r:id="rId43"/>
    <p:sldId id="286" r:id="rId44"/>
    <p:sldId id="397" r:id="rId45"/>
    <p:sldId id="399" r:id="rId46"/>
    <p:sldId id="408" r:id="rId47"/>
    <p:sldId id="431" r:id="rId48"/>
    <p:sldId id="432" r:id="rId49"/>
    <p:sldId id="398" r:id="rId50"/>
    <p:sldId id="401" r:id="rId51"/>
    <p:sldId id="416" r:id="rId52"/>
    <p:sldId id="400" r:id="rId53"/>
    <p:sldId id="402" r:id="rId54"/>
    <p:sldId id="403" r:id="rId55"/>
    <p:sldId id="415" r:id="rId56"/>
    <p:sldId id="409" r:id="rId57"/>
    <p:sldId id="405" r:id="rId58"/>
    <p:sldId id="404" r:id="rId59"/>
    <p:sldId id="417" r:id="rId60"/>
    <p:sldId id="418" r:id="rId61"/>
    <p:sldId id="406" r:id="rId62"/>
    <p:sldId id="434" r:id="rId63"/>
    <p:sldId id="435" r:id="rId64"/>
    <p:sldId id="428" r:id="rId65"/>
    <p:sldId id="429" r:id="rId66"/>
    <p:sldId id="430" r:id="rId67"/>
    <p:sldId id="433" r:id="rId68"/>
    <p:sldId id="436" r:id="rId69"/>
    <p:sldId id="437" r:id="rId70"/>
    <p:sldId id="438" r:id="rId71"/>
    <p:sldId id="439" r:id="rId72"/>
    <p:sldId id="442" r:id="rId73"/>
    <p:sldId id="443" r:id="rId74"/>
    <p:sldId id="444" r:id="rId75"/>
    <p:sldId id="440" r:id="rId76"/>
    <p:sldId id="446" r:id="rId77"/>
    <p:sldId id="441" r:id="rId78"/>
    <p:sldId id="445" r:id="rId79"/>
    <p:sldId id="447" r:id="rId80"/>
    <p:sldId id="448" r:id="rId81"/>
    <p:sldId id="452" r:id="rId82"/>
    <p:sldId id="479" r:id="rId83"/>
    <p:sldId id="453" r:id="rId84"/>
    <p:sldId id="454" r:id="rId85"/>
    <p:sldId id="455" r:id="rId86"/>
    <p:sldId id="456" r:id="rId87"/>
    <p:sldId id="457" r:id="rId88"/>
    <p:sldId id="458" r:id="rId89"/>
    <p:sldId id="459" r:id="rId90"/>
    <p:sldId id="460" r:id="rId91"/>
    <p:sldId id="461" r:id="rId92"/>
    <p:sldId id="465" r:id="rId93"/>
    <p:sldId id="466" r:id="rId94"/>
    <p:sldId id="472" r:id="rId95"/>
    <p:sldId id="473" r:id="rId96"/>
    <p:sldId id="474" r:id="rId97"/>
    <p:sldId id="475" r:id="rId98"/>
    <p:sldId id="476" r:id="rId99"/>
    <p:sldId id="477" r:id="rId100"/>
    <p:sldId id="483" r:id="rId101"/>
    <p:sldId id="484" r:id="rId102"/>
    <p:sldId id="482" r:id="rId103"/>
    <p:sldId id="486" r:id="rId104"/>
    <p:sldId id="487" r:id="rId105"/>
    <p:sldId id="488" r:id="rId106"/>
    <p:sldId id="489" r:id="rId107"/>
    <p:sldId id="462" r:id="rId108"/>
    <p:sldId id="467" r:id="rId109"/>
    <p:sldId id="468" r:id="rId110"/>
    <p:sldId id="493" r:id="rId111"/>
    <p:sldId id="494" r:id="rId112"/>
    <p:sldId id="469" r:id="rId113"/>
    <p:sldId id="470" r:id="rId114"/>
    <p:sldId id="496" r:id="rId115"/>
    <p:sldId id="505" r:id="rId116"/>
    <p:sldId id="478" r:id="rId117"/>
    <p:sldId id="480" r:id="rId118"/>
    <p:sldId id="481" r:id="rId119"/>
    <p:sldId id="498" r:id="rId120"/>
    <p:sldId id="485" r:id="rId121"/>
    <p:sldId id="495" r:id="rId122"/>
    <p:sldId id="497" r:id="rId123"/>
    <p:sldId id="490" r:id="rId124"/>
    <p:sldId id="491" r:id="rId125"/>
    <p:sldId id="492" r:id="rId126"/>
    <p:sldId id="499" r:id="rId127"/>
    <p:sldId id="500" r:id="rId128"/>
    <p:sldId id="501" r:id="rId129"/>
    <p:sldId id="504" r:id="rId130"/>
    <p:sldId id="507" r:id="rId131"/>
    <p:sldId id="503" r:id="rId132"/>
    <p:sldId id="502" r:id="rId133"/>
    <p:sldId id="506" r:id="rId134"/>
    <p:sldId id="508" r:id="rId135"/>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5" autoAdjust="0"/>
    <p:restoredTop sz="94660"/>
  </p:normalViewPr>
  <p:slideViewPr>
    <p:cSldViewPr snapToGrid="0">
      <p:cViewPr varScale="1">
        <p:scale>
          <a:sx n="88" d="100"/>
          <a:sy n="88" d="100"/>
        </p:scale>
        <p:origin x="213" y="5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theme" Target="theme/theme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slide" Target="slides/slide115.xml"/><Relationship Id="rId124" Type="http://schemas.openxmlformats.org/officeDocument/2006/relationships/slide" Target="slides/slide123.xml"/><Relationship Id="rId129" Type="http://schemas.openxmlformats.org/officeDocument/2006/relationships/slide" Target="slides/slide128.xml"/><Relationship Id="rId13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32" Type="http://schemas.openxmlformats.org/officeDocument/2006/relationships/slide" Target="slides/slide13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slide" Target="slides/slide129.xml"/><Relationship Id="rId135" Type="http://schemas.openxmlformats.org/officeDocument/2006/relationships/slide" Target="slides/slide13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17/07/2026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17/07/2026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17/07/2026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17/07/2026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17/07/2026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17/07/2026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17/07/2026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17/07/2026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17/07/2026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17/07/2026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17/07/2026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17/07/2026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7.xml"/><Relationship Id="rId4" Type="http://schemas.openxmlformats.org/officeDocument/2006/relationships/image" Target="../media/image109.png"/></Relationships>
</file>

<file path=ppt/slides/_rels/slide83.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image" Target="../media/image138.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42.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2.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image" Target="../media/image154.png"/><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image" Target="../media/image161.pn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163.pn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image" Target="../media/image164.pn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166.pn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167.pn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3" Type="http://schemas.openxmlformats.org/officeDocument/2006/relationships/image" Target="../media/image169.png"/><Relationship Id="rId2" Type="http://schemas.openxmlformats.org/officeDocument/2006/relationships/image" Target="../media/image168.pn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3" Type="http://schemas.openxmlformats.org/officeDocument/2006/relationships/image" Target="../media/image179.png"/><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3" Type="http://schemas.openxmlformats.org/officeDocument/2006/relationships/image" Target="../media/image181.png"/><Relationship Id="rId2" Type="http://schemas.openxmlformats.org/officeDocument/2006/relationships/image" Target="../media/image180.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811B9A7-7285-DDB9-E4D3-7A0DBDAC8F08}"/>
              </a:ext>
            </a:extLst>
          </p:cNvPr>
          <p:cNvPicPr>
            <a:picLocks noChangeAspect="1"/>
          </p:cNvPicPr>
          <p:nvPr/>
        </p:nvPicPr>
        <p:blipFill>
          <a:blip r:embed="rId2"/>
          <a:stretch>
            <a:fillRect/>
          </a:stretch>
        </p:blipFill>
        <p:spPr>
          <a:xfrm>
            <a:off x="0" y="350033"/>
            <a:ext cx="12192000" cy="6157933"/>
          </a:xfrm>
          <a:prstGeom prst="rect">
            <a:avLst/>
          </a:prstGeom>
        </p:spPr>
      </p:pic>
    </p:spTree>
    <p:extLst>
      <p:ext uri="{BB962C8B-B14F-4D97-AF65-F5344CB8AC3E}">
        <p14:creationId xmlns:p14="http://schemas.microsoft.com/office/powerpoint/2010/main" val="37757408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91141"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987879" y="54428"/>
            <a:ext cx="5538107"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261258" y="283029"/>
            <a:ext cx="1219199" cy="923330"/>
          </a:xfrm>
          <a:prstGeom prst="rect">
            <a:avLst/>
          </a:prstGeom>
          <a:noFill/>
        </p:spPr>
        <p:txBody>
          <a:bodyPr wrap="square" rtlCol="0">
            <a:spAutoFit/>
          </a:bodyPr>
          <a:lstStyle/>
          <a:p>
            <a:r>
              <a:rPr lang="en-CH" dirty="0"/>
              <a:t>With </a:t>
            </a:r>
            <a:r>
              <a:rPr lang="en-CH" dirty="0" err="1"/>
              <a:t>p.wnoise</a:t>
            </a:r>
            <a:r>
              <a:rPr lang="en-CH" dirty="0"/>
              <a:t> = 0.03</a:t>
            </a:r>
          </a:p>
        </p:txBody>
      </p:sp>
      <p:pic>
        <p:nvPicPr>
          <p:cNvPr id="4" name="Picture 3">
            <a:extLst>
              <a:ext uri="{FF2B5EF4-FFF2-40B4-BE49-F238E27FC236}">
                <a16:creationId xmlns:a16="http://schemas.microsoft.com/office/drawing/2014/main" id="{D5717519-7E19-5082-0A0B-E9D11AC06009}"/>
              </a:ext>
            </a:extLst>
          </p:cNvPr>
          <p:cNvPicPr>
            <a:picLocks noChangeAspect="1"/>
          </p:cNvPicPr>
          <p:nvPr/>
        </p:nvPicPr>
        <p:blipFill>
          <a:blip r:embed="rId3"/>
          <a:stretch>
            <a:fillRect/>
          </a:stretch>
        </p:blipFill>
        <p:spPr>
          <a:xfrm>
            <a:off x="6530163" y="-141514"/>
            <a:ext cx="5661837" cy="6858000"/>
          </a:xfrm>
          <a:prstGeom prst="rect">
            <a:avLst/>
          </a:prstGeom>
        </p:spPr>
      </p:pic>
    </p:spTree>
    <p:extLst>
      <p:ext uri="{BB962C8B-B14F-4D97-AF65-F5344CB8AC3E}">
        <p14:creationId xmlns:p14="http://schemas.microsoft.com/office/powerpoint/2010/main" val="16196559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95562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dirty="0"/>
              <a:t> = 0.01) (they come back a little bit with </a:t>
            </a:r>
            <a:r>
              <a:rPr lang="en-CH" dirty="0" err="1"/>
              <a:t>P.filter</a:t>
            </a:r>
            <a:r>
              <a:rPr lang="en-CH" dirty="0"/>
              <a:t> = 0.2 but not 0.1; 0.3 vs. 0.2 makes no discernible difference)</a:t>
            </a:r>
          </a:p>
        </p:txBody>
      </p:sp>
    </p:spTree>
    <p:extLst>
      <p:ext uri="{BB962C8B-B14F-4D97-AF65-F5344CB8AC3E}">
        <p14:creationId xmlns:p14="http://schemas.microsoft.com/office/powerpoint/2010/main" val="359477299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FE4CD81-400F-57E4-3B9D-3C6C06B6AFEB}"/>
              </a:ext>
            </a:extLst>
          </p:cNvPr>
          <p:cNvSpPr txBox="1"/>
          <p:nvPr/>
        </p:nvSpPr>
        <p:spPr>
          <a:xfrm>
            <a:off x="283029" y="253386"/>
            <a:ext cx="7739743" cy="646331"/>
          </a:xfrm>
          <a:prstGeom prst="rect">
            <a:avLst/>
          </a:prstGeom>
          <a:noFill/>
        </p:spPr>
        <p:txBody>
          <a:bodyPr wrap="square" rtlCol="0">
            <a:spAutoFit/>
          </a:bodyPr>
          <a:lstStyle/>
          <a:p>
            <a:r>
              <a:rPr lang="en-CH" dirty="0"/>
              <a:t>With </a:t>
            </a:r>
            <a:r>
              <a:rPr lang="en-CH" dirty="0" err="1"/>
              <a:t>P.filter</a:t>
            </a:r>
            <a:r>
              <a:rPr lang="en-CH" dirty="0"/>
              <a:t> = 0.1, after correction of SD of reorienting attention after </a:t>
            </a:r>
            <a:r>
              <a:rPr lang="en-CH" dirty="0" err="1"/>
              <a:t>color</a:t>
            </a:r>
            <a:r>
              <a:rPr lang="en-CH" dirty="0"/>
              <a:t>-wheel onset</a:t>
            </a:r>
          </a:p>
        </p:txBody>
      </p:sp>
      <p:pic>
        <p:nvPicPr>
          <p:cNvPr id="6" name="Picture 5">
            <a:extLst>
              <a:ext uri="{FF2B5EF4-FFF2-40B4-BE49-F238E27FC236}">
                <a16:creationId xmlns:a16="http://schemas.microsoft.com/office/drawing/2014/main" id="{316E12F9-C789-F947-9530-729F8B0BBB03}"/>
              </a:ext>
            </a:extLst>
          </p:cNvPr>
          <p:cNvPicPr>
            <a:picLocks noChangeAspect="1"/>
          </p:cNvPicPr>
          <p:nvPr/>
        </p:nvPicPr>
        <p:blipFill>
          <a:blip r:embed="rId2"/>
          <a:stretch>
            <a:fillRect/>
          </a:stretch>
        </p:blipFill>
        <p:spPr>
          <a:xfrm>
            <a:off x="321731" y="1208314"/>
            <a:ext cx="6532373" cy="4953000"/>
          </a:xfrm>
          <a:prstGeom prst="rect">
            <a:avLst/>
          </a:prstGeom>
        </p:spPr>
      </p:pic>
      <p:pic>
        <p:nvPicPr>
          <p:cNvPr id="7" name="Picture 6">
            <a:extLst>
              <a:ext uri="{FF2B5EF4-FFF2-40B4-BE49-F238E27FC236}">
                <a16:creationId xmlns:a16="http://schemas.microsoft.com/office/drawing/2014/main" id="{308B3256-B5F3-F6E8-CBCE-B3A5F5DAE333}"/>
              </a:ext>
            </a:extLst>
          </p:cNvPr>
          <p:cNvPicPr>
            <a:picLocks noChangeAspect="1"/>
          </p:cNvPicPr>
          <p:nvPr/>
        </p:nvPicPr>
        <p:blipFill>
          <a:blip r:embed="rId3"/>
          <a:stretch>
            <a:fillRect/>
          </a:stretch>
        </p:blipFill>
        <p:spPr>
          <a:xfrm>
            <a:off x="6608335" y="1066018"/>
            <a:ext cx="5801726" cy="5480957"/>
          </a:xfrm>
          <a:prstGeom prst="rect">
            <a:avLst/>
          </a:prstGeom>
        </p:spPr>
      </p:pic>
      <p:pic>
        <p:nvPicPr>
          <p:cNvPr id="8" name="Picture 7">
            <a:extLst>
              <a:ext uri="{FF2B5EF4-FFF2-40B4-BE49-F238E27FC236}">
                <a16:creationId xmlns:a16="http://schemas.microsoft.com/office/drawing/2014/main" id="{98D271EC-D906-81B8-F03B-E6713B58E00A}"/>
              </a:ext>
            </a:extLst>
          </p:cNvPr>
          <p:cNvPicPr>
            <a:picLocks noChangeAspect="1"/>
          </p:cNvPicPr>
          <p:nvPr/>
        </p:nvPicPr>
        <p:blipFill>
          <a:blip r:embed="rId4"/>
          <a:stretch>
            <a:fillRect/>
          </a:stretch>
        </p:blipFill>
        <p:spPr>
          <a:xfrm>
            <a:off x="7561820" y="0"/>
            <a:ext cx="4246544" cy="2993571"/>
          </a:xfrm>
          <a:prstGeom prst="rect">
            <a:avLst/>
          </a:prstGeom>
        </p:spPr>
      </p:pic>
    </p:spTree>
    <p:extLst>
      <p:ext uri="{BB962C8B-B14F-4D97-AF65-F5344CB8AC3E}">
        <p14:creationId xmlns:p14="http://schemas.microsoft.com/office/powerpoint/2010/main" val="55296517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F78885-D14C-8C43-D27B-A7C0B95F62CF}"/>
              </a:ext>
            </a:extLst>
          </p:cNvPr>
          <p:cNvPicPr>
            <a:picLocks noChangeAspect="1"/>
          </p:cNvPicPr>
          <p:nvPr/>
        </p:nvPicPr>
        <p:blipFill>
          <a:blip r:embed="rId2"/>
          <a:stretch>
            <a:fillRect/>
          </a:stretch>
        </p:blipFill>
        <p:spPr>
          <a:xfrm>
            <a:off x="382848" y="903513"/>
            <a:ext cx="6055744" cy="5731329"/>
          </a:xfrm>
          <a:prstGeom prst="rect">
            <a:avLst/>
          </a:prstGeom>
        </p:spPr>
      </p:pic>
      <p:sp>
        <p:nvSpPr>
          <p:cNvPr id="6" name="TextBox 5">
            <a:extLst>
              <a:ext uri="{FF2B5EF4-FFF2-40B4-BE49-F238E27FC236}">
                <a16:creationId xmlns:a16="http://schemas.microsoft.com/office/drawing/2014/main" id="{6217022F-E2A2-A662-AD34-C856DECEB0C9}"/>
              </a:ext>
            </a:extLst>
          </p:cNvPr>
          <p:cNvSpPr txBox="1"/>
          <p:nvPr/>
        </p:nvSpPr>
        <p:spPr>
          <a:xfrm>
            <a:off x="538843" y="324395"/>
            <a:ext cx="3853543" cy="369332"/>
          </a:xfrm>
          <a:prstGeom prst="rect">
            <a:avLst/>
          </a:prstGeom>
          <a:noFill/>
        </p:spPr>
        <p:txBody>
          <a:bodyPr wrap="square" rtlCol="0">
            <a:spAutoFit/>
          </a:bodyPr>
          <a:lstStyle/>
          <a:p>
            <a:r>
              <a:rPr lang="en-CH" dirty="0"/>
              <a:t>Reloading (</a:t>
            </a:r>
            <a:r>
              <a:rPr lang="en-CH" dirty="0" err="1"/>
              <a:t>P.filter</a:t>
            </a:r>
            <a:r>
              <a:rPr lang="en-CH" dirty="0"/>
              <a:t> = 0.1)</a:t>
            </a:r>
          </a:p>
        </p:txBody>
      </p:sp>
    </p:spTree>
    <p:extLst>
      <p:ext uri="{BB962C8B-B14F-4D97-AF65-F5344CB8AC3E}">
        <p14:creationId xmlns:p14="http://schemas.microsoft.com/office/powerpoint/2010/main" val="405623801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BF87ED-2E05-474D-0133-170575F56B1C}"/>
              </a:ext>
            </a:extLst>
          </p:cNvPr>
          <p:cNvPicPr>
            <a:picLocks noChangeAspect="1"/>
          </p:cNvPicPr>
          <p:nvPr/>
        </p:nvPicPr>
        <p:blipFill>
          <a:blip r:embed="rId2"/>
          <a:stretch>
            <a:fillRect/>
          </a:stretch>
        </p:blipFill>
        <p:spPr>
          <a:xfrm>
            <a:off x="140545" y="655626"/>
            <a:ext cx="5598511" cy="6164273"/>
          </a:xfrm>
          <a:prstGeom prst="rect">
            <a:avLst/>
          </a:prstGeom>
        </p:spPr>
      </p:pic>
      <p:sp>
        <p:nvSpPr>
          <p:cNvPr id="3" name="TextBox 2">
            <a:extLst>
              <a:ext uri="{FF2B5EF4-FFF2-40B4-BE49-F238E27FC236}">
                <a16:creationId xmlns:a16="http://schemas.microsoft.com/office/drawing/2014/main" id="{B33B1116-6768-3B37-7513-562E2D1D80E0}"/>
              </a:ext>
            </a:extLst>
          </p:cNvPr>
          <p:cNvSpPr txBox="1"/>
          <p:nvPr/>
        </p:nvSpPr>
        <p:spPr>
          <a:xfrm>
            <a:off x="538843" y="324395"/>
            <a:ext cx="3853543" cy="369332"/>
          </a:xfrm>
          <a:prstGeom prst="rect">
            <a:avLst/>
          </a:prstGeom>
          <a:noFill/>
        </p:spPr>
        <p:txBody>
          <a:bodyPr wrap="square" rtlCol="0">
            <a:spAutoFit/>
          </a:bodyPr>
          <a:lstStyle/>
          <a:p>
            <a:r>
              <a:rPr lang="en-CH" dirty="0"/>
              <a:t>CD cueing (</a:t>
            </a:r>
            <a:r>
              <a:rPr lang="en-CH" dirty="0" err="1"/>
              <a:t>P.filter</a:t>
            </a:r>
            <a:r>
              <a:rPr lang="en-CH" dirty="0"/>
              <a:t> = 0.3)</a:t>
            </a:r>
          </a:p>
        </p:txBody>
      </p:sp>
      <p:pic>
        <p:nvPicPr>
          <p:cNvPr id="4" name="Picture 3">
            <a:extLst>
              <a:ext uri="{FF2B5EF4-FFF2-40B4-BE49-F238E27FC236}">
                <a16:creationId xmlns:a16="http://schemas.microsoft.com/office/drawing/2014/main" id="{FAD3A9B3-5BA8-B0C5-85CA-E608C74A8E35}"/>
              </a:ext>
            </a:extLst>
          </p:cNvPr>
          <p:cNvPicPr>
            <a:picLocks noChangeAspect="1"/>
          </p:cNvPicPr>
          <p:nvPr/>
        </p:nvPicPr>
        <p:blipFill>
          <a:blip r:embed="rId3"/>
          <a:stretch>
            <a:fillRect/>
          </a:stretch>
        </p:blipFill>
        <p:spPr>
          <a:xfrm>
            <a:off x="5629295" y="776111"/>
            <a:ext cx="6422160" cy="5652685"/>
          </a:xfrm>
          <a:prstGeom prst="rect">
            <a:avLst/>
          </a:prstGeom>
        </p:spPr>
      </p:pic>
    </p:spTree>
    <p:extLst>
      <p:ext uri="{BB962C8B-B14F-4D97-AF65-F5344CB8AC3E}">
        <p14:creationId xmlns:p14="http://schemas.microsoft.com/office/powerpoint/2010/main" val="2926565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287E57-A4C0-3F70-38B9-A0810FB1D338}"/>
              </a:ext>
            </a:extLst>
          </p:cNvPr>
          <p:cNvPicPr>
            <a:picLocks noChangeAspect="1"/>
          </p:cNvPicPr>
          <p:nvPr/>
        </p:nvPicPr>
        <p:blipFill>
          <a:blip r:embed="rId2"/>
          <a:stretch>
            <a:fillRect/>
          </a:stretch>
        </p:blipFill>
        <p:spPr>
          <a:xfrm>
            <a:off x="2938002" y="332014"/>
            <a:ext cx="8142710" cy="6193971"/>
          </a:xfrm>
          <a:prstGeom prst="rect">
            <a:avLst/>
          </a:prstGeom>
        </p:spPr>
      </p:pic>
      <p:sp>
        <p:nvSpPr>
          <p:cNvPr id="3" name="TextBox 2">
            <a:extLst>
              <a:ext uri="{FF2B5EF4-FFF2-40B4-BE49-F238E27FC236}">
                <a16:creationId xmlns:a16="http://schemas.microsoft.com/office/drawing/2014/main" id="{C05AE1E3-B7E2-01CC-BC53-858496FE7A51}"/>
              </a:ext>
            </a:extLst>
          </p:cNvPr>
          <p:cNvSpPr txBox="1"/>
          <p:nvPr/>
        </p:nvSpPr>
        <p:spPr>
          <a:xfrm>
            <a:off x="538844" y="324395"/>
            <a:ext cx="2563586" cy="369332"/>
          </a:xfrm>
          <a:prstGeom prst="rect">
            <a:avLst/>
          </a:prstGeom>
          <a:noFill/>
        </p:spPr>
        <p:txBody>
          <a:bodyPr wrap="square" rtlCol="0">
            <a:spAutoFit/>
          </a:bodyPr>
          <a:lstStyle/>
          <a:p>
            <a:r>
              <a:rPr lang="en-CH" dirty="0"/>
              <a:t>Refreshing (</a:t>
            </a:r>
            <a:r>
              <a:rPr lang="en-CH" dirty="0" err="1"/>
              <a:t>P.filter</a:t>
            </a:r>
            <a:r>
              <a:rPr lang="en-CH" dirty="0"/>
              <a:t> = 0.3)</a:t>
            </a:r>
          </a:p>
        </p:txBody>
      </p:sp>
    </p:spTree>
    <p:extLst>
      <p:ext uri="{BB962C8B-B14F-4D97-AF65-F5344CB8AC3E}">
        <p14:creationId xmlns:p14="http://schemas.microsoft.com/office/powerpoint/2010/main" val="98423507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38A349-C698-63CB-6E36-CCC252473225}"/>
              </a:ext>
            </a:extLst>
          </p:cNvPr>
          <p:cNvPicPr>
            <a:picLocks noChangeAspect="1"/>
          </p:cNvPicPr>
          <p:nvPr/>
        </p:nvPicPr>
        <p:blipFill>
          <a:blip r:embed="rId2"/>
          <a:stretch>
            <a:fillRect/>
          </a:stretch>
        </p:blipFill>
        <p:spPr>
          <a:xfrm>
            <a:off x="2332429" y="0"/>
            <a:ext cx="9464798" cy="6858000"/>
          </a:xfrm>
          <a:prstGeom prst="rect">
            <a:avLst/>
          </a:prstGeom>
        </p:spPr>
      </p:pic>
      <p:sp>
        <p:nvSpPr>
          <p:cNvPr id="3" name="TextBox 2">
            <a:extLst>
              <a:ext uri="{FF2B5EF4-FFF2-40B4-BE49-F238E27FC236}">
                <a16:creationId xmlns:a16="http://schemas.microsoft.com/office/drawing/2014/main" id="{A12B027F-7761-F3A7-1328-804A84C2B602}"/>
              </a:ext>
            </a:extLst>
          </p:cNvPr>
          <p:cNvSpPr txBox="1"/>
          <p:nvPr/>
        </p:nvSpPr>
        <p:spPr>
          <a:xfrm>
            <a:off x="478972" y="810986"/>
            <a:ext cx="1812472" cy="923330"/>
          </a:xfrm>
          <a:prstGeom prst="rect">
            <a:avLst/>
          </a:prstGeom>
          <a:noFill/>
        </p:spPr>
        <p:txBody>
          <a:bodyPr wrap="square" rtlCol="0">
            <a:spAutoFit/>
          </a:bodyPr>
          <a:lstStyle/>
          <a:p>
            <a:r>
              <a:rPr lang="en-CH" dirty="0"/>
              <a:t>Prolific, </a:t>
            </a:r>
            <a:r>
              <a:rPr lang="en-CH" dirty="0" err="1"/>
              <a:t>cStrength</a:t>
            </a:r>
            <a:r>
              <a:rPr lang="en-CH" dirty="0"/>
              <a:t> reduced to 0.6</a:t>
            </a:r>
          </a:p>
        </p:txBody>
      </p:sp>
    </p:spTree>
    <p:extLst>
      <p:ext uri="{BB962C8B-B14F-4D97-AF65-F5344CB8AC3E}">
        <p14:creationId xmlns:p14="http://schemas.microsoft.com/office/powerpoint/2010/main" val="181507427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1F2A-A8E9-00E0-AA6B-63127D5B3026}"/>
              </a:ext>
            </a:extLst>
          </p:cNvPr>
          <p:cNvPicPr>
            <a:picLocks noChangeAspect="1"/>
          </p:cNvPicPr>
          <p:nvPr/>
        </p:nvPicPr>
        <p:blipFill>
          <a:blip r:embed="rId2"/>
          <a:stretch>
            <a:fillRect/>
          </a:stretch>
        </p:blipFill>
        <p:spPr>
          <a:xfrm>
            <a:off x="1838809" y="0"/>
            <a:ext cx="8514381" cy="6858000"/>
          </a:xfrm>
          <a:prstGeom prst="rect">
            <a:avLst/>
          </a:prstGeom>
        </p:spPr>
      </p:pic>
    </p:spTree>
    <p:extLst>
      <p:ext uri="{BB962C8B-B14F-4D97-AF65-F5344CB8AC3E}">
        <p14:creationId xmlns:p14="http://schemas.microsoft.com/office/powerpoint/2010/main" val="224701504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359A6B3-8268-FD0E-4227-DDF95EF53AFA}"/>
              </a:ext>
            </a:extLst>
          </p:cNvPr>
          <p:cNvPicPr>
            <a:picLocks noChangeAspect="1"/>
          </p:cNvPicPr>
          <p:nvPr/>
        </p:nvPicPr>
        <p:blipFill>
          <a:blip r:embed="rId2"/>
          <a:stretch>
            <a:fillRect/>
          </a:stretch>
        </p:blipFill>
        <p:spPr>
          <a:xfrm>
            <a:off x="0" y="81643"/>
            <a:ext cx="6501895" cy="6482443"/>
          </a:xfrm>
          <a:prstGeom prst="rect">
            <a:avLst/>
          </a:prstGeom>
        </p:spPr>
      </p:pic>
      <p:pic>
        <p:nvPicPr>
          <p:cNvPr id="4" name="Picture 3">
            <a:extLst>
              <a:ext uri="{FF2B5EF4-FFF2-40B4-BE49-F238E27FC236}">
                <a16:creationId xmlns:a16="http://schemas.microsoft.com/office/drawing/2014/main" id="{A34CBC49-F63E-3ECC-77A1-BDDF0EFFA968}"/>
              </a:ext>
            </a:extLst>
          </p:cNvPr>
          <p:cNvPicPr>
            <a:picLocks noChangeAspect="1"/>
          </p:cNvPicPr>
          <p:nvPr/>
        </p:nvPicPr>
        <p:blipFill>
          <a:blip r:embed="rId3"/>
          <a:stretch>
            <a:fillRect/>
          </a:stretch>
        </p:blipFill>
        <p:spPr>
          <a:xfrm>
            <a:off x="5999713" y="141514"/>
            <a:ext cx="6318724" cy="6716486"/>
          </a:xfrm>
          <a:prstGeom prst="rect">
            <a:avLst/>
          </a:prstGeom>
        </p:spPr>
      </p:pic>
    </p:spTree>
    <p:extLst>
      <p:ext uri="{BB962C8B-B14F-4D97-AF65-F5344CB8AC3E}">
        <p14:creationId xmlns:p14="http://schemas.microsoft.com/office/powerpoint/2010/main" val="303015103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C2D68C5-8562-6386-2C2A-5D5C82DD233C}"/>
              </a:ext>
            </a:extLst>
          </p:cNvPr>
          <p:cNvPicPr>
            <a:picLocks noChangeAspect="1"/>
          </p:cNvPicPr>
          <p:nvPr/>
        </p:nvPicPr>
        <p:blipFill>
          <a:blip r:embed="rId2"/>
          <a:stretch>
            <a:fillRect/>
          </a:stretch>
        </p:blipFill>
        <p:spPr>
          <a:xfrm>
            <a:off x="5921829" y="38100"/>
            <a:ext cx="6270171" cy="6858000"/>
          </a:xfrm>
          <a:prstGeom prst="rect">
            <a:avLst/>
          </a:prstGeom>
        </p:spPr>
      </p:pic>
      <p:pic>
        <p:nvPicPr>
          <p:cNvPr id="3" name="Picture 2">
            <a:extLst>
              <a:ext uri="{FF2B5EF4-FFF2-40B4-BE49-F238E27FC236}">
                <a16:creationId xmlns:a16="http://schemas.microsoft.com/office/drawing/2014/main" id="{593A6A9B-B339-A1ED-8C02-9249BC4F985B}"/>
              </a:ext>
            </a:extLst>
          </p:cNvPr>
          <p:cNvPicPr>
            <a:picLocks noChangeAspect="1"/>
          </p:cNvPicPr>
          <p:nvPr/>
        </p:nvPicPr>
        <p:blipFill>
          <a:blip r:embed="rId3"/>
          <a:stretch>
            <a:fillRect/>
          </a:stretch>
        </p:blipFill>
        <p:spPr>
          <a:xfrm>
            <a:off x="-63359" y="195942"/>
            <a:ext cx="6159359" cy="5949043"/>
          </a:xfrm>
          <a:prstGeom prst="rect">
            <a:avLst/>
          </a:prstGeom>
        </p:spPr>
      </p:pic>
    </p:spTree>
    <p:extLst>
      <p:ext uri="{BB962C8B-B14F-4D97-AF65-F5344CB8AC3E}">
        <p14:creationId xmlns:p14="http://schemas.microsoft.com/office/powerpoint/2010/main" val="21540786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E7D8038-E0C5-E2A8-22E1-E052F7B7C56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403762552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3CBCE7-C49C-DB87-A9E9-6485DBAB091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66426678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D729B3-2735-5E06-AD1B-A95251E01F4B}"/>
              </a:ext>
            </a:extLst>
          </p:cNvPr>
          <p:cNvPicPr>
            <a:picLocks noChangeAspect="1"/>
          </p:cNvPicPr>
          <p:nvPr/>
        </p:nvPicPr>
        <p:blipFill>
          <a:blip r:embed="rId2"/>
          <a:stretch>
            <a:fillRect/>
          </a:stretch>
        </p:blipFill>
        <p:spPr>
          <a:xfrm>
            <a:off x="576943" y="0"/>
            <a:ext cx="12192000" cy="6688667"/>
          </a:xfrm>
          <a:prstGeom prst="rect">
            <a:avLst/>
          </a:prstGeom>
        </p:spPr>
      </p:pic>
      <p:sp>
        <p:nvSpPr>
          <p:cNvPr id="3" name="TextBox 2">
            <a:extLst>
              <a:ext uri="{FF2B5EF4-FFF2-40B4-BE49-F238E27FC236}">
                <a16:creationId xmlns:a16="http://schemas.microsoft.com/office/drawing/2014/main" id="{0021C9B9-BB8B-DAF4-9C34-2FAA45348B79}"/>
              </a:ext>
            </a:extLst>
          </p:cNvPr>
          <p:cNvSpPr txBox="1"/>
          <p:nvPr/>
        </p:nvSpPr>
        <p:spPr>
          <a:xfrm>
            <a:off x="288472" y="593271"/>
            <a:ext cx="1447799" cy="1477328"/>
          </a:xfrm>
          <a:prstGeom prst="rect">
            <a:avLst/>
          </a:prstGeom>
          <a:noFill/>
        </p:spPr>
        <p:txBody>
          <a:bodyPr wrap="square" rtlCol="0">
            <a:spAutoFit/>
          </a:bodyPr>
          <a:lstStyle/>
          <a:p>
            <a:r>
              <a:rPr lang="en-CH" dirty="0"/>
              <a:t>After making consolidation of an entire array ballistic (or not)</a:t>
            </a:r>
          </a:p>
        </p:txBody>
      </p:sp>
    </p:spTree>
    <p:extLst>
      <p:ext uri="{BB962C8B-B14F-4D97-AF65-F5344CB8AC3E}">
        <p14:creationId xmlns:p14="http://schemas.microsoft.com/office/powerpoint/2010/main" val="38813058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FE7251-367D-6E54-B237-F8356A5E1CA7}"/>
              </a:ext>
            </a:extLst>
          </p:cNvPr>
          <p:cNvPicPr>
            <a:picLocks noChangeAspect="1"/>
          </p:cNvPicPr>
          <p:nvPr/>
        </p:nvPicPr>
        <p:blipFill>
          <a:blip r:embed="rId2"/>
          <a:stretch>
            <a:fillRect/>
          </a:stretch>
        </p:blipFill>
        <p:spPr>
          <a:xfrm>
            <a:off x="538843" y="84666"/>
            <a:ext cx="12110357" cy="6688667"/>
          </a:xfrm>
          <a:prstGeom prst="rect">
            <a:avLst/>
          </a:prstGeom>
        </p:spPr>
      </p:pic>
    </p:spTree>
    <p:extLst>
      <p:ext uri="{BB962C8B-B14F-4D97-AF65-F5344CB8AC3E}">
        <p14:creationId xmlns:p14="http://schemas.microsoft.com/office/powerpoint/2010/main" val="26897578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714A6B-39AC-C7F5-D69B-2867F77598EA}"/>
              </a:ext>
            </a:extLst>
          </p:cNvPr>
          <p:cNvPicPr>
            <a:picLocks noChangeAspect="1"/>
          </p:cNvPicPr>
          <p:nvPr/>
        </p:nvPicPr>
        <p:blipFill>
          <a:blip r:embed="rId2"/>
          <a:stretch>
            <a:fillRect/>
          </a:stretch>
        </p:blipFill>
        <p:spPr>
          <a:xfrm>
            <a:off x="1703614" y="216833"/>
            <a:ext cx="10583520" cy="6559524"/>
          </a:xfrm>
          <a:prstGeom prst="rect">
            <a:avLst/>
          </a:prstGeom>
        </p:spPr>
      </p:pic>
      <p:sp>
        <p:nvSpPr>
          <p:cNvPr id="3" name="TextBox 2">
            <a:extLst>
              <a:ext uri="{FF2B5EF4-FFF2-40B4-BE49-F238E27FC236}">
                <a16:creationId xmlns:a16="http://schemas.microsoft.com/office/drawing/2014/main" id="{C9523347-7BC0-4EBA-6601-302DB2D4DB2E}"/>
              </a:ext>
            </a:extLst>
          </p:cNvPr>
          <p:cNvSpPr txBox="1"/>
          <p:nvPr/>
        </p:nvSpPr>
        <p:spPr>
          <a:xfrm>
            <a:off x="353786" y="865414"/>
            <a:ext cx="2144485" cy="2031325"/>
          </a:xfrm>
          <a:prstGeom prst="rect">
            <a:avLst/>
          </a:prstGeom>
          <a:noFill/>
        </p:spPr>
        <p:txBody>
          <a:bodyPr wrap="square" rtlCol="0">
            <a:spAutoFit/>
          </a:bodyPr>
          <a:lstStyle/>
          <a:p>
            <a:r>
              <a:rPr lang="en-CH" dirty="0"/>
              <a:t>After correction of RI after the second array (matching ISI); with ballistic consolidation of only one item per array. Now test = n-AFC</a:t>
            </a:r>
          </a:p>
        </p:txBody>
      </p:sp>
    </p:spTree>
    <p:extLst>
      <p:ext uri="{BB962C8B-B14F-4D97-AF65-F5344CB8AC3E}">
        <p14:creationId xmlns:p14="http://schemas.microsoft.com/office/powerpoint/2010/main" val="135357583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9DFD3B4-90D6-996B-47C3-0C87E17C3EB0}"/>
              </a:ext>
            </a:extLst>
          </p:cNvPr>
          <p:cNvPicPr>
            <a:picLocks noChangeAspect="1"/>
          </p:cNvPicPr>
          <p:nvPr/>
        </p:nvPicPr>
        <p:blipFill>
          <a:blip r:embed="rId2"/>
          <a:stretch>
            <a:fillRect/>
          </a:stretch>
        </p:blipFill>
        <p:spPr>
          <a:xfrm>
            <a:off x="1323760" y="0"/>
            <a:ext cx="9544480" cy="6858000"/>
          </a:xfrm>
          <a:prstGeom prst="rect">
            <a:avLst/>
          </a:prstGeom>
        </p:spPr>
      </p:pic>
    </p:spTree>
    <p:extLst>
      <p:ext uri="{BB962C8B-B14F-4D97-AF65-F5344CB8AC3E}">
        <p14:creationId xmlns:p14="http://schemas.microsoft.com/office/powerpoint/2010/main" val="13311941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7B0D175-D8A3-8CBC-EC26-5E5F6CB1F3AA}"/>
              </a:ext>
            </a:extLst>
          </p:cNvPr>
          <p:cNvPicPr>
            <a:picLocks noChangeAspect="1"/>
          </p:cNvPicPr>
          <p:nvPr/>
        </p:nvPicPr>
        <p:blipFill>
          <a:blip r:embed="rId2"/>
          <a:stretch>
            <a:fillRect/>
          </a:stretch>
        </p:blipFill>
        <p:spPr>
          <a:xfrm>
            <a:off x="647517" y="0"/>
            <a:ext cx="10896966" cy="6858000"/>
          </a:xfrm>
          <a:prstGeom prst="rect">
            <a:avLst/>
          </a:prstGeom>
        </p:spPr>
      </p:pic>
    </p:spTree>
    <p:extLst>
      <p:ext uri="{BB962C8B-B14F-4D97-AF65-F5344CB8AC3E}">
        <p14:creationId xmlns:p14="http://schemas.microsoft.com/office/powerpoint/2010/main" val="97540275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54CC18-E7A5-AC66-443D-ED9455DCC9FB}"/>
              </a:ext>
            </a:extLst>
          </p:cNvPr>
          <p:cNvPicPr>
            <a:picLocks noChangeAspect="1"/>
          </p:cNvPicPr>
          <p:nvPr/>
        </p:nvPicPr>
        <p:blipFill>
          <a:blip r:embed="rId2"/>
          <a:stretch>
            <a:fillRect/>
          </a:stretch>
        </p:blipFill>
        <p:spPr>
          <a:xfrm>
            <a:off x="1277204" y="0"/>
            <a:ext cx="10170991" cy="6858000"/>
          </a:xfrm>
          <a:prstGeom prst="rect">
            <a:avLst/>
          </a:prstGeom>
        </p:spPr>
      </p:pic>
    </p:spTree>
    <p:extLst>
      <p:ext uri="{BB962C8B-B14F-4D97-AF65-F5344CB8AC3E}">
        <p14:creationId xmlns:p14="http://schemas.microsoft.com/office/powerpoint/2010/main" val="16394608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3A88C9E-EF8C-B05E-52C6-BC858A9F1BB7}"/>
              </a:ext>
            </a:extLst>
          </p:cNvPr>
          <p:cNvPicPr>
            <a:picLocks noChangeAspect="1"/>
          </p:cNvPicPr>
          <p:nvPr/>
        </p:nvPicPr>
        <p:blipFill>
          <a:blip r:embed="rId2"/>
          <a:stretch>
            <a:fillRect/>
          </a:stretch>
        </p:blipFill>
        <p:spPr>
          <a:xfrm>
            <a:off x="643034" y="288471"/>
            <a:ext cx="5396201" cy="6193971"/>
          </a:xfrm>
          <a:prstGeom prst="rect">
            <a:avLst/>
          </a:prstGeom>
        </p:spPr>
      </p:pic>
      <p:pic>
        <p:nvPicPr>
          <p:cNvPr id="4" name="Picture 3">
            <a:extLst>
              <a:ext uri="{FF2B5EF4-FFF2-40B4-BE49-F238E27FC236}">
                <a16:creationId xmlns:a16="http://schemas.microsoft.com/office/drawing/2014/main" id="{1CDDA8D8-D875-FF2A-9C22-D51AB78A3186}"/>
              </a:ext>
            </a:extLst>
          </p:cNvPr>
          <p:cNvPicPr>
            <a:picLocks noChangeAspect="1"/>
          </p:cNvPicPr>
          <p:nvPr/>
        </p:nvPicPr>
        <p:blipFill>
          <a:blip r:embed="rId3"/>
          <a:stretch>
            <a:fillRect/>
          </a:stretch>
        </p:blipFill>
        <p:spPr>
          <a:xfrm>
            <a:off x="5905325" y="236763"/>
            <a:ext cx="5643641" cy="6384473"/>
          </a:xfrm>
          <a:prstGeom prst="rect">
            <a:avLst/>
          </a:prstGeom>
        </p:spPr>
      </p:pic>
    </p:spTree>
    <p:extLst>
      <p:ext uri="{BB962C8B-B14F-4D97-AF65-F5344CB8AC3E}">
        <p14:creationId xmlns:p14="http://schemas.microsoft.com/office/powerpoint/2010/main" val="6954288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CCDC34-29A4-9F81-F3DB-6E63C963F9F5}"/>
              </a:ext>
            </a:extLst>
          </p:cNvPr>
          <p:cNvPicPr>
            <a:picLocks noChangeAspect="1"/>
          </p:cNvPicPr>
          <p:nvPr/>
        </p:nvPicPr>
        <p:blipFill>
          <a:blip r:embed="rId2"/>
          <a:stretch>
            <a:fillRect/>
          </a:stretch>
        </p:blipFill>
        <p:spPr>
          <a:xfrm>
            <a:off x="746507" y="178639"/>
            <a:ext cx="7989280" cy="6407217"/>
          </a:xfrm>
          <a:prstGeom prst="rect">
            <a:avLst/>
          </a:prstGeom>
        </p:spPr>
      </p:pic>
    </p:spTree>
    <p:extLst>
      <p:ext uri="{BB962C8B-B14F-4D97-AF65-F5344CB8AC3E}">
        <p14:creationId xmlns:p14="http://schemas.microsoft.com/office/powerpoint/2010/main" val="227860166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D270B6-00EE-C6C7-33F5-B329C9414EBB}"/>
              </a:ext>
            </a:extLst>
          </p:cNvPr>
          <p:cNvPicPr>
            <a:picLocks noChangeAspect="1"/>
          </p:cNvPicPr>
          <p:nvPr/>
        </p:nvPicPr>
        <p:blipFill>
          <a:blip r:embed="rId2"/>
          <a:stretch>
            <a:fillRect/>
          </a:stretch>
        </p:blipFill>
        <p:spPr>
          <a:xfrm>
            <a:off x="157195" y="435428"/>
            <a:ext cx="5611754" cy="4561114"/>
          </a:xfrm>
          <a:prstGeom prst="rect">
            <a:avLst/>
          </a:prstGeom>
        </p:spPr>
      </p:pic>
      <p:pic>
        <p:nvPicPr>
          <p:cNvPr id="3" name="Picture 2">
            <a:extLst>
              <a:ext uri="{FF2B5EF4-FFF2-40B4-BE49-F238E27FC236}">
                <a16:creationId xmlns:a16="http://schemas.microsoft.com/office/drawing/2014/main" id="{FA1336B1-DD10-5654-099A-0D9DCD0EF500}"/>
              </a:ext>
            </a:extLst>
          </p:cNvPr>
          <p:cNvPicPr>
            <a:picLocks noChangeAspect="1"/>
          </p:cNvPicPr>
          <p:nvPr/>
        </p:nvPicPr>
        <p:blipFill>
          <a:blip r:embed="rId3"/>
          <a:stretch>
            <a:fillRect/>
          </a:stretch>
        </p:blipFill>
        <p:spPr>
          <a:xfrm>
            <a:off x="5161762" y="2078458"/>
            <a:ext cx="6600252" cy="4970041"/>
          </a:xfrm>
          <a:prstGeom prst="rect">
            <a:avLst/>
          </a:prstGeom>
        </p:spPr>
      </p:pic>
      <p:sp>
        <p:nvSpPr>
          <p:cNvPr id="4" name="TextBox 3">
            <a:extLst>
              <a:ext uri="{FF2B5EF4-FFF2-40B4-BE49-F238E27FC236}">
                <a16:creationId xmlns:a16="http://schemas.microsoft.com/office/drawing/2014/main" id="{99567A09-1FE1-5736-B943-A857ED92E064}"/>
              </a:ext>
            </a:extLst>
          </p:cNvPr>
          <p:cNvSpPr txBox="1"/>
          <p:nvPr/>
        </p:nvSpPr>
        <p:spPr>
          <a:xfrm>
            <a:off x="6052457" y="767443"/>
            <a:ext cx="2395977" cy="369332"/>
          </a:xfrm>
          <a:prstGeom prst="rect">
            <a:avLst/>
          </a:prstGeom>
          <a:noFill/>
        </p:spPr>
        <p:txBody>
          <a:bodyPr wrap="none" rtlCol="0">
            <a:spAutoFit/>
          </a:bodyPr>
          <a:lstStyle/>
          <a:p>
            <a:r>
              <a:rPr lang="en-CH" dirty="0"/>
              <a:t>Now with </a:t>
            </a:r>
            <a:r>
              <a:rPr lang="en-CH" dirty="0" err="1"/>
              <a:t>P.ballistic</a:t>
            </a:r>
            <a:r>
              <a:rPr lang="en-CH" dirty="0"/>
              <a:t> = 1</a:t>
            </a:r>
          </a:p>
        </p:txBody>
      </p:sp>
    </p:spTree>
    <p:extLst>
      <p:ext uri="{BB962C8B-B14F-4D97-AF65-F5344CB8AC3E}">
        <p14:creationId xmlns:p14="http://schemas.microsoft.com/office/powerpoint/2010/main" val="18540378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92007B-AB7A-C54F-3E5B-CB3208552A81}"/>
              </a:ext>
            </a:extLst>
          </p:cNvPr>
          <p:cNvPicPr>
            <a:picLocks noChangeAspect="1"/>
          </p:cNvPicPr>
          <p:nvPr/>
        </p:nvPicPr>
        <p:blipFill>
          <a:blip r:embed="rId2"/>
          <a:stretch>
            <a:fillRect/>
          </a:stretch>
        </p:blipFill>
        <p:spPr>
          <a:xfrm>
            <a:off x="589479" y="0"/>
            <a:ext cx="8487555" cy="6858000"/>
          </a:xfrm>
          <a:prstGeom prst="rect">
            <a:avLst/>
          </a:prstGeom>
        </p:spPr>
      </p:pic>
      <p:sp>
        <p:nvSpPr>
          <p:cNvPr id="3" name="TextBox 2">
            <a:extLst>
              <a:ext uri="{FF2B5EF4-FFF2-40B4-BE49-F238E27FC236}">
                <a16:creationId xmlns:a16="http://schemas.microsoft.com/office/drawing/2014/main" id="{69B8CB45-415F-4B1B-9D53-BDFE19E08FC6}"/>
              </a:ext>
            </a:extLst>
          </p:cNvPr>
          <p:cNvSpPr txBox="1"/>
          <p:nvPr/>
        </p:nvSpPr>
        <p:spPr>
          <a:xfrm>
            <a:off x="8441871" y="908957"/>
            <a:ext cx="3238500" cy="2585323"/>
          </a:xfrm>
          <a:prstGeom prst="rect">
            <a:avLst/>
          </a:prstGeom>
          <a:noFill/>
        </p:spPr>
        <p:txBody>
          <a:bodyPr wrap="square" rtlCol="0">
            <a:spAutoFit/>
          </a:bodyPr>
          <a:lstStyle/>
          <a:p>
            <a:r>
              <a:rPr lang="en-CH" dirty="0"/>
              <a:t>Explanation: At small set size, consolidation causes overtime only at short SOA (at long SOA, consolidation is always over before the end of the SOA). Longer set sizes cause overtime also at long </a:t>
            </a:r>
            <a:r>
              <a:rPr lang="en-CH" dirty="0" err="1"/>
              <a:t>SOAs</a:t>
            </a:r>
            <a:r>
              <a:rPr lang="en-CH" dirty="0"/>
              <a:t>, because often one consolidation process is still ongoing.  </a:t>
            </a:r>
          </a:p>
        </p:txBody>
      </p:sp>
    </p:spTree>
    <p:extLst>
      <p:ext uri="{BB962C8B-B14F-4D97-AF65-F5344CB8AC3E}">
        <p14:creationId xmlns:p14="http://schemas.microsoft.com/office/powerpoint/2010/main" val="311700737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5C4E78-F067-F261-E069-DF506B35ED3D}"/>
              </a:ext>
            </a:extLst>
          </p:cNvPr>
          <p:cNvPicPr>
            <a:picLocks noChangeAspect="1"/>
          </p:cNvPicPr>
          <p:nvPr/>
        </p:nvPicPr>
        <p:blipFill>
          <a:blip r:embed="rId2"/>
          <a:stretch>
            <a:fillRect/>
          </a:stretch>
        </p:blipFill>
        <p:spPr>
          <a:xfrm>
            <a:off x="707656" y="759197"/>
            <a:ext cx="10477415" cy="6011717"/>
          </a:xfrm>
          <a:prstGeom prst="rect">
            <a:avLst/>
          </a:prstGeom>
        </p:spPr>
      </p:pic>
    </p:spTree>
    <p:extLst>
      <p:ext uri="{BB962C8B-B14F-4D97-AF65-F5344CB8AC3E}">
        <p14:creationId xmlns:p14="http://schemas.microsoft.com/office/powerpoint/2010/main" val="41610578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1667A31-B97A-CEF2-3DB1-9C2C2700DB7F}"/>
              </a:ext>
            </a:extLst>
          </p:cNvPr>
          <p:cNvPicPr>
            <a:picLocks noChangeAspect="1"/>
          </p:cNvPicPr>
          <p:nvPr/>
        </p:nvPicPr>
        <p:blipFill>
          <a:blip r:embed="rId2"/>
          <a:stretch>
            <a:fillRect/>
          </a:stretch>
        </p:blipFill>
        <p:spPr>
          <a:xfrm>
            <a:off x="-48132" y="171449"/>
            <a:ext cx="6269318" cy="6515100"/>
          </a:xfrm>
          <a:prstGeom prst="rect">
            <a:avLst/>
          </a:prstGeom>
        </p:spPr>
      </p:pic>
      <p:pic>
        <p:nvPicPr>
          <p:cNvPr id="3" name="Picture 2">
            <a:extLst>
              <a:ext uri="{FF2B5EF4-FFF2-40B4-BE49-F238E27FC236}">
                <a16:creationId xmlns:a16="http://schemas.microsoft.com/office/drawing/2014/main" id="{C5743682-6E83-4FEF-C783-E5FD54D3605F}"/>
              </a:ext>
            </a:extLst>
          </p:cNvPr>
          <p:cNvPicPr>
            <a:picLocks noChangeAspect="1"/>
          </p:cNvPicPr>
          <p:nvPr/>
        </p:nvPicPr>
        <p:blipFill>
          <a:blip r:embed="rId3"/>
          <a:stretch>
            <a:fillRect/>
          </a:stretch>
        </p:blipFill>
        <p:spPr>
          <a:xfrm>
            <a:off x="5758543" y="231321"/>
            <a:ext cx="6134099" cy="6395357"/>
          </a:xfrm>
          <a:prstGeom prst="rect">
            <a:avLst/>
          </a:prstGeom>
        </p:spPr>
      </p:pic>
      <p:sp>
        <p:nvSpPr>
          <p:cNvPr id="5" name="TextBox 4">
            <a:extLst>
              <a:ext uri="{FF2B5EF4-FFF2-40B4-BE49-F238E27FC236}">
                <a16:creationId xmlns:a16="http://schemas.microsoft.com/office/drawing/2014/main" id="{446459EB-72F7-D0DB-CAF4-F7256343089F}"/>
              </a:ext>
            </a:extLst>
          </p:cNvPr>
          <p:cNvSpPr txBox="1"/>
          <p:nvPr/>
        </p:nvSpPr>
        <p:spPr>
          <a:xfrm>
            <a:off x="3516086" y="4239986"/>
            <a:ext cx="2155371" cy="1200329"/>
          </a:xfrm>
          <a:prstGeom prst="rect">
            <a:avLst/>
          </a:prstGeom>
          <a:noFill/>
        </p:spPr>
        <p:txBody>
          <a:bodyPr wrap="square" rtlCol="0">
            <a:spAutoFit/>
          </a:bodyPr>
          <a:lstStyle/>
          <a:p>
            <a:r>
              <a:rPr lang="en-CH" dirty="0"/>
              <a:t>After applying ballistic to the entire array, and </a:t>
            </a:r>
            <a:r>
              <a:rPr lang="en-CH" dirty="0" err="1"/>
              <a:t>P.ballistic</a:t>
            </a:r>
            <a:r>
              <a:rPr lang="en-CH" dirty="0"/>
              <a:t> = 1</a:t>
            </a:r>
          </a:p>
        </p:txBody>
      </p:sp>
    </p:spTree>
    <p:extLst>
      <p:ext uri="{BB962C8B-B14F-4D97-AF65-F5344CB8AC3E}">
        <p14:creationId xmlns:p14="http://schemas.microsoft.com/office/powerpoint/2010/main" val="161759063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681B36E-838B-F9AB-2676-2018832664B1}"/>
              </a:ext>
            </a:extLst>
          </p:cNvPr>
          <p:cNvPicPr>
            <a:picLocks noChangeAspect="1"/>
          </p:cNvPicPr>
          <p:nvPr/>
        </p:nvPicPr>
        <p:blipFill>
          <a:blip r:embed="rId2"/>
          <a:stretch>
            <a:fillRect/>
          </a:stretch>
        </p:blipFill>
        <p:spPr>
          <a:xfrm>
            <a:off x="1426028" y="440870"/>
            <a:ext cx="8171543" cy="6128657"/>
          </a:xfrm>
          <a:prstGeom prst="rect">
            <a:avLst/>
          </a:prstGeom>
        </p:spPr>
      </p:pic>
    </p:spTree>
    <p:extLst>
      <p:ext uri="{BB962C8B-B14F-4D97-AF65-F5344CB8AC3E}">
        <p14:creationId xmlns:p14="http://schemas.microsoft.com/office/powerpoint/2010/main" val="32640200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15D6403-34EB-AE06-B254-34960F9EBBF1}"/>
              </a:ext>
            </a:extLst>
          </p:cNvPr>
          <p:cNvPicPr>
            <a:picLocks noChangeAspect="1"/>
          </p:cNvPicPr>
          <p:nvPr/>
        </p:nvPicPr>
        <p:blipFill>
          <a:blip r:embed="rId2"/>
          <a:stretch>
            <a:fillRect/>
          </a:stretch>
        </p:blipFill>
        <p:spPr>
          <a:xfrm>
            <a:off x="0" y="-87085"/>
            <a:ext cx="6417557" cy="5045528"/>
          </a:xfrm>
          <a:prstGeom prst="rect">
            <a:avLst/>
          </a:prstGeom>
        </p:spPr>
      </p:pic>
      <p:pic>
        <p:nvPicPr>
          <p:cNvPr id="3" name="Picture 2">
            <a:extLst>
              <a:ext uri="{FF2B5EF4-FFF2-40B4-BE49-F238E27FC236}">
                <a16:creationId xmlns:a16="http://schemas.microsoft.com/office/drawing/2014/main" id="{558B9380-1E01-6227-10BA-9F844D781AFD}"/>
              </a:ext>
            </a:extLst>
          </p:cNvPr>
          <p:cNvPicPr>
            <a:picLocks noChangeAspect="1"/>
          </p:cNvPicPr>
          <p:nvPr/>
        </p:nvPicPr>
        <p:blipFill>
          <a:blip r:embed="rId3"/>
          <a:stretch>
            <a:fillRect/>
          </a:stretch>
        </p:blipFill>
        <p:spPr>
          <a:xfrm>
            <a:off x="5683043" y="2220380"/>
            <a:ext cx="5665314" cy="4501548"/>
          </a:xfrm>
          <a:prstGeom prst="rect">
            <a:avLst/>
          </a:prstGeom>
        </p:spPr>
      </p:pic>
    </p:spTree>
    <p:extLst>
      <p:ext uri="{BB962C8B-B14F-4D97-AF65-F5344CB8AC3E}">
        <p14:creationId xmlns:p14="http://schemas.microsoft.com/office/powerpoint/2010/main" val="25115241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B01CF1-662F-BCE1-94D4-73AC5F4EBA01}"/>
              </a:ext>
            </a:extLst>
          </p:cNvPr>
          <p:cNvPicPr>
            <a:picLocks noChangeAspect="1"/>
          </p:cNvPicPr>
          <p:nvPr/>
        </p:nvPicPr>
        <p:blipFill>
          <a:blip r:embed="rId2"/>
          <a:stretch>
            <a:fillRect/>
          </a:stretch>
        </p:blipFill>
        <p:spPr>
          <a:xfrm>
            <a:off x="237379" y="65315"/>
            <a:ext cx="6147907" cy="6858000"/>
          </a:xfrm>
          <a:prstGeom prst="rect">
            <a:avLst/>
          </a:prstGeom>
        </p:spPr>
      </p:pic>
      <p:pic>
        <p:nvPicPr>
          <p:cNvPr id="3" name="Picture 2">
            <a:extLst>
              <a:ext uri="{FF2B5EF4-FFF2-40B4-BE49-F238E27FC236}">
                <a16:creationId xmlns:a16="http://schemas.microsoft.com/office/drawing/2014/main" id="{CA7AB1FC-0786-688A-EEB7-B7B55F7BF8AA}"/>
              </a:ext>
            </a:extLst>
          </p:cNvPr>
          <p:cNvPicPr>
            <a:picLocks noChangeAspect="1"/>
          </p:cNvPicPr>
          <p:nvPr/>
        </p:nvPicPr>
        <p:blipFill>
          <a:blip r:embed="rId3"/>
          <a:stretch>
            <a:fillRect/>
          </a:stretch>
        </p:blipFill>
        <p:spPr>
          <a:xfrm>
            <a:off x="6044093" y="65315"/>
            <a:ext cx="6147907" cy="6858000"/>
          </a:xfrm>
          <a:prstGeom prst="rect">
            <a:avLst/>
          </a:prstGeom>
        </p:spPr>
      </p:pic>
    </p:spTree>
    <p:extLst>
      <p:ext uri="{BB962C8B-B14F-4D97-AF65-F5344CB8AC3E}">
        <p14:creationId xmlns:p14="http://schemas.microsoft.com/office/powerpoint/2010/main" val="102787166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4B451BD-8376-69A2-463E-BEE07F5738F3}"/>
              </a:ext>
            </a:extLst>
          </p:cNvPr>
          <p:cNvSpPr txBox="1"/>
          <p:nvPr/>
        </p:nvSpPr>
        <p:spPr>
          <a:xfrm>
            <a:off x="397329" y="647700"/>
            <a:ext cx="4327071" cy="369332"/>
          </a:xfrm>
          <a:prstGeom prst="rect">
            <a:avLst/>
          </a:prstGeom>
          <a:noFill/>
        </p:spPr>
        <p:txBody>
          <a:bodyPr wrap="square" rtlCol="0">
            <a:spAutoFit/>
          </a:bodyPr>
          <a:lstStyle/>
          <a:p>
            <a:r>
              <a:rPr lang="en-CH" dirty="0" err="1"/>
              <a:t>IMTrackSignals</a:t>
            </a:r>
            <a:endParaRPr lang="en-CH" dirty="0"/>
          </a:p>
        </p:txBody>
      </p:sp>
      <p:pic>
        <p:nvPicPr>
          <p:cNvPr id="4" name="Picture 3">
            <a:extLst>
              <a:ext uri="{FF2B5EF4-FFF2-40B4-BE49-F238E27FC236}">
                <a16:creationId xmlns:a16="http://schemas.microsoft.com/office/drawing/2014/main" id="{FF1CC830-8C46-286F-00D4-E39897892EFB}"/>
              </a:ext>
            </a:extLst>
          </p:cNvPr>
          <p:cNvPicPr>
            <a:picLocks noChangeAspect="1"/>
          </p:cNvPicPr>
          <p:nvPr/>
        </p:nvPicPr>
        <p:blipFill>
          <a:blip r:embed="rId2"/>
          <a:stretch>
            <a:fillRect/>
          </a:stretch>
        </p:blipFill>
        <p:spPr>
          <a:xfrm>
            <a:off x="109257" y="1409699"/>
            <a:ext cx="6028244" cy="4631871"/>
          </a:xfrm>
          <a:prstGeom prst="rect">
            <a:avLst/>
          </a:prstGeom>
        </p:spPr>
      </p:pic>
      <p:pic>
        <p:nvPicPr>
          <p:cNvPr id="5" name="Picture 4">
            <a:extLst>
              <a:ext uri="{FF2B5EF4-FFF2-40B4-BE49-F238E27FC236}">
                <a16:creationId xmlns:a16="http://schemas.microsoft.com/office/drawing/2014/main" id="{93FE2F01-1CBE-989E-87CE-572B5524D794}"/>
              </a:ext>
            </a:extLst>
          </p:cNvPr>
          <p:cNvPicPr>
            <a:picLocks noChangeAspect="1"/>
          </p:cNvPicPr>
          <p:nvPr/>
        </p:nvPicPr>
        <p:blipFill>
          <a:blip r:embed="rId3"/>
          <a:stretch>
            <a:fillRect/>
          </a:stretch>
        </p:blipFill>
        <p:spPr>
          <a:xfrm>
            <a:off x="5723636" y="647700"/>
            <a:ext cx="6978974" cy="5562600"/>
          </a:xfrm>
          <a:prstGeom prst="rect">
            <a:avLst/>
          </a:prstGeom>
        </p:spPr>
      </p:pic>
    </p:spTree>
    <p:extLst>
      <p:ext uri="{BB962C8B-B14F-4D97-AF65-F5344CB8AC3E}">
        <p14:creationId xmlns:p14="http://schemas.microsoft.com/office/powerpoint/2010/main" val="328943012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497844E-5751-69CB-9169-78BE553A1E1F}"/>
              </a:ext>
            </a:extLst>
          </p:cNvPr>
          <p:cNvPicPr>
            <a:picLocks noChangeAspect="1"/>
          </p:cNvPicPr>
          <p:nvPr/>
        </p:nvPicPr>
        <p:blipFill>
          <a:blip r:embed="rId2"/>
          <a:stretch>
            <a:fillRect/>
          </a:stretch>
        </p:blipFill>
        <p:spPr>
          <a:xfrm>
            <a:off x="-200527" y="1036320"/>
            <a:ext cx="6371172" cy="5247805"/>
          </a:xfrm>
          <a:prstGeom prst="rect">
            <a:avLst/>
          </a:prstGeom>
        </p:spPr>
      </p:pic>
      <p:pic>
        <p:nvPicPr>
          <p:cNvPr id="3" name="Picture 2">
            <a:extLst>
              <a:ext uri="{FF2B5EF4-FFF2-40B4-BE49-F238E27FC236}">
                <a16:creationId xmlns:a16="http://schemas.microsoft.com/office/drawing/2014/main" id="{6EB0963B-5EC4-58BB-166F-42C4B42F3751}"/>
              </a:ext>
            </a:extLst>
          </p:cNvPr>
          <p:cNvPicPr>
            <a:picLocks noChangeAspect="1"/>
          </p:cNvPicPr>
          <p:nvPr/>
        </p:nvPicPr>
        <p:blipFill>
          <a:blip r:embed="rId3"/>
          <a:stretch>
            <a:fillRect/>
          </a:stretch>
        </p:blipFill>
        <p:spPr>
          <a:xfrm>
            <a:off x="5897305" y="1036320"/>
            <a:ext cx="5872301" cy="5164677"/>
          </a:xfrm>
          <a:prstGeom prst="rect">
            <a:avLst/>
          </a:prstGeom>
        </p:spPr>
      </p:pic>
    </p:spTree>
    <p:extLst>
      <p:ext uri="{BB962C8B-B14F-4D97-AF65-F5344CB8AC3E}">
        <p14:creationId xmlns:p14="http://schemas.microsoft.com/office/powerpoint/2010/main" val="381300602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3C8A63E-C69F-28A6-F9E9-6FC4A84B1EE1}"/>
              </a:ext>
            </a:extLst>
          </p:cNvPr>
          <p:cNvPicPr>
            <a:picLocks noChangeAspect="1"/>
          </p:cNvPicPr>
          <p:nvPr/>
        </p:nvPicPr>
        <p:blipFill>
          <a:blip r:embed="rId2"/>
          <a:stretch>
            <a:fillRect/>
          </a:stretch>
        </p:blipFill>
        <p:spPr>
          <a:xfrm>
            <a:off x="1626181" y="0"/>
            <a:ext cx="8939638" cy="6858000"/>
          </a:xfrm>
          <a:prstGeom prst="rect">
            <a:avLst/>
          </a:prstGeom>
        </p:spPr>
      </p:pic>
    </p:spTree>
    <p:extLst>
      <p:ext uri="{BB962C8B-B14F-4D97-AF65-F5344CB8AC3E}">
        <p14:creationId xmlns:p14="http://schemas.microsoft.com/office/powerpoint/2010/main" val="375202795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1229CBC-EC93-6A45-AF69-0679A7E59A93}"/>
              </a:ext>
            </a:extLst>
          </p:cNvPr>
          <p:cNvSpPr txBox="1"/>
          <p:nvPr/>
        </p:nvSpPr>
        <p:spPr>
          <a:xfrm>
            <a:off x="81643" y="201386"/>
            <a:ext cx="1640877" cy="646331"/>
          </a:xfrm>
          <a:prstGeom prst="rect">
            <a:avLst/>
          </a:prstGeom>
          <a:noFill/>
        </p:spPr>
        <p:txBody>
          <a:bodyPr wrap="square" rtlCol="0">
            <a:spAutoFit/>
          </a:bodyPr>
          <a:lstStyle/>
          <a:p>
            <a:r>
              <a:rPr lang="en-CH" dirty="0"/>
              <a:t>Sequential presentation</a:t>
            </a:r>
          </a:p>
        </p:txBody>
      </p:sp>
      <p:pic>
        <p:nvPicPr>
          <p:cNvPr id="5" name="Picture 4">
            <a:extLst>
              <a:ext uri="{FF2B5EF4-FFF2-40B4-BE49-F238E27FC236}">
                <a16:creationId xmlns:a16="http://schemas.microsoft.com/office/drawing/2014/main" id="{2EC3CB25-08C4-53CB-90CB-A075F8399190}"/>
              </a:ext>
            </a:extLst>
          </p:cNvPr>
          <p:cNvPicPr>
            <a:picLocks noChangeAspect="1"/>
          </p:cNvPicPr>
          <p:nvPr/>
        </p:nvPicPr>
        <p:blipFill>
          <a:blip r:embed="rId2"/>
          <a:stretch>
            <a:fillRect/>
          </a:stretch>
        </p:blipFill>
        <p:spPr>
          <a:xfrm>
            <a:off x="5347103" y="847717"/>
            <a:ext cx="6893883" cy="5595256"/>
          </a:xfrm>
          <a:prstGeom prst="rect">
            <a:avLst/>
          </a:prstGeom>
        </p:spPr>
      </p:pic>
      <p:pic>
        <p:nvPicPr>
          <p:cNvPr id="7" name="Picture 6">
            <a:extLst>
              <a:ext uri="{FF2B5EF4-FFF2-40B4-BE49-F238E27FC236}">
                <a16:creationId xmlns:a16="http://schemas.microsoft.com/office/drawing/2014/main" id="{42EB7E8F-9FDF-BADD-508A-E877F6489EC4}"/>
              </a:ext>
            </a:extLst>
          </p:cNvPr>
          <p:cNvPicPr>
            <a:picLocks noChangeAspect="1"/>
          </p:cNvPicPr>
          <p:nvPr/>
        </p:nvPicPr>
        <p:blipFill>
          <a:blip r:embed="rId3"/>
          <a:stretch>
            <a:fillRect/>
          </a:stretch>
        </p:blipFill>
        <p:spPr>
          <a:xfrm>
            <a:off x="-70287" y="838200"/>
            <a:ext cx="5850601" cy="5342523"/>
          </a:xfrm>
          <a:prstGeom prst="rect">
            <a:avLst/>
          </a:prstGeom>
        </p:spPr>
      </p:pic>
    </p:spTree>
    <p:extLst>
      <p:ext uri="{BB962C8B-B14F-4D97-AF65-F5344CB8AC3E}">
        <p14:creationId xmlns:p14="http://schemas.microsoft.com/office/powerpoint/2010/main" val="424048325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C25B00A-B6F8-94DA-90A5-BC461C306F45}"/>
              </a:ext>
            </a:extLst>
          </p:cNvPr>
          <p:cNvPicPr>
            <a:picLocks noChangeAspect="1"/>
          </p:cNvPicPr>
          <p:nvPr/>
        </p:nvPicPr>
        <p:blipFill>
          <a:blip r:embed="rId2"/>
          <a:stretch>
            <a:fillRect/>
          </a:stretch>
        </p:blipFill>
        <p:spPr>
          <a:xfrm>
            <a:off x="1503734" y="0"/>
            <a:ext cx="9184532" cy="6858000"/>
          </a:xfrm>
          <a:prstGeom prst="rect">
            <a:avLst/>
          </a:prstGeom>
        </p:spPr>
      </p:pic>
    </p:spTree>
    <p:extLst>
      <p:ext uri="{BB962C8B-B14F-4D97-AF65-F5344CB8AC3E}">
        <p14:creationId xmlns:p14="http://schemas.microsoft.com/office/powerpoint/2010/main" val="400084932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67C9704-1CE2-2D2D-A69C-3A6A6BEBCA97}"/>
              </a:ext>
            </a:extLst>
          </p:cNvPr>
          <p:cNvPicPr>
            <a:picLocks noChangeAspect="1"/>
          </p:cNvPicPr>
          <p:nvPr/>
        </p:nvPicPr>
        <p:blipFill>
          <a:blip r:embed="rId2"/>
          <a:stretch>
            <a:fillRect/>
          </a:stretch>
        </p:blipFill>
        <p:spPr>
          <a:xfrm>
            <a:off x="1481971" y="373138"/>
            <a:ext cx="10710029" cy="5875641"/>
          </a:xfrm>
          <a:prstGeom prst="rect">
            <a:avLst/>
          </a:prstGeom>
        </p:spPr>
      </p:pic>
      <p:pic>
        <p:nvPicPr>
          <p:cNvPr id="3" name="Picture 2">
            <a:extLst>
              <a:ext uri="{FF2B5EF4-FFF2-40B4-BE49-F238E27FC236}">
                <a16:creationId xmlns:a16="http://schemas.microsoft.com/office/drawing/2014/main" id="{EF4C17FF-6490-D830-5B48-9F51F6C96C71}"/>
              </a:ext>
            </a:extLst>
          </p:cNvPr>
          <p:cNvPicPr>
            <a:picLocks noChangeAspect="1"/>
          </p:cNvPicPr>
          <p:nvPr/>
        </p:nvPicPr>
        <p:blipFill>
          <a:blip r:embed="rId3"/>
          <a:stretch>
            <a:fillRect/>
          </a:stretch>
        </p:blipFill>
        <p:spPr>
          <a:xfrm>
            <a:off x="1578399" y="288470"/>
            <a:ext cx="9131630" cy="6531429"/>
          </a:xfrm>
          <a:prstGeom prst="rect">
            <a:avLst/>
          </a:prstGeom>
        </p:spPr>
      </p:pic>
      <p:sp>
        <p:nvSpPr>
          <p:cNvPr id="4" name="TextBox 3">
            <a:extLst>
              <a:ext uri="{FF2B5EF4-FFF2-40B4-BE49-F238E27FC236}">
                <a16:creationId xmlns:a16="http://schemas.microsoft.com/office/drawing/2014/main" id="{54E67F15-5B5F-0C7C-21A1-3FC75EB5D051}"/>
              </a:ext>
            </a:extLst>
          </p:cNvPr>
          <p:cNvSpPr txBox="1"/>
          <p:nvPr/>
        </p:nvSpPr>
        <p:spPr>
          <a:xfrm>
            <a:off x="299358" y="751114"/>
            <a:ext cx="1779814" cy="2031325"/>
          </a:xfrm>
          <a:prstGeom prst="rect">
            <a:avLst/>
          </a:prstGeom>
          <a:noFill/>
        </p:spPr>
        <p:txBody>
          <a:bodyPr wrap="square" rtlCol="0">
            <a:spAutoFit/>
          </a:bodyPr>
          <a:lstStyle/>
          <a:p>
            <a:r>
              <a:rPr lang="en-CH" dirty="0"/>
              <a:t>Underlying figure: Before placing </a:t>
            </a:r>
            <a:r>
              <a:rPr lang="en-CH" dirty="0" err="1"/>
              <a:t>IndDiff</a:t>
            </a:r>
            <a:r>
              <a:rPr lang="en-CH" dirty="0"/>
              <a:t> after mechanism implementation; overlaid figure: after ...</a:t>
            </a:r>
          </a:p>
        </p:txBody>
      </p:sp>
    </p:spTree>
    <p:extLst>
      <p:ext uri="{BB962C8B-B14F-4D97-AF65-F5344CB8AC3E}">
        <p14:creationId xmlns:p14="http://schemas.microsoft.com/office/powerpoint/2010/main" val="144859403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70C17B9-09D8-0B08-5212-7A57D30B9072}"/>
              </a:ext>
            </a:extLst>
          </p:cNvPr>
          <p:cNvPicPr>
            <a:picLocks noChangeAspect="1"/>
          </p:cNvPicPr>
          <p:nvPr/>
        </p:nvPicPr>
        <p:blipFill>
          <a:blip r:embed="rId2"/>
          <a:stretch>
            <a:fillRect/>
          </a:stretch>
        </p:blipFill>
        <p:spPr>
          <a:xfrm>
            <a:off x="838200" y="544512"/>
            <a:ext cx="11353800" cy="6228821"/>
          </a:xfrm>
          <a:prstGeom prst="rect">
            <a:avLst/>
          </a:prstGeom>
        </p:spPr>
      </p:pic>
      <p:pic>
        <p:nvPicPr>
          <p:cNvPr id="3" name="Picture 2">
            <a:extLst>
              <a:ext uri="{FF2B5EF4-FFF2-40B4-BE49-F238E27FC236}">
                <a16:creationId xmlns:a16="http://schemas.microsoft.com/office/drawing/2014/main" id="{9E0B2617-305C-3E74-78AF-6AC12F16EFBC}"/>
              </a:ext>
            </a:extLst>
          </p:cNvPr>
          <p:cNvPicPr>
            <a:picLocks noChangeAspect="1"/>
          </p:cNvPicPr>
          <p:nvPr/>
        </p:nvPicPr>
        <p:blipFill>
          <a:blip r:embed="rId3"/>
          <a:stretch>
            <a:fillRect/>
          </a:stretch>
        </p:blipFill>
        <p:spPr>
          <a:xfrm>
            <a:off x="1287751" y="84667"/>
            <a:ext cx="9616497" cy="6858000"/>
          </a:xfrm>
          <a:prstGeom prst="rect">
            <a:avLst/>
          </a:prstGeom>
        </p:spPr>
      </p:pic>
    </p:spTree>
    <p:extLst>
      <p:ext uri="{BB962C8B-B14F-4D97-AF65-F5344CB8AC3E}">
        <p14:creationId xmlns:p14="http://schemas.microsoft.com/office/powerpoint/2010/main" val="261359568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696B95-2DE0-4E7E-24E3-813CAC86ADDA}"/>
              </a:ext>
            </a:extLst>
          </p:cNvPr>
          <p:cNvPicPr>
            <a:picLocks noChangeAspect="1"/>
          </p:cNvPicPr>
          <p:nvPr/>
        </p:nvPicPr>
        <p:blipFill>
          <a:blip r:embed="rId2"/>
          <a:stretch>
            <a:fillRect/>
          </a:stretch>
        </p:blipFill>
        <p:spPr>
          <a:xfrm>
            <a:off x="3990081" y="-38100"/>
            <a:ext cx="6965923" cy="6858000"/>
          </a:xfrm>
          <a:prstGeom prst="rect">
            <a:avLst/>
          </a:prstGeom>
        </p:spPr>
      </p:pic>
      <p:sp>
        <p:nvSpPr>
          <p:cNvPr id="3" name="TextBox 2">
            <a:extLst>
              <a:ext uri="{FF2B5EF4-FFF2-40B4-BE49-F238E27FC236}">
                <a16:creationId xmlns:a16="http://schemas.microsoft.com/office/drawing/2014/main" id="{DAAE7E75-12BD-BBCB-CFD7-ADF15A59B045}"/>
              </a:ext>
            </a:extLst>
          </p:cNvPr>
          <p:cNvSpPr txBox="1"/>
          <p:nvPr/>
        </p:nvSpPr>
        <p:spPr>
          <a:xfrm>
            <a:off x="386444" y="805543"/>
            <a:ext cx="3603638" cy="4801314"/>
          </a:xfrm>
          <a:prstGeom prst="rect">
            <a:avLst/>
          </a:prstGeom>
          <a:noFill/>
        </p:spPr>
        <p:txBody>
          <a:bodyPr wrap="square" rtlCol="0">
            <a:spAutoFit/>
          </a:bodyPr>
          <a:lstStyle/>
          <a:p>
            <a:r>
              <a:rPr lang="en-CH" dirty="0"/>
              <a:t>After increasing boundary(1) to 70: There is still a headstart benefit – what causes it? Performance without mechanism became poorer by the raised boundary?!</a:t>
            </a:r>
          </a:p>
          <a:p>
            <a:r>
              <a:rPr lang="en-CH" dirty="0"/>
              <a:t>Why is adding visual interference beneficial with valid cue rather than harmful with neutral cue?</a:t>
            </a:r>
          </a:p>
          <a:p>
            <a:endParaRPr lang="en-CH" dirty="0"/>
          </a:p>
          <a:p>
            <a:r>
              <a:rPr lang="en-CH" dirty="0"/>
              <a:t>The headstart benefit might come from the fact that with CSI&gt;0, retrieval occurs before the test display. Even when filter = 0 (no </a:t>
            </a:r>
            <a:r>
              <a:rPr lang="en-CH" dirty="0" err="1"/>
              <a:t>colorwheel</a:t>
            </a:r>
            <a:r>
              <a:rPr lang="en-CH" dirty="0"/>
              <a:t> intrusion), the FX is erased at this point (completely because </a:t>
            </a:r>
            <a:r>
              <a:rPr lang="en-CH" dirty="0" err="1"/>
              <a:t>P.eraseFX</a:t>
            </a:r>
            <a:r>
              <a:rPr lang="en-CH" dirty="0"/>
              <a:t> = 0), so retrieval with CSI=0 does not benefit from FX</a:t>
            </a:r>
          </a:p>
        </p:txBody>
      </p:sp>
    </p:spTree>
    <p:extLst>
      <p:ext uri="{BB962C8B-B14F-4D97-AF65-F5344CB8AC3E}">
        <p14:creationId xmlns:p14="http://schemas.microsoft.com/office/powerpoint/2010/main" val="285703058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D657259-5F7F-6D1C-ABC3-DFCB2B2878E4}"/>
              </a:ext>
            </a:extLst>
          </p:cNvPr>
          <p:cNvPicPr>
            <a:picLocks noChangeAspect="1"/>
          </p:cNvPicPr>
          <p:nvPr/>
        </p:nvPicPr>
        <p:blipFill>
          <a:blip r:embed="rId2"/>
          <a:stretch>
            <a:fillRect/>
          </a:stretch>
        </p:blipFill>
        <p:spPr>
          <a:xfrm>
            <a:off x="264014" y="1017813"/>
            <a:ext cx="6169701" cy="4849587"/>
          </a:xfrm>
          <a:prstGeom prst="rect">
            <a:avLst/>
          </a:prstGeom>
        </p:spPr>
      </p:pic>
      <p:sp>
        <p:nvSpPr>
          <p:cNvPr id="3" name="TextBox 2">
            <a:extLst>
              <a:ext uri="{FF2B5EF4-FFF2-40B4-BE49-F238E27FC236}">
                <a16:creationId xmlns:a16="http://schemas.microsoft.com/office/drawing/2014/main" id="{FC3372CF-71FA-E64D-BD92-AB7CBF39A9AF}"/>
              </a:ext>
            </a:extLst>
          </p:cNvPr>
          <p:cNvSpPr txBox="1"/>
          <p:nvPr/>
        </p:nvSpPr>
        <p:spPr>
          <a:xfrm>
            <a:off x="468086" y="359229"/>
            <a:ext cx="10858499" cy="369332"/>
          </a:xfrm>
          <a:prstGeom prst="rect">
            <a:avLst/>
          </a:prstGeom>
          <a:noFill/>
        </p:spPr>
        <p:txBody>
          <a:bodyPr wrap="square" rtlCol="0">
            <a:spAutoFit/>
          </a:bodyPr>
          <a:lstStyle/>
          <a:p>
            <a:r>
              <a:rPr lang="en-CH" dirty="0"/>
              <a:t>After fixing that issue by erasing FX in the conditions with other mechanisms (and using boundary = 30)</a:t>
            </a:r>
          </a:p>
        </p:txBody>
      </p:sp>
      <p:pic>
        <p:nvPicPr>
          <p:cNvPr id="4" name="Picture 3">
            <a:extLst>
              <a:ext uri="{FF2B5EF4-FFF2-40B4-BE49-F238E27FC236}">
                <a16:creationId xmlns:a16="http://schemas.microsoft.com/office/drawing/2014/main" id="{87057586-964B-A93D-F678-08ED740BB72C}"/>
              </a:ext>
            </a:extLst>
          </p:cNvPr>
          <p:cNvPicPr>
            <a:picLocks noChangeAspect="1"/>
          </p:cNvPicPr>
          <p:nvPr/>
        </p:nvPicPr>
        <p:blipFill>
          <a:blip r:embed="rId3"/>
          <a:stretch>
            <a:fillRect/>
          </a:stretch>
        </p:blipFill>
        <p:spPr>
          <a:xfrm>
            <a:off x="5813883" y="1694196"/>
            <a:ext cx="6256839" cy="4924318"/>
          </a:xfrm>
          <a:prstGeom prst="rect">
            <a:avLst/>
          </a:prstGeom>
        </p:spPr>
      </p:pic>
    </p:spTree>
    <p:extLst>
      <p:ext uri="{BB962C8B-B14F-4D97-AF65-F5344CB8AC3E}">
        <p14:creationId xmlns:p14="http://schemas.microsoft.com/office/powerpoint/2010/main" val="196246385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105DCD6-B32D-FF73-D0E4-5D675A1FD28D}"/>
              </a:ext>
            </a:extLst>
          </p:cNvPr>
          <p:cNvPicPr>
            <a:picLocks noChangeAspect="1"/>
          </p:cNvPicPr>
          <p:nvPr/>
        </p:nvPicPr>
        <p:blipFill>
          <a:blip r:embed="rId2"/>
          <a:stretch>
            <a:fillRect/>
          </a:stretch>
        </p:blipFill>
        <p:spPr>
          <a:xfrm>
            <a:off x="1393119" y="324654"/>
            <a:ext cx="8485667" cy="6208691"/>
          </a:xfrm>
          <a:prstGeom prst="rect">
            <a:avLst/>
          </a:prstGeom>
        </p:spPr>
      </p:pic>
    </p:spTree>
    <p:extLst>
      <p:ext uri="{BB962C8B-B14F-4D97-AF65-F5344CB8AC3E}">
        <p14:creationId xmlns:p14="http://schemas.microsoft.com/office/powerpoint/2010/main" val="85503560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E66AF04-066B-9B81-1C72-B35B53E383B4}"/>
              </a:ext>
            </a:extLst>
          </p:cNvPr>
          <p:cNvPicPr>
            <a:picLocks noChangeAspect="1"/>
          </p:cNvPicPr>
          <p:nvPr/>
        </p:nvPicPr>
        <p:blipFill>
          <a:blip r:embed="rId2"/>
          <a:stretch>
            <a:fillRect/>
          </a:stretch>
        </p:blipFill>
        <p:spPr>
          <a:xfrm>
            <a:off x="239950" y="130628"/>
            <a:ext cx="6270138" cy="4474029"/>
          </a:xfrm>
          <a:prstGeom prst="rect">
            <a:avLst/>
          </a:prstGeom>
        </p:spPr>
      </p:pic>
      <p:pic>
        <p:nvPicPr>
          <p:cNvPr id="3" name="Picture 2">
            <a:extLst>
              <a:ext uri="{FF2B5EF4-FFF2-40B4-BE49-F238E27FC236}">
                <a16:creationId xmlns:a16="http://schemas.microsoft.com/office/drawing/2014/main" id="{4875F455-8587-B2D4-07EF-EF0FAE492BE3}"/>
              </a:ext>
            </a:extLst>
          </p:cNvPr>
          <p:cNvPicPr>
            <a:picLocks noChangeAspect="1"/>
          </p:cNvPicPr>
          <p:nvPr/>
        </p:nvPicPr>
        <p:blipFill>
          <a:blip r:embed="rId3"/>
          <a:stretch>
            <a:fillRect/>
          </a:stretch>
        </p:blipFill>
        <p:spPr>
          <a:xfrm>
            <a:off x="6259286" y="1751239"/>
            <a:ext cx="6030686" cy="4523015"/>
          </a:xfrm>
          <a:prstGeom prst="rect">
            <a:avLst/>
          </a:prstGeom>
        </p:spPr>
      </p:pic>
      <p:sp>
        <p:nvSpPr>
          <p:cNvPr id="4" name="TextBox 3">
            <a:extLst>
              <a:ext uri="{FF2B5EF4-FFF2-40B4-BE49-F238E27FC236}">
                <a16:creationId xmlns:a16="http://schemas.microsoft.com/office/drawing/2014/main" id="{BCFC8C8F-D115-0CFB-9FE5-D08905A5E76B}"/>
              </a:ext>
            </a:extLst>
          </p:cNvPr>
          <p:cNvSpPr txBox="1"/>
          <p:nvPr/>
        </p:nvSpPr>
        <p:spPr>
          <a:xfrm>
            <a:off x="7010400" y="707571"/>
            <a:ext cx="1911805" cy="369332"/>
          </a:xfrm>
          <a:prstGeom prst="rect">
            <a:avLst/>
          </a:prstGeom>
          <a:noFill/>
        </p:spPr>
        <p:txBody>
          <a:bodyPr wrap="none" rtlCol="0">
            <a:spAutoFit/>
          </a:bodyPr>
          <a:lstStyle/>
          <a:p>
            <a:r>
              <a:rPr lang="en-CH" dirty="0"/>
              <a:t>With filter(2) = 0.1</a:t>
            </a:r>
          </a:p>
        </p:txBody>
      </p:sp>
    </p:spTree>
    <p:extLst>
      <p:ext uri="{BB962C8B-B14F-4D97-AF65-F5344CB8AC3E}">
        <p14:creationId xmlns:p14="http://schemas.microsoft.com/office/powerpoint/2010/main" val="70254123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6FCC869-7388-8D1D-64E1-2D22CD741CD9}"/>
              </a:ext>
            </a:extLst>
          </p:cNvPr>
          <p:cNvPicPr>
            <a:picLocks noChangeAspect="1"/>
          </p:cNvPicPr>
          <p:nvPr/>
        </p:nvPicPr>
        <p:blipFill>
          <a:blip r:embed="rId2"/>
          <a:stretch>
            <a:fillRect/>
          </a:stretch>
        </p:blipFill>
        <p:spPr>
          <a:xfrm>
            <a:off x="365234" y="239486"/>
            <a:ext cx="9145001" cy="6215743"/>
          </a:xfrm>
          <a:prstGeom prst="rect">
            <a:avLst/>
          </a:prstGeom>
        </p:spPr>
      </p:pic>
    </p:spTree>
    <p:extLst>
      <p:ext uri="{BB962C8B-B14F-4D97-AF65-F5344CB8AC3E}">
        <p14:creationId xmlns:p14="http://schemas.microsoft.com/office/powerpoint/2010/main" val="255857720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0EEB47F-DB6E-5E0C-E4E4-352A23F09DC3}"/>
              </a:ext>
            </a:extLst>
          </p:cNvPr>
          <p:cNvPicPr>
            <a:picLocks noChangeAspect="1"/>
          </p:cNvPicPr>
          <p:nvPr/>
        </p:nvPicPr>
        <p:blipFill>
          <a:blip r:embed="rId2"/>
          <a:stretch>
            <a:fillRect/>
          </a:stretch>
        </p:blipFill>
        <p:spPr>
          <a:xfrm>
            <a:off x="466371" y="152400"/>
            <a:ext cx="5047244" cy="4198733"/>
          </a:xfrm>
          <a:prstGeom prst="rect">
            <a:avLst/>
          </a:prstGeom>
        </p:spPr>
      </p:pic>
      <p:sp>
        <p:nvSpPr>
          <p:cNvPr id="3" name="TextBox 2">
            <a:extLst>
              <a:ext uri="{FF2B5EF4-FFF2-40B4-BE49-F238E27FC236}">
                <a16:creationId xmlns:a16="http://schemas.microsoft.com/office/drawing/2014/main" id="{DA53AF96-D2CC-6E8D-79BF-307AFEC14F28}"/>
              </a:ext>
            </a:extLst>
          </p:cNvPr>
          <p:cNvSpPr txBox="1"/>
          <p:nvPr/>
        </p:nvSpPr>
        <p:spPr>
          <a:xfrm>
            <a:off x="7010401" y="707571"/>
            <a:ext cx="4620986" cy="646331"/>
          </a:xfrm>
          <a:prstGeom prst="rect">
            <a:avLst/>
          </a:prstGeom>
          <a:noFill/>
        </p:spPr>
        <p:txBody>
          <a:bodyPr wrap="square" rtlCol="0">
            <a:spAutoFit/>
          </a:bodyPr>
          <a:lstStyle/>
          <a:p>
            <a:r>
              <a:rPr lang="en-CH" dirty="0"/>
              <a:t>With filter(2) = 0.1 and </a:t>
            </a:r>
            <a:r>
              <a:rPr lang="en-CH" dirty="0" err="1"/>
              <a:t>dnoise</a:t>
            </a:r>
            <a:r>
              <a:rPr lang="en-CH" dirty="0"/>
              <a:t> increased (from 1.5) to 3</a:t>
            </a:r>
          </a:p>
        </p:txBody>
      </p:sp>
      <p:pic>
        <p:nvPicPr>
          <p:cNvPr id="4" name="Picture 3">
            <a:extLst>
              <a:ext uri="{FF2B5EF4-FFF2-40B4-BE49-F238E27FC236}">
                <a16:creationId xmlns:a16="http://schemas.microsoft.com/office/drawing/2014/main" id="{EBC6F44B-E9E4-B9A4-B854-1DE8AB303E3F}"/>
              </a:ext>
            </a:extLst>
          </p:cNvPr>
          <p:cNvPicPr>
            <a:picLocks noChangeAspect="1"/>
          </p:cNvPicPr>
          <p:nvPr/>
        </p:nvPicPr>
        <p:blipFill>
          <a:blip r:embed="rId3"/>
          <a:stretch>
            <a:fillRect/>
          </a:stretch>
        </p:blipFill>
        <p:spPr>
          <a:xfrm>
            <a:off x="5558892" y="1605643"/>
            <a:ext cx="6208567" cy="4740727"/>
          </a:xfrm>
          <a:prstGeom prst="rect">
            <a:avLst/>
          </a:prstGeom>
        </p:spPr>
      </p:pic>
    </p:spTree>
    <p:extLst>
      <p:ext uri="{BB962C8B-B14F-4D97-AF65-F5344CB8AC3E}">
        <p14:creationId xmlns:p14="http://schemas.microsoft.com/office/powerpoint/2010/main" val="14443952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6C7593E-EB8F-4ED9-9B88-23EF81B98414}"/>
              </a:ext>
            </a:extLst>
          </p:cNvPr>
          <p:cNvPicPr>
            <a:picLocks noChangeAspect="1"/>
          </p:cNvPicPr>
          <p:nvPr/>
        </p:nvPicPr>
        <p:blipFill>
          <a:blip r:embed="rId2"/>
          <a:stretch>
            <a:fillRect/>
          </a:stretch>
        </p:blipFill>
        <p:spPr>
          <a:xfrm>
            <a:off x="1866900" y="0"/>
            <a:ext cx="8907956" cy="6528387"/>
          </a:xfrm>
          <a:prstGeom prst="rect">
            <a:avLst/>
          </a:prstGeom>
        </p:spPr>
      </p:pic>
      <p:sp>
        <p:nvSpPr>
          <p:cNvPr id="3" name="TextBox 2">
            <a:extLst>
              <a:ext uri="{FF2B5EF4-FFF2-40B4-BE49-F238E27FC236}">
                <a16:creationId xmlns:a16="http://schemas.microsoft.com/office/drawing/2014/main" id="{35942FEC-7B2A-EE61-E3DC-D15884A6551C}"/>
              </a:ext>
            </a:extLst>
          </p:cNvPr>
          <p:cNvSpPr txBox="1"/>
          <p:nvPr/>
        </p:nvSpPr>
        <p:spPr>
          <a:xfrm>
            <a:off x="310243" y="370113"/>
            <a:ext cx="1321196" cy="369332"/>
          </a:xfrm>
          <a:prstGeom prst="rect">
            <a:avLst/>
          </a:prstGeom>
          <a:noFill/>
        </p:spPr>
        <p:txBody>
          <a:bodyPr wrap="none" rtlCol="0">
            <a:spAutoFit/>
          </a:bodyPr>
          <a:lstStyle/>
          <a:p>
            <a:r>
              <a:rPr lang="en-CH" dirty="0" err="1"/>
              <a:t>dnoise</a:t>
            </a:r>
            <a:r>
              <a:rPr lang="en-CH" dirty="0"/>
              <a:t> = 1.5</a:t>
            </a:r>
          </a:p>
        </p:txBody>
      </p:sp>
    </p:spTree>
    <p:extLst>
      <p:ext uri="{BB962C8B-B14F-4D97-AF65-F5344CB8AC3E}">
        <p14:creationId xmlns:p14="http://schemas.microsoft.com/office/powerpoint/2010/main" val="218652281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D03C9E-EDA1-117A-0C52-11DB773A4B89}"/>
              </a:ext>
            </a:extLst>
          </p:cNvPr>
          <p:cNvPicPr>
            <a:picLocks noChangeAspect="1"/>
          </p:cNvPicPr>
          <p:nvPr/>
        </p:nvPicPr>
        <p:blipFill>
          <a:blip r:embed="rId2"/>
          <a:stretch>
            <a:fillRect/>
          </a:stretch>
        </p:blipFill>
        <p:spPr>
          <a:xfrm>
            <a:off x="312991" y="76189"/>
            <a:ext cx="5771734" cy="5519056"/>
          </a:xfrm>
          <a:prstGeom prst="rect">
            <a:avLst/>
          </a:prstGeom>
        </p:spPr>
      </p:pic>
      <p:pic>
        <p:nvPicPr>
          <p:cNvPr id="3" name="Picture 2">
            <a:extLst>
              <a:ext uri="{FF2B5EF4-FFF2-40B4-BE49-F238E27FC236}">
                <a16:creationId xmlns:a16="http://schemas.microsoft.com/office/drawing/2014/main" id="{74F64AD2-C343-1302-64EF-BF9874BBBFDE}"/>
              </a:ext>
            </a:extLst>
          </p:cNvPr>
          <p:cNvPicPr>
            <a:picLocks noChangeAspect="1"/>
          </p:cNvPicPr>
          <p:nvPr/>
        </p:nvPicPr>
        <p:blipFill>
          <a:blip r:embed="rId3"/>
          <a:stretch>
            <a:fillRect/>
          </a:stretch>
        </p:blipFill>
        <p:spPr>
          <a:xfrm>
            <a:off x="5840183" y="21759"/>
            <a:ext cx="6564086" cy="5573486"/>
          </a:xfrm>
          <a:prstGeom prst="rect">
            <a:avLst/>
          </a:prstGeom>
        </p:spPr>
      </p:pic>
      <p:sp>
        <p:nvSpPr>
          <p:cNvPr id="4" name="TextBox 3">
            <a:extLst>
              <a:ext uri="{FF2B5EF4-FFF2-40B4-BE49-F238E27FC236}">
                <a16:creationId xmlns:a16="http://schemas.microsoft.com/office/drawing/2014/main" id="{CE081CA2-D209-C115-EDB4-84842F7BEF0E}"/>
              </a:ext>
            </a:extLst>
          </p:cNvPr>
          <p:cNvSpPr txBox="1"/>
          <p:nvPr/>
        </p:nvSpPr>
        <p:spPr>
          <a:xfrm>
            <a:off x="696685" y="5747658"/>
            <a:ext cx="11217728" cy="923330"/>
          </a:xfrm>
          <a:prstGeom prst="rect">
            <a:avLst/>
          </a:prstGeom>
          <a:noFill/>
        </p:spPr>
        <p:txBody>
          <a:bodyPr wrap="square" rtlCol="0">
            <a:spAutoFit/>
          </a:bodyPr>
          <a:lstStyle/>
          <a:p>
            <a:r>
              <a:rPr lang="en-CH" dirty="0"/>
              <a:t>Why is ABA not better than CBA, but 2 </a:t>
            </a:r>
            <a:r>
              <a:rPr lang="en-CH" dirty="0" err="1"/>
              <a:t>refreshings</a:t>
            </a:r>
            <a:r>
              <a:rPr lang="en-CH" dirty="0"/>
              <a:t> &gt; 1 refreshing? Probably because the 1-refreshing items suffer competition from the 2-refreshing item (they are hardly better than no-cue control when refreshed last, whereas CBA is much better than None)</a:t>
            </a:r>
          </a:p>
        </p:txBody>
      </p:sp>
    </p:spTree>
    <p:extLst>
      <p:ext uri="{BB962C8B-B14F-4D97-AF65-F5344CB8AC3E}">
        <p14:creationId xmlns:p14="http://schemas.microsoft.com/office/powerpoint/2010/main" val="347047564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B2EAA46-D158-43FA-8246-B924D9DE9CDF}"/>
              </a:ext>
            </a:extLst>
          </p:cNvPr>
          <p:cNvPicPr>
            <a:picLocks noChangeAspect="1"/>
          </p:cNvPicPr>
          <p:nvPr/>
        </p:nvPicPr>
        <p:blipFill>
          <a:blip r:embed="rId2"/>
          <a:stretch>
            <a:fillRect/>
          </a:stretch>
        </p:blipFill>
        <p:spPr>
          <a:xfrm>
            <a:off x="2538775" y="669471"/>
            <a:ext cx="8243525" cy="5741389"/>
          </a:xfrm>
          <a:prstGeom prst="rect">
            <a:avLst/>
          </a:prstGeom>
        </p:spPr>
      </p:pic>
      <p:sp>
        <p:nvSpPr>
          <p:cNvPr id="3" name="TextBox 2">
            <a:extLst>
              <a:ext uri="{FF2B5EF4-FFF2-40B4-BE49-F238E27FC236}">
                <a16:creationId xmlns:a16="http://schemas.microsoft.com/office/drawing/2014/main" id="{D5B69404-487B-A201-57A6-FE6E71B40D07}"/>
              </a:ext>
            </a:extLst>
          </p:cNvPr>
          <p:cNvSpPr txBox="1"/>
          <p:nvPr/>
        </p:nvSpPr>
        <p:spPr>
          <a:xfrm>
            <a:off x="310243" y="370113"/>
            <a:ext cx="3080330" cy="369332"/>
          </a:xfrm>
          <a:prstGeom prst="rect">
            <a:avLst/>
          </a:prstGeom>
          <a:noFill/>
        </p:spPr>
        <p:txBody>
          <a:bodyPr wrap="none" rtlCol="0">
            <a:spAutoFit/>
          </a:bodyPr>
          <a:lstStyle/>
          <a:p>
            <a:r>
              <a:rPr lang="en-CH" dirty="0"/>
              <a:t>increasing </a:t>
            </a:r>
            <a:r>
              <a:rPr lang="en-CH" dirty="0" err="1"/>
              <a:t>dnoise</a:t>
            </a:r>
            <a:r>
              <a:rPr lang="en-CH" dirty="0"/>
              <a:t> from 1.5 to 3</a:t>
            </a:r>
          </a:p>
        </p:txBody>
      </p:sp>
    </p:spTree>
    <p:extLst>
      <p:ext uri="{BB962C8B-B14F-4D97-AF65-F5344CB8AC3E}">
        <p14:creationId xmlns:p14="http://schemas.microsoft.com/office/powerpoint/2010/main" val="325149240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DC3E80-ACBD-8A1A-B83B-F5D9D7878C19}"/>
              </a:ext>
            </a:extLst>
          </p:cNvPr>
          <p:cNvPicPr>
            <a:picLocks noChangeAspect="1"/>
          </p:cNvPicPr>
          <p:nvPr/>
        </p:nvPicPr>
        <p:blipFill>
          <a:blip r:embed="rId2"/>
          <a:stretch>
            <a:fillRect/>
          </a:stretch>
        </p:blipFill>
        <p:spPr>
          <a:xfrm>
            <a:off x="0" y="2085245"/>
            <a:ext cx="12192000" cy="2687510"/>
          </a:xfrm>
          <a:prstGeom prst="rect">
            <a:avLst/>
          </a:prstGeom>
        </p:spPr>
      </p:pic>
    </p:spTree>
    <p:extLst>
      <p:ext uri="{BB962C8B-B14F-4D97-AF65-F5344CB8AC3E}">
        <p14:creationId xmlns:p14="http://schemas.microsoft.com/office/powerpoint/2010/main" val="118567401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67206A-6D44-5DCF-F501-5E0191E9B9D9}"/>
              </a:ext>
            </a:extLst>
          </p:cNvPr>
          <p:cNvPicPr>
            <a:picLocks noChangeAspect="1"/>
          </p:cNvPicPr>
          <p:nvPr/>
        </p:nvPicPr>
        <p:blipFill>
          <a:blip r:embed="rId2"/>
          <a:stretch>
            <a:fillRect/>
          </a:stretch>
        </p:blipFill>
        <p:spPr>
          <a:xfrm>
            <a:off x="396339" y="70758"/>
            <a:ext cx="5590804" cy="4597090"/>
          </a:xfrm>
          <a:prstGeom prst="rect">
            <a:avLst/>
          </a:prstGeom>
        </p:spPr>
      </p:pic>
      <p:pic>
        <p:nvPicPr>
          <p:cNvPr id="3" name="Picture 2">
            <a:extLst>
              <a:ext uri="{FF2B5EF4-FFF2-40B4-BE49-F238E27FC236}">
                <a16:creationId xmlns:a16="http://schemas.microsoft.com/office/drawing/2014/main" id="{0FE67298-0DCF-0BA1-8B05-5E267D1CD114}"/>
              </a:ext>
            </a:extLst>
          </p:cNvPr>
          <p:cNvPicPr>
            <a:picLocks noChangeAspect="1"/>
          </p:cNvPicPr>
          <p:nvPr/>
        </p:nvPicPr>
        <p:blipFill>
          <a:blip r:embed="rId3"/>
          <a:stretch>
            <a:fillRect/>
          </a:stretch>
        </p:blipFill>
        <p:spPr>
          <a:xfrm>
            <a:off x="5912534" y="1578228"/>
            <a:ext cx="5740000" cy="4889445"/>
          </a:xfrm>
          <a:prstGeom prst="rect">
            <a:avLst/>
          </a:prstGeom>
        </p:spPr>
      </p:pic>
    </p:spTree>
    <p:extLst>
      <p:ext uri="{BB962C8B-B14F-4D97-AF65-F5344CB8AC3E}">
        <p14:creationId xmlns:p14="http://schemas.microsoft.com/office/powerpoint/2010/main" val="371778843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7430E0-3630-89B1-EBD9-D5490A31FF46}"/>
              </a:ext>
            </a:extLst>
          </p:cNvPr>
          <p:cNvPicPr>
            <a:picLocks noChangeAspect="1"/>
          </p:cNvPicPr>
          <p:nvPr/>
        </p:nvPicPr>
        <p:blipFill>
          <a:blip r:embed="rId2"/>
          <a:stretch>
            <a:fillRect/>
          </a:stretch>
        </p:blipFill>
        <p:spPr>
          <a:xfrm>
            <a:off x="2064202" y="658586"/>
            <a:ext cx="6964786" cy="5225143"/>
          </a:xfrm>
          <a:prstGeom prst="rect">
            <a:avLst/>
          </a:prstGeom>
        </p:spPr>
      </p:pic>
    </p:spTree>
    <p:extLst>
      <p:ext uri="{BB962C8B-B14F-4D97-AF65-F5344CB8AC3E}">
        <p14:creationId xmlns:p14="http://schemas.microsoft.com/office/powerpoint/2010/main" val="119473669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7F1DB54-571D-0AB7-6A21-A848EFEE4173}"/>
              </a:ext>
            </a:extLst>
          </p:cNvPr>
          <p:cNvPicPr>
            <a:picLocks noChangeAspect="1"/>
          </p:cNvPicPr>
          <p:nvPr/>
        </p:nvPicPr>
        <p:blipFill>
          <a:blip r:embed="rId2"/>
          <a:stretch>
            <a:fillRect/>
          </a:stretch>
        </p:blipFill>
        <p:spPr>
          <a:xfrm>
            <a:off x="4282357" y="582385"/>
            <a:ext cx="7082330" cy="5793013"/>
          </a:xfrm>
          <a:prstGeom prst="rect">
            <a:avLst/>
          </a:prstGeom>
        </p:spPr>
      </p:pic>
      <p:sp>
        <p:nvSpPr>
          <p:cNvPr id="3" name="TextBox 2">
            <a:extLst>
              <a:ext uri="{FF2B5EF4-FFF2-40B4-BE49-F238E27FC236}">
                <a16:creationId xmlns:a16="http://schemas.microsoft.com/office/drawing/2014/main" id="{DD5483EC-4F99-A4CA-CA14-63B263F74CE8}"/>
              </a:ext>
            </a:extLst>
          </p:cNvPr>
          <p:cNvSpPr txBox="1"/>
          <p:nvPr/>
        </p:nvSpPr>
        <p:spPr>
          <a:xfrm>
            <a:off x="457200" y="723900"/>
            <a:ext cx="2188029" cy="1200329"/>
          </a:xfrm>
          <a:prstGeom prst="rect">
            <a:avLst/>
          </a:prstGeom>
          <a:noFill/>
        </p:spPr>
        <p:txBody>
          <a:bodyPr wrap="square" rtlCol="0">
            <a:spAutoFit/>
          </a:bodyPr>
          <a:lstStyle/>
          <a:p>
            <a:r>
              <a:rPr lang="en-CH" dirty="0"/>
              <a:t>Pre-cue after revision: boost to strength of encoding into FX</a:t>
            </a:r>
          </a:p>
        </p:txBody>
      </p:sp>
    </p:spTree>
    <p:extLst>
      <p:ext uri="{BB962C8B-B14F-4D97-AF65-F5344CB8AC3E}">
        <p14:creationId xmlns:p14="http://schemas.microsoft.com/office/powerpoint/2010/main" val="341359200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C1FA86-11FE-B0A8-0167-DC528FEDE9D2}"/>
              </a:ext>
            </a:extLst>
          </p:cNvPr>
          <p:cNvPicPr>
            <a:picLocks noChangeAspect="1"/>
          </p:cNvPicPr>
          <p:nvPr/>
        </p:nvPicPr>
        <p:blipFill>
          <a:blip r:embed="rId2"/>
          <a:stretch>
            <a:fillRect/>
          </a:stretch>
        </p:blipFill>
        <p:spPr>
          <a:xfrm>
            <a:off x="2728846" y="233056"/>
            <a:ext cx="7415443" cy="6260273"/>
          </a:xfrm>
          <a:prstGeom prst="rect">
            <a:avLst/>
          </a:prstGeom>
        </p:spPr>
      </p:pic>
    </p:spTree>
    <p:extLst>
      <p:ext uri="{BB962C8B-B14F-4D97-AF65-F5344CB8AC3E}">
        <p14:creationId xmlns:p14="http://schemas.microsoft.com/office/powerpoint/2010/main" val="195691472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1247ED6-319F-371F-9D8C-92D3AF284DC1}"/>
              </a:ext>
            </a:extLst>
          </p:cNvPr>
          <p:cNvPicPr>
            <a:picLocks noChangeAspect="1"/>
          </p:cNvPicPr>
          <p:nvPr/>
        </p:nvPicPr>
        <p:blipFill>
          <a:blip r:embed="rId2"/>
          <a:stretch>
            <a:fillRect/>
          </a:stretch>
        </p:blipFill>
        <p:spPr>
          <a:xfrm>
            <a:off x="277585" y="1279762"/>
            <a:ext cx="6351816" cy="4659848"/>
          </a:xfrm>
          <a:prstGeom prst="rect">
            <a:avLst/>
          </a:prstGeom>
        </p:spPr>
      </p:pic>
      <p:sp>
        <p:nvSpPr>
          <p:cNvPr id="3" name="TextBox 2">
            <a:extLst>
              <a:ext uri="{FF2B5EF4-FFF2-40B4-BE49-F238E27FC236}">
                <a16:creationId xmlns:a16="http://schemas.microsoft.com/office/drawing/2014/main" id="{B3BE5121-31B2-9244-2CD6-768F65BFCB9C}"/>
              </a:ext>
            </a:extLst>
          </p:cNvPr>
          <p:cNvSpPr txBox="1"/>
          <p:nvPr/>
        </p:nvSpPr>
        <p:spPr>
          <a:xfrm>
            <a:off x="424543" y="680357"/>
            <a:ext cx="11217728" cy="369332"/>
          </a:xfrm>
          <a:prstGeom prst="rect">
            <a:avLst/>
          </a:prstGeom>
          <a:noFill/>
        </p:spPr>
        <p:txBody>
          <a:bodyPr wrap="square" rtlCol="0">
            <a:spAutoFit/>
          </a:bodyPr>
          <a:lstStyle/>
          <a:p>
            <a:r>
              <a:rPr lang="en-CH" dirty="0"/>
              <a:t>After letting only 1 retrieval happen, either upon retro cue or upon test (i.e., removing the second retrieval at test)</a:t>
            </a:r>
          </a:p>
        </p:txBody>
      </p:sp>
      <p:pic>
        <p:nvPicPr>
          <p:cNvPr id="4" name="Picture 3">
            <a:extLst>
              <a:ext uri="{FF2B5EF4-FFF2-40B4-BE49-F238E27FC236}">
                <a16:creationId xmlns:a16="http://schemas.microsoft.com/office/drawing/2014/main" id="{0C73C3D0-4545-007A-ADA2-6D405C545474}"/>
              </a:ext>
            </a:extLst>
          </p:cNvPr>
          <p:cNvPicPr>
            <a:picLocks noChangeAspect="1"/>
          </p:cNvPicPr>
          <p:nvPr/>
        </p:nvPicPr>
        <p:blipFill>
          <a:blip r:embed="rId3"/>
          <a:stretch>
            <a:fillRect/>
          </a:stretch>
        </p:blipFill>
        <p:spPr>
          <a:xfrm>
            <a:off x="6380994" y="1219200"/>
            <a:ext cx="5811045" cy="4659848"/>
          </a:xfrm>
          <a:prstGeom prst="rect">
            <a:avLst/>
          </a:prstGeom>
        </p:spPr>
      </p:pic>
    </p:spTree>
    <p:extLst>
      <p:ext uri="{BB962C8B-B14F-4D97-AF65-F5344CB8AC3E}">
        <p14:creationId xmlns:p14="http://schemas.microsoft.com/office/powerpoint/2010/main" val="141436796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DEB4D1-4942-FF8C-4983-1FA72D8342F6}"/>
              </a:ext>
            </a:extLst>
          </p:cNvPr>
          <p:cNvSpPr txBox="1"/>
          <p:nvPr/>
        </p:nvSpPr>
        <p:spPr>
          <a:xfrm>
            <a:off x="685800" y="838200"/>
            <a:ext cx="4190827" cy="369332"/>
          </a:xfrm>
          <a:prstGeom prst="rect">
            <a:avLst/>
          </a:prstGeom>
          <a:noFill/>
        </p:spPr>
        <p:txBody>
          <a:bodyPr wrap="none" rtlCol="0">
            <a:spAutoFit/>
          </a:bodyPr>
          <a:lstStyle/>
          <a:p>
            <a:r>
              <a:rPr lang="en-CH" dirty="0"/>
              <a:t>rolling back that change did not help much</a:t>
            </a:r>
          </a:p>
        </p:txBody>
      </p:sp>
      <p:pic>
        <p:nvPicPr>
          <p:cNvPr id="3" name="Picture 2">
            <a:extLst>
              <a:ext uri="{FF2B5EF4-FFF2-40B4-BE49-F238E27FC236}">
                <a16:creationId xmlns:a16="http://schemas.microsoft.com/office/drawing/2014/main" id="{4BC943C9-2850-48C5-9E43-B3B008E9DCA1}"/>
              </a:ext>
            </a:extLst>
          </p:cNvPr>
          <p:cNvPicPr>
            <a:picLocks noChangeAspect="1"/>
          </p:cNvPicPr>
          <p:nvPr/>
        </p:nvPicPr>
        <p:blipFill>
          <a:blip r:embed="rId2"/>
          <a:stretch>
            <a:fillRect/>
          </a:stretch>
        </p:blipFill>
        <p:spPr>
          <a:xfrm>
            <a:off x="-46735" y="1247196"/>
            <a:ext cx="7151584" cy="5241471"/>
          </a:xfrm>
          <a:prstGeom prst="rect">
            <a:avLst/>
          </a:prstGeom>
        </p:spPr>
      </p:pic>
      <p:sp>
        <p:nvSpPr>
          <p:cNvPr id="4" name="TextBox 3">
            <a:extLst>
              <a:ext uri="{FF2B5EF4-FFF2-40B4-BE49-F238E27FC236}">
                <a16:creationId xmlns:a16="http://schemas.microsoft.com/office/drawing/2014/main" id="{92FACA55-B37D-89F2-98B1-AB183C436970}"/>
              </a:ext>
            </a:extLst>
          </p:cNvPr>
          <p:cNvSpPr txBox="1"/>
          <p:nvPr/>
        </p:nvSpPr>
        <p:spPr>
          <a:xfrm>
            <a:off x="6923314" y="625929"/>
            <a:ext cx="4904015" cy="938719"/>
          </a:xfrm>
          <a:prstGeom prst="rect">
            <a:avLst/>
          </a:prstGeom>
          <a:noFill/>
        </p:spPr>
        <p:txBody>
          <a:bodyPr wrap="square" rtlCol="0">
            <a:spAutoFit/>
          </a:bodyPr>
          <a:lstStyle/>
          <a:p>
            <a:r>
              <a:rPr lang="en-CH" sz="1100" dirty="0"/>
              <a:t>The good pattern could be reproduced with “Mediated” in the Archive but not the branch June8. Differences with the current version:</a:t>
            </a:r>
          </a:p>
          <a:p>
            <a:r>
              <a:rPr lang="en-CH" sz="1100" dirty="0"/>
              <a:t>IOR on FX has been parameterized</a:t>
            </a:r>
          </a:p>
          <a:p>
            <a:r>
              <a:rPr lang="en-CH" sz="1100" dirty="0" err="1"/>
              <a:t>cRateSD</a:t>
            </a:r>
            <a:r>
              <a:rPr lang="en-CH" sz="1100" dirty="0"/>
              <a:t> has been corrected in the reorienting time during retrieval</a:t>
            </a:r>
          </a:p>
          <a:p>
            <a:endParaRPr lang="en-CH" sz="1100" dirty="0"/>
          </a:p>
        </p:txBody>
      </p:sp>
    </p:spTree>
    <p:extLst>
      <p:ext uri="{BB962C8B-B14F-4D97-AF65-F5344CB8AC3E}">
        <p14:creationId xmlns:p14="http://schemas.microsoft.com/office/powerpoint/2010/main" val="4178743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DCD9144-FB7B-1158-572B-E257333FF79E}"/>
              </a:ext>
            </a:extLst>
          </p:cNvPr>
          <p:cNvPicPr>
            <a:picLocks noChangeAspect="1"/>
          </p:cNvPicPr>
          <p:nvPr/>
        </p:nvPicPr>
        <p:blipFill>
          <a:blip r:embed="rId2"/>
          <a:stretch>
            <a:fillRect/>
          </a:stretch>
        </p:blipFill>
        <p:spPr>
          <a:xfrm>
            <a:off x="751114" y="1144242"/>
            <a:ext cx="8343900" cy="5713758"/>
          </a:xfrm>
          <a:prstGeom prst="rect">
            <a:avLst/>
          </a:prstGeom>
        </p:spPr>
      </p:pic>
      <p:sp>
        <p:nvSpPr>
          <p:cNvPr id="3" name="TextBox 2">
            <a:extLst>
              <a:ext uri="{FF2B5EF4-FFF2-40B4-BE49-F238E27FC236}">
                <a16:creationId xmlns:a16="http://schemas.microsoft.com/office/drawing/2014/main" id="{9062C9DE-08BD-4C7E-9998-334273E6ACDB}"/>
              </a:ext>
            </a:extLst>
          </p:cNvPr>
          <p:cNvSpPr txBox="1"/>
          <p:nvPr/>
        </p:nvSpPr>
        <p:spPr>
          <a:xfrm>
            <a:off x="8795657" y="1039586"/>
            <a:ext cx="2418291" cy="369332"/>
          </a:xfrm>
          <a:prstGeom prst="rect">
            <a:avLst/>
          </a:prstGeom>
          <a:noFill/>
        </p:spPr>
        <p:txBody>
          <a:bodyPr wrap="none" rtlCol="0">
            <a:spAutoFit/>
          </a:bodyPr>
          <a:lstStyle/>
          <a:p>
            <a:r>
              <a:rPr lang="en-CH"/>
              <a:t>setting IOR = 1 fixes this</a:t>
            </a:r>
          </a:p>
        </p:txBody>
      </p:sp>
    </p:spTree>
    <p:extLst>
      <p:ext uri="{BB962C8B-B14F-4D97-AF65-F5344CB8AC3E}">
        <p14:creationId xmlns:p14="http://schemas.microsoft.com/office/powerpoint/2010/main" val="351307009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54C0199-9A10-510A-E562-7D0398D11BD9}"/>
              </a:ext>
            </a:extLst>
          </p:cNvPr>
          <p:cNvSpPr txBox="1"/>
          <p:nvPr/>
        </p:nvSpPr>
        <p:spPr>
          <a:xfrm>
            <a:off x="631371" y="658586"/>
            <a:ext cx="4572000" cy="646331"/>
          </a:xfrm>
          <a:prstGeom prst="rect">
            <a:avLst/>
          </a:prstGeom>
          <a:noFill/>
        </p:spPr>
        <p:txBody>
          <a:bodyPr wrap="square" rtlCol="0">
            <a:spAutoFit/>
          </a:bodyPr>
          <a:lstStyle/>
          <a:p>
            <a:r>
              <a:rPr lang="en-CH" dirty="0"/>
              <a:t>After fixing the decay of W to time-based rather timestep-based, and doubling </a:t>
            </a:r>
            <a:r>
              <a:rPr lang="en-CH" dirty="0" err="1"/>
              <a:t>wnoise</a:t>
            </a:r>
            <a:r>
              <a:rPr lang="en-CH" dirty="0"/>
              <a:t>: </a:t>
            </a:r>
          </a:p>
        </p:txBody>
      </p:sp>
      <p:pic>
        <p:nvPicPr>
          <p:cNvPr id="7" name="Picture 6">
            <a:extLst>
              <a:ext uri="{FF2B5EF4-FFF2-40B4-BE49-F238E27FC236}">
                <a16:creationId xmlns:a16="http://schemas.microsoft.com/office/drawing/2014/main" id="{B2408CC2-811D-EDFA-A94D-D03EAA32C105}"/>
              </a:ext>
            </a:extLst>
          </p:cNvPr>
          <p:cNvPicPr>
            <a:picLocks noChangeAspect="1"/>
          </p:cNvPicPr>
          <p:nvPr/>
        </p:nvPicPr>
        <p:blipFill>
          <a:blip r:embed="rId2"/>
          <a:stretch>
            <a:fillRect/>
          </a:stretch>
        </p:blipFill>
        <p:spPr>
          <a:xfrm>
            <a:off x="221462" y="1245046"/>
            <a:ext cx="6101067" cy="4740729"/>
          </a:xfrm>
          <a:prstGeom prst="rect">
            <a:avLst/>
          </a:prstGeom>
        </p:spPr>
      </p:pic>
      <p:sp>
        <p:nvSpPr>
          <p:cNvPr id="8" name="TextBox 7">
            <a:extLst>
              <a:ext uri="{FF2B5EF4-FFF2-40B4-BE49-F238E27FC236}">
                <a16:creationId xmlns:a16="http://schemas.microsoft.com/office/drawing/2014/main" id="{CC93CC1A-D965-A7EF-F2CA-3F8B04B2BB22}"/>
              </a:ext>
            </a:extLst>
          </p:cNvPr>
          <p:cNvSpPr txBox="1"/>
          <p:nvPr/>
        </p:nvSpPr>
        <p:spPr>
          <a:xfrm>
            <a:off x="800100" y="5943600"/>
            <a:ext cx="6335486" cy="369332"/>
          </a:xfrm>
          <a:prstGeom prst="rect">
            <a:avLst/>
          </a:prstGeom>
          <a:noFill/>
        </p:spPr>
        <p:txBody>
          <a:bodyPr wrap="square" rtlCol="0">
            <a:spAutoFit/>
          </a:bodyPr>
          <a:lstStyle/>
          <a:p>
            <a:r>
              <a:rPr lang="en-CH" dirty="0"/>
              <a:t>But increasing </a:t>
            </a:r>
            <a:r>
              <a:rPr lang="en-CH" dirty="0" err="1"/>
              <a:t>wnoise</a:t>
            </a:r>
            <a:r>
              <a:rPr lang="en-CH" dirty="0"/>
              <a:t> that much destroys guided refreshing </a:t>
            </a:r>
          </a:p>
        </p:txBody>
      </p:sp>
      <p:sp>
        <p:nvSpPr>
          <p:cNvPr id="9" name="TextBox 8">
            <a:extLst>
              <a:ext uri="{FF2B5EF4-FFF2-40B4-BE49-F238E27FC236}">
                <a16:creationId xmlns:a16="http://schemas.microsoft.com/office/drawing/2014/main" id="{DDFA18F8-D063-DA82-4510-A2AA6ECAB3DF}"/>
              </a:ext>
            </a:extLst>
          </p:cNvPr>
          <p:cNvSpPr txBox="1"/>
          <p:nvPr/>
        </p:nvSpPr>
        <p:spPr>
          <a:xfrm>
            <a:off x="6950528" y="613675"/>
            <a:ext cx="4572000" cy="2308324"/>
          </a:xfrm>
          <a:prstGeom prst="rect">
            <a:avLst/>
          </a:prstGeom>
          <a:noFill/>
        </p:spPr>
        <p:txBody>
          <a:bodyPr wrap="square" rtlCol="0">
            <a:spAutoFit/>
          </a:bodyPr>
          <a:lstStyle/>
          <a:p>
            <a:r>
              <a:rPr lang="en-CH" dirty="0"/>
              <a:t>Problem: The Hautekiet &amp; Oberauer experiment uses no test-display interference, and hence, FX is not erased. It also hardly decays at set size 5, and is therefore well available at 1 second. Thereby, there is hardly any decay between 1 and 3 s. There is also little retro-cue effect because the retro-cue is not needed for protection against decay. </a:t>
            </a:r>
          </a:p>
        </p:txBody>
      </p:sp>
    </p:spTree>
    <p:extLst>
      <p:ext uri="{BB962C8B-B14F-4D97-AF65-F5344CB8AC3E}">
        <p14:creationId xmlns:p14="http://schemas.microsoft.com/office/powerpoint/2010/main" val="179254592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F5EDED6-79FC-D0D5-FE63-A90544DE0898}"/>
              </a:ext>
            </a:extLst>
          </p:cNvPr>
          <p:cNvPicPr>
            <a:picLocks noChangeAspect="1"/>
          </p:cNvPicPr>
          <p:nvPr/>
        </p:nvPicPr>
        <p:blipFill>
          <a:blip r:embed="rId2"/>
          <a:stretch>
            <a:fillRect/>
          </a:stretch>
        </p:blipFill>
        <p:spPr>
          <a:xfrm>
            <a:off x="-111243" y="544285"/>
            <a:ext cx="6574177" cy="4893129"/>
          </a:xfrm>
          <a:prstGeom prst="rect">
            <a:avLst/>
          </a:prstGeom>
        </p:spPr>
      </p:pic>
      <p:pic>
        <p:nvPicPr>
          <p:cNvPr id="4" name="Picture 3">
            <a:extLst>
              <a:ext uri="{FF2B5EF4-FFF2-40B4-BE49-F238E27FC236}">
                <a16:creationId xmlns:a16="http://schemas.microsoft.com/office/drawing/2014/main" id="{FE7DB0C5-6FB9-A46E-D660-69ACA19715B6}"/>
              </a:ext>
            </a:extLst>
          </p:cNvPr>
          <p:cNvPicPr>
            <a:picLocks noChangeAspect="1"/>
          </p:cNvPicPr>
          <p:nvPr/>
        </p:nvPicPr>
        <p:blipFill>
          <a:blip r:embed="rId3"/>
          <a:stretch>
            <a:fillRect/>
          </a:stretch>
        </p:blipFill>
        <p:spPr>
          <a:xfrm>
            <a:off x="5820648" y="2661556"/>
            <a:ext cx="6489715" cy="3891643"/>
          </a:xfrm>
          <a:prstGeom prst="rect">
            <a:avLst/>
          </a:prstGeom>
        </p:spPr>
      </p:pic>
    </p:spTree>
    <p:extLst>
      <p:ext uri="{BB962C8B-B14F-4D97-AF65-F5344CB8AC3E}">
        <p14:creationId xmlns:p14="http://schemas.microsoft.com/office/powerpoint/2010/main" val="2014650610"/>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AA616-E7AF-4497-2EDD-54F9DBD6C734}"/>
              </a:ext>
            </a:extLst>
          </p:cNvPr>
          <p:cNvPicPr>
            <a:picLocks noChangeAspect="1"/>
          </p:cNvPicPr>
          <p:nvPr/>
        </p:nvPicPr>
        <p:blipFill>
          <a:blip r:embed="rId2"/>
          <a:stretch>
            <a:fillRect/>
          </a:stretch>
        </p:blipFill>
        <p:spPr>
          <a:xfrm>
            <a:off x="141970" y="304800"/>
            <a:ext cx="5857363" cy="4011386"/>
          </a:xfrm>
          <a:prstGeom prst="rect">
            <a:avLst/>
          </a:prstGeom>
        </p:spPr>
      </p:pic>
      <p:pic>
        <p:nvPicPr>
          <p:cNvPr id="3" name="Picture 2">
            <a:extLst>
              <a:ext uri="{FF2B5EF4-FFF2-40B4-BE49-F238E27FC236}">
                <a16:creationId xmlns:a16="http://schemas.microsoft.com/office/drawing/2014/main" id="{5EAB334D-7C84-B320-CCF7-6778C60DACBD}"/>
              </a:ext>
            </a:extLst>
          </p:cNvPr>
          <p:cNvPicPr>
            <a:picLocks noChangeAspect="1"/>
          </p:cNvPicPr>
          <p:nvPr/>
        </p:nvPicPr>
        <p:blipFill>
          <a:blip r:embed="rId3"/>
          <a:stretch>
            <a:fillRect/>
          </a:stretch>
        </p:blipFill>
        <p:spPr>
          <a:xfrm>
            <a:off x="5520432" y="2129802"/>
            <a:ext cx="6774983" cy="4532255"/>
          </a:xfrm>
          <a:prstGeom prst="rect">
            <a:avLst/>
          </a:prstGeom>
        </p:spPr>
      </p:pic>
    </p:spTree>
    <p:extLst>
      <p:ext uri="{BB962C8B-B14F-4D97-AF65-F5344CB8AC3E}">
        <p14:creationId xmlns:p14="http://schemas.microsoft.com/office/powerpoint/2010/main" val="168625218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807100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111477</TotalTime>
  <Words>1097</Words>
  <Application>Microsoft Office PowerPoint</Application>
  <PresentationFormat>Widescreen</PresentationFormat>
  <Paragraphs>82</Paragraphs>
  <Slides>134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134</vt:i4>
      </vt:variant>
    </vt:vector>
  </HeadingPairs>
  <TitlesOfParts>
    <vt:vector size="139"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268</cp:revision>
  <dcterms:created xsi:type="dcterms:W3CDTF">2024-08-13T19:20:17Z</dcterms:created>
  <dcterms:modified xsi:type="dcterms:W3CDTF">2026-07-19T12:10:47Z</dcterms:modified>
</cp:coreProperties>
</file>

<file path=[Content_Types].xml><?xml version="1.0" encoding="utf-8"?>
<Types xmlns="http://schemas.openxmlformats.org/package/2006/content-types">
  <Default Extension="emf" ContentType="image/x-emf"/>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358" r:id="rId3"/>
    <p:sldId id="357" r:id="rId4"/>
    <p:sldId id="359" r:id="rId5"/>
    <p:sldId id="360" r:id="rId6"/>
    <p:sldId id="262" r:id="rId7"/>
    <p:sldId id="366" r:id="rId8"/>
    <p:sldId id="367" r:id="rId9"/>
    <p:sldId id="368" r:id="rId10"/>
    <p:sldId id="369" r:id="rId11"/>
    <p:sldId id="370" r:id="rId12"/>
    <p:sldId id="363" r:id="rId13"/>
    <p:sldId id="365" r:id="rId14"/>
    <p:sldId id="371" r:id="rId15"/>
    <p:sldId id="372" r:id="rId16"/>
    <p:sldId id="376" r:id="rId17"/>
    <p:sldId id="373" r:id="rId18"/>
    <p:sldId id="374" r:id="rId19"/>
    <p:sldId id="375" r:id="rId20"/>
    <p:sldId id="420" r:id="rId21"/>
    <p:sldId id="419" r:id="rId22"/>
    <p:sldId id="421" r:id="rId23"/>
    <p:sldId id="422" r:id="rId24"/>
    <p:sldId id="423" r:id="rId25"/>
    <p:sldId id="424" r:id="rId26"/>
    <p:sldId id="425" r:id="rId27"/>
    <p:sldId id="426" r:id="rId28"/>
    <p:sldId id="427" r:id="rId29"/>
    <p:sldId id="449" r:id="rId30"/>
    <p:sldId id="450" r:id="rId31"/>
    <p:sldId id="451" r:id="rId32"/>
    <p:sldId id="471" r:id="rId33"/>
    <p:sldId id="396" r:id="rId34"/>
    <p:sldId id="274" r:id="rId35"/>
    <p:sldId id="259" r:id="rId36"/>
    <p:sldId id="260" r:id="rId37"/>
    <p:sldId id="413" r:id="rId38"/>
    <p:sldId id="410" r:id="rId39"/>
    <p:sldId id="414" r:id="rId40"/>
    <p:sldId id="407" r:id="rId41"/>
    <p:sldId id="411" r:id="rId42"/>
    <p:sldId id="412" r:id="rId43"/>
    <p:sldId id="286" r:id="rId44"/>
    <p:sldId id="397" r:id="rId45"/>
    <p:sldId id="399" r:id="rId46"/>
    <p:sldId id="408" r:id="rId47"/>
    <p:sldId id="431" r:id="rId48"/>
    <p:sldId id="432" r:id="rId49"/>
    <p:sldId id="398" r:id="rId50"/>
    <p:sldId id="401" r:id="rId51"/>
    <p:sldId id="416" r:id="rId52"/>
    <p:sldId id="400" r:id="rId53"/>
    <p:sldId id="402" r:id="rId54"/>
    <p:sldId id="403" r:id="rId55"/>
    <p:sldId id="415" r:id="rId56"/>
    <p:sldId id="409" r:id="rId57"/>
    <p:sldId id="405" r:id="rId58"/>
    <p:sldId id="404" r:id="rId59"/>
    <p:sldId id="417" r:id="rId60"/>
    <p:sldId id="418" r:id="rId61"/>
    <p:sldId id="406" r:id="rId62"/>
    <p:sldId id="434" r:id="rId63"/>
    <p:sldId id="435" r:id="rId64"/>
    <p:sldId id="428" r:id="rId65"/>
    <p:sldId id="429" r:id="rId66"/>
    <p:sldId id="430" r:id="rId67"/>
    <p:sldId id="433" r:id="rId68"/>
    <p:sldId id="436" r:id="rId69"/>
    <p:sldId id="437" r:id="rId70"/>
    <p:sldId id="438" r:id="rId71"/>
    <p:sldId id="439" r:id="rId72"/>
    <p:sldId id="442" r:id="rId73"/>
    <p:sldId id="443" r:id="rId74"/>
    <p:sldId id="444" r:id="rId75"/>
    <p:sldId id="440" r:id="rId76"/>
    <p:sldId id="446" r:id="rId77"/>
    <p:sldId id="441" r:id="rId78"/>
    <p:sldId id="445" r:id="rId79"/>
    <p:sldId id="447" r:id="rId80"/>
    <p:sldId id="448" r:id="rId81"/>
    <p:sldId id="452" r:id="rId82"/>
    <p:sldId id="479" r:id="rId83"/>
    <p:sldId id="453" r:id="rId84"/>
    <p:sldId id="454" r:id="rId85"/>
    <p:sldId id="455" r:id="rId86"/>
    <p:sldId id="456" r:id="rId87"/>
    <p:sldId id="457" r:id="rId88"/>
    <p:sldId id="458" r:id="rId89"/>
    <p:sldId id="459" r:id="rId90"/>
    <p:sldId id="460" r:id="rId91"/>
    <p:sldId id="461" r:id="rId92"/>
    <p:sldId id="465" r:id="rId93"/>
    <p:sldId id="466" r:id="rId94"/>
    <p:sldId id="472" r:id="rId95"/>
    <p:sldId id="473" r:id="rId96"/>
    <p:sldId id="474" r:id="rId97"/>
    <p:sldId id="475" r:id="rId98"/>
    <p:sldId id="476" r:id="rId99"/>
    <p:sldId id="477" r:id="rId100"/>
    <p:sldId id="483" r:id="rId101"/>
    <p:sldId id="484" r:id="rId102"/>
    <p:sldId id="482" r:id="rId103"/>
    <p:sldId id="486" r:id="rId104"/>
    <p:sldId id="487" r:id="rId105"/>
    <p:sldId id="488" r:id="rId106"/>
    <p:sldId id="489" r:id="rId107"/>
    <p:sldId id="462" r:id="rId108"/>
    <p:sldId id="467" r:id="rId109"/>
    <p:sldId id="468" r:id="rId110"/>
    <p:sldId id="493" r:id="rId111"/>
    <p:sldId id="494" r:id="rId112"/>
    <p:sldId id="469" r:id="rId113"/>
    <p:sldId id="470" r:id="rId114"/>
    <p:sldId id="496" r:id="rId115"/>
    <p:sldId id="505" r:id="rId116"/>
    <p:sldId id="478" r:id="rId117"/>
    <p:sldId id="480" r:id="rId118"/>
    <p:sldId id="481" r:id="rId119"/>
    <p:sldId id="498" r:id="rId120"/>
    <p:sldId id="485" r:id="rId121"/>
    <p:sldId id="495" r:id="rId122"/>
    <p:sldId id="497" r:id="rId123"/>
    <p:sldId id="490" r:id="rId124"/>
    <p:sldId id="491" r:id="rId125"/>
    <p:sldId id="492" r:id="rId126"/>
    <p:sldId id="499" r:id="rId127"/>
    <p:sldId id="500" r:id="rId128"/>
    <p:sldId id="501" r:id="rId129"/>
    <p:sldId id="504" r:id="rId130"/>
    <p:sldId id="503" r:id="rId131"/>
    <p:sldId id="502" r:id="rId132"/>
    <p:sldId id="506" r:id="rId133"/>
  </p:sldIdLst>
  <p:sldSz cx="12192000" cy="6858000"/>
  <p:notesSz cx="6858000" cy="9144000"/>
  <p:defaultTextStyle>
    <a:defPPr>
      <a:defRPr lang="en-CH"/>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5" autoAdjust="0"/>
    <p:restoredTop sz="94660"/>
  </p:normalViewPr>
  <p:slideViewPr>
    <p:cSldViewPr snapToGrid="0">
      <p:cViewPr varScale="1">
        <p:scale>
          <a:sx n="88" d="100"/>
          <a:sy n="88" d="100"/>
        </p:scale>
        <p:origin x="213" y="57"/>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6" Type="http://schemas.openxmlformats.org/officeDocument/2006/relationships/slide" Target="slides/slide15.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28" Type="http://schemas.openxmlformats.org/officeDocument/2006/relationships/slide" Target="slides/slide127.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13" Type="http://schemas.openxmlformats.org/officeDocument/2006/relationships/slide" Target="slides/slide112.xml"/><Relationship Id="rId118" Type="http://schemas.openxmlformats.org/officeDocument/2006/relationships/slide" Target="slides/slide117.xml"/><Relationship Id="rId126" Type="http://schemas.openxmlformats.org/officeDocument/2006/relationships/slide" Target="slides/slide125.xml"/><Relationship Id="rId134"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103" Type="http://schemas.openxmlformats.org/officeDocument/2006/relationships/slide" Target="slides/slide102.xml"/><Relationship Id="rId108" Type="http://schemas.openxmlformats.org/officeDocument/2006/relationships/slide" Target="slides/slide107.xml"/><Relationship Id="rId116" Type="http://schemas.openxmlformats.org/officeDocument/2006/relationships/slide" Target="slides/slide115.xml"/><Relationship Id="rId124" Type="http://schemas.openxmlformats.org/officeDocument/2006/relationships/slide" Target="slides/slide123.xml"/><Relationship Id="rId129" Type="http://schemas.openxmlformats.org/officeDocument/2006/relationships/slide" Target="slides/slide128.xml"/><Relationship Id="rId137"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slide" Target="slides/slide87.xml"/><Relationship Id="rId91" Type="http://schemas.openxmlformats.org/officeDocument/2006/relationships/slide" Target="slides/slide90.xml"/><Relationship Id="rId96" Type="http://schemas.openxmlformats.org/officeDocument/2006/relationships/slide" Target="slides/slide95.xml"/><Relationship Id="rId111" Type="http://schemas.openxmlformats.org/officeDocument/2006/relationships/slide" Target="slides/slide110.xml"/><Relationship Id="rId132" Type="http://schemas.openxmlformats.org/officeDocument/2006/relationships/slide" Target="slides/slide13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6" Type="http://schemas.openxmlformats.org/officeDocument/2006/relationships/slide" Target="slides/slide105.xml"/><Relationship Id="rId114" Type="http://schemas.openxmlformats.org/officeDocument/2006/relationships/slide" Target="slides/slide113.xml"/><Relationship Id="rId119" Type="http://schemas.openxmlformats.org/officeDocument/2006/relationships/slide" Target="slides/slide118.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30" Type="http://schemas.openxmlformats.org/officeDocument/2006/relationships/slide" Target="slides/slide129.xml"/><Relationship Id="rId135"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slide" Target="slides/slide130.xml"/><Relationship Id="rId136" Type="http://schemas.openxmlformats.org/officeDocument/2006/relationships/theme" Target="theme/theme1.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473ABE-114D-4FC9-922C-C143AEF2FE41}"/>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CH"/>
          </a:p>
        </p:txBody>
      </p:sp>
      <p:sp>
        <p:nvSpPr>
          <p:cNvPr id="3" name="Subtitle 2">
            <a:extLst>
              <a:ext uri="{FF2B5EF4-FFF2-40B4-BE49-F238E27FC236}">
                <a16:creationId xmlns:a16="http://schemas.microsoft.com/office/drawing/2014/main" id="{049CF96D-A581-46CA-89B3-A19121807E3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CH"/>
          </a:p>
        </p:txBody>
      </p:sp>
      <p:sp>
        <p:nvSpPr>
          <p:cNvPr id="4" name="Date Placeholder 3">
            <a:extLst>
              <a:ext uri="{FF2B5EF4-FFF2-40B4-BE49-F238E27FC236}">
                <a16:creationId xmlns:a16="http://schemas.microsoft.com/office/drawing/2014/main" id="{308D45FF-3D45-4E95-B1F0-5815B6FAE742}"/>
              </a:ext>
            </a:extLst>
          </p:cNvPr>
          <p:cNvSpPr>
            <a:spLocks noGrp="1"/>
          </p:cNvSpPr>
          <p:nvPr>
            <p:ph type="dt" sz="half" idx="10"/>
          </p:nvPr>
        </p:nvSpPr>
        <p:spPr/>
        <p:txBody>
          <a:bodyPr/>
          <a:lstStyle/>
          <a:p>
            <a:fld id="{B0CC16AE-9BD7-4F72-918B-06BB6DDCFC90}" type="datetimeFigureOut">
              <a:rPr lang="en-CH" smtClean="0"/>
              <a:t>15/06/2026</a:t>
            </a:fld>
            <a:endParaRPr lang="en-CH"/>
          </a:p>
        </p:txBody>
      </p:sp>
      <p:sp>
        <p:nvSpPr>
          <p:cNvPr id="5" name="Footer Placeholder 4">
            <a:extLst>
              <a:ext uri="{FF2B5EF4-FFF2-40B4-BE49-F238E27FC236}">
                <a16:creationId xmlns:a16="http://schemas.microsoft.com/office/drawing/2014/main" id="{A6D03B55-E397-4AEE-92AE-C8A7470ADCA8}"/>
              </a:ext>
            </a:extLst>
          </p:cNvPr>
          <p:cNvSpPr>
            <a:spLocks noGrp="1"/>
          </p:cNvSpPr>
          <p:nvPr>
            <p:ph type="ftr" sz="quarter" idx="11"/>
          </p:nvPr>
        </p:nvSpPr>
        <p:spPr/>
        <p:txBody>
          <a:bodyPr/>
          <a:lstStyle/>
          <a:p>
            <a:endParaRPr lang="en-CH"/>
          </a:p>
        </p:txBody>
      </p:sp>
      <p:sp>
        <p:nvSpPr>
          <p:cNvPr id="6" name="Slide Number Placeholder 5">
            <a:extLst>
              <a:ext uri="{FF2B5EF4-FFF2-40B4-BE49-F238E27FC236}">
                <a16:creationId xmlns:a16="http://schemas.microsoft.com/office/drawing/2014/main" id="{C59A7ED5-7077-4BC2-B8D7-DC70A5B110F2}"/>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29583156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48C0CA-01AA-4143-838E-D2A0990BD930}"/>
              </a:ext>
            </a:extLst>
          </p:cNvPr>
          <p:cNvSpPr>
            <a:spLocks noGrp="1"/>
          </p:cNvSpPr>
          <p:nvPr>
            <p:ph type="title"/>
          </p:nvPr>
        </p:nvSpPr>
        <p:spPr/>
        <p:txBody>
          <a:bodyPr/>
          <a:lstStyle/>
          <a:p>
            <a:r>
              <a:rPr lang="en-US"/>
              <a:t>Click to edit Master title style</a:t>
            </a:r>
            <a:endParaRPr lang="en-CH"/>
          </a:p>
        </p:txBody>
      </p:sp>
      <p:sp>
        <p:nvSpPr>
          <p:cNvPr id="3" name="Content Placeholder 2">
            <a:extLst>
              <a:ext uri="{FF2B5EF4-FFF2-40B4-BE49-F238E27FC236}">
                <a16:creationId xmlns:a16="http://schemas.microsoft.com/office/drawing/2014/main" id="{0C9F661E-CABF-44E8-A11A-733532A260A0}"/>
              </a:ext>
            </a:extLst>
          </p:cNvPr>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Date Placeholder 3">
            <a:extLst>
              <a:ext uri="{FF2B5EF4-FFF2-40B4-BE49-F238E27FC236}">
                <a16:creationId xmlns:a16="http://schemas.microsoft.com/office/drawing/2014/main" id="{89012042-0DBE-49E0-BD8A-8097CCDD99CF}"/>
              </a:ext>
            </a:extLst>
          </p:cNvPr>
          <p:cNvSpPr>
            <a:spLocks noGrp="1"/>
          </p:cNvSpPr>
          <p:nvPr>
            <p:ph type="dt" sz="half" idx="10"/>
          </p:nvPr>
        </p:nvSpPr>
        <p:spPr/>
        <p:txBody>
          <a:bodyPr/>
          <a:lstStyle/>
          <a:p>
            <a:fld id="{B0CC16AE-9BD7-4F72-918B-06BB6DDCFC90}" type="datetimeFigureOut">
              <a:rPr lang="en-CH" smtClean="0"/>
              <a:t>15/06/2026</a:t>
            </a:fld>
            <a:endParaRPr lang="en-CH"/>
          </a:p>
        </p:txBody>
      </p:sp>
      <p:sp>
        <p:nvSpPr>
          <p:cNvPr id="5" name="Footer Placeholder 4">
            <a:extLst>
              <a:ext uri="{FF2B5EF4-FFF2-40B4-BE49-F238E27FC236}">
                <a16:creationId xmlns:a16="http://schemas.microsoft.com/office/drawing/2014/main" id="{1DB3C610-C87A-4581-A2B4-BD6E73EB40FB}"/>
              </a:ext>
            </a:extLst>
          </p:cNvPr>
          <p:cNvSpPr>
            <a:spLocks noGrp="1"/>
          </p:cNvSpPr>
          <p:nvPr>
            <p:ph type="ftr" sz="quarter" idx="11"/>
          </p:nvPr>
        </p:nvSpPr>
        <p:spPr/>
        <p:txBody>
          <a:bodyPr/>
          <a:lstStyle/>
          <a:p>
            <a:endParaRPr lang="en-CH"/>
          </a:p>
        </p:txBody>
      </p:sp>
      <p:sp>
        <p:nvSpPr>
          <p:cNvPr id="6" name="Slide Number Placeholder 5">
            <a:extLst>
              <a:ext uri="{FF2B5EF4-FFF2-40B4-BE49-F238E27FC236}">
                <a16:creationId xmlns:a16="http://schemas.microsoft.com/office/drawing/2014/main" id="{D2EE0272-B008-4F38-B691-4F06EFFA8FBE}"/>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272404325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35B42F-1924-4DB8-8F91-36FE7628AD6A}"/>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CH"/>
          </a:p>
        </p:txBody>
      </p:sp>
      <p:sp>
        <p:nvSpPr>
          <p:cNvPr id="3" name="Text Placeholder 2">
            <a:extLst>
              <a:ext uri="{FF2B5EF4-FFF2-40B4-BE49-F238E27FC236}">
                <a16:creationId xmlns:a16="http://schemas.microsoft.com/office/drawing/2014/main" id="{FEE56AF1-8254-4A60-98DD-C037B112AFFA}"/>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a:extLst>
              <a:ext uri="{FF2B5EF4-FFF2-40B4-BE49-F238E27FC236}">
                <a16:creationId xmlns:a16="http://schemas.microsoft.com/office/drawing/2014/main" id="{92E26B7E-1100-4756-A293-42232C713661}"/>
              </a:ext>
            </a:extLst>
          </p:cNvPr>
          <p:cNvSpPr>
            <a:spLocks noGrp="1"/>
          </p:cNvSpPr>
          <p:nvPr>
            <p:ph type="dt" sz="half" idx="10"/>
          </p:nvPr>
        </p:nvSpPr>
        <p:spPr/>
        <p:txBody>
          <a:bodyPr/>
          <a:lstStyle/>
          <a:p>
            <a:fld id="{B0CC16AE-9BD7-4F72-918B-06BB6DDCFC90}" type="datetimeFigureOut">
              <a:rPr lang="en-CH" smtClean="0"/>
              <a:t>15/06/2026</a:t>
            </a:fld>
            <a:endParaRPr lang="en-CH"/>
          </a:p>
        </p:txBody>
      </p:sp>
      <p:sp>
        <p:nvSpPr>
          <p:cNvPr id="5" name="Footer Placeholder 4">
            <a:extLst>
              <a:ext uri="{FF2B5EF4-FFF2-40B4-BE49-F238E27FC236}">
                <a16:creationId xmlns:a16="http://schemas.microsoft.com/office/drawing/2014/main" id="{9AEC6155-9E8C-4965-AAE1-85FD4C090D5B}"/>
              </a:ext>
            </a:extLst>
          </p:cNvPr>
          <p:cNvSpPr>
            <a:spLocks noGrp="1"/>
          </p:cNvSpPr>
          <p:nvPr>
            <p:ph type="ftr" sz="quarter" idx="11"/>
          </p:nvPr>
        </p:nvSpPr>
        <p:spPr/>
        <p:txBody>
          <a:bodyPr/>
          <a:lstStyle/>
          <a:p>
            <a:endParaRPr lang="en-CH"/>
          </a:p>
        </p:txBody>
      </p:sp>
      <p:sp>
        <p:nvSpPr>
          <p:cNvPr id="6" name="Slide Number Placeholder 5">
            <a:extLst>
              <a:ext uri="{FF2B5EF4-FFF2-40B4-BE49-F238E27FC236}">
                <a16:creationId xmlns:a16="http://schemas.microsoft.com/office/drawing/2014/main" id="{6A662C3B-752C-4959-B579-D8CA2B1442A8}"/>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260320357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95EE90-EA6C-46E2-9542-6758A69082AA}"/>
              </a:ext>
            </a:extLst>
          </p:cNvPr>
          <p:cNvSpPr>
            <a:spLocks noGrp="1"/>
          </p:cNvSpPr>
          <p:nvPr>
            <p:ph type="title"/>
          </p:nvPr>
        </p:nvSpPr>
        <p:spPr/>
        <p:txBody>
          <a:bodyPr/>
          <a:lstStyle/>
          <a:p>
            <a:r>
              <a:rPr lang="en-US"/>
              <a:t>Click to edit Master title style</a:t>
            </a:r>
            <a:endParaRPr lang="en-CH"/>
          </a:p>
        </p:txBody>
      </p:sp>
      <p:sp>
        <p:nvSpPr>
          <p:cNvPr id="3" name="Content Placeholder 2">
            <a:extLst>
              <a:ext uri="{FF2B5EF4-FFF2-40B4-BE49-F238E27FC236}">
                <a16:creationId xmlns:a16="http://schemas.microsoft.com/office/drawing/2014/main" id="{C5350841-7F48-47D6-ABE4-863F86092F6B}"/>
              </a:ext>
            </a:extLst>
          </p:cNvPr>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Content Placeholder 3">
            <a:extLst>
              <a:ext uri="{FF2B5EF4-FFF2-40B4-BE49-F238E27FC236}">
                <a16:creationId xmlns:a16="http://schemas.microsoft.com/office/drawing/2014/main" id="{1B4F9C3E-902B-4A9F-A112-22A04A71C2EB}"/>
              </a:ext>
            </a:extLst>
          </p:cNvPr>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5" name="Date Placeholder 4">
            <a:extLst>
              <a:ext uri="{FF2B5EF4-FFF2-40B4-BE49-F238E27FC236}">
                <a16:creationId xmlns:a16="http://schemas.microsoft.com/office/drawing/2014/main" id="{17B8881B-DD9D-4772-9BE2-4B406F013D57}"/>
              </a:ext>
            </a:extLst>
          </p:cNvPr>
          <p:cNvSpPr>
            <a:spLocks noGrp="1"/>
          </p:cNvSpPr>
          <p:nvPr>
            <p:ph type="dt" sz="half" idx="10"/>
          </p:nvPr>
        </p:nvSpPr>
        <p:spPr/>
        <p:txBody>
          <a:bodyPr/>
          <a:lstStyle/>
          <a:p>
            <a:fld id="{B0CC16AE-9BD7-4F72-918B-06BB6DDCFC90}" type="datetimeFigureOut">
              <a:rPr lang="en-CH" smtClean="0"/>
              <a:t>15/06/2026</a:t>
            </a:fld>
            <a:endParaRPr lang="en-CH"/>
          </a:p>
        </p:txBody>
      </p:sp>
      <p:sp>
        <p:nvSpPr>
          <p:cNvPr id="6" name="Footer Placeholder 5">
            <a:extLst>
              <a:ext uri="{FF2B5EF4-FFF2-40B4-BE49-F238E27FC236}">
                <a16:creationId xmlns:a16="http://schemas.microsoft.com/office/drawing/2014/main" id="{A0C1CB2D-E9DC-420A-A573-C1EEFD2D2906}"/>
              </a:ext>
            </a:extLst>
          </p:cNvPr>
          <p:cNvSpPr>
            <a:spLocks noGrp="1"/>
          </p:cNvSpPr>
          <p:nvPr>
            <p:ph type="ftr" sz="quarter" idx="11"/>
          </p:nvPr>
        </p:nvSpPr>
        <p:spPr/>
        <p:txBody>
          <a:bodyPr/>
          <a:lstStyle/>
          <a:p>
            <a:endParaRPr lang="en-CH"/>
          </a:p>
        </p:txBody>
      </p:sp>
      <p:sp>
        <p:nvSpPr>
          <p:cNvPr id="7" name="Slide Number Placeholder 6">
            <a:extLst>
              <a:ext uri="{FF2B5EF4-FFF2-40B4-BE49-F238E27FC236}">
                <a16:creationId xmlns:a16="http://schemas.microsoft.com/office/drawing/2014/main" id="{B28CC2DF-D488-4D77-A465-685523054F54}"/>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413076882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E9F342-FFA7-4FF1-9FA9-46CACCA5512F}"/>
              </a:ext>
            </a:extLst>
          </p:cNvPr>
          <p:cNvSpPr>
            <a:spLocks noGrp="1"/>
          </p:cNvSpPr>
          <p:nvPr>
            <p:ph type="title"/>
          </p:nvPr>
        </p:nvSpPr>
        <p:spPr>
          <a:xfrm>
            <a:off x="839788" y="365125"/>
            <a:ext cx="10515600" cy="1325563"/>
          </a:xfrm>
        </p:spPr>
        <p:txBody>
          <a:bodyPr/>
          <a:lstStyle/>
          <a:p>
            <a:r>
              <a:rPr lang="en-US"/>
              <a:t>Click to edit Master title style</a:t>
            </a:r>
            <a:endParaRPr lang="en-CH"/>
          </a:p>
        </p:txBody>
      </p:sp>
      <p:sp>
        <p:nvSpPr>
          <p:cNvPr id="3" name="Text Placeholder 2">
            <a:extLst>
              <a:ext uri="{FF2B5EF4-FFF2-40B4-BE49-F238E27FC236}">
                <a16:creationId xmlns:a16="http://schemas.microsoft.com/office/drawing/2014/main" id="{76EB83C8-C2D3-4CD3-8B04-D0A6303974A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a:extLst>
              <a:ext uri="{FF2B5EF4-FFF2-40B4-BE49-F238E27FC236}">
                <a16:creationId xmlns:a16="http://schemas.microsoft.com/office/drawing/2014/main" id="{60B619DB-CCFD-4BCA-A4FE-D39289043CC7}"/>
              </a:ext>
            </a:extLst>
          </p:cNvPr>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5" name="Text Placeholder 4">
            <a:extLst>
              <a:ext uri="{FF2B5EF4-FFF2-40B4-BE49-F238E27FC236}">
                <a16:creationId xmlns:a16="http://schemas.microsoft.com/office/drawing/2014/main" id="{DA6B999C-8FCB-4895-BCFF-05AB1DE6D15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a:extLst>
              <a:ext uri="{FF2B5EF4-FFF2-40B4-BE49-F238E27FC236}">
                <a16:creationId xmlns:a16="http://schemas.microsoft.com/office/drawing/2014/main" id="{0809E0B5-FDA1-40F8-BF6F-C5A51C4B02CF}"/>
              </a:ext>
            </a:extLst>
          </p:cNvPr>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7" name="Date Placeholder 6">
            <a:extLst>
              <a:ext uri="{FF2B5EF4-FFF2-40B4-BE49-F238E27FC236}">
                <a16:creationId xmlns:a16="http://schemas.microsoft.com/office/drawing/2014/main" id="{EF80FF44-0222-461F-AAD0-6E76E02FA302}"/>
              </a:ext>
            </a:extLst>
          </p:cNvPr>
          <p:cNvSpPr>
            <a:spLocks noGrp="1"/>
          </p:cNvSpPr>
          <p:nvPr>
            <p:ph type="dt" sz="half" idx="10"/>
          </p:nvPr>
        </p:nvSpPr>
        <p:spPr/>
        <p:txBody>
          <a:bodyPr/>
          <a:lstStyle/>
          <a:p>
            <a:fld id="{B0CC16AE-9BD7-4F72-918B-06BB6DDCFC90}" type="datetimeFigureOut">
              <a:rPr lang="en-CH" smtClean="0"/>
              <a:t>15/06/2026</a:t>
            </a:fld>
            <a:endParaRPr lang="en-CH"/>
          </a:p>
        </p:txBody>
      </p:sp>
      <p:sp>
        <p:nvSpPr>
          <p:cNvPr id="8" name="Footer Placeholder 7">
            <a:extLst>
              <a:ext uri="{FF2B5EF4-FFF2-40B4-BE49-F238E27FC236}">
                <a16:creationId xmlns:a16="http://schemas.microsoft.com/office/drawing/2014/main" id="{2CA354C6-5D69-4BE8-A769-70C902D7EF96}"/>
              </a:ext>
            </a:extLst>
          </p:cNvPr>
          <p:cNvSpPr>
            <a:spLocks noGrp="1"/>
          </p:cNvSpPr>
          <p:nvPr>
            <p:ph type="ftr" sz="quarter" idx="11"/>
          </p:nvPr>
        </p:nvSpPr>
        <p:spPr/>
        <p:txBody>
          <a:bodyPr/>
          <a:lstStyle/>
          <a:p>
            <a:endParaRPr lang="en-CH"/>
          </a:p>
        </p:txBody>
      </p:sp>
      <p:sp>
        <p:nvSpPr>
          <p:cNvPr id="9" name="Slide Number Placeholder 8">
            <a:extLst>
              <a:ext uri="{FF2B5EF4-FFF2-40B4-BE49-F238E27FC236}">
                <a16:creationId xmlns:a16="http://schemas.microsoft.com/office/drawing/2014/main" id="{19D12C0A-EF36-45E1-B63C-886EC6ADBF09}"/>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126067024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815E33-FA10-4C38-8D70-F672BAAA814A}"/>
              </a:ext>
            </a:extLst>
          </p:cNvPr>
          <p:cNvSpPr>
            <a:spLocks noGrp="1"/>
          </p:cNvSpPr>
          <p:nvPr>
            <p:ph type="title"/>
          </p:nvPr>
        </p:nvSpPr>
        <p:spPr/>
        <p:txBody>
          <a:bodyPr/>
          <a:lstStyle/>
          <a:p>
            <a:r>
              <a:rPr lang="en-US"/>
              <a:t>Click to edit Master title style</a:t>
            </a:r>
            <a:endParaRPr lang="en-CH"/>
          </a:p>
        </p:txBody>
      </p:sp>
      <p:sp>
        <p:nvSpPr>
          <p:cNvPr id="3" name="Date Placeholder 2">
            <a:extLst>
              <a:ext uri="{FF2B5EF4-FFF2-40B4-BE49-F238E27FC236}">
                <a16:creationId xmlns:a16="http://schemas.microsoft.com/office/drawing/2014/main" id="{BE844539-7C84-4F4B-9D32-AC825820E087}"/>
              </a:ext>
            </a:extLst>
          </p:cNvPr>
          <p:cNvSpPr>
            <a:spLocks noGrp="1"/>
          </p:cNvSpPr>
          <p:nvPr>
            <p:ph type="dt" sz="half" idx="10"/>
          </p:nvPr>
        </p:nvSpPr>
        <p:spPr/>
        <p:txBody>
          <a:bodyPr/>
          <a:lstStyle/>
          <a:p>
            <a:fld id="{B0CC16AE-9BD7-4F72-918B-06BB6DDCFC90}" type="datetimeFigureOut">
              <a:rPr lang="en-CH" smtClean="0"/>
              <a:t>15/06/2026</a:t>
            </a:fld>
            <a:endParaRPr lang="en-CH"/>
          </a:p>
        </p:txBody>
      </p:sp>
      <p:sp>
        <p:nvSpPr>
          <p:cNvPr id="4" name="Footer Placeholder 3">
            <a:extLst>
              <a:ext uri="{FF2B5EF4-FFF2-40B4-BE49-F238E27FC236}">
                <a16:creationId xmlns:a16="http://schemas.microsoft.com/office/drawing/2014/main" id="{D338E92B-59E0-4ACE-8645-4E4CBD952C1C}"/>
              </a:ext>
            </a:extLst>
          </p:cNvPr>
          <p:cNvSpPr>
            <a:spLocks noGrp="1"/>
          </p:cNvSpPr>
          <p:nvPr>
            <p:ph type="ftr" sz="quarter" idx="11"/>
          </p:nvPr>
        </p:nvSpPr>
        <p:spPr/>
        <p:txBody>
          <a:bodyPr/>
          <a:lstStyle/>
          <a:p>
            <a:endParaRPr lang="en-CH"/>
          </a:p>
        </p:txBody>
      </p:sp>
      <p:sp>
        <p:nvSpPr>
          <p:cNvPr id="5" name="Slide Number Placeholder 4">
            <a:extLst>
              <a:ext uri="{FF2B5EF4-FFF2-40B4-BE49-F238E27FC236}">
                <a16:creationId xmlns:a16="http://schemas.microsoft.com/office/drawing/2014/main" id="{4BF0EAB6-478E-463B-9684-E33D3AFCF148}"/>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287150009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CACE9BC5-231F-424C-9292-421204E7AB06}"/>
              </a:ext>
            </a:extLst>
          </p:cNvPr>
          <p:cNvSpPr>
            <a:spLocks noGrp="1"/>
          </p:cNvSpPr>
          <p:nvPr>
            <p:ph type="dt" sz="half" idx="10"/>
          </p:nvPr>
        </p:nvSpPr>
        <p:spPr/>
        <p:txBody>
          <a:bodyPr/>
          <a:lstStyle/>
          <a:p>
            <a:fld id="{B0CC16AE-9BD7-4F72-918B-06BB6DDCFC90}" type="datetimeFigureOut">
              <a:rPr lang="en-CH" smtClean="0"/>
              <a:t>15/06/2026</a:t>
            </a:fld>
            <a:endParaRPr lang="en-CH"/>
          </a:p>
        </p:txBody>
      </p:sp>
      <p:sp>
        <p:nvSpPr>
          <p:cNvPr id="3" name="Footer Placeholder 2">
            <a:extLst>
              <a:ext uri="{FF2B5EF4-FFF2-40B4-BE49-F238E27FC236}">
                <a16:creationId xmlns:a16="http://schemas.microsoft.com/office/drawing/2014/main" id="{0C8A1EC2-0039-4A13-A0DC-D65CC9EF99CA}"/>
              </a:ext>
            </a:extLst>
          </p:cNvPr>
          <p:cNvSpPr>
            <a:spLocks noGrp="1"/>
          </p:cNvSpPr>
          <p:nvPr>
            <p:ph type="ftr" sz="quarter" idx="11"/>
          </p:nvPr>
        </p:nvSpPr>
        <p:spPr/>
        <p:txBody>
          <a:bodyPr/>
          <a:lstStyle/>
          <a:p>
            <a:endParaRPr lang="en-CH"/>
          </a:p>
        </p:txBody>
      </p:sp>
      <p:sp>
        <p:nvSpPr>
          <p:cNvPr id="4" name="Slide Number Placeholder 3">
            <a:extLst>
              <a:ext uri="{FF2B5EF4-FFF2-40B4-BE49-F238E27FC236}">
                <a16:creationId xmlns:a16="http://schemas.microsoft.com/office/drawing/2014/main" id="{A038B624-EB62-408B-927A-005174DDD862}"/>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41284260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9FCFC7-D823-438E-8A21-F8BDCBD0737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H"/>
          </a:p>
        </p:txBody>
      </p:sp>
      <p:sp>
        <p:nvSpPr>
          <p:cNvPr id="3" name="Content Placeholder 2">
            <a:extLst>
              <a:ext uri="{FF2B5EF4-FFF2-40B4-BE49-F238E27FC236}">
                <a16:creationId xmlns:a16="http://schemas.microsoft.com/office/drawing/2014/main" id="{92A41547-88DC-4E55-B4BD-1BC1E5F5F7D9}"/>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Text Placeholder 3">
            <a:extLst>
              <a:ext uri="{FF2B5EF4-FFF2-40B4-BE49-F238E27FC236}">
                <a16:creationId xmlns:a16="http://schemas.microsoft.com/office/drawing/2014/main" id="{811362F7-54E4-42C2-8966-580181119E7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5766D75D-AFA1-463B-B84E-D46727AA21A3}"/>
              </a:ext>
            </a:extLst>
          </p:cNvPr>
          <p:cNvSpPr>
            <a:spLocks noGrp="1"/>
          </p:cNvSpPr>
          <p:nvPr>
            <p:ph type="dt" sz="half" idx="10"/>
          </p:nvPr>
        </p:nvSpPr>
        <p:spPr/>
        <p:txBody>
          <a:bodyPr/>
          <a:lstStyle/>
          <a:p>
            <a:fld id="{B0CC16AE-9BD7-4F72-918B-06BB6DDCFC90}" type="datetimeFigureOut">
              <a:rPr lang="en-CH" smtClean="0"/>
              <a:t>15/06/2026</a:t>
            </a:fld>
            <a:endParaRPr lang="en-CH"/>
          </a:p>
        </p:txBody>
      </p:sp>
      <p:sp>
        <p:nvSpPr>
          <p:cNvPr id="6" name="Footer Placeholder 5">
            <a:extLst>
              <a:ext uri="{FF2B5EF4-FFF2-40B4-BE49-F238E27FC236}">
                <a16:creationId xmlns:a16="http://schemas.microsoft.com/office/drawing/2014/main" id="{78257DD7-DCAF-4EB8-A2D5-9CE10BB69A2D}"/>
              </a:ext>
            </a:extLst>
          </p:cNvPr>
          <p:cNvSpPr>
            <a:spLocks noGrp="1"/>
          </p:cNvSpPr>
          <p:nvPr>
            <p:ph type="ftr" sz="quarter" idx="11"/>
          </p:nvPr>
        </p:nvSpPr>
        <p:spPr/>
        <p:txBody>
          <a:bodyPr/>
          <a:lstStyle/>
          <a:p>
            <a:endParaRPr lang="en-CH"/>
          </a:p>
        </p:txBody>
      </p:sp>
      <p:sp>
        <p:nvSpPr>
          <p:cNvPr id="7" name="Slide Number Placeholder 6">
            <a:extLst>
              <a:ext uri="{FF2B5EF4-FFF2-40B4-BE49-F238E27FC236}">
                <a16:creationId xmlns:a16="http://schemas.microsoft.com/office/drawing/2014/main" id="{466A9742-1A39-4012-B3B1-E1642F3C5617}"/>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407604399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09139F-71DF-4AAB-B366-1880C5645CC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H"/>
          </a:p>
        </p:txBody>
      </p:sp>
      <p:sp>
        <p:nvSpPr>
          <p:cNvPr id="3" name="Picture Placeholder 2">
            <a:extLst>
              <a:ext uri="{FF2B5EF4-FFF2-40B4-BE49-F238E27FC236}">
                <a16:creationId xmlns:a16="http://schemas.microsoft.com/office/drawing/2014/main" id="{24B6779F-D7F2-4356-BC9B-F1ECA02C55C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CH"/>
          </a:p>
        </p:txBody>
      </p:sp>
      <p:sp>
        <p:nvSpPr>
          <p:cNvPr id="4" name="Text Placeholder 3">
            <a:extLst>
              <a:ext uri="{FF2B5EF4-FFF2-40B4-BE49-F238E27FC236}">
                <a16:creationId xmlns:a16="http://schemas.microsoft.com/office/drawing/2014/main" id="{8886B71A-6360-40EF-9FD5-DDA4BAA0AF9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5C27AD44-B784-41A4-8F49-C338CDB63F80}"/>
              </a:ext>
            </a:extLst>
          </p:cNvPr>
          <p:cNvSpPr>
            <a:spLocks noGrp="1"/>
          </p:cNvSpPr>
          <p:nvPr>
            <p:ph type="dt" sz="half" idx="10"/>
          </p:nvPr>
        </p:nvSpPr>
        <p:spPr/>
        <p:txBody>
          <a:bodyPr/>
          <a:lstStyle/>
          <a:p>
            <a:fld id="{B0CC16AE-9BD7-4F72-918B-06BB6DDCFC90}" type="datetimeFigureOut">
              <a:rPr lang="en-CH" smtClean="0"/>
              <a:t>15/06/2026</a:t>
            </a:fld>
            <a:endParaRPr lang="en-CH"/>
          </a:p>
        </p:txBody>
      </p:sp>
      <p:sp>
        <p:nvSpPr>
          <p:cNvPr id="6" name="Footer Placeholder 5">
            <a:extLst>
              <a:ext uri="{FF2B5EF4-FFF2-40B4-BE49-F238E27FC236}">
                <a16:creationId xmlns:a16="http://schemas.microsoft.com/office/drawing/2014/main" id="{AB921C2C-9E62-4E6A-8613-56485C63C400}"/>
              </a:ext>
            </a:extLst>
          </p:cNvPr>
          <p:cNvSpPr>
            <a:spLocks noGrp="1"/>
          </p:cNvSpPr>
          <p:nvPr>
            <p:ph type="ftr" sz="quarter" idx="11"/>
          </p:nvPr>
        </p:nvSpPr>
        <p:spPr/>
        <p:txBody>
          <a:bodyPr/>
          <a:lstStyle/>
          <a:p>
            <a:endParaRPr lang="en-CH"/>
          </a:p>
        </p:txBody>
      </p:sp>
      <p:sp>
        <p:nvSpPr>
          <p:cNvPr id="7" name="Slide Number Placeholder 6">
            <a:extLst>
              <a:ext uri="{FF2B5EF4-FFF2-40B4-BE49-F238E27FC236}">
                <a16:creationId xmlns:a16="http://schemas.microsoft.com/office/drawing/2014/main" id="{F96CA7D5-B9AB-46AC-8702-5D384977ECE9}"/>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360130404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555759-BA2B-40D3-8593-A46148F24CA3}"/>
              </a:ext>
            </a:extLst>
          </p:cNvPr>
          <p:cNvSpPr>
            <a:spLocks noGrp="1"/>
          </p:cNvSpPr>
          <p:nvPr>
            <p:ph type="title"/>
          </p:nvPr>
        </p:nvSpPr>
        <p:spPr/>
        <p:txBody>
          <a:bodyPr/>
          <a:lstStyle/>
          <a:p>
            <a:r>
              <a:rPr lang="en-US"/>
              <a:t>Click to edit Master title style</a:t>
            </a:r>
            <a:endParaRPr lang="en-CH"/>
          </a:p>
        </p:txBody>
      </p:sp>
      <p:sp>
        <p:nvSpPr>
          <p:cNvPr id="3" name="Vertical Text Placeholder 2">
            <a:extLst>
              <a:ext uri="{FF2B5EF4-FFF2-40B4-BE49-F238E27FC236}">
                <a16:creationId xmlns:a16="http://schemas.microsoft.com/office/drawing/2014/main" id="{E28C160A-5ADF-425F-B933-5E4357DE9270}"/>
              </a:ext>
            </a:extLst>
          </p:cNvPr>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Date Placeholder 3">
            <a:extLst>
              <a:ext uri="{FF2B5EF4-FFF2-40B4-BE49-F238E27FC236}">
                <a16:creationId xmlns:a16="http://schemas.microsoft.com/office/drawing/2014/main" id="{FE4E0661-584E-4C6D-96FA-6CC3F137946F}"/>
              </a:ext>
            </a:extLst>
          </p:cNvPr>
          <p:cNvSpPr>
            <a:spLocks noGrp="1"/>
          </p:cNvSpPr>
          <p:nvPr>
            <p:ph type="dt" sz="half" idx="10"/>
          </p:nvPr>
        </p:nvSpPr>
        <p:spPr/>
        <p:txBody>
          <a:bodyPr/>
          <a:lstStyle/>
          <a:p>
            <a:fld id="{B0CC16AE-9BD7-4F72-918B-06BB6DDCFC90}" type="datetimeFigureOut">
              <a:rPr lang="en-CH" smtClean="0"/>
              <a:t>15/06/2026</a:t>
            </a:fld>
            <a:endParaRPr lang="en-CH"/>
          </a:p>
        </p:txBody>
      </p:sp>
      <p:sp>
        <p:nvSpPr>
          <p:cNvPr id="5" name="Footer Placeholder 4">
            <a:extLst>
              <a:ext uri="{FF2B5EF4-FFF2-40B4-BE49-F238E27FC236}">
                <a16:creationId xmlns:a16="http://schemas.microsoft.com/office/drawing/2014/main" id="{6428CE99-E18B-4BEE-9DE3-5B4D3B28334F}"/>
              </a:ext>
            </a:extLst>
          </p:cNvPr>
          <p:cNvSpPr>
            <a:spLocks noGrp="1"/>
          </p:cNvSpPr>
          <p:nvPr>
            <p:ph type="ftr" sz="quarter" idx="11"/>
          </p:nvPr>
        </p:nvSpPr>
        <p:spPr/>
        <p:txBody>
          <a:bodyPr/>
          <a:lstStyle/>
          <a:p>
            <a:endParaRPr lang="en-CH"/>
          </a:p>
        </p:txBody>
      </p:sp>
      <p:sp>
        <p:nvSpPr>
          <p:cNvPr id="6" name="Slide Number Placeholder 5">
            <a:extLst>
              <a:ext uri="{FF2B5EF4-FFF2-40B4-BE49-F238E27FC236}">
                <a16:creationId xmlns:a16="http://schemas.microsoft.com/office/drawing/2014/main" id="{CD72563B-8603-4A15-AC7F-2D52697EE986}"/>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205614625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F3E47A7E-10A9-42D8-AA5E-7962DF56F2CF}"/>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CH"/>
          </a:p>
        </p:txBody>
      </p:sp>
      <p:sp>
        <p:nvSpPr>
          <p:cNvPr id="3" name="Vertical Text Placeholder 2">
            <a:extLst>
              <a:ext uri="{FF2B5EF4-FFF2-40B4-BE49-F238E27FC236}">
                <a16:creationId xmlns:a16="http://schemas.microsoft.com/office/drawing/2014/main" id="{B752D4BF-74E0-425C-B805-FA431FE71AFA}"/>
              </a:ext>
            </a:extLst>
          </p:cNvPr>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Date Placeholder 3">
            <a:extLst>
              <a:ext uri="{FF2B5EF4-FFF2-40B4-BE49-F238E27FC236}">
                <a16:creationId xmlns:a16="http://schemas.microsoft.com/office/drawing/2014/main" id="{91081249-1E5F-4657-92D6-F77FFC2642BB}"/>
              </a:ext>
            </a:extLst>
          </p:cNvPr>
          <p:cNvSpPr>
            <a:spLocks noGrp="1"/>
          </p:cNvSpPr>
          <p:nvPr>
            <p:ph type="dt" sz="half" idx="10"/>
          </p:nvPr>
        </p:nvSpPr>
        <p:spPr/>
        <p:txBody>
          <a:bodyPr/>
          <a:lstStyle/>
          <a:p>
            <a:fld id="{B0CC16AE-9BD7-4F72-918B-06BB6DDCFC90}" type="datetimeFigureOut">
              <a:rPr lang="en-CH" smtClean="0"/>
              <a:t>15/06/2026</a:t>
            </a:fld>
            <a:endParaRPr lang="en-CH"/>
          </a:p>
        </p:txBody>
      </p:sp>
      <p:sp>
        <p:nvSpPr>
          <p:cNvPr id="5" name="Footer Placeholder 4">
            <a:extLst>
              <a:ext uri="{FF2B5EF4-FFF2-40B4-BE49-F238E27FC236}">
                <a16:creationId xmlns:a16="http://schemas.microsoft.com/office/drawing/2014/main" id="{889C9D50-E54E-47A4-9468-3B764C63FC68}"/>
              </a:ext>
            </a:extLst>
          </p:cNvPr>
          <p:cNvSpPr>
            <a:spLocks noGrp="1"/>
          </p:cNvSpPr>
          <p:nvPr>
            <p:ph type="ftr" sz="quarter" idx="11"/>
          </p:nvPr>
        </p:nvSpPr>
        <p:spPr/>
        <p:txBody>
          <a:bodyPr/>
          <a:lstStyle/>
          <a:p>
            <a:endParaRPr lang="en-CH"/>
          </a:p>
        </p:txBody>
      </p:sp>
      <p:sp>
        <p:nvSpPr>
          <p:cNvPr id="6" name="Slide Number Placeholder 5">
            <a:extLst>
              <a:ext uri="{FF2B5EF4-FFF2-40B4-BE49-F238E27FC236}">
                <a16:creationId xmlns:a16="http://schemas.microsoft.com/office/drawing/2014/main" id="{125EBCD9-F077-4A28-8F87-6454256519C1}"/>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122087740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630B5737-CD86-420F-8F7E-82206E3EA462}"/>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CH"/>
          </a:p>
        </p:txBody>
      </p:sp>
      <p:sp>
        <p:nvSpPr>
          <p:cNvPr id="3" name="Text Placeholder 2">
            <a:extLst>
              <a:ext uri="{FF2B5EF4-FFF2-40B4-BE49-F238E27FC236}">
                <a16:creationId xmlns:a16="http://schemas.microsoft.com/office/drawing/2014/main" id="{484FC5AF-EA2A-4570-8A4B-3D41A7CADDD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Date Placeholder 3">
            <a:extLst>
              <a:ext uri="{FF2B5EF4-FFF2-40B4-BE49-F238E27FC236}">
                <a16:creationId xmlns:a16="http://schemas.microsoft.com/office/drawing/2014/main" id="{9C83C6E4-C120-4171-871E-14754EAC8915}"/>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B0CC16AE-9BD7-4F72-918B-06BB6DDCFC90}" type="datetimeFigureOut">
              <a:rPr lang="en-CH" smtClean="0"/>
              <a:t>15/06/2026</a:t>
            </a:fld>
            <a:endParaRPr lang="en-CH"/>
          </a:p>
        </p:txBody>
      </p:sp>
      <p:sp>
        <p:nvSpPr>
          <p:cNvPr id="5" name="Footer Placeholder 4">
            <a:extLst>
              <a:ext uri="{FF2B5EF4-FFF2-40B4-BE49-F238E27FC236}">
                <a16:creationId xmlns:a16="http://schemas.microsoft.com/office/drawing/2014/main" id="{4FEDE85E-59EC-494A-A436-6E09589BFA3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CH"/>
          </a:p>
        </p:txBody>
      </p:sp>
      <p:sp>
        <p:nvSpPr>
          <p:cNvPr id="6" name="Slide Number Placeholder 5">
            <a:extLst>
              <a:ext uri="{FF2B5EF4-FFF2-40B4-BE49-F238E27FC236}">
                <a16:creationId xmlns:a16="http://schemas.microsoft.com/office/drawing/2014/main" id="{02CAB59B-69FD-4AD2-A989-D03BF60AE98A}"/>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4D1E26A2-74E8-4FDA-9359-683B3A55E4F2}" type="slidenum">
              <a:rPr lang="en-CH" smtClean="0"/>
              <a:t>‹#›</a:t>
            </a:fld>
            <a:endParaRPr lang="en-CH"/>
          </a:p>
        </p:txBody>
      </p:sp>
    </p:spTree>
    <p:extLst>
      <p:ext uri="{BB962C8B-B14F-4D97-AF65-F5344CB8AC3E}">
        <p14:creationId xmlns:p14="http://schemas.microsoft.com/office/powerpoint/2010/main" val="375896942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CH"/>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image" Target="../media/image2.emf"/><Relationship Id="rId2" Type="http://schemas.openxmlformats.org/officeDocument/2006/relationships/image" Target="../media/image1.emf"/><Relationship Id="rId1" Type="http://schemas.openxmlformats.org/officeDocument/2006/relationships/slideLayout" Target="../slideLayouts/slideLayout7.xml"/><Relationship Id="rId4" Type="http://schemas.openxmlformats.org/officeDocument/2006/relationships/image" Target="../media/image3.emf"/></Relationships>
</file>

<file path=ppt/slides/_rels/slide4.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image" Target="../media/image4.emf"/><Relationship Id="rId1" Type="http://schemas.openxmlformats.org/officeDocument/2006/relationships/slideLayout" Target="../slideLayouts/slideLayout7.xml"/><Relationship Id="rId4" Type="http://schemas.openxmlformats.org/officeDocument/2006/relationships/image" Target="../media/image6.emf"/></Relationships>
</file>

<file path=ppt/slides/_rels/slide5.xml.rels><?xml version="1.0" encoding="UTF-8" standalone="yes"?>
<Relationships xmlns="http://schemas.openxmlformats.org/package/2006/relationships"><Relationship Id="rId3" Type="http://schemas.openxmlformats.org/officeDocument/2006/relationships/image" Target="../media/image8.emf"/><Relationship Id="rId2" Type="http://schemas.openxmlformats.org/officeDocument/2006/relationships/image" Target="../media/image7.emf"/><Relationship Id="rId1" Type="http://schemas.openxmlformats.org/officeDocument/2006/relationships/slideLayout" Target="../slideLayouts/slideLayout7.xml"/><Relationship Id="rId4" Type="http://schemas.openxmlformats.org/officeDocument/2006/relationships/image" Target="../media/image9.emf"/></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image" Target="../media/image11.emf"/><Relationship Id="rId2" Type="http://schemas.openxmlformats.org/officeDocument/2006/relationships/image" Target="../media/image10.emf"/><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13.emf"/><Relationship Id="rId2" Type="http://schemas.openxmlformats.org/officeDocument/2006/relationships/image" Target="../media/image12.emf"/><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21.emf"/><Relationship Id="rId2" Type="http://schemas.openxmlformats.org/officeDocument/2006/relationships/image" Target="../media/image20.emf"/><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23.emf"/><Relationship Id="rId2" Type="http://schemas.openxmlformats.org/officeDocument/2006/relationships/image" Target="../media/image22.emf"/><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30.pn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2.pn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image" Target="../media/image34.pn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7.png"/><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2" Type="http://schemas.openxmlformats.org/officeDocument/2006/relationships/image" Target="../media/image46.png"/><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2" Type="http://schemas.openxmlformats.org/officeDocument/2006/relationships/image" Target="../media/image47.png"/><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2" Type="http://schemas.openxmlformats.org/officeDocument/2006/relationships/image" Target="../media/image48.png"/><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image" Target="../media/image50.png"/><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image" Target="../media/image53.png"/><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2" Type="http://schemas.openxmlformats.org/officeDocument/2006/relationships/image" Target="../media/image55.png"/><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2" Type="http://schemas.openxmlformats.org/officeDocument/2006/relationships/image" Target="../media/image56.png"/><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2" Type="http://schemas.openxmlformats.org/officeDocument/2006/relationships/image" Target="../media/image57.png"/><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image" Target="../media/image58.png"/><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2" Type="http://schemas.openxmlformats.org/officeDocument/2006/relationships/image" Target="../media/image60.png"/><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image" Target="../media/image61.png"/><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2" Type="http://schemas.openxmlformats.org/officeDocument/2006/relationships/image" Target="../media/image63.png"/><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image" Target="../media/image64.png"/><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3" Type="http://schemas.openxmlformats.org/officeDocument/2006/relationships/image" Target="../media/image67.png"/><Relationship Id="rId2" Type="http://schemas.openxmlformats.org/officeDocument/2006/relationships/image" Target="../media/image66.png"/><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image" Target="../media/image68.png"/><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3" Type="http://schemas.openxmlformats.org/officeDocument/2006/relationships/image" Target="../media/image71.png"/><Relationship Id="rId2" Type="http://schemas.openxmlformats.org/officeDocument/2006/relationships/image" Target="../media/image70.png"/><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3" Type="http://schemas.openxmlformats.org/officeDocument/2006/relationships/image" Target="../media/image73.png"/><Relationship Id="rId2" Type="http://schemas.openxmlformats.org/officeDocument/2006/relationships/image" Target="../media/image72.png"/><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2" Type="http://schemas.openxmlformats.org/officeDocument/2006/relationships/image" Target="../media/image74.png"/><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2" Type="http://schemas.openxmlformats.org/officeDocument/2006/relationships/image" Target="../media/image75.png"/><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2" Type="http://schemas.openxmlformats.org/officeDocument/2006/relationships/image" Target="../media/image76.png"/><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3" Type="http://schemas.openxmlformats.org/officeDocument/2006/relationships/image" Target="../media/image78.png"/><Relationship Id="rId2" Type="http://schemas.openxmlformats.org/officeDocument/2006/relationships/image" Target="../media/image77.png"/><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3" Type="http://schemas.openxmlformats.org/officeDocument/2006/relationships/image" Target="../media/image80.png"/><Relationship Id="rId2" Type="http://schemas.openxmlformats.org/officeDocument/2006/relationships/image" Target="../media/image79.png"/><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2" Type="http://schemas.openxmlformats.org/officeDocument/2006/relationships/image" Target="../media/image81.png"/><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2" Type="http://schemas.openxmlformats.org/officeDocument/2006/relationships/image" Target="../media/image82.png"/><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3" Type="http://schemas.openxmlformats.org/officeDocument/2006/relationships/image" Target="../media/image84.png"/><Relationship Id="rId2" Type="http://schemas.openxmlformats.org/officeDocument/2006/relationships/image" Target="../media/image83.png"/><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2" Type="http://schemas.openxmlformats.org/officeDocument/2006/relationships/image" Target="../media/image85.png"/><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2" Type="http://schemas.openxmlformats.org/officeDocument/2006/relationships/image" Target="../media/image86.png"/><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2" Type="http://schemas.openxmlformats.org/officeDocument/2006/relationships/image" Target="../media/image87.png"/><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2" Type="http://schemas.openxmlformats.org/officeDocument/2006/relationships/image" Target="../media/image88.png"/><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2" Type="http://schemas.openxmlformats.org/officeDocument/2006/relationships/image" Target="../media/image89.png"/><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2" Type="http://schemas.openxmlformats.org/officeDocument/2006/relationships/image" Target="../media/image90.png"/><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2" Type="http://schemas.openxmlformats.org/officeDocument/2006/relationships/image" Target="../media/image91.png"/><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2" Type="http://schemas.openxmlformats.org/officeDocument/2006/relationships/image" Target="../media/image92.png"/><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2" Type="http://schemas.openxmlformats.org/officeDocument/2006/relationships/image" Target="../media/image93.png"/><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2" Type="http://schemas.openxmlformats.org/officeDocument/2006/relationships/image" Target="../media/image94.png"/><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2" Type="http://schemas.openxmlformats.org/officeDocument/2006/relationships/image" Target="../media/image95.png"/><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3" Type="http://schemas.openxmlformats.org/officeDocument/2006/relationships/image" Target="../media/image97.png"/><Relationship Id="rId2" Type="http://schemas.openxmlformats.org/officeDocument/2006/relationships/image" Target="../media/image96.png"/><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2" Type="http://schemas.openxmlformats.org/officeDocument/2006/relationships/image" Target="../media/image98.png"/><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2" Type="http://schemas.openxmlformats.org/officeDocument/2006/relationships/image" Target="../media/image99.png"/><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2" Type="http://schemas.openxmlformats.org/officeDocument/2006/relationships/image" Target="../media/image100.png"/><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2" Type="http://schemas.openxmlformats.org/officeDocument/2006/relationships/image" Target="../media/image101.png"/><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2" Type="http://schemas.openxmlformats.org/officeDocument/2006/relationships/image" Target="../media/image102.png"/><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2" Type="http://schemas.openxmlformats.org/officeDocument/2006/relationships/image" Target="../media/image103.png"/><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2" Type="http://schemas.openxmlformats.org/officeDocument/2006/relationships/image" Target="../media/image104.png"/><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3" Type="http://schemas.openxmlformats.org/officeDocument/2006/relationships/image" Target="../media/image106.png"/><Relationship Id="rId2" Type="http://schemas.openxmlformats.org/officeDocument/2006/relationships/image" Target="../media/image105.png"/><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3" Type="http://schemas.openxmlformats.org/officeDocument/2006/relationships/image" Target="../media/image108.png"/><Relationship Id="rId2" Type="http://schemas.openxmlformats.org/officeDocument/2006/relationships/image" Target="../media/image107.png"/><Relationship Id="rId1" Type="http://schemas.openxmlformats.org/officeDocument/2006/relationships/slideLayout" Target="../slideLayouts/slideLayout7.xml"/><Relationship Id="rId4" Type="http://schemas.openxmlformats.org/officeDocument/2006/relationships/image" Target="../media/image109.png"/></Relationships>
</file>

<file path=ppt/slides/_rels/slide83.xml.rels><?xml version="1.0" encoding="UTF-8" standalone="yes"?>
<Relationships xmlns="http://schemas.openxmlformats.org/package/2006/relationships"><Relationship Id="rId2" Type="http://schemas.openxmlformats.org/officeDocument/2006/relationships/image" Target="../media/image110.png"/><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3" Type="http://schemas.openxmlformats.org/officeDocument/2006/relationships/image" Target="../media/image112.png"/><Relationship Id="rId2" Type="http://schemas.openxmlformats.org/officeDocument/2006/relationships/image" Target="../media/image111.png"/><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3" Type="http://schemas.openxmlformats.org/officeDocument/2006/relationships/image" Target="../media/image114.png"/><Relationship Id="rId2" Type="http://schemas.openxmlformats.org/officeDocument/2006/relationships/image" Target="../media/image113.png"/><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2" Type="http://schemas.openxmlformats.org/officeDocument/2006/relationships/image" Target="../media/image115.png"/><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2" Type="http://schemas.openxmlformats.org/officeDocument/2006/relationships/image" Target="../media/image116.png"/><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3" Type="http://schemas.openxmlformats.org/officeDocument/2006/relationships/image" Target="../media/image118.png"/><Relationship Id="rId2" Type="http://schemas.openxmlformats.org/officeDocument/2006/relationships/image" Target="../media/image117.png"/><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3" Type="http://schemas.openxmlformats.org/officeDocument/2006/relationships/image" Target="../media/image120.png"/><Relationship Id="rId2" Type="http://schemas.openxmlformats.org/officeDocument/2006/relationships/image" Target="../media/image119.png"/><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2" Type="http://schemas.openxmlformats.org/officeDocument/2006/relationships/image" Target="../media/image121.png"/><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2" Type="http://schemas.openxmlformats.org/officeDocument/2006/relationships/image" Target="../media/image122.png"/><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2" Type="http://schemas.openxmlformats.org/officeDocument/2006/relationships/image" Target="../media/image123.png"/><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2" Type="http://schemas.openxmlformats.org/officeDocument/2006/relationships/image" Target="../media/image124.png"/><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2" Type="http://schemas.openxmlformats.org/officeDocument/2006/relationships/image" Target="../media/image125.png"/><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2" Type="http://schemas.openxmlformats.org/officeDocument/2006/relationships/image" Target="../media/image126.png"/><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2" Type="http://schemas.openxmlformats.org/officeDocument/2006/relationships/image" Target="../media/image127.png"/><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2" Type="http://schemas.openxmlformats.org/officeDocument/2006/relationships/image" Target="../media/image128.png"/><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3" Type="http://schemas.openxmlformats.org/officeDocument/2006/relationships/image" Target="../media/image130.png"/><Relationship Id="rId2" Type="http://schemas.openxmlformats.org/officeDocument/2006/relationships/image" Target="../media/image129.png"/><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2" Type="http://schemas.openxmlformats.org/officeDocument/2006/relationships/image" Target="../media/image131.png"/><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3" Type="http://schemas.openxmlformats.org/officeDocument/2006/relationships/image" Target="../media/image133.png"/><Relationship Id="rId2" Type="http://schemas.openxmlformats.org/officeDocument/2006/relationships/image" Target="../media/image132.png"/><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2" Type="http://schemas.openxmlformats.org/officeDocument/2006/relationships/image" Target="../media/image134.png"/><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2" Type="http://schemas.openxmlformats.org/officeDocument/2006/relationships/image" Target="../media/image135.png"/><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3" Type="http://schemas.openxmlformats.org/officeDocument/2006/relationships/image" Target="../media/image137.png"/><Relationship Id="rId2" Type="http://schemas.openxmlformats.org/officeDocument/2006/relationships/image" Target="../media/image136.png"/><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2" Type="http://schemas.openxmlformats.org/officeDocument/2006/relationships/image" Target="../media/image138.png"/><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3" Type="http://schemas.openxmlformats.org/officeDocument/2006/relationships/image" Target="../media/image140.png"/><Relationship Id="rId2" Type="http://schemas.openxmlformats.org/officeDocument/2006/relationships/image" Target="../media/image139.png"/><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3" Type="http://schemas.openxmlformats.org/officeDocument/2006/relationships/image" Target="../media/image142.png"/><Relationship Id="rId2" Type="http://schemas.openxmlformats.org/officeDocument/2006/relationships/image" Target="../media/image141.png"/><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3" Type="http://schemas.openxmlformats.org/officeDocument/2006/relationships/image" Target="../media/image144.png"/><Relationship Id="rId2" Type="http://schemas.openxmlformats.org/officeDocument/2006/relationships/image" Target="../media/image143.png"/><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3" Type="http://schemas.openxmlformats.org/officeDocument/2006/relationships/image" Target="../media/image146.png"/><Relationship Id="rId2" Type="http://schemas.openxmlformats.org/officeDocument/2006/relationships/image" Target="../media/image145.png"/><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2" Type="http://schemas.openxmlformats.org/officeDocument/2006/relationships/image" Target="../media/image147.png"/><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3" Type="http://schemas.openxmlformats.org/officeDocument/2006/relationships/image" Target="../media/image149.png"/><Relationship Id="rId2" Type="http://schemas.openxmlformats.org/officeDocument/2006/relationships/image" Target="../media/image148.png"/><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2" Type="http://schemas.openxmlformats.org/officeDocument/2006/relationships/image" Target="../media/image150.png"/><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3" Type="http://schemas.openxmlformats.org/officeDocument/2006/relationships/image" Target="../media/image152.png"/><Relationship Id="rId2" Type="http://schemas.openxmlformats.org/officeDocument/2006/relationships/image" Target="../media/image151.png"/><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3" Type="http://schemas.openxmlformats.org/officeDocument/2006/relationships/image" Target="../media/image154.png"/><Relationship Id="rId2" Type="http://schemas.openxmlformats.org/officeDocument/2006/relationships/image" Target="../media/image153.png"/><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2" Type="http://schemas.openxmlformats.org/officeDocument/2006/relationships/image" Target="../media/image155.png"/><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3" Type="http://schemas.openxmlformats.org/officeDocument/2006/relationships/image" Target="../media/image157.png"/><Relationship Id="rId2" Type="http://schemas.openxmlformats.org/officeDocument/2006/relationships/image" Target="../media/image156.png"/><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2" Type="http://schemas.openxmlformats.org/officeDocument/2006/relationships/image" Target="../media/image158.png"/><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3" Type="http://schemas.openxmlformats.org/officeDocument/2006/relationships/image" Target="../media/image160.png"/><Relationship Id="rId2" Type="http://schemas.openxmlformats.org/officeDocument/2006/relationships/image" Target="../media/image159.png"/><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2" Type="http://schemas.openxmlformats.org/officeDocument/2006/relationships/image" Target="../media/image161.png"/><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3" Type="http://schemas.openxmlformats.org/officeDocument/2006/relationships/image" Target="../media/image163.png"/><Relationship Id="rId2" Type="http://schemas.openxmlformats.org/officeDocument/2006/relationships/image" Target="../media/image162.png"/><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2" Type="http://schemas.openxmlformats.org/officeDocument/2006/relationships/image" Target="../media/image164.png"/><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3" Type="http://schemas.openxmlformats.org/officeDocument/2006/relationships/image" Target="../media/image166.png"/><Relationship Id="rId2" Type="http://schemas.openxmlformats.org/officeDocument/2006/relationships/image" Target="../media/image165.png"/><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2" Type="http://schemas.openxmlformats.org/officeDocument/2006/relationships/image" Target="../media/image167.png"/><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2" Type="http://schemas.openxmlformats.org/officeDocument/2006/relationships/image" Target="../media/image168.png"/><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3" Type="http://schemas.openxmlformats.org/officeDocument/2006/relationships/image" Target="../media/image170.png"/><Relationship Id="rId2" Type="http://schemas.openxmlformats.org/officeDocument/2006/relationships/image" Target="../media/image169.png"/><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2" Type="http://schemas.openxmlformats.org/officeDocument/2006/relationships/image" Target="../media/image171.png"/><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2" Type="http://schemas.openxmlformats.org/officeDocument/2006/relationships/image" Target="../media/image172.png"/><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2" Type="http://schemas.openxmlformats.org/officeDocument/2006/relationships/image" Target="../media/image173.png"/><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3" Type="http://schemas.openxmlformats.org/officeDocument/2006/relationships/image" Target="../media/image174.png"/><Relationship Id="rId2" Type="http://schemas.openxmlformats.org/officeDocument/2006/relationships/image" Target="../media/image114.png"/><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2" Type="http://schemas.openxmlformats.org/officeDocument/2006/relationships/image" Target="../media/image175.png"/><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2" Type="http://schemas.openxmlformats.org/officeDocument/2006/relationships/image" Target="../media/image176.png"/><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3" Type="http://schemas.openxmlformats.org/officeDocument/2006/relationships/image" Target="../media/image178.png"/><Relationship Id="rId2" Type="http://schemas.openxmlformats.org/officeDocument/2006/relationships/image" Target="../media/image177.png"/><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3" Type="http://schemas.openxmlformats.org/officeDocument/2006/relationships/image" Target="../media/image180.png"/><Relationship Id="rId2" Type="http://schemas.openxmlformats.org/officeDocument/2006/relationships/image" Target="../media/image179.pn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2EEAB2-4C3C-4E1E-8487-EA312F45A224}"/>
              </a:ext>
            </a:extLst>
          </p:cNvPr>
          <p:cNvSpPr>
            <a:spLocks noGrp="1"/>
          </p:cNvSpPr>
          <p:nvPr>
            <p:ph type="ctrTitle"/>
          </p:nvPr>
        </p:nvSpPr>
        <p:spPr/>
        <p:txBody>
          <a:bodyPr/>
          <a:lstStyle/>
          <a:p>
            <a:r>
              <a:rPr lang="en-US" dirty="0"/>
              <a:t>IM Simulation </a:t>
            </a:r>
            <a:endParaRPr lang="en-CH" dirty="0"/>
          </a:p>
        </p:txBody>
      </p:sp>
      <p:sp>
        <p:nvSpPr>
          <p:cNvPr id="3" name="Subtitle 2">
            <a:extLst>
              <a:ext uri="{FF2B5EF4-FFF2-40B4-BE49-F238E27FC236}">
                <a16:creationId xmlns:a16="http://schemas.microsoft.com/office/drawing/2014/main" id="{509D3031-7FD4-40CE-8592-24A3D4489531}"/>
              </a:ext>
            </a:extLst>
          </p:cNvPr>
          <p:cNvSpPr>
            <a:spLocks noGrp="1"/>
          </p:cNvSpPr>
          <p:nvPr>
            <p:ph type="subTitle" idx="1"/>
          </p:nvPr>
        </p:nvSpPr>
        <p:spPr/>
        <p:txBody>
          <a:bodyPr/>
          <a:lstStyle/>
          <a:p>
            <a:r>
              <a:rPr lang="en-US" dirty="0"/>
              <a:t>Mediated Binding Version</a:t>
            </a:r>
            <a:endParaRPr lang="en-CH" dirty="0"/>
          </a:p>
        </p:txBody>
      </p:sp>
    </p:spTree>
    <p:extLst>
      <p:ext uri="{BB962C8B-B14F-4D97-AF65-F5344CB8AC3E}">
        <p14:creationId xmlns:p14="http://schemas.microsoft.com/office/powerpoint/2010/main" val="90652021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6D7AC9-FECE-47ED-91CF-3674F9A167F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7E285E9-D042-9151-E3DB-25EF9EA8FA76}"/>
              </a:ext>
            </a:extLst>
          </p:cNvPr>
          <p:cNvSpPr>
            <a:spLocks noGrp="1"/>
          </p:cNvSpPr>
          <p:nvPr>
            <p:ph type="title"/>
          </p:nvPr>
        </p:nvSpPr>
        <p:spPr/>
        <p:txBody>
          <a:bodyPr/>
          <a:lstStyle/>
          <a:p>
            <a:r>
              <a:rPr lang="en-CH" dirty="0"/>
              <a:t>From Previous Versions: </a:t>
            </a:r>
            <a:br>
              <a:rPr lang="en-CH" dirty="0"/>
            </a:br>
            <a:r>
              <a:rPr lang="en-CH" dirty="0"/>
              <a:t>Effect of </a:t>
            </a:r>
            <a:r>
              <a:rPr lang="en-CH" dirty="0" err="1"/>
              <a:t>Pbase</a:t>
            </a:r>
            <a:r>
              <a:rPr lang="en-CH" dirty="0"/>
              <a:t> and Delta on SPC</a:t>
            </a:r>
          </a:p>
        </p:txBody>
      </p:sp>
      <p:sp>
        <p:nvSpPr>
          <p:cNvPr id="4" name="Text Placeholder 3">
            <a:extLst>
              <a:ext uri="{FF2B5EF4-FFF2-40B4-BE49-F238E27FC236}">
                <a16:creationId xmlns:a16="http://schemas.microsoft.com/office/drawing/2014/main" id="{98D4D3A4-B94A-4783-727D-5F647C7F99E3}"/>
              </a:ext>
            </a:extLst>
          </p:cNvPr>
          <p:cNvSpPr>
            <a:spLocks noGrp="1"/>
          </p:cNvSpPr>
          <p:nvPr>
            <p:ph type="body" idx="1"/>
          </p:nvPr>
        </p:nvSpPr>
        <p:spPr/>
        <p:txBody>
          <a:bodyPr/>
          <a:lstStyle/>
          <a:p>
            <a:r>
              <a:rPr lang="en-CH" dirty="0"/>
              <a:t>Lower Delta increases recency, and </a:t>
            </a:r>
            <a:r>
              <a:rPr lang="en-CH"/>
              <a:t>increases performance. </a:t>
            </a:r>
          </a:p>
          <a:p>
            <a:r>
              <a:rPr lang="en-CH"/>
              <a:t>Lower </a:t>
            </a:r>
            <a:r>
              <a:rPr lang="en-CH" dirty="0" err="1"/>
              <a:t>Pbase</a:t>
            </a:r>
            <a:r>
              <a:rPr lang="en-CH" dirty="0"/>
              <a:t> appears to just increase performance overall</a:t>
            </a:r>
          </a:p>
        </p:txBody>
      </p:sp>
    </p:spTree>
    <p:extLst>
      <p:ext uri="{BB962C8B-B14F-4D97-AF65-F5344CB8AC3E}">
        <p14:creationId xmlns:p14="http://schemas.microsoft.com/office/powerpoint/2010/main" val="194694284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1CA08042-A24E-52DE-4780-EA8885EB371C}"/>
              </a:ext>
            </a:extLst>
          </p:cNvPr>
          <p:cNvSpPr txBox="1"/>
          <p:nvPr/>
        </p:nvSpPr>
        <p:spPr>
          <a:xfrm>
            <a:off x="352612" y="376518"/>
            <a:ext cx="2469330" cy="369332"/>
          </a:xfrm>
          <a:prstGeom prst="rect">
            <a:avLst/>
          </a:prstGeom>
          <a:noFill/>
        </p:spPr>
        <p:txBody>
          <a:bodyPr wrap="none" rtlCol="0">
            <a:spAutoFit/>
          </a:bodyPr>
          <a:lstStyle/>
          <a:p>
            <a:r>
              <a:rPr lang="en-CH" dirty="0" err="1"/>
              <a:t>Pbase</a:t>
            </a:r>
            <a:r>
              <a:rPr lang="en-CH" dirty="0"/>
              <a:t> = 0.3, delta = 0.85</a:t>
            </a:r>
          </a:p>
        </p:txBody>
      </p:sp>
      <p:pic>
        <p:nvPicPr>
          <p:cNvPr id="5" name="Picture 4">
            <a:extLst>
              <a:ext uri="{FF2B5EF4-FFF2-40B4-BE49-F238E27FC236}">
                <a16:creationId xmlns:a16="http://schemas.microsoft.com/office/drawing/2014/main" id="{A292D251-0F1C-E9DD-D8E5-69C6D200EA28}"/>
              </a:ext>
            </a:extLst>
          </p:cNvPr>
          <p:cNvPicPr>
            <a:picLocks noChangeAspect="1"/>
          </p:cNvPicPr>
          <p:nvPr/>
        </p:nvPicPr>
        <p:blipFill>
          <a:blip r:embed="rId2"/>
          <a:stretch>
            <a:fillRect/>
          </a:stretch>
        </p:blipFill>
        <p:spPr>
          <a:xfrm>
            <a:off x="6243918" y="49866"/>
            <a:ext cx="4382247" cy="3286685"/>
          </a:xfrm>
          <a:prstGeom prst="rect">
            <a:avLst/>
          </a:prstGeom>
        </p:spPr>
      </p:pic>
      <p:pic>
        <p:nvPicPr>
          <p:cNvPr id="7" name="Picture 6">
            <a:extLst>
              <a:ext uri="{FF2B5EF4-FFF2-40B4-BE49-F238E27FC236}">
                <a16:creationId xmlns:a16="http://schemas.microsoft.com/office/drawing/2014/main" id="{06A0BA2B-5125-F651-AC71-2B4B445D91F9}"/>
              </a:ext>
            </a:extLst>
          </p:cNvPr>
          <p:cNvPicPr>
            <a:picLocks noChangeAspect="1"/>
          </p:cNvPicPr>
          <p:nvPr/>
        </p:nvPicPr>
        <p:blipFill>
          <a:blip r:embed="rId3"/>
          <a:stretch>
            <a:fillRect/>
          </a:stretch>
        </p:blipFill>
        <p:spPr>
          <a:xfrm>
            <a:off x="82176" y="1279337"/>
            <a:ext cx="5960037" cy="4470028"/>
          </a:xfrm>
          <a:prstGeom prst="rect">
            <a:avLst/>
          </a:prstGeom>
        </p:spPr>
      </p:pic>
      <p:pic>
        <p:nvPicPr>
          <p:cNvPr id="8" name="Picture 7">
            <a:extLst>
              <a:ext uri="{FF2B5EF4-FFF2-40B4-BE49-F238E27FC236}">
                <a16:creationId xmlns:a16="http://schemas.microsoft.com/office/drawing/2014/main" id="{9EA56FEE-B555-FD75-92AB-E3FE609EE047}"/>
              </a:ext>
            </a:extLst>
          </p:cNvPr>
          <p:cNvPicPr>
            <a:picLocks noChangeAspect="1"/>
          </p:cNvPicPr>
          <p:nvPr/>
        </p:nvPicPr>
        <p:blipFill>
          <a:blip r:embed="rId4"/>
          <a:stretch>
            <a:fillRect/>
          </a:stretch>
        </p:blipFill>
        <p:spPr>
          <a:xfrm>
            <a:off x="6243918" y="3472703"/>
            <a:ext cx="4513729" cy="3385297"/>
          </a:xfrm>
          <a:prstGeom prst="rect">
            <a:avLst/>
          </a:prstGeom>
        </p:spPr>
      </p:pic>
    </p:spTree>
    <p:extLst>
      <p:ext uri="{BB962C8B-B14F-4D97-AF65-F5344CB8AC3E}">
        <p14:creationId xmlns:p14="http://schemas.microsoft.com/office/powerpoint/2010/main" val="325383931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EC18A2-6CB4-00F7-035C-7767359BDF14}"/>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746688D-477D-3BD9-CE89-CD417E7617C4}"/>
              </a:ext>
            </a:extLst>
          </p:cNvPr>
          <p:cNvSpPr txBox="1"/>
          <p:nvPr/>
        </p:nvSpPr>
        <p:spPr>
          <a:xfrm>
            <a:off x="352612" y="376518"/>
            <a:ext cx="2469330" cy="369332"/>
          </a:xfrm>
          <a:prstGeom prst="rect">
            <a:avLst/>
          </a:prstGeom>
          <a:noFill/>
        </p:spPr>
        <p:txBody>
          <a:bodyPr wrap="none" rtlCol="0">
            <a:spAutoFit/>
          </a:bodyPr>
          <a:lstStyle/>
          <a:p>
            <a:r>
              <a:rPr lang="en-CH" dirty="0" err="1"/>
              <a:t>Pbase</a:t>
            </a:r>
            <a:r>
              <a:rPr lang="en-CH" dirty="0"/>
              <a:t> = 0.5, delta = 0.75</a:t>
            </a:r>
          </a:p>
        </p:txBody>
      </p:sp>
      <p:pic>
        <p:nvPicPr>
          <p:cNvPr id="2" name="Picture 1">
            <a:extLst>
              <a:ext uri="{FF2B5EF4-FFF2-40B4-BE49-F238E27FC236}">
                <a16:creationId xmlns:a16="http://schemas.microsoft.com/office/drawing/2014/main" id="{DAF46ACC-FC55-6769-8C6C-E404A486FED0}"/>
              </a:ext>
            </a:extLst>
          </p:cNvPr>
          <p:cNvPicPr>
            <a:picLocks noChangeAspect="1"/>
          </p:cNvPicPr>
          <p:nvPr/>
        </p:nvPicPr>
        <p:blipFill>
          <a:blip r:embed="rId2"/>
          <a:stretch>
            <a:fillRect/>
          </a:stretch>
        </p:blipFill>
        <p:spPr>
          <a:xfrm>
            <a:off x="6858001" y="1"/>
            <a:ext cx="4519706" cy="3389780"/>
          </a:xfrm>
          <a:prstGeom prst="rect">
            <a:avLst/>
          </a:prstGeom>
        </p:spPr>
      </p:pic>
      <p:pic>
        <p:nvPicPr>
          <p:cNvPr id="3" name="Picture 2">
            <a:extLst>
              <a:ext uri="{FF2B5EF4-FFF2-40B4-BE49-F238E27FC236}">
                <a16:creationId xmlns:a16="http://schemas.microsoft.com/office/drawing/2014/main" id="{D0D0FFCE-73B4-3C98-2008-00ED39C5D0C3}"/>
              </a:ext>
            </a:extLst>
          </p:cNvPr>
          <p:cNvPicPr>
            <a:picLocks noChangeAspect="1"/>
          </p:cNvPicPr>
          <p:nvPr/>
        </p:nvPicPr>
        <p:blipFill>
          <a:blip r:embed="rId3"/>
          <a:stretch>
            <a:fillRect/>
          </a:stretch>
        </p:blipFill>
        <p:spPr>
          <a:xfrm>
            <a:off x="6962588" y="3429000"/>
            <a:ext cx="4519706" cy="3389780"/>
          </a:xfrm>
          <a:prstGeom prst="rect">
            <a:avLst/>
          </a:prstGeom>
        </p:spPr>
      </p:pic>
      <p:pic>
        <p:nvPicPr>
          <p:cNvPr id="9" name="Picture 8">
            <a:extLst>
              <a:ext uri="{FF2B5EF4-FFF2-40B4-BE49-F238E27FC236}">
                <a16:creationId xmlns:a16="http://schemas.microsoft.com/office/drawing/2014/main" id="{CDE1B37B-5D72-2460-BCC8-58165C1076E4}"/>
              </a:ext>
            </a:extLst>
          </p:cNvPr>
          <p:cNvPicPr>
            <a:picLocks noChangeAspect="1"/>
          </p:cNvPicPr>
          <p:nvPr/>
        </p:nvPicPr>
        <p:blipFill>
          <a:blip r:embed="rId4"/>
          <a:stretch>
            <a:fillRect/>
          </a:stretch>
        </p:blipFill>
        <p:spPr>
          <a:xfrm>
            <a:off x="275944" y="1098177"/>
            <a:ext cx="6010275" cy="4876800"/>
          </a:xfrm>
          <a:prstGeom prst="rect">
            <a:avLst/>
          </a:prstGeom>
        </p:spPr>
      </p:pic>
    </p:spTree>
    <p:extLst>
      <p:ext uri="{BB962C8B-B14F-4D97-AF65-F5344CB8AC3E}">
        <p14:creationId xmlns:p14="http://schemas.microsoft.com/office/powerpoint/2010/main" val="93540002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FED1B9-31F0-2787-B4F6-49380207D629}"/>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A41967F-5A7A-FBA2-6F17-5ECF3A8EFF10}"/>
              </a:ext>
            </a:extLst>
          </p:cNvPr>
          <p:cNvSpPr txBox="1"/>
          <p:nvPr/>
        </p:nvSpPr>
        <p:spPr>
          <a:xfrm>
            <a:off x="352612" y="376518"/>
            <a:ext cx="2469330" cy="369332"/>
          </a:xfrm>
          <a:prstGeom prst="rect">
            <a:avLst/>
          </a:prstGeom>
          <a:noFill/>
        </p:spPr>
        <p:txBody>
          <a:bodyPr wrap="none" rtlCol="0">
            <a:spAutoFit/>
          </a:bodyPr>
          <a:lstStyle/>
          <a:p>
            <a:r>
              <a:rPr lang="en-CH" dirty="0" err="1"/>
              <a:t>Pbase</a:t>
            </a:r>
            <a:r>
              <a:rPr lang="en-CH" dirty="0"/>
              <a:t> = 0.3, delta = 0.75</a:t>
            </a:r>
          </a:p>
        </p:txBody>
      </p:sp>
      <p:pic>
        <p:nvPicPr>
          <p:cNvPr id="5" name="Picture 4">
            <a:extLst>
              <a:ext uri="{FF2B5EF4-FFF2-40B4-BE49-F238E27FC236}">
                <a16:creationId xmlns:a16="http://schemas.microsoft.com/office/drawing/2014/main" id="{43B2B0C4-37B0-4C9E-A39D-781B39C2C476}"/>
              </a:ext>
            </a:extLst>
          </p:cNvPr>
          <p:cNvPicPr>
            <a:picLocks noChangeAspect="1"/>
          </p:cNvPicPr>
          <p:nvPr/>
        </p:nvPicPr>
        <p:blipFill>
          <a:blip r:embed="rId2"/>
          <a:stretch>
            <a:fillRect/>
          </a:stretch>
        </p:blipFill>
        <p:spPr>
          <a:xfrm>
            <a:off x="0" y="1361701"/>
            <a:ext cx="6267450" cy="5162550"/>
          </a:xfrm>
          <a:prstGeom prst="rect">
            <a:avLst/>
          </a:prstGeom>
        </p:spPr>
      </p:pic>
      <p:pic>
        <p:nvPicPr>
          <p:cNvPr id="7" name="Picture 6">
            <a:extLst>
              <a:ext uri="{FF2B5EF4-FFF2-40B4-BE49-F238E27FC236}">
                <a16:creationId xmlns:a16="http://schemas.microsoft.com/office/drawing/2014/main" id="{EA2CEC84-7031-572F-1DB0-81E8009145DA}"/>
              </a:ext>
            </a:extLst>
          </p:cNvPr>
          <p:cNvPicPr>
            <a:picLocks noChangeAspect="1"/>
          </p:cNvPicPr>
          <p:nvPr/>
        </p:nvPicPr>
        <p:blipFill>
          <a:blip r:embed="rId3"/>
          <a:stretch>
            <a:fillRect/>
          </a:stretch>
        </p:blipFill>
        <p:spPr>
          <a:xfrm>
            <a:off x="7058212" y="137833"/>
            <a:ext cx="4117788" cy="3088341"/>
          </a:xfrm>
          <a:prstGeom prst="rect">
            <a:avLst/>
          </a:prstGeom>
        </p:spPr>
      </p:pic>
      <p:pic>
        <p:nvPicPr>
          <p:cNvPr id="8" name="Picture 7">
            <a:extLst>
              <a:ext uri="{FF2B5EF4-FFF2-40B4-BE49-F238E27FC236}">
                <a16:creationId xmlns:a16="http://schemas.microsoft.com/office/drawing/2014/main" id="{4829EDBE-FCAA-17B1-0C24-E0DD308DED6A}"/>
              </a:ext>
            </a:extLst>
          </p:cNvPr>
          <p:cNvPicPr>
            <a:picLocks noChangeAspect="1"/>
          </p:cNvPicPr>
          <p:nvPr/>
        </p:nvPicPr>
        <p:blipFill>
          <a:blip r:embed="rId4"/>
          <a:stretch>
            <a:fillRect/>
          </a:stretch>
        </p:blipFill>
        <p:spPr>
          <a:xfrm>
            <a:off x="6835588" y="3429000"/>
            <a:ext cx="4467907" cy="3350930"/>
          </a:xfrm>
          <a:prstGeom prst="rect">
            <a:avLst/>
          </a:prstGeom>
        </p:spPr>
      </p:pic>
    </p:spTree>
    <p:extLst>
      <p:ext uri="{BB962C8B-B14F-4D97-AF65-F5344CB8AC3E}">
        <p14:creationId xmlns:p14="http://schemas.microsoft.com/office/powerpoint/2010/main" val="340659310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6D8D32-D334-428E-A1D6-D706C1D998C6}"/>
              </a:ext>
            </a:extLst>
          </p:cNvPr>
          <p:cNvSpPr>
            <a:spLocks noGrp="1"/>
          </p:cNvSpPr>
          <p:nvPr>
            <p:ph type="title"/>
          </p:nvPr>
        </p:nvSpPr>
        <p:spPr/>
        <p:txBody>
          <a:bodyPr/>
          <a:lstStyle/>
          <a:p>
            <a:r>
              <a:rPr lang="en-CH" dirty="0"/>
              <a:t>From Previous Versions: </a:t>
            </a:r>
            <a:br>
              <a:rPr lang="en-CH" dirty="0"/>
            </a:br>
            <a:r>
              <a:rPr lang="en-US" dirty="0"/>
              <a:t>Parametric variations of parameters</a:t>
            </a:r>
            <a:endParaRPr lang="en-CH" dirty="0"/>
          </a:p>
        </p:txBody>
      </p:sp>
      <p:sp>
        <p:nvSpPr>
          <p:cNvPr id="4" name="Text Placeholder 3">
            <a:extLst>
              <a:ext uri="{FF2B5EF4-FFF2-40B4-BE49-F238E27FC236}">
                <a16:creationId xmlns:a16="http://schemas.microsoft.com/office/drawing/2014/main" id="{86FA51DD-4202-4286-A2A4-D1D966543B78}"/>
              </a:ext>
            </a:extLst>
          </p:cNvPr>
          <p:cNvSpPr>
            <a:spLocks noGrp="1"/>
          </p:cNvSpPr>
          <p:nvPr>
            <p:ph type="body" idx="1"/>
          </p:nvPr>
        </p:nvSpPr>
        <p:spPr/>
        <p:txBody>
          <a:bodyPr/>
          <a:lstStyle/>
          <a:p>
            <a:endParaRPr lang="en-CH"/>
          </a:p>
        </p:txBody>
      </p:sp>
    </p:spTree>
    <p:extLst>
      <p:ext uri="{BB962C8B-B14F-4D97-AF65-F5344CB8AC3E}">
        <p14:creationId xmlns:p14="http://schemas.microsoft.com/office/powerpoint/2010/main" val="383324660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6B1217FC-9425-AA7B-A884-1C1C7856001A}"/>
              </a:ext>
            </a:extLst>
          </p:cNvPr>
          <p:cNvPicPr>
            <a:picLocks noChangeAspect="1"/>
          </p:cNvPicPr>
          <p:nvPr/>
        </p:nvPicPr>
        <p:blipFill>
          <a:blip r:embed="rId2"/>
          <a:stretch>
            <a:fillRect/>
          </a:stretch>
        </p:blipFill>
        <p:spPr>
          <a:xfrm>
            <a:off x="546455" y="1019175"/>
            <a:ext cx="5591175" cy="4819650"/>
          </a:xfrm>
          <a:prstGeom prst="rect">
            <a:avLst/>
          </a:prstGeom>
        </p:spPr>
      </p:pic>
      <p:pic>
        <p:nvPicPr>
          <p:cNvPr id="5" name="Picture 4">
            <a:extLst>
              <a:ext uri="{FF2B5EF4-FFF2-40B4-BE49-F238E27FC236}">
                <a16:creationId xmlns:a16="http://schemas.microsoft.com/office/drawing/2014/main" id="{8F62606E-F1E4-EEA8-7F2C-0C19E24E691F}"/>
              </a:ext>
            </a:extLst>
          </p:cNvPr>
          <p:cNvPicPr>
            <a:picLocks noChangeAspect="1"/>
          </p:cNvPicPr>
          <p:nvPr/>
        </p:nvPicPr>
        <p:blipFill>
          <a:blip r:embed="rId3"/>
          <a:stretch>
            <a:fillRect/>
          </a:stretch>
        </p:blipFill>
        <p:spPr>
          <a:xfrm>
            <a:off x="5916089" y="907396"/>
            <a:ext cx="6696075" cy="5419725"/>
          </a:xfrm>
          <a:prstGeom prst="rect">
            <a:avLst/>
          </a:prstGeom>
        </p:spPr>
      </p:pic>
    </p:spTree>
    <p:extLst>
      <p:ext uri="{BB962C8B-B14F-4D97-AF65-F5344CB8AC3E}">
        <p14:creationId xmlns:p14="http://schemas.microsoft.com/office/powerpoint/2010/main" val="331011230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13AD9EE3-EC48-9885-ACEC-F12AF9A236C9}"/>
              </a:ext>
            </a:extLst>
          </p:cNvPr>
          <p:cNvPicPr>
            <a:picLocks noChangeAspect="1"/>
          </p:cNvPicPr>
          <p:nvPr/>
        </p:nvPicPr>
        <p:blipFill>
          <a:blip r:embed="rId2"/>
          <a:stretch>
            <a:fillRect/>
          </a:stretch>
        </p:blipFill>
        <p:spPr>
          <a:xfrm>
            <a:off x="186353" y="564496"/>
            <a:ext cx="6343650" cy="5191125"/>
          </a:xfrm>
          <a:prstGeom prst="rect">
            <a:avLst/>
          </a:prstGeom>
        </p:spPr>
      </p:pic>
      <p:pic>
        <p:nvPicPr>
          <p:cNvPr id="6" name="Picture 5">
            <a:extLst>
              <a:ext uri="{FF2B5EF4-FFF2-40B4-BE49-F238E27FC236}">
                <a16:creationId xmlns:a16="http://schemas.microsoft.com/office/drawing/2014/main" id="{CAC8605A-3163-B767-6989-47865DABE757}"/>
              </a:ext>
            </a:extLst>
          </p:cNvPr>
          <p:cNvPicPr>
            <a:picLocks noChangeAspect="1"/>
          </p:cNvPicPr>
          <p:nvPr/>
        </p:nvPicPr>
        <p:blipFill>
          <a:blip r:embed="rId3"/>
          <a:stretch>
            <a:fillRect/>
          </a:stretch>
        </p:blipFill>
        <p:spPr>
          <a:xfrm>
            <a:off x="6261511" y="440923"/>
            <a:ext cx="5976153" cy="5976153"/>
          </a:xfrm>
          <a:prstGeom prst="rect">
            <a:avLst/>
          </a:prstGeom>
        </p:spPr>
      </p:pic>
    </p:spTree>
    <p:extLst>
      <p:ext uri="{BB962C8B-B14F-4D97-AF65-F5344CB8AC3E}">
        <p14:creationId xmlns:p14="http://schemas.microsoft.com/office/powerpoint/2010/main" val="395467929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72EAAF68-F714-E7EE-80BF-1081B68995A5}"/>
              </a:ext>
            </a:extLst>
          </p:cNvPr>
          <p:cNvPicPr>
            <a:picLocks noChangeAspect="1"/>
          </p:cNvPicPr>
          <p:nvPr/>
        </p:nvPicPr>
        <p:blipFill>
          <a:blip r:embed="rId2"/>
          <a:stretch>
            <a:fillRect/>
          </a:stretch>
        </p:blipFill>
        <p:spPr>
          <a:xfrm>
            <a:off x="0" y="801356"/>
            <a:ext cx="6044368" cy="5066881"/>
          </a:xfrm>
          <a:prstGeom prst="rect">
            <a:avLst/>
          </a:prstGeom>
        </p:spPr>
      </p:pic>
      <p:pic>
        <p:nvPicPr>
          <p:cNvPr id="5" name="Picture 4">
            <a:extLst>
              <a:ext uri="{FF2B5EF4-FFF2-40B4-BE49-F238E27FC236}">
                <a16:creationId xmlns:a16="http://schemas.microsoft.com/office/drawing/2014/main" id="{2CBFF66E-A3DE-4796-D85A-A3BDDCF70185}"/>
              </a:ext>
            </a:extLst>
          </p:cNvPr>
          <p:cNvPicPr>
            <a:picLocks noChangeAspect="1"/>
          </p:cNvPicPr>
          <p:nvPr/>
        </p:nvPicPr>
        <p:blipFill>
          <a:blip r:embed="rId3"/>
          <a:stretch>
            <a:fillRect/>
          </a:stretch>
        </p:blipFill>
        <p:spPr>
          <a:xfrm>
            <a:off x="5890154" y="989763"/>
            <a:ext cx="6301846" cy="5255289"/>
          </a:xfrm>
          <a:prstGeom prst="rect">
            <a:avLst/>
          </a:prstGeom>
        </p:spPr>
      </p:pic>
    </p:spTree>
    <p:extLst>
      <p:ext uri="{BB962C8B-B14F-4D97-AF65-F5344CB8AC3E}">
        <p14:creationId xmlns:p14="http://schemas.microsoft.com/office/powerpoint/2010/main" val="24472045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0925858-A17A-F163-394E-B98DE4C7BE11}"/>
              </a:ext>
            </a:extLst>
          </p:cNvPr>
          <p:cNvPicPr>
            <a:picLocks noChangeAspect="1"/>
          </p:cNvPicPr>
          <p:nvPr/>
        </p:nvPicPr>
        <p:blipFill>
          <a:blip r:embed="rId2"/>
          <a:stretch>
            <a:fillRect/>
          </a:stretch>
        </p:blipFill>
        <p:spPr>
          <a:xfrm>
            <a:off x="0" y="1085220"/>
            <a:ext cx="6395286" cy="5109587"/>
          </a:xfrm>
          <a:prstGeom prst="rect">
            <a:avLst/>
          </a:prstGeom>
        </p:spPr>
      </p:pic>
      <p:pic>
        <p:nvPicPr>
          <p:cNvPr id="4" name="Picture 3">
            <a:extLst>
              <a:ext uri="{FF2B5EF4-FFF2-40B4-BE49-F238E27FC236}">
                <a16:creationId xmlns:a16="http://schemas.microsoft.com/office/drawing/2014/main" id="{0DB9A62B-8031-23AA-7A84-4E5F5EF39A3B}"/>
              </a:ext>
            </a:extLst>
          </p:cNvPr>
          <p:cNvPicPr>
            <a:picLocks noChangeAspect="1"/>
          </p:cNvPicPr>
          <p:nvPr/>
        </p:nvPicPr>
        <p:blipFill>
          <a:blip r:embed="rId3"/>
          <a:stretch>
            <a:fillRect/>
          </a:stretch>
        </p:blipFill>
        <p:spPr>
          <a:xfrm>
            <a:off x="6096000" y="1085220"/>
            <a:ext cx="6097763" cy="5516547"/>
          </a:xfrm>
          <a:prstGeom prst="rect">
            <a:avLst/>
          </a:prstGeom>
        </p:spPr>
      </p:pic>
    </p:spTree>
    <p:extLst>
      <p:ext uri="{BB962C8B-B14F-4D97-AF65-F5344CB8AC3E}">
        <p14:creationId xmlns:p14="http://schemas.microsoft.com/office/powerpoint/2010/main" val="178888158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732D3F8-6116-2FA6-FA83-D3DA2D7C6055}"/>
              </a:ext>
            </a:extLst>
          </p:cNvPr>
          <p:cNvPicPr>
            <a:picLocks noChangeAspect="1"/>
          </p:cNvPicPr>
          <p:nvPr/>
        </p:nvPicPr>
        <p:blipFill>
          <a:blip r:embed="rId2"/>
          <a:stretch>
            <a:fillRect/>
          </a:stretch>
        </p:blipFill>
        <p:spPr>
          <a:xfrm>
            <a:off x="381719" y="226087"/>
            <a:ext cx="5270479" cy="5481377"/>
          </a:xfrm>
          <a:prstGeom prst="rect">
            <a:avLst/>
          </a:prstGeom>
        </p:spPr>
      </p:pic>
      <p:pic>
        <p:nvPicPr>
          <p:cNvPr id="3" name="Picture 2">
            <a:extLst>
              <a:ext uri="{FF2B5EF4-FFF2-40B4-BE49-F238E27FC236}">
                <a16:creationId xmlns:a16="http://schemas.microsoft.com/office/drawing/2014/main" id="{EE0F118B-3F10-C95B-63B5-78EA0E67F969}"/>
              </a:ext>
            </a:extLst>
          </p:cNvPr>
          <p:cNvPicPr>
            <a:picLocks noChangeAspect="1"/>
          </p:cNvPicPr>
          <p:nvPr/>
        </p:nvPicPr>
        <p:blipFill>
          <a:blip r:embed="rId3"/>
          <a:stretch>
            <a:fillRect/>
          </a:stretch>
        </p:blipFill>
        <p:spPr>
          <a:xfrm>
            <a:off x="5652198" y="226087"/>
            <a:ext cx="5835512" cy="5893194"/>
          </a:xfrm>
          <a:prstGeom prst="rect">
            <a:avLst/>
          </a:prstGeom>
        </p:spPr>
      </p:pic>
    </p:spTree>
    <p:extLst>
      <p:ext uri="{BB962C8B-B14F-4D97-AF65-F5344CB8AC3E}">
        <p14:creationId xmlns:p14="http://schemas.microsoft.com/office/powerpoint/2010/main" val="152263072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DD66D47C-A328-4B45-F203-0CBD9DF945A6}"/>
              </a:ext>
            </a:extLst>
          </p:cNvPr>
          <p:cNvSpPr txBox="1"/>
          <p:nvPr/>
        </p:nvSpPr>
        <p:spPr>
          <a:xfrm>
            <a:off x="753035" y="763793"/>
            <a:ext cx="1709122" cy="369332"/>
          </a:xfrm>
          <a:prstGeom prst="rect">
            <a:avLst/>
          </a:prstGeom>
          <a:noFill/>
        </p:spPr>
        <p:txBody>
          <a:bodyPr wrap="none" rtlCol="0">
            <a:spAutoFit/>
          </a:bodyPr>
          <a:lstStyle/>
          <a:p>
            <a:r>
              <a:rPr lang="en-CH" dirty="0"/>
              <a:t>With noise = 0.8</a:t>
            </a:r>
          </a:p>
        </p:txBody>
      </p:sp>
      <p:pic>
        <p:nvPicPr>
          <p:cNvPr id="8" name="Picture 7">
            <a:extLst>
              <a:ext uri="{FF2B5EF4-FFF2-40B4-BE49-F238E27FC236}">
                <a16:creationId xmlns:a16="http://schemas.microsoft.com/office/drawing/2014/main" id="{4F50B95F-6366-20BC-BAEF-77C8BB959923}"/>
              </a:ext>
            </a:extLst>
          </p:cNvPr>
          <p:cNvPicPr>
            <a:picLocks noChangeAspect="1"/>
          </p:cNvPicPr>
          <p:nvPr/>
        </p:nvPicPr>
        <p:blipFill>
          <a:blip r:embed="rId2"/>
          <a:stretch>
            <a:fillRect/>
          </a:stretch>
        </p:blipFill>
        <p:spPr>
          <a:xfrm>
            <a:off x="281267" y="1268561"/>
            <a:ext cx="5981700" cy="4629150"/>
          </a:xfrm>
          <a:prstGeom prst="rect">
            <a:avLst/>
          </a:prstGeom>
        </p:spPr>
      </p:pic>
      <p:pic>
        <p:nvPicPr>
          <p:cNvPr id="9" name="Picture 8">
            <a:extLst>
              <a:ext uri="{FF2B5EF4-FFF2-40B4-BE49-F238E27FC236}">
                <a16:creationId xmlns:a16="http://schemas.microsoft.com/office/drawing/2014/main" id="{5D90494C-FE4C-1E4A-0474-AA24BB52E599}"/>
              </a:ext>
            </a:extLst>
          </p:cNvPr>
          <p:cNvPicPr>
            <a:picLocks noChangeAspect="1"/>
          </p:cNvPicPr>
          <p:nvPr/>
        </p:nvPicPr>
        <p:blipFill>
          <a:blip r:embed="rId3"/>
          <a:stretch>
            <a:fillRect/>
          </a:stretch>
        </p:blipFill>
        <p:spPr>
          <a:xfrm>
            <a:off x="6096000" y="1374457"/>
            <a:ext cx="6410325" cy="4657725"/>
          </a:xfrm>
          <a:prstGeom prst="rect">
            <a:avLst/>
          </a:prstGeom>
        </p:spPr>
      </p:pic>
    </p:spTree>
    <p:extLst>
      <p:ext uri="{BB962C8B-B14F-4D97-AF65-F5344CB8AC3E}">
        <p14:creationId xmlns:p14="http://schemas.microsoft.com/office/powerpoint/2010/main" val="373678298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9913411E-D420-3FD9-7ED9-D4EA5297A46E}"/>
              </a:ext>
            </a:extLst>
          </p:cNvPr>
          <p:cNvPicPr>
            <a:picLocks noChangeAspect="1"/>
          </p:cNvPicPr>
          <p:nvPr/>
        </p:nvPicPr>
        <p:blipFill>
          <a:blip r:embed="rId2"/>
          <a:stretch>
            <a:fillRect/>
          </a:stretch>
        </p:blipFill>
        <p:spPr>
          <a:xfrm>
            <a:off x="393270" y="1619699"/>
            <a:ext cx="5800725" cy="4457700"/>
          </a:xfrm>
          <a:prstGeom prst="rect">
            <a:avLst/>
          </a:prstGeom>
        </p:spPr>
      </p:pic>
      <p:pic>
        <p:nvPicPr>
          <p:cNvPr id="3" name="Picture 2">
            <a:extLst>
              <a:ext uri="{FF2B5EF4-FFF2-40B4-BE49-F238E27FC236}">
                <a16:creationId xmlns:a16="http://schemas.microsoft.com/office/drawing/2014/main" id="{175FF989-363F-4411-0892-CD0AED8157BD}"/>
              </a:ext>
            </a:extLst>
          </p:cNvPr>
          <p:cNvPicPr>
            <a:picLocks noChangeAspect="1"/>
          </p:cNvPicPr>
          <p:nvPr/>
        </p:nvPicPr>
        <p:blipFill>
          <a:blip r:embed="rId3"/>
          <a:stretch>
            <a:fillRect/>
          </a:stretch>
        </p:blipFill>
        <p:spPr>
          <a:xfrm>
            <a:off x="6096000" y="1619699"/>
            <a:ext cx="6238875" cy="4648200"/>
          </a:xfrm>
          <a:prstGeom prst="rect">
            <a:avLst/>
          </a:prstGeom>
        </p:spPr>
      </p:pic>
      <p:sp>
        <p:nvSpPr>
          <p:cNvPr id="4" name="TextBox 3">
            <a:extLst>
              <a:ext uri="{FF2B5EF4-FFF2-40B4-BE49-F238E27FC236}">
                <a16:creationId xmlns:a16="http://schemas.microsoft.com/office/drawing/2014/main" id="{2EA6F42F-1A03-E08B-E420-31E1028BF6FD}"/>
              </a:ext>
            </a:extLst>
          </p:cNvPr>
          <p:cNvSpPr txBox="1"/>
          <p:nvPr/>
        </p:nvSpPr>
        <p:spPr>
          <a:xfrm>
            <a:off x="753035" y="763793"/>
            <a:ext cx="2845202" cy="369332"/>
          </a:xfrm>
          <a:prstGeom prst="rect">
            <a:avLst/>
          </a:prstGeom>
          <a:noFill/>
        </p:spPr>
        <p:txBody>
          <a:bodyPr wrap="none" rtlCol="0">
            <a:spAutoFit/>
          </a:bodyPr>
          <a:lstStyle/>
          <a:p>
            <a:r>
              <a:rPr lang="en-CH" dirty="0"/>
              <a:t>With boundary = 20 (or 15?)</a:t>
            </a:r>
          </a:p>
        </p:txBody>
      </p:sp>
    </p:spTree>
    <p:extLst>
      <p:ext uri="{BB962C8B-B14F-4D97-AF65-F5344CB8AC3E}">
        <p14:creationId xmlns:p14="http://schemas.microsoft.com/office/powerpoint/2010/main" val="338586655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20BEF3F-5CC8-445A-B63D-AB8E7C8BF060}"/>
              </a:ext>
            </a:extLst>
          </p:cNvPr>
          <p:cNvPicPr>
            <a:picLocks noChangeAspect="1"/>
          </p:cNvPicPr>
          <p:nvPr/>
        </p:nvPicPr>
        <p:blipFill>
          <a:blip r:embed="rId2"/>
          <a:stretch>
            <a:fillRect/>
          </a:stretch>
        </p:blipFill>
        <p:spPr>
          <a:xfrm>
            <a:off x="146510" y="55265"/>
            <a:ext cx="5681122" cy="5873262"/>
          </a:xfrm>
          <a:prstGeom prst="rect">
            <a:avLst/>
          </a:prstGeom>
        </p:spPr>
      </p:pic>
      <p:pic>
        <p:nvPicPr>
          <p:cNvPr id="3" name="Picture 2">
            <a:extLst>
              <a:ext uri="{FF2B5EF4-FFF2-40B4-BE49-F238E27FC236}">
                <a16:creationId xmlns:a16="http://schemas.microsoft.com/office/drawing/2014/main" id="{C800D01A-C8FC-7057-99FB-F4C8704B1EAA}"/>
              </a:ext>
            </a:extLst>
          </p:cNvPr>
          <p:cNvPicPr>
            <a:picLocks noChangeAspect="1"/>
          </p:cNvPicPr>
          <p:nvPr/>
        </p:nvPicPr>
        <p:blipFill>
          <a:blip r:embed="rId3"/>
          <a:stretch>
            <a:fillRect/>
          </a:stretch>
        </p:blipFill>
        <p:spPr>
          <a:xfrm>
            <a:off x="5753317" y="157375"/>
            <a:ext cx="5953014" cy="6107772"/>
          </a:xfrm>
          <a:prstGeom prst="rect">
            <a:avLst/>
          </a:prstGeom>
        </p:spPr>
      </p:pic>
    </p:spTree>
    <p:extLst>
      <p:ext uri="{BB962C8B-B14F-4D97-AF65-F5344CB8AC3E}">
        <p14:creationId xmlns:p14="http://schemas.microsoft.com/office/powerpoint/2010/main" val="270815650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23F363A3-AC56-160D-44CD-91418D28AC80}"/>
              </a:ext>
            </a:extLst>
          </p:cNvPr>
          <p:cNvPicPr>
            <a:picLocks noChangeAspect="1"/>
          </p:cNvPicPr>
          <p:nvPr/>
        </p:nvPicPr>
        <p:blipFill>
          <a:blip r:embed="rId2"/>
          <a:stretch>
            <a:fillRect/>
          </a:stretch>
        </p:blipFill>
        <p:spPr>
          <a:xfrm>
            <a:off x="327065" y="116341"/>
            <a:ext cx="5362865" cy="5741848"/>
          </a:xfrm>
          <a:prstGeom prst="rect">
            <a:avLst/>
          </a:prstGeom>
        </p:spPr>
      </p:pic>
      <p:pic>
        <p:nvPicPr>
          <p:cNvPr id="6" name="Picture 5">
            <a:extLst>
              <a:ext uri="{FF2B5EF4-FFF2-40B4-BE49-F238E27FC236}">
                <a16:creationId xmlns:a16="http://schemas.microsoft.com/office/drawing/2014/main" id="{EE4745D9-783C-F75F-9F3D-91BDA39BC808}"/>
              </a:ext>
            </a:extLst>
          </p:cNvPr>
          <p:cNvPicPr>
            <a:picLocks noChangeAspect="1"/>
          </p:cNvPicPr>
          <p:nvPr/>
        </p:nvPicPr>
        <p:blipFill>
          <a:blip r:embed="rId3"/>
          <a:stretch>
            <a:fillRect/>
          </a:stretch>
        </p:blipFill>
        <p:spPr>
          <a:xfrm>
            <a:off x="5775341" y="276329"/>
            <a:ext cx="5862923" cy="5797899"/>
          </a:xfrm>
          <a:prstGeom prst="rect">
            <a:avLst/>
          </a:prstGeom>
        </p:spPr>
      </p:pic>
    </p:spTree>
    <p:extLst>
      <p:ext uri="{BB962C8B-B14F-4D97-AF65-F5344CB8AC3E}">
        <p14:creationId xmlns:p14="http://schemas.microsoft.com/office/powerpoint/2010/main" val="129987736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38A0A1C-DF44-D508-408E-2161217D10FC}"/>
              </a:ext>
            </a:extLst>
          </p:cNvPr>
          <p:cNvPicPr>
            <a:picLocks noChangeAspect="1"/>
          </p:cNvPicPr>
          <p:nvPr/>
        </p:nvPicPr>
        <p:blipFill>
          <a:blip r:embed="rId2"/>
          <a:stretch>
            <a:fillRect/>
          </a:stretch>
        </p:blipFill>
        <p:spPr>
          <a:xfrm>
            <a:off x="6276870" y="663191"/>
            <a:ext cx="5710813" cy="5732584"/>
          </a:xfrm>
          <a:prstGeom prst="rect">
            <a:avLst/>
          </a:prstGeom>
        </p:spPr>
      </p:pic>
      <p:pic>
        <p:nvPicPr>
          <p:cNvPr id="3" name="Picture 2">
            <a:extLst>
              <a:ext uri="{FF2B5EF4-FFF2-40B4-BE49-F238E27FC236}">
                <a16:creationId xmlns:a16="http://schemas.microsoft.com/office/drawing/2014/main" id="{81143D00-60BC-4343-9C80-43343D44C634}"/>
              </a:ext>
            </a:extLst>
          </p:cNvPr>
          <p:cNvPicPr>
            <a:picLocks noChangeAspect="1"/>
          </p:cNvPicPr>
          <p:nvPr/>
        </p:nvPicPr>
        <p:blipFill>
          <a:blip r:embed="rId3"/>
          <a:stretch>
            <a:fillRect/>
          </a:stretch>
        </p:blipFill>
        <p:spPr>
          <a:xfrm>
            <a:off x="462430" y="411983"/>
            <a:ext cx="5633570" cy="5893358"/>
          </a:xfrm>
          <a:prstGeom prst="rect">
            <a:avLst/>
          </a:prstGeom>
        </p:spPr>
      </p:pic>
    </p:spTree>
    <p:extLst>
      <p:ext uri="{BB962C8B-B14F-4D97-AF65-F5344CB8AC3E}">
        <p14:creationId xmlns:p14="http://schemas.microsoft.com/office/powerpoint/2010/main" val="108263846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87421E44-65DA-A8D3-3600-711661039790}"/>
              </a:ext>
            </a:extLst>
          </p:cNvPr>
          <p:cNvPicPr>
            <a:picLocks noChangeAspect="1"/>
          </p:cNvPicPr>
          <p:nvPr/>
        </p:nvPicPr>
        <p:blipFill>
          <a:blip r:embed="rId2"/>
          <a:stretch>
            <a:fillRect/>
          </a:stretch>
        </p:blipFill>
        <p:spPr>
          <a:xfrm>
            <a:off x="326131" y="542611"/>
            <a:ext cx="4969350" cy="5571811"/>
          </a:xfrm>
          <a:prstGeom prst="rect">
            <a:avLst/>
          </a:prstGeom>
        </p:spPr>
      </p:pic>
      <p:pic>
        <p:nvPicPr>
          <p:cNvPr id="4" name="Picture 3">
            <a:extLst>
              <a:ext uri="{FF2B5EF4-FFF2-40B4-BE49-F238E27FC236}">
                <a16:creationId xmlns:a16="http://schemas.microsoft.com/office/drawing/2014/main" id="{E670329A-2B1E-BEFC-CC37-BB0C6FDEDAC4}"/>
              </a:ext>
            </a:extLst>
          </p:cNvPr>
          <p:cNvPicPr>
            <a:picLocks noChangeAspect="1"/>
          </p:cNvPicPr>
          <p:nvPr/>
        </p:nvPicPr>
        <p:blipFill>
          <a:blip r:embed="rId3"/>
          <a:stretch>
            <a:fillRect/>
          </a:stretch>
        </p:blipFill>
        <p:spPr>
          <a:xfrm>
            <a:off x="5509189" y="643094"/>
            <a:ext cx="6148579" cy="5838093"/>
          </a:xfrm>
          <a:prstGeom prst="rect">
            <a:avLst/>
          </a:prstGeom>
        </p:spPr>
      </p:pic>
    </p:spTree>
    <p:extLst>
      <p:ext uri="{BB962C8B-B14F-4D97-AF65-F5344CB8AC3E}">
        <p14:creationId xmlns:p14="http://schemas.microsoft.com/office/powerpoint/2010/main" val="425686689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D4A629D-F0B7-ECA6-BCC2-91B8124985B0}"/>
              </a:ext>
            </a:extLst>
          </p:cNvPr>
          <p:cNvPicPr>
            <a:picLocks noChangeAspect="1"/>
          </p:cNvPicPr>
          <p:nvPr/>
        </p:nvPicPr>
        <p:blipFill>
          <a:blip r:embed="rId2"/>
          <a:stretch>
            <a:fillRect/>
          </a:stretch>
        </p:blipFill>
        <p:spPr>
          <a:xfrm>
            <a:off x="474784" y="546693"/>
            <a:ext cx="5334000" cy="5543550"/>
          </a:xfrm>
          <a:prstGeom prst="rect">
            <a:avLst/>
          </a:prstGeom>
        </p:spPr>
      </p:pic>
      <p:pic>
        <p:nvPicPr>
          <p:cNvPr id="3" name="Picture 2">
            <a:extLst>
              <a:ext uri="{FF2B5EF4-FFF2-40B4-BE49-F238E27FC236}">
                <a16:creationId xmlns:a16="http://schemas.microsoft.com/office/drawing/2014/main" id="{FC6EBC0B-4EBC-0FD4-0C47-ED1D2C0CD77A}"/>
              </a:ext>
            </a:extLst>
          </p:cNvPr>
          <p:cNvPicPr>
            <a:picLocks noChangeAspect="1"/>
          </p:cNvPicPr>
          <p:nvPr/>
        </p:nvPicPr>
        <p:blipFill>
          <a:blip r:embed="rId3"/>
          <a:stretch>
            <a:fillRect/>
          </a:stretch>
        </p:blipFill>
        <p:spPr>
          <a:xfrm>
            <a:off x="6096000" y="476250"/>
            <a:ext cx="5686425" cy="5905500"/>
          </a:xfrm>
          <a:prstGeom prst="rect">
            <a:avLst/>
          </a:prstGeom>
        </p:spPr>
      </p:pic>
    </p:spTree>
    <p:extLst>
      <p:ext uri="{BB962C8B-B14F-4D97-AF65-F5344CB8AC3E}">
        <p14:creationId xmlns:p14="http://schemas.microsoft.com/office/powerpoint/2010/main" val="62113002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D34A6939-1E41-73F3-2404-BB001C7C2638}"/>
              </a:ext>
            </a:extLst>
          </p:cNvPr>
          <p:cNvPicPr>
            <a:picLocks noChangeAspect="1"/>
          </p:cNvPicPr>
          <p:nvPr/>
        </p:nvPicPr>
        <p:blipFill>
          <a:blip r:embed="rId2"/>
          <a:stretch>
            <a:fillRect/>
          </a:stretch>
        </p:blipFill>
        <p:spPr>
          <a:xfrm>
            <a:off x="131958" y="452175"/>
            <a:ext cx="5964042" cy="6054133"/>
          </a:xfrm>
          <a:prstGeom prst="rect">
            <a:avLst/>
          </a:prstGeom>
        </p:spPr>
      </p:pic>
      <p:pic>
        <p:nvPicPr>
          <p:cNvPr id="3" name="Picture 2">
            <a:extLst>
              <a:ext uri="{FF2B5EF4-FFF2-40B4-BE49-F238E27FC236}">
                <a16:creationId xmlns:a16="http://schemas.microsoft.com/office/drawing/2014/main" id="{C315AB7B-BD8C-5BB5-702E-05DB37F7362F}"/>
              </a:ext>
            </a:extLst>
          </p:cNvPr>
          <p:cNvPicPr>
            <a:picLocks noChangeAspect="1"/>
          </p:cNvPicPr>
          <p:nvPr/>
        </p:nvPicPr>
        <p:blipFill>
          <a:blip r:embed="rId3"/>
          <a:stretch>
            <a:fillRect/>
          </a:stretch>
        </p:blipFill>
        <p:spPr>
          <a:xfrm>
            <a:off x="6186436" y="452175"/>
            <a:ext cx="6155741" cy="6305341"/>
          </a:xfrm>
          <a:prstGeom prst="rect">
            <a:avLst/>
          </a:prstGeom>
        </p:spPr>
      </p:pic>
    </p:spTree>
    <p:extLst>
      <p:ext uri="{BB962C8B-B14F-4D97-AF65-F5344CB8AC3E}">
        <p14:creationId xmlns:p14="http://schemas.microsoft.com/office/powerpoint/2010/main" val="7144673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B29CA8-6A20-BE27-645B-FE2F33C9F0B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39F5346-5443-163C-F958-71BAEE681E00}"/>
              </a:ext>
            </a:extLst>
          </p:cNvPr>
          <p:cNvSpPr>
            <a:spLocks noGrp="1"/>
          </p:cNvSpPr>
          <p:nvPr>
            <p:ph type="title"/>
          </p:nvPr>
        </p:nvSpPr>
        <p:spPr/>
        <p:txBody>
          <a:bodyPr/>
          <a:lstStyle/>
          <a:p>
            <a:r>
              <a:rPr lang="en-CH" dirty="0"/>
              <a:t>This Version: Parametric Variations</a:t>
            </a:r>
          </a:p>
        </p:txBody>
      </p:sp>
      <p:sp>
        <p:nvSpPr>
          <p:cNvPr id="4" name="Text Placeholder 3">
            <a:extLst>
              <a:ext uri="{FF2B5EF4-FFF2-40B4-BE49-F238E27FC236}">
                <a16:creationId xmlns:a16="http://schemas.microsoft.com/office/drawing/2014/main" id="{0D3523B4-DF9C-DBA0-A222-9675A3AA2A88}"/>
              </a:ext>
            </a:extLst>
          </p:cNvPr>
          <p:cNvSpPr>
            <a:spLocks noGrp="1"/>
          </p:cNvSpPr>
          <p:nvPr>
            <p:ph type="body" idx="1"/>
          </p:nvPr>
        </p:nvSpPr>
        <p:spPr/>
        <p:txBody>
          <a:bodyPr/>
          <a:lstStyle/>
          <a:p>
            <a:r>
              <a:rPr lang="en-CH" dirty="0"/>
              <a:t>Change-Detection</a:t>
            </a:r>
          </a:p>
        </p:txBody>
      </p:sp>
    </p:spTree>
    <p:extLst>
      <p:ext uri="{BB962C8B-B14F-4D97-AF65-F5344CB8AC3E}">
        <p14:creationId xmlns:p14="http://schemas.microsoft.com/office/powerpoint/2010/main" val="111027345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72362C24-193D-2504-C4E8-3D4E940B3132}"/>
              </a:ext>
            </a:extLst>
          </p:cNvPr>
          <p:cNvPicPr>
            <a:picLocks noChangeAspect="1"/>
          </p:cNvPicPr>
          <p:nvPr/>
        </p:nvPicPr>
        <p:blipFill>
          <a:blip r:embed="rId2"/>
          <a:stretch>
            <a:fillRect/>
          </a:stretch>
        </p:blipFill>
        <p:spPr>
          <a:xfrm>
            <a:off x="1138237" y="681037"/>
            <a:ext cx="9915525" cy="5495925"/>
          </a:xfrm>
          <a:prstGeom prst="rect">
            <a:avLst/>
          </a:prstGeom>
        </p:spPr>
      </p:pic>
    </p:spTree>
    <p:extLst>
      <p:ext uri="{BB962C8B-B14F-4D97-AF65-F5344CB8AC3E}">
        <p14:creationId xmlns:p14="http://schemas.microsoft.com/office/powerpoint/2010/main" val="261712173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38B3B13-7D81-2313-E084-5B12D6590829}"/>
              </a:ext>
            </a:extLst>
          </p:cNvPr>
          <p:cNvPicPr>
            <a:picLocks noChangeAspect="1"/>
          </p:cNvPicPr>
          <p:nvPr/>
        </p:nvPicPr>
        <p:blipFill>
          <a:blip r:embed="rId2"/>
          <a:stretch>
            <a:fillRect/>
          </a:stretch>
        </p:blipFill>
        <p:spPr>
          <a:xfrm>
            <a:off x="92307" y="541564"/>
            <a:ext cx="6267343" cy="4770664"/>
          </a:xfrm>
          <a:prstGeom prst="rect">
            <a:avLst/>
          </a:prstGeom>
        </p:spPr>
      </p:pic>
      <p:pic>
        <p:nvPicPr>
          <p:cNvPr id="2" name="Picture 1">
            <a:extLst>
              <a:ext uri="{FF2B5EF4-FFF2-40B4-BE49-F238E27FC236}">
                <a16:creationId xmlns:a16="http://schemas.microsoft.com/office/drawing/2014/main" id="{3F62EEA3-276A-95DC-B82C-E96F15AABB8C}"/>
              </a:ext>
            </a:extLst>
          </p:cNvPr>
          <p:cNvPicPr>
            <a:picLocks noChangeAspect="1"/>
          </p:cNvPicPr>
          <p:nvPr/>
        </p:nvPicPr>
        <p:blipFill>
          <a:blip r:embed="rId3"/>
          <a:stretch>
            <a:fillRect/>
          </a:stretch>
        </p:blipFill>
        <p:spPr>
          <a:xfrm>
            <a:off x="5298138" y="1665514"/>
            <a:ext cx="6801555" cy="4996543"/>
          </a:xfrm>
          <a:prstGeom prst="rect">
            <a:avLst/>
          </a:prstGeom>
        </p:spPr>
      </p:pic>
      <p:sp>
        <p:nvSpPr>
          <p:cNvPr id="4" name="TextBox 3">
            <a:extLst>
              <a:ext uri="{FF2B5EF4-FFF2-40B4-BE49-F238E27FC236}">
                <a16:creationId xmlns:a16="http://schemas.microsoft.com/office/drawing/2014/main" id="{C5FF639E-FAFE-6E36-5A0B-49A928B84265}"/>
              </a:ext>
            </a:extLst>
          </p:cNvPr>
          <p:cNvSpPr txBox="1"/>
          <p:nvPr/>
        </p:nvSpPr>
        <p:spPr>
          <a:xfrm>
            <a:off x="375557" y="321129"/>
            <a:ext cx="995785" cy="369332"/>
          </a:xfrm>
          <a:prstGeom prst="rect">
            <a:avLst/>
          </a:prstGeom>
          <a:noFill/>
        </p:spPr>
        <p:txBody>
          <a:bodyPr wrap="none" rtlCol="0">
            <a:spAutoFit/>
          </a:bodyPr>
          <a:lstStyle/>
          <a:p>
            <a:r>
              <a:rPr lang="en-CH" dirty="0" err="1"/>
              <a:t>Setsize</a:t>
            </a:r>
            <a:r>
              <a:rPr lang="en-CH" dirty="0"/>
              <a:t> 6</a:t>
            </a:r>
          </a:p>
        </p:txBody>
      </p:sp>
      <p:sp>
        <p:nvSpPr>
          <p:cNvPr id="5" name="TextBox 4">
            <a:extLst>
              <a:ext uri="{FF2B5EF4-FFF2-40B4-BE49-F238E27FC236}">
                <a16:creationId xmlns:a16="http://schemas.microsoft.com/office/drawing/2014/main" id="{F4B4344D-2699-3AD6-957C-86164694749B}"/>
              </a:ext>
            </a:extLst>
          </p:cNvPr>
          <p:cNvSpPr txBox="1"/>
          <p:nvPr/>
        </p:nvSpPr>
        <p:spPr>
          <a:xfrm>
            <a:off x="6166757" y="1361106"/>
            <a:ext cx="4201150" cy="369332"/>
          </a:xfrm>
          <a:prstGeom prst="rect">
            <a:avLst/>
          </a:prstGeom>
          <a:noFill/>
        </p:spPr>
        <p:txBody>
          <a:bodyPr wrap="none" rtlCol="0">
            <a:spAutoFit/>
          </a:bodyPr>
          <a:lstStyle/>
          <a:p>
            <a:r>
              <a:rPr lang="en-CH" dirty="0" err="1"/>
              <a:t>Setsize</a:t>
            </a:r>
            <a:r>
              <a:rPr lang="en-CH" dirty="0"/>
              <a:t> 3 (and a bit later set of parameters)</a:t>
            </a:r>
          </a:p>
        </p:txBody>
      </p:sp>
    </p:spTree>
    <p:extLst>
      <p:ext uri="{BB962C8B-B14F-4D97-AF65-F5344CB8AC3E}">
        <p14:creationId xmlns:p14="http://schemas.microsoft.com/office/powerpoint/2010/main" val="115253748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99276CB-D718-7573-B3A2-1C2B55B9EF47}"/>
              </a:ext>
            </a:extLst>
          </p:cNvPr>
          <p:cNvPicPr>
            <a:picLocks noChangeAspect="1"/>
          </p:cNvPicPr>
          <p:nvPr/>
        </p:nvPicPr>
        <p:blipFill>
          <a:blip r:embed="rId2"/>
          <a:stretch>
            <a:fillRect/>
          </a:stretch>
        </p:blipFill>
        <p:spPr>
          <a:xfrm>
            <a:off x="876300" y="176212"/>
            <a:ext cx="10439400" cy="6505575"/>
          </a:xfrm>
          <a:prstGeom prst="rect">
            <a:avLst/>
          </a:prstGeom>
        </p:spPr>
      </p:pic>
    </p:spTree>
    <p:extLst>
      <p:ext uri="{BB962C8B-B14F-4D97-AF65-F5344CB8AC3E}">
        <p14:creationId xmlns:p14="http://schemas.microsoft.com/office/powerpoint/2010/main" val="218305401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7025F4B-7FF5-312D-ADEB-0773AF469DC2}"/>
              </a:ext>
            </a:extLst>
          </p:cNvPr>
          <p:cNvPicPr>
            <a:picLocks noChangeAspect="1"/>
          </p:cNvPicPr>
          <p:nvPr/>
        </p:nvPicPr>
        <p:blipFill>
          <a:blip r:embed="rId2"/>
          <a:stretch>
            <a:fillRect/>
          </a:stretch>
        </p:blipFill>
        <p:spPr>
          <a:xfrm>
            <a:off x="1995487" y="557212"/>
            <a:ext cx="8201025" cy="5743575"/>
          </a:xfrm>
          <a:prstGeom prst="rect">
            <a:avLst/>
          </a:prstGeom>
        </p:spPr>
      </p:pic>
    </p:spTree>
    <p:extLst>
      <p:ext uri="{BB962C8B-B14F-4D97-AF65-F5344CB8AC3E}">
        <p14:creationId xmlns:p14="http://schemas.microsoft.com/office/powerpoint/2010/main" val="393104591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CE8E2F6C-A24C-DC9E-B828-4E6D310E2806}"/>
              </a:ext>
            </a:extLst>
          </p:cNvPr>
          <p:cNvPicPr>
            <a:picLocks noChangeAspect="1"/>
          </p:cNvPicPr>
          <p:nvPr/>
        </p:nvPicPr>
        <p:blipFill>
          <a:blip r:embed="rId2"/>
          <a:stretch>
            <a:fillRect/>
          </a:stretch>
        </p:blipFill>
        <p:spPr>
          <a:xfrm>
            <a:off x="1262062" y="790575"/>
            <a:ext cx="9667875" cy="5276850"/>
          </a:xfrm>
          <a:prstGeom prst="rect">
            <a:avLst/>
          </a:prstGeom>
        </p:spPr>
      </p:pic>
    </p:spTree>
    <p:extLst>
      <p:ext uri="{BB962C8B-B14F-4D97-AF65-F5344CB8AC3E}">
        <p14:creationId xmlns:p14="http://schemas.microsoft.com/office/powerpoint/2010/main" val="398358895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42335162-2DEB-EE6C-5333-54501F4561E0}"/>
              </a:ext>
            </a:extLst>
          </p:cNvPr>
          <p:cNvPicPr>
            <a:picLocks noChangeAspect="1"/>
          </p:cNvPicPr>
          <p:nvPr/>
        </p:nvPicPr>
        <p:blipFill>
          <a:blip r:embed="rId2"/>
          <a:stretch>
            <a:fillRect/>
          </a:stretch>
        </p:blipFill>
        <p:spPr>
          <a:xfrm>
            <a:off x="2676525" y="847725"/>
            <a:ext cx="6838950" cy="5162550"/>
          </a:xfrm>
          <a:prstGeom prst="rect">
            <a:avLst/>
          </a:prstGeom>
        </p:spPr>
      </p:pic>
    </p:spTree>
    <p:extLst>
      <p:ext uri="{BB962C8B-B14F-4D97-AF65-F5344CB8AC3E}">
        <p14:creationId xmlns:p14="http://schemas.microsoft.com/office/powerpoint/2010/main" val="292193477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126F548-D4D0-8E61-CD5F-21A48CF3F1E8}"/>
              </a:ext>
            </a:extLst>
          </p:cNvPr>
          <p:cNvPicPr>
            <a:picLocks noChangeAspect="1"/>
          </p:cNvPicPr>
          <p:nvPr/>
        </p:nvPicPr>
        <p:blipFill>
          <a:blip r:embed="rId2"/>
          <a:stretch>
            <a:fillRect/>
          </a:stretch>
        </p:blipFill>
        <p:spPr>
          <a:xfrm>
            <a:off x="2881312" y="885825"/>
            <a:ext cx="6429375" cy="5086350"/>
          </a:xfrm>
          <a:prstGeom prst="rect">
            <a:avLst/>
          </a:prstGeom>
        </p:spPr>
      </p:pic>
    </p:spTree>
    <p:extLst>
      <p:ext uri="{BB962C8B-B14F-4D97-AF65-F5344CB8AC3E}">
        <p14:creationId xmlns:p14="http://schemas.microsoft.com/office/powerpoint/2010/main" val="283683782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C5C3091-FD48-63F9-D783-FFF175AEC79F}"/>
              </a:ext>
            </a:extLst>
          </p:cNvPr>
          <p:cNvPicPr>
            <a:picLocks noChangeAspect="1"/>
          </p:cNvPicPr>
          <p:nvPr/>
        </p:nvPicPr>
        <p:blipFill>
          <a:blip r:embed="rId2"/>
          <a:stretch>
            <a:fillRect/>
          </a:stretch>
        </p:blipFill>
        <p:spPr>
          <a:xfrm>
            <a:off x="1357133" y="831595"/>
            <a:ext cx="8892110" cy="5194810"/>
          </a:xfrm>
          <a:prstGeom prst="rect">
            <a:avLst/>
          </a:prstGeom>
        </p:spPr>
      </p:pic>
    </p:spTree>
    <p:extLst>
      <p:ext uri="{BB962C8B-B14F-4D97-AF65-F5344CB8AC3E}">
        <p14:creationId xmlns:p14="http://schemas.microsoft.com/office/powerpoint/2010/main" val="100303384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929FF7AB-26C8-3437-6867-725D86E00D24}"/>
              </a:ext>
            </a:extLst>
          </p:cNvPr>
          <p:cNvPicPr>
            <a:picLocks noChangeAspect="1"/>
          </p:cNvPicPr>
          <p:nvPr/>
        </p:nvPicPr>
        <p:blipFill>
          <a:blip r:embed="rId2"/>
          <a:stretch>
            <a:fillRect/>
          </a:stretch>
        </p:blipFill>
        <p:spPr>
          <a:xfrm>
            <a:off x="0" y="170173"/>
            <a:ext cx="12192000" cy="6517654"/>
          </a:xfrm>
          <a:prstGeom prst="rect">
            <a:avLst/>
          </a:prstGeom>
        </p:spPr>
      </p:pic>
    </p:spTree>
    <p:extLst>
      <p:ext uri="{BB962C8B-B14F-4D97-AF65-F5344CB8AC3E}">
        <p14:creationId xmlns:p14="http://schemas.microsoft.com/office/powerpoint/2010/main" val="19319869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F4A46384-64EB-F852-024F-9C23C4BCF885}"/>
              </a:ext>
            </a:extLst>
          </p:cNvPr>
          <p:cNvPicPr>
            <a:picLocks noChangeAspect="1"/>
          </p:cNvPicPr>
          <p:nvPr/>
        </p:nvPicPr>
        <p:blipFill>
          <a:blip r:embed="rId2"/>
          <a:stretch>
            <a:fillRect/>
          </a:stretch>
        </p:blipFill>
        <p:spPr>
          <a:xfrm>
            <a:off x="1554988" y="0"/>
            <a:ext cx="9082023" cy="6858000"/>
          </a:xfrm>
          <a:prstGeom prst="rect">
            <a:avLst/>
          </a:prstGeom>
        </p:spPr>
      </p:pic>
    </p:spTree>
    <p:extLst>
      <p:ext uri="{BB962C8B-B14F-4D97-AF65-F5344CB8AC3E}">
        <p14:creationId xmlns:p14="http://schemas.microsoft.com/office/powerpoint/2010/main" val="35612901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AC774D1-674D-60C1-ACDA-3B5EA0FAD555}"/>
              </a:ext>
            </a:extLst>
          </p:cNvPr>
          <p:cNvPicPr>
            <a:picLocks noChangeAspect="1"/>
          </p:cNvPicPr>
          <p:nvPr/>
        </p:nvPicPr>
        <p:blipFill>
          <a:blip r:embed="rId2"/>
          <a:stretch>
            <a:fillRect/>
          </a:stretch>
        </p:blipFill>
        <p:spPr>
          <a:xfrm>
            <a:off x="1571835" y="0"/>
            <a:ext cx="9048330" cy="6858000"/>
          </a:xfrm>
          <a:prstGeom prst="rect">
            <a:avLst/>
          </a:prstGeom>
        </p:spPr>
      </p:pic>
    </p:spTree>
    <p:extLst>
      <p:ext uri="{BB962C8B-B14F-4D97-AF65-F5344CB8AC3E}">
        <p14:creationId xmlns:p14="http://schemas.microsoft.com/office/powerpoint/2010/main" val="27683953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811B9A7-7285-DDB9-E4D3-7A0DBDAC8F08}"/>
              </a:ext>
            </a:extLst>
          </p:cNvPr>
          <p:cNvPicPr>
            <a:picLocks noChangeAspect="1"/>
          </p:cNvPicPr>
          <p:nvPr/>
        </p:nvPicPr>
        <p:blipFill>
          <a:blip r:embed="rId2"/>
          <a:stretch>
            <a:fillRect/>
          </a:stretch>
        </p:blipFill>
        <p:spPr>
          <a:xfrm>
            <a:off x="0" y="350033"/>
            <a:ext cx="12192000" cy="6157933"/>
          </a:xfrm>
          <a:prstGeom prst="rect">
            <a:avLst/>
          </a:prstGeom>
        </p:spPr>
      </p:pic>
    </p:spTree>
    <p:extLst>
      <p:ext uri="{BB962C8B-B14F-4D97-AF65-F5344CB8AC3E}">
        <p14:creationId xmlns:p14="http://schemas.microsoft.com/office/powerpoint/2010/main" val="377574084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9F4AEE-AF92-58A7-22AA-4E7BA06D50A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4520DC5-FFEC-C8BF-D98D-E4C73B01B2F6}"/>
              </a:ext>
            </a:extLst>
          </p:cNvPr>
          <p:cNvSpPr>
            <a:spLocks noGrp="1"/>
          </p:cNvSpPr>
          <p:nvPr>
            <p:ph type="title"/>
          </p:nvPr>
        </p:nvSpPr>
        <p:spPr/>
        <p:txBody>
          <a:bodyPr/>
          <a:lstStyle/>
          <a:p>
            <a:r>
              <a:rPr lang="en-CH" dirty="0"/>
              <a:t>This Version: Experiments</a:t>
            </a:r>
          </a:p>
        </p:txBody>
      </p:sp>
      <p:sp>
        <p:nvSpPr>
          <p:cNvPr id="4" name="Text Placeholder 3">
            <a:extLst>
              <a:ext uri="{FF2B5EF4-FFF2-40B4-BE49-F238E27FC236}">
                <a16:creationId xmlns:a16="http://schemas.microsoft.com/office/drawing/2014/main" id="{70DA80B1-C6CC-2B78-8E67-3AA235263AF7}"/>
              </a:ext>
            </a:extLst>
          </p:cNvPr>
          <p:cNvSpPr>
            <a:spLocks noGrp="1"/>
          </p:cNvSpPr>
          <p:nvPr>
            <p:ph type="body" idx="1"/>
          </p:nvPr>
        </p:nvSpPr>
        <p:spPr/>
        <p:txBody>
          <a:bodyPr/>
          <a:lstStyle/>
          <a:p>
            <a:endParaRPr lang="en-CH"/>
          </a:p>
        </p:txBody>
      </p:sp>
    </p:spTree>
    <p:extLst>
      <p:ext uri="{BB962C8B-B14F-4D97-AF65-F5344CB8AC3E}">
        <p14:creationId xmlns:p14="http://schemas.microsoft.com/office/powerpoint/2010/main" val="376825357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7EDC8455-4293-4D4A-83AA-1AE022308CA5}"/>
              </a:ext>
            </a:extLst>
          </p:cNvPr>
          <p:cNvSpPr txBox="1"/>
          <p:nvPr/>
        </p:nvSpPr>
        <p:spPr>
          <a:xfrm>
            <a:off x="343949" y="503339"/>
            <a:ext cx="1249316" cy="369332"/>
          </a:xfrm>
          <a:prstGeom prst="rect">
            <a:avLst/>
          </a:prstGeom>
          <a:noFill/>
        </p:spPr>
        <p:txBody>
          <a:bodyPr wrap="none" rtlCol="0">
            <a:spAutoFit/>
          </a:bodyPr>
          <a:lstStyle/>
          <a:p>
            <a:r>
              <a:rPr lang="en-CH" dirty="0"/>
              <a:t>Parameters</a:t>
            </a:r>
          </a:p>
        </p:txBody>
      </p:sp>
      <p:pic>
        <p:nvPicPr>
          <p:cNvPr id="4" name="Picture 3">
            <a:extLst>
              <a:ext uri="{FF2B5EF4-FFF2-40B4-BE49-F238E27FC236}">
                <a16:creationId xmlns:a16="http://schemas.microsoft.com/office/drawing/2014/main" id="{6AEC1D42-97E8-FFB9-C055-95125D5A5B9A}"/>
              </a:ext>
            </a:extLst>
          </p:cNvPr>
          <p:cNvPicPr>
            <a:picLocks noChangeAspect="1"/>
          </p:cNvPicPr>
          <p:nvPr/>
        </p:nvPicPr>
        <p:blipFill>
          <a:blip r:embed="rId2"/>
          <a:stretch>
            <a:fillRect/>
          </a:stretch>
        </p:blipFill>
        <p:spPr>
          <a:xfrm>
            <a:off x="2991141" y="0"/>
            <a:ext cx="6296804" cy="6858000"/>
          </a:xfrm>
          <a:prstGeom prst="rect">
            <a:avLst/>
          </a:prstGeom>
        </p:spPr>
      </p:pic>
    </p:spTree>
    <p:extLst>
      <p:ext uri="{BB962C8B-B14F-4D97-AF65-F5344CB8AC3E}">
        <p14:creationId xmlns:p14="http://schemas.microsoft.com/office/powerpoint/2010/main" val="284291957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173F5132-835C-4802-B200-74D97640FDE7}"/>
              </a:ext>
            </a:extLst>
          </p:cNvPr>
          <p:cNvSpPr txBox="1"/>
          <p:nvPr/>
        </p:nvSpPr>
        <p:spPr>
          <a:xfrm>
            <a:off x="571500" y="808892"/>
            <a:ext cx="2650726" cy="369332"/>
          </a:xfrm>
          <a:prstGeom prst="rect">
            <a:avLst/>
          </a:prstGeom>
          <a:noFill/>
        </p:spPr>
        <p:txBody>
          <a:bodyPr wrap="none" rtlCol="0">
            <a:spAutoFit/>
          </a:bodyPr>
          <a:lstStyle/>
          <a:p>
            <a:r>
              <a:rPr lang="en-US" dirty="0"/>
              <a:t>1. Sequential Presentation</a:t>
            </a:r>
          </a:p>
        </p:txBody>
      </p:sp>
    </p:spTree>
    <p:extLst>
      <p:ext uri="{BB962C8B-B14F-4D97-AF65-F5344CB8AC3E}">
        <p14:creationId xmlns:p14="http://schemas.microsoft.com/office/powerpoint/2010/main" val="9759501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353549389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CCA0ABF7-CE63-BFEF-5719-4B710204E8A2}"/>
              </a:ext>
            </a:extLst>
          </p:cNvPr>
          <p:cNvPicPr>
            <a:picLocks noChangeAspect="1"/>
          </p:cNvPicPr>
          <p:nvPr/>
        </p:nvPicPr>
        <p:blipFill>
          <a:blip r:embed="rId2"/>
          <a:stretch>
            <a:fillRect/>
          </a:stretch>
        </p:blipFill>
        <p:spPr>
          <a:xfrm>
            <a:off x="437503" y="1101061"/>
            <a:ext cx="5848350" cy="5153025"/>
          </a:xfrm>
          <a:prstGeom prst="rect">
            <a:avLst/>
          </a:prstGeom>
        </p:spPr>
      </p:pic>
      <p:pic>
        <p:nvPicPr>
          <p:cNvPr id="3" name="Picture 2">
            <a:extLst>
              <a:ext uri="{FF2B5EF4-FFF2-40B4-BE49-F238E27FC236}">
                <a16:creationId xmlns:a16="http://schemas.microsoft.com/office/drawing/2014/main" id="{B948BD1B-9D2C-B24E-5DC7-F53506BA1D81}"/>
              </a:ext>
            </a:extLst>
          </p:cNvPr>
          <p:cNvPicPr>
            <a:picLocks noChangeAspect="1"/>
          </p:cNvPicPr>
          <p:nvPr/>
        </p:nvPicPr>
        <p:blipFill>
          <a:blip r:embed="rId3"/>
          <a:stretch>
            <a:fillRect/>
          </a:stretch>
        </p:blipFill>
        <p:spPr>
          <a:xfrm>
            <a:off x="6181909" y="1101060"/>
            <a:ext cx="5848349" cy="5153091"/>
          </a:xfrm>
          <a:prstGeom prst="rect">
            <a:avLst/>
          </a:prstGeom>
        </p:spPr>
      </p:pic>
    </p:spTree>
    <p:extLst>
      <p:ext uri="{BB962C8B-B14F-4D97-AF65-F5344CB8AC3E}">
        <p14:creationId xmlns:p14="http://schemas.microsoft.com/office/powerpoint/2010/main" val="49610607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910DD5DD-AE33-6B6A-AAB1-8DBCBC3216CB}"/>
              </a:ext>
            </a:extLst>
          </p:cNvPr>
          <p:cNvPicPr>
            <a:picLocks noChangeAspect="1"/>
          </p:cNvPicPr>
          <p:nvPr/>
        </p:nvPicPr>
        <p:blipFill>
          <a:blip r:embed="rId2"/>
          <a:stretch>
            <a:fillRect/>
          </a:stretch>
        </p:blipFill>
        <p:spPr>
          <a:xfrm>
            <a:off x="574505" y="1195387"/>
            <a:ext cx="5343525" cy="4467225"/>
          </a:xfrm>
          <a:prstGeom prst="rect">
            <a:avLst/>
          </a:prstGeom>
        </p:spPr>
      </p:pic>
    </p:spTree>
    <p:extLst>
      <p:ext uri="{BB962C8B-B14F-4D97-AF65-F5344CB8AC3E}">
        <p14:creationId xmlns:p14="http://schemas.microsoft.com/office/powerpoint/2010/main" val="379532093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837D3F3-7DC8-8648-B796-C877A7210D58}"/>
              </a:ext>
            </a:extLst>
          </p:cNvPr>
          <p:cNvPicPr>
            <a:picLocks noChangeAspect="1"/>
          </p:cNvPicPr>
          <p:nvPr/>
        </p:nvPicPr>
        <p:blipFill>
          <a:blip r:embed="rId2"/>
          <a:stretch>
            <a:fillRect/>
          </a:stretch>
        </p:blipFill>
        <p:spPr>
          <a:xfrm>
            <a:off x="5408166" y="451375"/>
            <a:ext cx="6134100" cy="6115050"/>
          </a:xfrm>
          <a:prstGeom prst="rect">
            <a:avLst/>
          </a:prstGeom>
        </p:spPr>
      </p:pic>
      <p:pic>
        <p:nvPicPr>
          <p:cNvPr id="3" name="Picture 2">
            <a:extLst>
              <a:ext uri="{FF2B5EF4-FFF2-40B4-BE49-F238E27FC236}">
                <a16:creationId xmlns:a16="http://schemas.microsoft.com/office/drawing/2014/main" id="{7A925017-B12D-7AB0-EC40-BA2220AF5EF1}"/>
              </a:ext>
            </a:extLst>
          </p:cNvPr>
          <p:cNvPicPr>
            <a:picLocks noChangeAspect="1"/>
          </p:cNvPicPr>
          <p:nvPr/>
        </p:nvPicPr>
        <p:blipFill>
          <a:blip r:embed="rId3"/>
          <a:stretch>
            <a:fillRect/>
          </a:stretch>
        </p:blipFill>
        <p:spPr>
          <a:xfrm>
            <a:off x="228279" y="1257300"/>
            <a:ext cx="5334000" cy="4343400"/>
          </a:xfrm>
          <a:prstGeom prst="rect">
            <a:avLst/>
          </a:prstGeom>
        </p:spPr>
      </p:pic>
    </p:spTree>
    <p:extLst>
      <p:ext uri="{BB962C8B-B14F-4D97-AF65-F5344CB8AC3E}">
        <p14:creationId xmlns:p14="http://schemas.microsoft.com/office/powerpoint/2010/main" val="36726956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01CE115C-DB5D-C2CE-13A5-9552C4EE2915}"/>
              </a:ext>
            </a:extLst>
          </p:cNvPr>
          <p:cNvSpPr txBox="1"/>
          <p:nvPr/>
        </p:nvSpPr>
        <p:spPr>
          <a:xfrm>
            <a:off x="793630" y="1000663"/>
            <a:ext cx="1518249" cy="923330"/>
          </a:xfrm>
          <a:prstGeom prst="rect">
            <a:avLst/>
          </a:prstGeom>
          <a:noFill/>
        </p:spPr>
        <p:txBody>
          <a:bodyPr wrap="square" rtlCol="0">
            <a:spAutoFit/>
          </a:bodyPr>
          <a:lstStyle/>
          <a:p>
            <a:r>
              <a:rPr lang="en-CH" dirty="0"/>
              <a:t>Simultaneous presentation, retro-cue</a:t>
            </a:r>
          </a:p>
        </p:txBody>
      </p:sp>
      <p:pic>
        <p:nvPicPr>
          <p:cNvPr id="4" name="Picture 3">
            <a:extLst>
              <a:ext uri="{FF2B5EF4-FFF2-40B4-BE49-F238E27FC236}">
                <a16:creationId xmlns:a16="http://schemas.microsoft.com/office/drawing/2014/main" id="{77F011AE-8017-3DD0-A1C6-1C10F7E36238}"/>
              </a:ext>
            </a:extLst>
          </p:cNvPr>
          <p:cNvPicPr>
            <a:picLocks noChangeAspect="1"/>
          </p:cNvPicPr>
          <p:nvPr/>
        </p:nvPicPr>
        <p:blipFill>
          <a:blip r:embed="rId2"/>
          <a:stretch>
            <a:fillRect/>
          </a:stretch>
        </p:blipFill>
        <p:spPr>
          <a:xfrm>
            <a:off x="3208847" y="383874"/>
            <a:ext cx="7083636" cy="5965167"/>
          </a:xfrm>
          <a:prstGeom prst="rect">
            <a:avLst/>
          </a:prstGeom>
        </p:spPr>
      </p:pic>
    </p:spTree>
    <p:extLst>
      <p:ext uri="{BB962C8B-B14F-4D97-AF65-F5344CB8AC3E}">
        <p14:creationId xmlns:p14="http://schemas.microsoft.com/office/powerpoint/2010/main" val="303833626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6DDEF0F-E4B9-765E-5013-8B40D8A96C5C}"/>
              </a:ext>
            </a:extLst>
          </p:cNvPr>
          <p:cNvPicPr>
            <a:picLocks noChangeAspect="1"/>
          </p:cNvPicPr>
          <p:nvPr/>
        </p:nvPicPr>
        <p:blipFill>
          <a:blip r:embed="rId2"/>
          <a:stretch>
            <a:fillRect/>
          </a:stretch>
        </p:blipFill>
        <p:spPr>
          <a:xfrm>
            <a:off x="319087" y="361950"/>
            <a:ext cx="11553825" cy="6134100"/>
          </a:xfrm>
          <a:prstGeom prst="rect">
            <a:avLst/>
          </a:prstGeom>
        </p:spPr>
      </p:pic>
    </p:spTree>
    <p:extLst>
      <p:ext uri="{BB962C8B-B14F-4D97-AF65-F5344CB8AC3E}">
        <p14:creationId xmlns:p14="http://schemas.microsoft.com/office/powerpoint/2010/main" val="407123839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36D137F9-8BBC-8651-C5B3-8DEA5F451513}"/>
              </a:ext>
            </a:extLst>
          </p:cNvPr>
          <p:cNvPicPr>
            <a:picLocks noChangeAspect="1"/>
          </p:cNvPicPr>
          <p:nvPr/>
        </p:nvPicPr>
        <p:blipFill>
          <a:blip r:embed="rId2"/>
          <a:stretch>
            <a:fillRect/>
          </a:stretch>
        </p:blipFill>
        <p:spPr>
          <a:xfrm>
            <a:off x="-837801" y="634259"/>
            <a:ext cx="13029801" cy="5973575"/>
          </a:xfrm>
          <a:prstGeom prst="rect">
            <a:avLst/>
          </a:prstGeom>
        </p:spPr>
      </p:pic>
    </p:spTree>
    <p:extLst>
      <p:ext uri="{BB962C8B-B14F-4D97-AF65-F5344CB8AC3E}">
        <p14:creationId xmlns:p14="http://schemas.microsoft.com/office/powerpoint/2010/main" val="10119117"/>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EA137048-0D6C-4761-9D63-8DF4F42ECAFB}"/>
              </a:ext>
            </a:extLst>
          </p:cNvPr>
          <p:cNvSpPr txBox="1"/>
          <p:nvPr/>
        </p:nvSpPr>
        <p:spPr>
          <a:xfrm>
            <a:off x="571500" y="808892"/>
            <a:ext cx="3223260" cy="923330"/>
          </a:xfrm>
          <a:prstGeom prst="rect">
            <a:avLst/>
          </a:prstGeom>
          <a:noFill/>
        </p:spPr>
        <p:txBody>
          <a:bodyPr wrap="square" rtlCol="0">
            <a:spAutoFit/>
          </a:bodyPr>
          <a:lstStyle/>
          <a:p>
            <a:r>
              <a:rPr lang="en-US" dirty="0"/>
              <a:t>6. Sim./Seq presentation with spatially separated vs. overlapping stimuli</a:t>
            </a:r>
            <a:endParaRPr lang="en-CH" dirty="0"/>
          </a:p>
        </p:txBody>
      </p:sp>
      <p:pic>
        <p:nvPicPr>
          <p:cNvPr id="9" name="Picture 8">
            <a:extLst>
              <a:ext uri="{FF2B5EF4-FFF2-40B4-BE49-F238E27FC236}">
                <a16:creationId xmlns:a16="http://schemas.microsoft.com/office/drawing/2014/main" id="{B17083CC-5AC6-AF36-22F8-8737DBFFF89A}"/>
              </a:ext>
            </a:extLst>
          </p:cNvPr>
          <p:cNvPicPr>
            <a:picLocks noChangeAspect="1"/>
          </p:cNvPicPr>
          <p:nvPr/>
        </p:nvPicPr>
        <p:blipFill>
          <a:blip r:embed="rId2"/>
          <a:stretch>
            <a:fillRect/>
          </a:stretch>
        </p:blipFill>
        <p:spPr>
          <a:xfrm>
            <a:off x="762000" y="2048608"/>
            <a:ext cx="5334000" cy="4000500"/>
          </a:xfrm>
          <a:prstGeom prst="rect">
            <a:avLst/>
          </a:prstGeom>
        </p:spPr>
      </p:pic>
      <p:pic>
        <p:nvPicPr>
          <p:cNvPr id="10" name="Picture 9">
            <a:extLst>
              <a:ext uri="{FF2B5EF4-FFF2-40B4-BE49-F238E27FC236}">
                <a16:creationId xmlns:a16="http://schemas.microsoft.com/office/drawing/2014/main" id="{07C2B8F8-5B75-6E8B-6743-CED5F78B334B}"/>
              </a:ext>
            </a:extLst>
          </p:cNvPr>
          <p:cNvPicPr>
            <a:picLocks noChangeAspect="1"/>
          </p:cNvPicPr>
          <p:nvPr/>
        </p:nvPicPr>
        <p:blipFill>
          <a:blip r:embed="rId3"/>
          <a:stretch>
            <a:fillRect/>
          </a:stretch>
        </p:blipFill>
        <p:spPr>
          <a:xfrm>
            <a:off x="6243917" y="1894914"/>
            <a:ext cx="5334000" cy="4000500"/>
          </a:xfrm>
          <a:prstGeom prst="rect">
            <a:avLst/>
          </a:prstGeom>
        </p:spPr>
      </p:pic>
    </p:spTree>
    <p:extLst>
      <p:ext uri="{BB962C8B-B14F-4D97-AF65-F5344CB8AC3E}">
        <p14:creationId xmlns:p14="http://schemas.microsoft.com/office/powerpoint/2010/main" val="106898198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4A0F5CD-6AD3-D085-25AB-3A6FCB944959}"/>
              </a:ext>
            </a:extLst>
          </p:cNvPr>
          <p:cNvPicPr>
            <a:picLocks noChangeAspect="1"/>
          </p:cNvPicPr>
          <p:nvPr/>
        </p:nvPicPr>
        <p:blipFill>
          <a:blip r:embed="rId2"/>
          <a:stretch>
            <a:fillRect/>
          </a:stretch>
        </p:blipFill>
        <p:spPr>
          <a:xfrm>
            <a:off x="2395887" y="0"/>
            <a:ext cx="7400225" cy="6858000"/>
          </a:xfrm>
          <a:prstGeom prst="rect">
            <a:avLst/>
          </a:prstGeom>
        </p:spPr>
      </p:pic>
    </p:spTree>
    <p:extLst>
      <p:ext uri="{BB962C8B-B14F-4D97-AF65-F5344CB8AC3E}">
        <p14:creationId xmlns:p14="http://schemas.microsoft.com/office/powerpoint/2010/main" val="220412344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C32D91E9-0F71-C290-BF6E-95F836CCD3A8}"/>
              </a:ext>
            </a:extLst>
          </p:cNvPr>
          <p:cNvSpPr txBox="1"/>
          <p:nvPr/>
        </p:nvSpPr>
        <p:spPr>
          <a:xfrm>
            <a:off x="517585" y="845389"/>
            <a:ext cx="5029262" cy="369332"/>
          </a:xfrm>
          <a:prstGeom prst="rect">
            <a:avLst/>
          </a:prstGeom>
          <a:noFill/>
        </p:spPr>
        <p:txBody>
          <a:bodyPr wrap="none" rtlCol="0">
            <a:spAutoFit/>
          </a:bodyPr>
          <a:lstStyle/>
          <a:p>
            <a:r>
              <a:rPr lang="en-CH" dirty="0"/>
              <a:t>7. Sim. and Seq Consolidation (Jacob’s experiments)</a:t>
            </a:r>
          </a:p>
        </p:txBody>
      </p:sp>
      <p:pic>
        <p:nvPicPr>
          <p:cNvPr id="10" name="Picture 9">
            <a:extLst>
              <a:ext uri="{FF2B5EF4-FFF2-40B4-BE49-F238E27FC236}">
                <a16:creationId xmlns:a16="http://schemas.microsoft.com/office/drawing/2014/main" id="{208F34DF-15F4-0824-4A5E-3E0F4F5CC25C}"/>
              </a:ext>
            </a:extLst>
          </p:cNvPr>
          <p:cNvPicPr>
            <a:picLocks noChangeAspect="1"/>
          </p:cNvPicPr>
          <p:nvPr/>
        </p:nvPicPr>
        <p:blipFill>
          <a:blip r:embed="rId2"/>
          <a:stretch>
            <a:fillRect/>
          </a:stretch>
        </p:blipFill>
        <p:spPr>
          <a:xfrm>
            <a:off x="473014" y="1610379"/>
            <a:ext cx="5867400" cy="4352925"/>
          </a:xfrm>
          <a:prstGeom prst="rect">
            <a:avLst/>
          </a:prstGeom>
        </p:spPr>
      </p:pic>
      <p:pic>
        <p:nvPicPr>
          <p:cNvPr id="11" name="Picture 10">
            <a:extLst>
              <a:ext uri="{FF2B5EF4-FFF2-40B4-BE49-F238E27FC236}">
                <a16:creationId xmlns:a16="http://schemas.microsoft.com/office/drawing/2014/main" id="{5DD9DE37-B3F6-D32B-835D-7EC433CEB1E2}"/>
              </a:ext>
            </a:extLst>
          </p:cNvPr>
          <p:cNvPicPr>
            <a:picLocks noChangeAspect="1"/>
          </p:cNvPicPr>
          <p:nvPr/>
        </p:nvPicPr>
        <p:blipFill>
          <a:blip r:embed="rId3"/>
          <a:stretch>
            <a:fillRect/>
          </a:stretch>
        </p:blipFill>
        <p:spPr>
          <a:xfrm>
            <a:off x="6340414" y="1610380"/>
            <a:ext cx="5803899" cy="4352924"/>
          </a:xfrm>
          <a:prstGeom prst="rect">
            <a:avLst/>
          </a:prstGeom>
        </p:spPr>
      </p:pic>
    </p:spTree>
    <p:extLst>
      <p:ext uri="{BB962C8B-B14F-4D97-AF65-F5344CB8AC3E}">
        <p14:creationId xmlns:p14="http://schemas.microsoft.com/office/powerpoint/2010/main" val="3949301715"/>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9285B5F9-24FE-25E6-5685-649017835A9E}"/>
              </a:ext>
            </a:extLst>
          </p:cNvPr>
          <p:cNvPicPr>
            <a:picLocks noChangeAspect="1"/>
          </p:cNvPicPr>
          <p:nvPr/>
        </p:nvPicPr>
        <p:blipFill>
          <a:blip r:embed="rId2"/>
          <a:stretch>
            <a:fillRect/>
          </a:stretch>
        </p:blipFill>
        <p:spPr>
          <a:xfrm>
            <a:off x="744631" y="1214437"/>
            <a:ext cx="6076950" cy="4429125"/>
          </a:xfrm>
          <a:prstGeom prst="rect">
            <a:avLst/>
          </a:prstGeom>
        </p:spPr>
      </p:pic>
    </p:spTree>
    <p:extLst>
      <p:ext uri="{BB962C8B-B14F-4D97-AF65-F5344CB8AC3E}">
        <p14:creationId xmlns:p14="http://schemas.microsoft.com/office/powerpoint/2010/main" val="187641180"/>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7A2CA5DA-005B-1825-03E6-23BCBA246AE5}"/>
              </a:ext>
            </a:extLst>
          </p:cNvPr>
          <p:cNvPicPr>
            <a:picLocks noChangeAspect="1"/>
          </p:cNvPicPr>
          <p:nvPr/>
        </p:nvPicPr>
        <p:blipFill>
          <a:blip r:embed="rId2"/>
          <a:stretch>
            <a:fillRect/>
          </a:stretch>
        </p:blipFill>
        <p:spPr>
          <a:xfrm>
            <a:off x="307306" y="1171074"/>
            <a:ext cx="5838825" cy="4210050"/>
          </a:xfrm>
          <a:prstGeom prst="rect">
            <a:avLst/>
          </a:prstGeom>
        </p:spPr>
      </p:pic>
      <p:pic>
        <p:nvPicPr>
          <p:cNvPr id="3" name="Picture 2">
            <a:extLst>
              <a:ext uri="{FF2B5EF4-FFF2-40B4-BE49-F238E27FC236}">
                <a16:creationId xmlns:a16="http://schemas.microsoft.com/office/drawing/2014/main" id="{6B092464-723D-75BF-6CA8-6F5EA5192F0E}"/>
              </a:ext>
            </a:extLst>
          </p:cNvPr>
          <p:cNvPicPr>
            <a:picLocks noChangeAspect="1"/>
          </p:cNvPicPr>
          <p:nvPr/>
        </p:nvPicPr>
        <p:blipFill>
          <a:blip r:embed="rId3"/>
          <a:stretch>
            <a:fillRect/>
          </a:stretch>
        </p:blipFill>
        <p:spPr>
          <a:xfrm>
            <a:off x="6268703" y="1275849"/>
            <a:ext cx="5334000" cy="4000500"/>
          </a:xfrm>
          <a:prstGeom prst="rect">
            <a:avLst/>
          </a:prstGeom>
        </p:spPr>
      </p:pic>
      <p:sp>
        <p:nvSpPr>
          <p:cNvPr id="4" name="TextBox 3">
            <a:extLst>
              <a:ext uri="{FF2B5EF4-FFF2-40B4-BE49-F238E27FC236}">
                <a16:creationId xmlns:a16="http://schemas.microsoft.com/office/drawing/2014/main" id="{1B02C393-8F90-3972-1DA4-58405CDBD71A}"/>
              </a:ext>
            </a:extLst>
          </p:cNvPr>
          <p:cNvSpPr txBox="1"/>
          <p:nvPr/>
        </p:nvSpPr>
        <p:spPr>
          <a:xfrm>
            <a:off x="240632" y="391026"/>
            <a:ext cx="2715552" cy="369332"/>
          </a:xfrm>
          <a:prstGeom prst="rect">
            <a:avLst/>
          </a:prstGeom>
          <a:noFill/>
        </p:spPr>
        <p:txBody>
          <a:bodyPr wrap="none" rtlCol="0">
            <a:spAutoFit/>
          </a:bodyPr>
          <a:lstStyle/>
          <a:p>
            <a:r>
              <a:rPr lang="en-CH" dirty="0"/>
              <a:t>With </a:t>
            </a:r>
            <a:r>
              <a:rPr lang="en-CH" dirty="0" err="1"/>
              <a:t>cRate</a:t>
            </a:r>
            <a:r>
              <a:rPr lang="en-CH" dirty="0"/>
              <a:t> decreased to 4:</a:t>
            </a:r>
          </a:p>
        </p:txBody>
      </p:sp>
    </p:spTree>
    <p:extLst>
      <p:ext uri="{BB962C8B-B14F-4D97-AF65-F5344CB8AC3E}">
        <p14:creationId xmlns:p14="http://schemas.microsoft.com/office/powerpoint/2010/main" val="389604437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9F0B9C3-11B8-1B82-903B-7BFE0049F968}"/>
              </a:ext>
            </a:extLst>
          </p:cNvPr>
          <p:cNvSpPr txBox="1"/>
          <p:nvPr/>
        </p:nvSpPr>
        <p:spPr>
          <a:xfrm>
            <a:off x="240632" y="391026"/>
            <a:ext cx="4579780" cy="369332"/>
          </a:xfrm>
          <a:prstGeom prst="rect">
            <a:avLst/>
          </a:prstGeom>
          <a:noFill/>
        </p:spPr>
        <p:txBody>
          <a:bodyPr wrap="none" rtlCol="0">
            <a:spAutoFit/>
          </a:bodyPr>
          <a:lstStyle/>
          <a:p>
            <a:r>
              <a:rPr lang="en-CH" dirty="0"/>
              <a:t>With </a:t>
            </a:r>
            <a:r>
              <a:rPr lang="en-CH" dirty="0" err="1"/>
              <a:t>cRate</a:t>
            </a:r>
            <a:r>
              <a:rPr lang="en-CH" dirty="0"/>
              <a:t> = 10 and </a:t>
            </a:r>
            <a:r>
              <a:rPr lang="en-CH" dirty="0" err="1"/>
              <a:t>cStrength</a:t>
            </a:r>
            <a:r>
              <a:rPr lang="en-CH" dirty="0"/>
              <a:t> increased to 0.9</a:t>
            </a:r>
          </a:p>
        </p:txBody>
      </p:sp>
      <p:pic>
        <p:nvPicPr>
          <p:cNvPr id="3" name="Picture 2">
            <a:extLst>
              <a:ext uri="{FF2B5EF4-FFF2-40B4-BE49-F238E27FC236}">
                <a16:creationId xmlns:a16="http://schemas.microsoft.com/office/drawing/2014/main" id="{419D1298-7DDC-2AAE-D3F2-64BF93B947E5}"/>
              </a:ext>
            </a:extLst>
          </p:cNvPr>
          <p:cNvPicPr>
            <a:picLocks noChangeAspect="1"/>
          </p:cNvPicPr>
          <p:nvPr/>
        </p:nvPicPr>
        <p:blipFill>
          <a:blip r:embed="rId2"/>
          <a:stretch>
            <a:fillRect/>
          </a:stretch>
        </p:blipFill>
        <p:spPr>
          <a:xfrm>
            <a:off x="-121319" y="1073818"/>
            <a:ext cx="6743700" cy="4914900"/>
          </a:xfrm>
          <a:prstGeom prst="rect">
            <a:avLst/>
          </a:prstGeom>
        </p:spPr>
      </p:pic>
      <p:pic>
        <p:nvPicPr>
          <p:cNvPr id="4" name="Picture 3">
            <a:extLst>
              <a:ext uri="{FF2B5EF4-FFF2-40B4-BE49-F238E27FC236}">
                <a16:creationId xmlns:a16="http://schemas.microsoft.com/office/drawing/2014/main" id="{E3078E5A-1635-376C-5B34-23432EE0A039}"/>
              </a:ext>
            </a:extLst>
          </p:cNvPr>
          <p:cNvPicPr>
            <a:picLocks noChangeAspect="1"/>
          </p:cNvPicPr>
          <p:nvPr/>
        </p:nvPicPr>
        <p:blipFill>
          <a:blip r:embed="rId3"/>
          <a:stretch>
            <a:fillRect/>
          </a:stretch>
        </p:blipFill>
        <p:spPr>
          <a:xfrm>
            <a:off x="6257925" y="1126205"/>
            <a:ext cx="5934075" cy="4810125"/>
          </a:xfrm>
          <a:prstGeom prst="rect">
            <a:avLst/>
          </a:prstGeom>
        </p:spPr>
      </p:pic>
    </p:spTree>
    <p:extLst>
      <p:ext uri="{BB962C8B-B14F-4D97-AF65-F5344CB8AC3E}">
        <p14:creationId xmlns:p14="http://schemas.microsoft.com/office/powerpoint/2010/main" val="956205254"/>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12B5A7D1-8D36-547A-94C6-E9CFD1D45190}"/>
              </a:ext>
            </a:extLst>
          </p:cNvPr>
          <p:cNvSpPr txBox="1"/>
          <p:nvPr/>
        </p:nvSpPr>
        <p:spPr>
          <a:xfrm>
            <a:off x="500332" y="862642"/>
            <a:ext cx="4236673" cy="369332"/>
          </a:xfrm>
          <a:prstGeom prst="rect">
            <a:avLst/>
          </a:prstGeom>
          <a:noFill/>
        </p:spPr>
        <p:txBody>
          <a:bodyPr wrap="none" rtlCol="0">
            <a:spAutoFit/>
          </a:bodyPr>
          <a:lstStyle/>
          <a:p>
            <a:r>
              <a:rPr lang="en-CH" dirty="0"/>
              <a:t>8. Ricker &amp; Sandry Masking + Consolidation</a:t>
            </a:r>
          </a:p>
        </p:txBody>
      </p:sp>
      <p:pic>
        <p:nvPicPr>
          <p:cNvPr id="2" name="Picture 1">
            <a:extLst>
              <a:ext uri="{FF2B5EF4-FFF2-40B4-BE49-F238E27FC236}">
                <a16:creationId xmlns:a16="http://schemas.microsoft.com/office/drawing/2014/main" id="{4B450745-5E66-8981-E262-391269A75D40}"/>
              </a:ext>
            </a:extLst>
          </p:cNvPr>
          <p:cNvPicPr>
            <a:picLocks noChangeAspect="1"/>
          </p:cNvPicPr>
          <p:nvPr/>
        </p:nvPicPr>
        <p:blipFill>
          <a:blip r:embed="rId2"/>
          <a:stretch>
            <a:fillRect/>
          </a:stretch>
        </p:blipFill>
        <p:spPr>
          <a:xfrm>
            <a:off x="235047" y="1231974"/>
            <a:ext cx="6388910" cy="5524500"/>
          </a:xfrm>
          <a:prstGeom prst="rect">
            <a:avLst/>
          </a:prstGeom>
        </p:spPr>
      </p:pic>
      <p:pic>
        <p:nvPicPr>
          <p:cNvPr id="4" name="Picture 3">
            <a:extLst>
              <a:ext uri="{FF2B5EF4-FFF2-40B4-BE49-F238E27FC236}">
                <a16:creationId xmlns:a16="http://schemas.microsoft.com/office/drawing/2014/main" id="{39EB267B-6360-27DA-2A3A-E19284EC93AC}"/>
              </a:ext>
            </a:extLst>
          </p:cNvPr>
          <p:cNvPicPr>
            <a:picLocks noChangeAspect="1"/>
          </p:cNvPicPr>
          <p:nvPr/>
        </p:nvPicPr>
        <p:blipFill>
          <a:blip r:embed="rId3"/>
          <a:stretch>
            <a:fillRect/>
          </a:stretch>
        </p:blipFill>
        <p:spPr>
          <a:xfrm>
            <a:off x="6177643" y="963385"/>
            <a:ext cx="6233977" cy="5838297"/>
          </a:xfrm>
          <a:prstGeom prst="rect">
            <a:avLst/>
          </a:prstGeom>
        </p:spPr>
      </p:pic>
    </p:spTree>
    <p:extLst>
      <p:ext uri="{BB962C8B-B14F-4D97-AF65-F5344CB8AC3E}">
        <p14:creationId xmlns:p14="http://schemas.microsoft.com/office/powerpoint/2010/main" val="3779737964"/>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F76553D-538C-AFA9-4514-5510816FC47A}"/>
              </a:ext>
            </a:extLst>
          </p:cNvPr>
          <p:cNvSpPr txBox="1"/>
          <p:nvPr/>
        </p:nvSpPr>
        <p:spPr>
          <a:xfrm>
            <a:off x="569343" y="828136"/>
            <a:ext cx="3060453" cy="369332"/>
          </a:xfrm>
          <a:prstGeom prst="rect">
            <a:avLst/>
          </a:prstGeom>
          <a:noFill/>
        </p:spPr>
        <p:txBody>
          <a:bodyPr wrap="none" rtlCol="0">
            <a:spAutoFit/>
          </a:bodyPr>
          <a:lstStyle/>
          <a:p>
            <a:r>
              <a:rPr lang="en-CH" dirty="0"/>
              <a:t>9. Array-Mask SOA (Bays et al.)</a:t>
            </a:r>
          </a:p>
        </p:txBody>
      </p:sp>
    </p:spTree>
    <p:extLst>
      <p:ext uri="{BB962C8B-B14F-4D97-AF65-F5344CB8AC3E}">
        <p14:creationId xmlns:p14="http://schemas.microsoft.com/office/powerpoint/2010/main" val="2706877062"/>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3083A86F-3A03-0F31-6C0C-928D34BF277B}"/>
              </a:ext>
            </a:extLst>
          </p:cNvPr>
          <p:cNvPicPr>
            <a:picLocks noChangeAspect="1"/>
          </p:cNvPicPr>
          <p:nvPr/>
        </p:nvPicPr>
        <p:blipFill>
          <a:blip r:embed="rId2"/>
          <a:stretch>
            <a:fillRect/>
          </a:stretch>
        </p:blipFill>
        <p:spPr>
          <a:xfrm>
            <a:off x="1291843" y="0"/>
            <a:ext cx="5161624" cy="6858000"/>
          </a:xfrm>
          <a:prstGeom prst="rect">
            <a:avLst/>
          </a:prstGeom>
        </p:spPr>
      </p:pic>
      <p:sp>
        <p:nvSpPr>
          <p:cNvPr id="3" name="TextBox 2">
            <a:extLst>
              <a:ext uri="{FF2B5EF4-FFF2-40B4-BE49-F238E27FC236}">
                <a16:creationId xmlns:a16="http://schemas.microsoft.com/office/drawing/2014/main" id="{967943E3-20DB-5728-B996-DF43224E4AE8}"/>
              </a:ext>
            </a:extLst>
          </p:cNvPr>
          <p:cNvSpPr txBox="1"/>
          <p:nvPr/>
        </p:nvSpPr>
        <p:spPr>
          <a:xfrm>
            <a:off x="301926" y="759125"/>
            <a:ext cx="1341818" cy="646331"/>
          </a:xfrm>
          <a:prstGeom prst="rect">
            <a:avLst/>
          </a:prstGeom>
          <a:noFill/>
        </p:spPr>
        <p:txBody>
          <a:bodyPr wrap="square" rtlCol="0">
            <a:spAutoFit/>
          </a:bodyPr>
          <a:lstStyle/>
          <a:p>
            <a:r>
              <a:rPr lang="en-CH" dirty="0"/>
              <a:t>2-array experiment</a:t>
            </a:r>
          </a:p>
        </p:txBody>
      </p:sp>
      <p:pic>
        <p:nvPicPr>
          <p:cNvPr id="4" name="Picture 3">
            <a:extLst>
              <a:ext uri="{FF2B5EF4-FFF2-40B4-BE49-F238E27FC236}">
                <a16:creationId xmlns:a16="http://schemas.microsoft.com/office/drawing/2014/main" id="{D10BBB5E-6055-FAD0-F765-380482F4C179}"/>
              </a:ext>
            </a:extLst>
          </p:cNvPr>
          <p:cNvPicPr>
            <a:picLocks noChangeAspect="1"/>
          </p:cNvPicPr>
          <p:nvPr/>
        </p:nvPicPr>
        <p:blipFill>
          <a:blip r:embed="rId3"/>
          <a:stretch>
            <a:fillRect/>
          </a:stretch>
        </p:blipFill>
        <p:spPr>
          <a:xfrm>
            <a:off x="6326233" y="0"/>
            <a:ext cx="6419303" cy="6858000"/>
          </a:xfrm>
          <a:prstGeom prst="rect">
            <a:avLst/>
          </a:prstGeom>
        </p:spPr>
      </p:pic>
    </p:spTree>
    <p:extLst>
      <p:ext uri="{BB962C8B-B14F-4D97-AF65-F5344CB8AC3E}">
        <p14:creationId xmlns:p14="http://schemas.microsoft.com/office/powerpoint/2010/main" val="48384219"/>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754265235"/>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543C3DD5-8218-33F2-5854-37826FB1C6C8}"/>
              </a:ext>
            </a:extLst>
          </p:cNvPr>
          <p:cNvSpPr txBox="1"/>
          <p:nvPr/>
        </p:nvSpPr>
        <p:spPr>
          <a:xfrm>
            <a:off x="638355" y="914400"/>
            <a:ext cx="2217467" cy="369332"/>
          </a:xfrm>
          <a:prstGeom prst="rect">
            <a:avLst/>
          </a:prstGeom>
          <a:noFill/>
        </p:spPr>
        <p:txBody>
          <a:bodyPr wrap="none" rtlCol="0">
            <a:spAutoFit/>
          </a:bodyPr>
          <a:lstStyle/>
          <a:p>
            <a:r>
              <a:rPr lang="en-CH" dirty="0"/>
              <a:t>Individual Differences</a:t>
            </a:r>
          </a:p>
        </p:txBody>
      </p:sp>
      <p:pic>
        <p:nvPicPr>
          <p:cNvPr id="4" name="Picture 3">
            <a:extLst>
              <a:ext uri="{FF2B5EF4-FFF2-40B4-BE49-F238E27FC236}">
                <a16:creationId xmlns:a16="http://schemas.microsoft.com/office/drawing/2014/main" id="{B0F4F285-2ACE-1B24-BE86-60D0CC89DCAC}"/>
              </a:ext>
            </a:extLst>
          </p:cNvPr>
          <p:cNvPicPr>
            <a:picLocks noChangeAspect="1"/>
          </p:cNvPicPr>
          <p:nvPr/>
        </p:nvPicPr>
        <p:blipFill>
          <a:blip r:embed="rId2"/>
          <a:stretch>
            <a:fillRect/>
          </a:stretch>
        </p:blipFill>
        <p:spPr>
          <a:xfrm>
            <a:off x="381000" y="1283732"/>
            <a:ext cx="5334000" cy="4857750"/>
          </a:xfrm>
          <a:prstGeom prst="rect">
            <a:avLst/>
          </a:prstGeom>
        </p:spPr>
      </p:pic>
      <p:pic>
        <p:nvPicPr>
          <p:cNvPr id="5" name="Picture 4">
            <a:extLst>
              <a:ext uri="{FF2B5EF4-FFF2-40B4-BE49-F238E27FC236}">
                <a16:creationId xmlns:a16="http://schemas.microsoft.com/office/drawing/2014/main" id="{B69CE219-9CBD-5681-9498-0038BB0F79CB}"/>
              </a:ext>
            </a:extLst>
          </p:cNvPr>
          <p:cNvPicPr>
            <a:picLocks noChangeAspect="1"/>
          </p:cNvPicPr>
          <p:nvPr/>
        </p:nvPicPr>
        <p:blipFill>
          <a:blip r:embed="rId3"/>
          <a:stretch>
            <a:fillRect/>
          </a:stretch>
        </p:blipFill>
        <p:spPr>
          <a:xfrm>
            <a:off x="5881968" y="1283732"/>
            <a:ext cx="6057900" cy="4857750"/>
          </a:xfrm>
          <a:prstGeom prst="rect">
            <a:avLst/>
          </a:prstGeom>
        </p:spPr>
      </p:pic>
    </p:spTree>
    <p:extLst>
      <p:ext uri="{BB962C8B-B14F-4D97-AF65-F5344CB8AC3E}">
        <p14:creationId xmlns:p14="http://schemas.microsoft.com/office/powerpoint/2010/main" val="1924437140"/>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1DBAB1C-C4CE-E81C-8ADF-19E6E897C36C}"/>
              </a:ext>
            </a:extLst>
          </p:cNvPr>
          <p:cNvPicPr>
            <a:picLocks noChangeAspect="1"/>
          </p:cNvPicPr>
          <p:nvPr/>
        </p:nvPicPr>
        <p:blipFill>
          <a:blip r:embed="rId2"/>
          <a:stretch>
            <a:fillRect/>
          </a:stretch>
        </p:blipFill>
        <p:spPr>
          <a:xfrm>
            <a:off x="0" y="2140476"/>
            <a:ext cx="12192000" cy="2577048"/>
          </a:xfrm>
          <a:prstGeom prst="rect">
            <a:avLst/>
          </a:prstGeom>
        </p:spPr>
      </p:pic>
    </p:spTree>
    <p:extLst>
      <p:ext uri="{BB962C8B-B14F-4D97-AF65-F5344CB8AC3E}">
        <p14:creationId xmlns:p14="http://schemas.microsoft.com/office/powerpoint/2010/main" val="645672103"/>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B0213118-2795-29B9-4927-C227C4E03D82}"/>
              </a:ext>
            </a:extLst>
          </p:cNvPr>
          <p:cNvPicPr>
            <a:picLocks noChangeAspect="1"/>
          </p:cNvPicPr>
          <p:nvPr/>
        </p:nvPicPr>
        <p:blipFill>
          <a:blip r:embed="rId2"/>
          <a:stretch>
            <a:fillRect/>
          </a:stretch>
        </p:blipFill>
        <p:spPr>
          <a:xfrm>
            <a:off x="2614612" y="695325"/>
            <a:ext cx="6962775" cy="5467350"/>
          </a:xfrm>
          <a:prstGeom prst="rect">
            <a:avLst/>
          </a:prstGeom>
        </p:spPr>
      </p:pic>
    </p:spTree>
    <p:extLst>
      <p:ext uri="{BB962C8B-B14F-4D97-AF65-F5344CB8AC3E}">
        <p14:creationId xmlns:p14="http://schemas.microsoft.com/office/powerpoint/2010/main" val="3119272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C155C85-0408-59AD-99C4-794DBB649734}"/>
              </a:ext>
            </a:extLst>
          </p:cNvPr>
          <p:cNvPicPr>
            <a:picLocks noChangeAspect="1"/>
          </p:cNvPicPr>
          <p:nvPr/>
        </p:nvPicPr>
        <p:blipFill>
          <a:blip r:embed="rId2"/>
          <a:stretch>
            <a:fillRect/>
          </a:stretch>
        </p:blipFill>
        <p:spPr>
          <a:xfrm>
            <a:off x="2730691" y="0"/>
            <a:ext cx="9318543" cy="6858000"/>
          </a:xfrm>
          <a:prstGeom prst="rect">
            <a:avLst/>
          </a:prstGeom>
        </p:spPr>
      </p:pic>
      <p:sp>
        <p:nvSpPr>
          <p:cNvPr id="3" name="TextBox 2">
            <a:extLst>
              <a:ext uri="{FF2B5EF4-FFF2-40B4-BE49-F238E27FC236}">
                <a16:creationId xmlns:a16="http://schemas.microsoft.com/office/drawing/2014/main" id="{44878872-2DCC-700B-93D1-73715A59D1D7}"/>
              </a:ext>
            </a:extLst>
          </p:cNvPr>
          <p:cNvSpPr txBox="1"/>
          <p:nvPr/>
        </p:nvSpPr>
        <p:spPr>
          <a:xfrm>
            <a:off x="362309" y="810883"/>
            <a:ext cx="3038589" cy="369332"/>
          </a:xfrm>
          <a:prstGeom prst="rect">
            <a:avLst/>
          </a:prstGeom>
          <a:noFill/>
        </p:spPr>
        <p:txBody>
          <a:bodyPr wrap="none" rtlCol="0">
            <a:spAutoFit/>
          </a:bodyPr>
          <a:lstStyle/>
          <a:p>
            <a:r>
              <a:rPr lang="en-CH" dirty="0"/>
              <a:t>Plain-vanilla Change Detection</a:t>
            </a:r>
          </a:p>
        </p:txBody>
      </p:sp>
    </p:spTree>
    <p:extLst>
      <p:ext uri="{BB962C8B-B14F-4D97-AF65-F5344CB8AC3E}">
        <p14:creationId xmlns:p14="http://schemas.microsoft.com/office/powerpoint/2010/main" val="2032839220"/>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1953E4C9-9477-F1D8-7D31-050EAB43ABA6}"/>
              </a:ext>
            </a:extLst>
          </p:cNvPr>
          <p:cNvPicPr>
            <a:picLocks noChangeAspect="1"/>
          </p:cNvPicPr>
          <p:nvPr/>
        </p:nvPicPr>
        <p:blipFill>
          <a:blip r:embed="rId2"/>
          <a:stretch>
            <a:fillRect/>
          </a:stretch>
        </p:blipFill>
        <p:spPr>
          <a:xfrm>
            <a:off x="3286975" y="0"/>
            <a:ext cx="8723557" cy="6858000"/>
          </a:xfrm>
          <a:prstGeom prst="rect">
            <a:avLst/>
          </a:prstGeom>
        </p:spPr>
      </p:pic>
      <p:sp>
        <p:nvSpPr>
          <p:cNvPr id="4" name="TextBox 3">
            <a:extLst>
              <a:ext uri="{FF2B5EF4-FFF2-40B4-BE49-F238E27FC236}">
                <a16:creationId xmlns:a16="http://schemas.microsoft.com/office/drawing/2014/main" id="{B18A9B18-4825-B98E-D749-8FDBFF164AC7}"/>
              </a:ext>
            </a:extLst>
          </p:cNvPr>
          <p:cNvSpPr txBox="1"/>
          <p:nvPr/>
        </p:nvSpPr>
        <p:spPr>
          <a:xfrm>
            <a:off x="379562" y="586596"/>
            <a:ext cx="3290901" cy="369332"/>
          </a:xfrm>
          <a:prstGeom prst="rect">
            <a:avLst/>
          </a:prstGeom>
          <a:noFill/>
        </p:spPr>
        <p:txBody>
          <a:bodyPr wrap="none" rtlCol="0">
            <a:spAutoFit/>
          </a:bodyPr>
          <a:lstStyle/>
          <a:p>
            <a:r>
              <a:rPr lang="en-CH" dirty="0"/>
              <a:t>Iconic memory (Pratte &amp; Greene)</a:t>
            </a:r>
          </a:p>
        </p:txBody>
      </p:sp>
      <p:pic>
        <p:nvPicPr>
          <p:cNvPr id="2" name="Picture 1">
            <a:extLst>
              <a:ext uri="{FF2B5EF4-FFF2-40B4-BE49-F238E27FC236}">
                <a16:creationId xmlns:a16="http://schemas.microsoft.com/office/drawing/2014/main" id="{81C09A61-272E-E06F-EDFA-CC7B790442D3}"/>
              </a:ext>
            </a:extLst>
          </p:cNvPr>
          <p:cNvPicPr>
            <a:picLocks noChangeAspect="1"/>
          </p:cNvPicPr>
          <p:nvPr/>
        </p:nvPicPr>
        <p:blipFill>
          <a:blip r:embed="rId3"/>
          <a:stretch>
            <a:fillRect/>
          </a:stretch>
        </p:blipFill>
        <p:spPr>
          <a:xfrm>
            <a:off x="181468" y="1415823"/>
            <a:ext cx="5362575" cy="5114925"/>
          </a:xfrm>
          <a:prstGeom prst="rect">
            <a:avLst/>
          </a:prstGeom>
        </p:spPr>
      </p:pic>
    </p:spTree>
    <p:extLst>
      <p:ext uri="{BB962C8B-B14F-4D97-AF65-F5344CB8AC3E}">
        <p14:creationId xmlns:p14="http://schemas.microsoft.com/office/powerpoint/2010/main" val="3328071028"/>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16D0359-3D37-FED7-6D3D-CC7B554C5E83}"/>
              </a:ext>
            </a:extLst>
          </p:cNvPr>
          <p:cNvPicPr>
            <a:picLocks noChangeAspect="1"/>
          </p:cNvPicPr>
          <p:nvPr/>
        </p:nvPicPr>
        <p:blipFill>
          <a:blip r:embed="rId2"/>
          <a:stretch>
            <a:fillRect/>
          </a:stretch>
        </p:blipFill>
        <p:spPr>
          <a:xfrm>
            <a:off x="323491" y="1739301"/>
            <a:ext cx="5334000" cy="4000500"/>
          </a:xfrm>
          <a:prstGeom prst="rect">
            <a:avLst/>
          </a:prstGeom>
        </p:spPr>
      </p:pic>
      <p:pic>
        <p:nvPicPr>
          <p:cNvPr id="3" name="Picture 2">
            <a:extLst>
              <a:ext uri="{FF2B5EF4-FFF2-40B4-BE49-F238E27FC236}">
                <a16:creationId xmlns:a16="http://schemas.microsoft.com/office/drawing/2014/main" id="{476F4F30-9463-B3D6-1F4F-8B915AF160CE}"/>
              </a:ext>
            </a:extLst>
          </p:cNvPr>
          <p:cNvPicPr>
            <a:picLocks noChangeAspect="1"/>
          </p:cNvPicPr>
          <p:nvPr/>
        </p:nvPicPr>
        <p:blipFill>
          <a:blip r:embed="rId3"/>
          <a:stretch>
            <a:fillRect/>
          </a:stretch>
        </p:blipFill>
        <p:spPr>
          <a:xfrm>
            <a:off x="5887528" y="1739301"/>
            <a:ext cx="5334000" cy="4000500"/>
          </a:xfrm>
          <a:prstGeom prst="rect">
            <a:avLst/>
          </a:prstGeom>
        </p:spPr>
      </p:pic>
    </p:spTree>
    <p:extLst>
      <p:ext uri="{BB962C8B-B14F-4D97-AF65-F5344CB8AC3E}">
        <p14:creationId xmlns:p14="http://schemas.microsoft.com/office/powerpoint/2010/main" val="2073011450"/>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992DCC8-7A67-0355-852A-98A42CBDB911}"/>
              </a:ext>
            </a:extLst>
          </p:cNvPr>
          <p:cNvPicPr>
            <a:picLocks noChangeAspect="1"/>
          </p:cNvPicPr>
          <p:nvPr/>
        </p:nvPicPr>
        <p:blipFill>
          <a:blip r:embed="rId2"/>
          <a:stretch>
            <a:fillRect/>
          </a:stretch>
        </p:blipFill>
        <p:spPr>
          <a:xfrm>
            <a:off x="2652712" y="1157287"/>
            <a:ext cx="6886575" cy="4543425"/>
          </a:xfrm>
          <a:prstGeom prst="rect">
            <a:avLst/>
          </a:prstGeom>
        </p:spPr>
      </p:pic>
    </p:spTree>
    <p:extLst>
      <p:ext uri="{BB962C8B-B14F-4D97-AF65-F5344CB8AC3E}">
        <p14:creationId xmlns:p14="http://schemas.microsoft.com/office/powerpoint/2010/main" val="108231817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BA15BF19-313E-02DF-C37F-27AFCD3EDF8E}"/>
              </a:ext>
            </a:extLst>
          </p:cNvPr>
          <p:cNvPicPr>
            <a:picLocks noChangeAspect="1"/>
          </p:cNvPicPr>
          <p:nvPr/>
        </p:nvPicPr>
        <p:blipFill>
          <a:blip r:embed="rId2"/>
          <a:stretch>
            <a:fillRect/>
          </a:stretch>
        </p:blipFill>
        <p:spPr>
          <a:xfrm>
            <a:off x="2692977" y="380011"/>
            <a:ext cx="7036705" cy="5887198"/>
          </a:xfrm>
          <a:prstGeom prst="rect">
            <a:avLst/>
          </a:prstGeom>
        </p:spPr>
      </p:pic>
    </p:spTree>
    <p:extLst>
      <p:ext uri="{BB962C8B-B14F-4D97-AF65-F5344CB8AC3E}">
        <p14:creationId xmlns:p14="http://schemas.microsoft.com/office/powerpoint/2010/main" val="144152012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3036ACBA-529F-C3B5-161D-C9BC8A278860}"/>
              </a:ext>
            </a:extLst>
          </p:cNvPr>
          <p:cNvPicPr>
            <a:picLocks noChangeAspect="1"/>
          </p:cNvPicPr>
          <p:nvPr/>
        </p:nvPicPr>
        <p:blipFill>
          <a:blip r:embed="rId2"/>
          <a:stretch>
            <a:fillRect/>
          </a:stretch>
        </p:blipFill>
        <p:spPr>
          <a:xfrm>
            <a:off x="6392338" y="200025"/>
            <a:ext cx="5600700" cy="6457950"/>
          </a:xfrm>
          <a:prstGeom prst="rect">
            <a:avLst/>
          </a:prstGeom>
        </p:spPr>
      </p:pic>
      <p:pic>
        <p:nvPicPr>
          <p:cNvPr id="4" name="Picture 3">
            <a:extLst>
              <a:ext uri="{FF2B5EF4-FFF2-40B4-BE49-F238E27FC236}">
                <a16:creationId xmlns:a16="http://schemas.microsoft.com/office/drawing/2014/main" id="{F1E9AC87-888E-F773-F6D2-C0BB0EDE55D4}"/>
              </a:ext>
            </a:extLst>
          </p:cNvPr>
          <p:cNvPicPr>
            <a:picLocks noChangeAspect="1"/>
          </p:cNvPicPr>
          <p:nvPr/>
        </p:nvPicPr>
        <p:blipFill>
          <a:blip r:embed="rId3"/>
          <a:stretch>
            <a:fillRect/>
          </a:stretch>
        </p:blipFill>
        <p:spPr>
          <a:xfrm>
            <a:off x="198962" y="672913"/>
            <a:ext cx="5739639" cy="4777861"/>
          </a:xfrm>
          <a:prstGeom prst="rect">
            <a:avLst/>
          </a:prstGeom>
        </p:spPr>
      </p:pic>
    </p:spTree>
    <p:extLst>
      <p:ext uri="{BB962C8B-B14F-4D97-AF65-F5344CB8AC3E}">
        <p14:creationId xmlns:p14="http://schemas.microsoft.com/office/powerpoint/2010/main" val="3171102583"/>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32FA99A-F5CF-4CF1-4E38-4C2B83D0AC5F}"/>
              </a:ext>
            </a:extLst>
          </p:cNvPr>
          <p:cNvPicPr>
            <a:picLocks noChangeAspect="1"/>
          </p:cNvPicPr>
          <p:nvPr/>
        </p:nvPicPr>
        <p:blipFill>
          <a:blip r:embed="rId2"/>
          <a:stretch>
            <a:fillRect/>
          </a:stretch>
        </p:blipFill>
        <p:spPr>
          <a:xfrm>
            <a:off x="3429000" y="1162050"/>
            <a:ext cx="5334000" cy="4533900"/>
          </a:xfrm>
          <a:prstGeom prst="rect">
            <a:avLst/>
          </a:prstGeom>
        </p:spPr>
      </p:pic>
    </p:spTree>
    <p:extLst>
      <p:ext uri="{BB962C8B-B14F-4D97-AF65-F5344CB8AC3E}">
        <p14:creationId xmlns:p14="http://schemas.microsoft.com/office/powerpoint/2010/main" val="3630307632"/>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61B3FE85-EEE0-3EA7-7292-AFF95A8FC22B}"/>
              </a:ext>
            </a:extLst>
          </p:cNvPr>
          <p:cNvPicPr>
            <a:picLocks noChangeAspect="1"/>
          </p:cNvPicPr>
          <p:nvPr/>
        </p:nvPicPr>
        <p:blipFill>
          <a:blip r:embed="rId2"/>
          <a:stretch>
            <a:fillRect/>
          </a:stretch>
        </p:blipFill>
        <p:spPr>
          <a:xfrm>
            <a:off x="3429000" y="1423987"/>
            <a:ext cx="5334000" cy="4010025"/>
          </a:xfrm>
          <a:prstGeom prst="rect">
            <a:avLst/>
          </a:prstGeom>
        </p:spPr>
      </p:pic>
    </p:spTree>
    <p:extLst>
      <p:ext uri="{BB962C8B-B14F-4D97-AF65-F5344CB8AC3E}">
        <p14:creationId xmlns:p14="http://schemas.microsoft.com/office/powerpoint/2010/main" val="72066846"/>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4C2A1781-00A2-28A5-4FF6-870AFDD42841}"/>
              </a:ext>
            </a:extLst>
          </p:cNvPr>
          <p:cNvPicPr>
            <a:picLocks noChangeAspect="1"/>
          </p:cNvPicPr>
          <p:nvPr/>
        </p:nvPicPr>
        <p:blipFill>
          <a:blip r:embed="rId2"/>
          <a:stretch>
            <a:fillRect/>
          </a:stretch>
        </p:blipFill>
        <p:spPr>
          <a:xfrm>
            <a:off x="2449516" y="0"/>
            <a:ext cx="8523284" cy="6858000"/>
          </a:xfrm>
          <a:prstGeom prst="rect">
            <a:avLst/>
          </a:prstGeom>
        </p:spPr>
      </p:pic>
      <p:sp>
        <p:nvSpPr>
          <p:cNvPr id="3" name="TextBox 2">
            <a:extLst>
              <a:ext uri="{FF2B5EF4-FFF2-40B4-BE49-F238E27FC236}">
                <a16:creationId xmlns:a16="http://schemas.microsoft.com/office/drawing/2014/main" id="{B2A9368A-87D5-9438-4A12-D22EA37171D5}"/>
              </a:ext>
            </a:extLst>
          </p:cNvPr>
          <p:cNvSpPr txBox="1"/>
          <p:nvPr/>
        </p:nvSpPr>
        <p:spPr>
          <a:xfrm>
            <a:off x="312821" y="613611"/>
            <a:ext cx="2108269" cy="646331"/>
          </a:xfrm>
          <a:prstGeom prst="rect">
            <a:avLst/>
          </a:prstGeom>
          <a:noFill/>
        </p:spPr>
        <p:txBody>
          <a:bodyPr wrap="none" rtlCol="0">
            <a:spAutoFit/>
          </a:bodyPr>
          <a:lstStyle/>
          <a:p>
            <a:r>
              <a:rPr lang="en-CH" dirty="0"/>
              <a:t>Cueing mechanisms,</a:t>
            </a:r>
          </a:p>
          <a:p>
            <a:r>
              <a:rPr lang="en-CH" dirty="0"/>
              <a:t>individually</a:t>
            </a:r>
          </a:p>
        </p:txBody>
      </p:sp>
    </p:spTree>
    <p:extLst>
      <p:ext uri="{BB962C8B-B14F-4D97-AF65-F5344CB8AC3E}">
        <p14:creationId xmlns:p14="http://schemas.microsoft.com/office/powerpoint/2010/main" val="785893357"/>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FFA39F2-7327-DE17-C2ED-32E1874C8A30}"/>
              </a:ext>
            </a:extLst>
          </p:cNvPr>
          <p:cNvPicPr>
            <a:picLocks noChangeAspect="1"/>
          </p:cNvPicPr>
          <p:nvPr/>
        </p:nvPicPr>
        <p:blipFill>
          <a:blip r:embed="rId2"/>
          <a:stretch>
            <a:fillRect/>
          </a:stretch>
        </p:blipFill>
        <p:spPr>
          <a:xfrm>
            <a:off x="2523044" y="0"/>
            <a:ext cx="9668956" cy="6858000"/>
          </a:xfrm>
          <a:prstGeom prst="rect">
            <a:avLst/>
          </a:prstGeom>
        </p:spPr>
      </p:pic>
      <p:sp>
        <p:nvSpPr>
          <p:cNvPr id="3" name="TextBox 2">
            <a:extLst>
              <a:ext uri="{FF2B5EF4-FFF2-40B4-BE49-F238E27FC236}">
                <a16:creationId xmlns:a16="http://schemas.microsoft.com/office/drawing/2014/main" id="{5781A77A-D29B-4C2C-635F-5593E0ECC5F1}"/>
              </a:ext>
            </a:extLst>
          </p:cNvPr>
          <p:cNvSpPr txBox="1"/>
          <p:nvPr/>
        </p:nvSpPr>
        <p:spPr>
          <a:xfrm>
            <a:off x="348916" y="757989"/>
            <a:ext cx="2695073" cy="3416320"/>
          </a:xfrm>
          <a:prstGeom prst="rect">
            <a:avLst/>
          </a:prstGeom>
          <a:noFill/>
        </p:spPr>
        <p:txBody>
          <a:bodyPr wrap="square" rtlCol="0">
            <a:spAutoFit/>
          </a:bodyPr>
          <a:lstStyle/>
          <a:p>
            <a:r>
              <a:rPr lang="en-CH" dirty="0"/>
              <a:t>Setting wheel=0 (instead of only </a:t>
            </a:r>
            <a:r>
              <a:rPr lang="en-CH" dirty="0" err="1"/>
              <a:t>testdisplay</a:t>
            </a:r>
            <a:r>
              <a:rPr lang="en-CH" dirty="0"/>
              <a:t> = 0) in the conditions without visual interference reduces the retro-cue benefit without any mechanism</a:t>
            </a:r>
          </a:p>
          <a:p>
            <a:r>
              <a:rPr lang="en-CH" dirty="0">
                <a:sym typeface="Wingdings" panose="05000000000000000000" pitchFamily="2" charset="2"/>
              </a:rPr>
              <a:t> the condition “without any” still had the headstart before an update of FX (due to wheel=1), which is now removed. </a:t>
            </a:r>
            <a:endParaRPr lang="en-CH" dirty="0"/>
          </a:p>
        </p:txBody>
      </p:sp>
    </p:spTree>
    <p:extLst>
      <p:ext uri="{BB962C8B-B14F-4D97-AF65-F5344CB8AC3E}">
        <p14:creationId xmlns:p14="http://schemas.microsoft.com/office/powerpoint/2010/main" val="269751762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CF12984-B230-EE6B-29C1-478CD9C423B7}"/>
              </a:ext>
            </a:extLst>
          </p:cNvPr>
          <p:cNvSpPr txBox="1"/>
          <p:nvPr/>
        </p:nvSpPr>
        <p:spPr>
          <a:xfrm>
            <a:off x="276726" y="842211"/>
            <a:ext cx="2798488" cy="5909310"/>
          </a:xfrm>
          <a:prstGeom prst="rect">
            <a:avLst/>
          </a:prstGeom>
          <a:noFill/>
        </p:spPr>
        <p:txBody>
          <a:bodyPr wrap="square" rtlCol="0">
            <a:spAutoFit/>
          </a:bodyPr>
          <a:lstStyle/>
          <a:p>
            <a:r>
              <a:rPr lang="en-CH" dirty="0"/>
              <a:t>decreasing </a:t>
            </a:r>
            <a:r>
              <a:rPr lang="en-CH" dirty="0" err="1"/>
              <a:t>cSim</a:t>
            </a:r>
            <a:r>
              <a:rPr lang="en-CH" dirty="0"/>
              <a:t> to 4 – what is going on?!</a:t>
            </a:r>
          </a:p>
          <a:p>
            <a:endParaRPr lang="en-CH" dirty="0"/>
          </a:p>
          <a:p>
            <a:r>
              <a:rPr lang="en-CH" dirty="0"/>
              <a:t>Apparently, with slower consolidation more items end up not consolidated during the RI, and hence, not removed from FX through “inhibition of return”. Hence, they can be read out of FX at retrieval. However, in the valid cueing condition, FX decays during the CTI, so that possibility is lost. (this happens also in the invalid-cue condition, though ...). In any case, including read-out from FX during the CTI reverses the picture</a:t>
            </a:r>
          </a:p>
          <a:p>
            <a:endParaRPr lang="en-CH" dirty="0"/>
          </a:p>
        </p:txBody>
      </p:sp>
      <p:pic>
        <p:nvPicPr>
          <p:cNvPr id="3" name="Picture 2">
            <a:extLst>
              <a:ext uri="{FF2B5EF4-FFF2-40B4-BE49-F238E27FC236}">
                <a16:creationId xmlns:a16="http://schemas.microsoft.com/office/drawing/2014/main" id="{73F9EA15-D9DB-ED12-CEEB-7537AB38EE7C}"/>
              </a:ext>
            </a:extLst>
          </p:cNvPr>
          <p:cNvPicPr>
            <a:picLocks noChangeAspect="1"/>
          </p:cNvPicPr>
          <p:nvPr/>
        </p:nvPicPr>
        <p:blipFill>
          <a:blip r:embed="rId2"/>
          <a:stretch>
            <a:fillRect/>
          </a:stretch>
        </p:blipFill>
        <p:spPr>
          <a:xfrm>
            <a:off x="2794891" y="0"/>
            <a:ext cx="8551333" cy="6858000"/>
          </a:xfrm>
          <a:prstGeom prst="rect">
            <a:avLst/>
          </a:prstGeom>
        </p:spPr>
      </p:pic>
    </p:spTree>
    <p:extLst>
      <p:ext uri="{BB962C8B-B14F-4D97-AF65-F5344CB8AC3E}">
        <p14:creationId xmlns:p14="http://schemas.microsoft.com/office/powerpoint/2010/main" val="347403746"/>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F79F1CE-3C4D-AB6B-7BD1-4CC2299D67CA}"/>
              </a:ext>
            </a:extLst>
          </p:cNvPr>
          <p:cNvSpPr txBox="1"/>
          <p:nvPr/>
        </p:nvSpPr>
        <p:spPr>
          <a:xfrm>
            <a:off x="601579" y="721895"/>
            <a:ext cx="2701089" cy="3970318"/>
          </a:xfrm>
          <a:prstGeom prst="rect">
            <a:avLst/>
          </a:prstGeom>
          <a:noFill/>
        </p:spPr>
        <p:txBody>
          <a:bodyPr wrap="square" rtlCol="0">
            <a:spAutoFit/>
          </a:bodyPr>
          <a:lstStyle/>
          <a:p>
            <a:r>
              <a:rPr lang="en-CH" dirty="0"/>
              <a:t>Eliminating consolidation as a mechanism, and instead including read-out from FX in the “head start” retrieval during the CTI. (“Without Any” is now CTI = 0.001)</a:t>
            </a:r>
          </a:p>
          <a:p>
            <a:endParaRPr lang="en-CH" dirty="0"/>
          </a:p>
          <a:p>
            <a:r>
              <a:rPr lang="en-CH" dirty="0"/>
              <a:t>This is now with </a:t>
            </a:r>
            <a:r>
              <a:rPr lang="en-CH" dirty="0" err="1"/>
              <a:t>cRate</a:t>
            </a:r>
            <a:r>
              <a:rPr lang="en-CH" dirty="0"/>
              <a:t> = 10 and </a:t>
            </a:r>
            <a:r>
              <a:rPr lang="en-CH" dirty="0" err="1"/>
              <a:t>cStrength</a:t>
            </a:r>
            <a:r>
              <a:rPr lang="en-CH" dirty="0"/>
              <a:t> = 0.9, therefore also slow consolidation (comparable to </a:t>
            </a:r>
            <a:r>
              <a:rPr lang="en-CH" dirty="0" err="1"/>
              <a:t>cRate</a:t>
            </a:r>
            <a:r>
              <a:rPr lang="en-CH" dirty="0"/>
              <a:t> = 4 and </a:t>
            </a:r>
            <a:r>
              <a:rPr lang="en-CH" dirty="0" err="1"/>
              <a:t>cStrength</a:t>
            </a:r>
            <a:r>
              <a:rPr lang="en-CH" dirty="0"/>
              <a:t> = 0.7)</a:t>
            </a:r>
          </a:p>
        </p:txBody>
      </p:sp>
      <p:pic>
        <p:nvPicPr>
          <p:cNvPr id="3" name="Picture 2">
            <a:extLst>
              <a:ext uri="{FF2B5EF4-FFF2-40B4-BE49-F238E27FC236}">
                <a16:creationId xmlns:a16="http://schemas.microsoft.com/office/drawing/2014/main" id="{907963B1-506F-8DB2-0B5B-AB149FA205B2}"/>
              </a:ext>
            </a:extLst>
          </p:cNvPr>
          <p:cNvPicPr>
            <a:picLocks noChangeAspect="1"/>
          </p:cNvPicPr>
          <p:nvPr/>
        </p:nvPicPr>
        <p:blipFill>
          <a:blip r:embed="rId2"/>
          <a:stretch>
            <a:fillRect/>
          </a:stretch>
        </p:blipFill>
        <p:spPr>
          <a:xfrm>
            <a:off x="3690906" y="174458"/>
            <a:ext cx="7661672" cy="6858000"/>
          </a:xfrm>
          <a:prstGeom prst="rect">
            <a:avLst/>
          </a:prstGeom>
        </p:spPr>
      </p:pic>
    </p:spTree>
    <p:extLst>
      <p:ext uri="{BB962C8B-B14F-4D97-AF65-F5344CB8AC3E}">
        <p14:creationId xmlns:p14="http://schemas.microsoft.com/office/powerpoint/2010/main" val="1744982160"/>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6DF7E60-7FF6-E07C-3E7E-5673C73C0B7B}"/>
              </a:ext>
            </a:extLst>
          </p:cNvPr>
          <p:cNvSpPr txBox="1"/>
          <p:nvPr/>
        </p:nvSpPr>
        <p:spPr>
          <a:xfrm>
            <a:off x="601579" y="721895"/>
            <a:ext cx="2701089" cy="3139321"/>
          </a:xfrm>
          <a:prstGeom prst="rect">
            <a:avLst/>
          </a:prstGeom>
          <a:noFill/>
        </p:spPr>
        <p:txBody>
          <a:bodyPr wrap="square" rtlCol="0">
            <a:spAutoFit/>
          </a:bodyPr>
          <a:lstStyle/>
          <a:p>
            <a:r>
              <a:rPr lang="en-CH" dirty="0"/>
              <a:t>As before, but increasing boundary(1) to 40 (and </a:t>
            </a:r>
            <a:r>
              <a:rPr lang="en-CH" dirty="0" err="1"/>
              <a:t>dnoise</a:t>
            </a:r>
            <a:r>
              <a:rPr lang="en-CH" dirty="0"/>
              <a:t> to 1.5) so that the head-start for retrieval does not result in much longer evidence accumulation</a:t>
            </a:r>
          </a:p>
          <a:p>
            <a:endParaRPr lang="en-CH" dirty="0"/>
          </a:p>
          <a:p>
            <a:r>
              <a:rPr lang="en-CH" dirty="0"/>
              <a:t>Bringing back consolidation (to </a:t>
            </a:r>
            <a:r>
              <a:rPr lang="en-CH"/>
              <a:t>little avail)</a:t>
            </a:r>
            <a:endParaRPr lang="en-CH" dirty="0"/>
          </a:p>
        </p:txBody>
      </p:sp>
      <p:pic>
        <p:nvPicPr>
          <p:cNvPr id="4" name="Picture 3">
            <a:extLst>
              <a:ext uri="{FF2B5EF4-FFF2-40B4-BE49-F238E27FC236}">
                <a16:creationId xmlns:a16="http://schemas.microsoft.com/office/drawing/2014/main" id="{E986D6B1-23A5-A750-CB60-4DCDC71CBFE5}"/>
              </a:ext>
            </a:extLst>
          </p:cNvPr>
          <p:cNvPicPr>
            <a:picLocks noChangeAspect="1"/>
          </p:cNvPicPr>
          <p:nvPr/>
        </p:nvPicPr>
        <p:blipFill>
          <a:blip r:embed="rId2"/>
          <a:stretch>
            <a:fillRect/>
          </a:stretch>
        </p:blipFill>
        <p:spPr>
          <a:xfrm>
            <a:off x="3538855" y="163286"/>
            <a:ext cx="6812462" cy="6858000"/>
          </a:xfrm>
          <a:prstGeom prst="rect">
            <a:avLst/>
          </a:prstGeom>
        </p:spPr>
      </p:pic>
    </p:spTree>
    <p:extLst>
      <p:ext uri="{BB962C8B-B14F-4D97-AF65-F5344CB8AC3E}">
        <p14:creationId xmlns:p14="http://schemas.microsoft.com/office/powerpoint/2010/main" val="1077767756"/>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42FDC157-C3D5-F098-1663-FA095AC1E199}"/>
              </a:ext>
            </a:extLst>
          </p:cNvPr>
          <p:cNvPicPr>
            <a:picLocks noChangeAspect="1"/>
          </p:cNvPicPr>
          <p:nvPr/>
        </p:nvPicPr>
        <p:blipFill>
          <a:blip r:embed="rId2"/>
          <a:stretch>
            <a:fillRect/>
          </a:stretch>
        </p:blipFill>
        <p:spPr>
          <a:xfrm>
            <a:off x="2727158" y="0"/>
            <a:ext cx="6737684" cy="6858000"/>
          </a:xfrm>
          <a:prstGeom prst="rect">
            <a:avLst/>
          </a:prstGeom>
        </p:spPr>
      </p:pic>
    </p:spTree>
    <p:extLst>
      <p:ext uri="{BB962C8B-B14F-4D97-AF65-F5344CB8AC3E}">
        <p14:creationId xmlns:p14="http://schemas.microsoft.com/office/powerpoint/2010/main" val="2222167837"/>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718C59F2-448B-0A41-8848-26A2598E072F}"/>
              </a:ext>
            </a:extLst>
          </p:cNvPr>
          <p:cNvPicPr>
            <a:picLocks noChangeAspect="1"/>
          </p:cNvPicPr>
          <p:nvPr/>
        </p:nvPicPr>
        <p:blipFill>
          <a:blip r:embed="rId2"/>
          <a:stretch>
            <a:fillRect/>
          </a:stretch>
        </p:blipFill>
        <p:spPr>
          <a:xfrm>
            <a:off x="3889959" y="0"/>
            <a:ext cx="8506617" cy="6858000"/>
          </a:xfrm>
          <a:prstGeom prst="rect">
            <a:avLst/>
          </a:prstGeom>
        </p:spPr>
      </p:pic>
      <p:sp>
        <p:nvSpPr>
          <p:cNvPr id="3" name="TextBox 2">
            <a:extLst>
              <a:ext uri="{FF2B5EF4-FFF2-40B4-BE49-F238E27FC236}">
                <a16:creationId xmlns:a16="http://schemas.microsoft.com/office/drawing/2014/main" id="{DEC6760E-F161-9C95-3BB0-401479470FD0}"/>
              </a:ext>
            </a:extLst>
          </p:cNvPr>
          <p:cNvSpPr txBox="1"/>
          <p:nvPr/>
        </p:nvSpPr>
        <p:spPr>
          <a:xfrm>
            <a:off x="402772" y="473528"/>
            <a:ext cx="2367643" cy="1200329"/>
          </a:xfrm>
          <a:prstGeom prst="rect">
            <a:avLst/>
          </a:prstGeom>
          <a:noFill/>
        </p:spPr>
        <p:txBody>
          <a:bodyPr wrap="square" rtlCol="0">
            <a:spAutoFit/>
          </a:bodyPr>
          <a:lstStyle/>
          <a:p>
            <a:r>
              <a:rPr lang="en-CH" dirty="0"/>
              <a:t>After re-introducing strengthening, and with </a:t>
            </a:r>
            <a:r>
              <a:rPr lang="en-CH" dirty="0" err="1"/>
              <a:t>dnoise</a:t>
            </a:r>
            <a:r>
              <a:rPr lang="en-CH" dirty="0"/>
              <a:t> = 2.5 and boundary = 70</a:t>
            </a:r>
          </a:p>
        </p:txBody>
      </p:sp>
    </p:spTree>
    <p:extLst>
      <p:ext uri="{BB962C8B-B14F-4D97-AF65-F5344CB8AC3E}">
        <p14:creationId xmlns:p14="http://schemas.microsoft.com/office/powerpoint/2010/main" val="453061596"/>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67078187-4514-BB09-E283-FD38A30D5EDA}"/>
              </a:ext>
            </a:extLst>
          </p:cNvPr>
          <p:cNvPicPr>
            <a:picLocks noChangeAspect="1"/>
          </p:cNvPicPr>
          <p:nvPr/>
        </p:nvPicPr>
        <p:blipFill>
          <a:blip r:embed="rId2"/>
          <a:stretch>
            <a:fillRect/>
          </a:stretch>
        </p:blipFill>
        <p:spPr>
          <a:xfrm>
            <a:off x="4093028" y="413656"/>
            <a:ext cx="7627257" cy="5720443"/>
          </a:xfrm>
          <a:prstGeom prst="rect">
            <a:avLst/>
          </a:prstGeom>
        </p:spPr>
      </p:pic>
      <p:sp>
        <p:nvSpPr>
          <p:cNvPr id="6" name="TextBox 5">
            <a:extLst>
              <a:ext uri="{FF2B5EF4-FFF2-40B4-BE49-F238E27FC236}">
                <a16:creationId xmlns:a16="http://schemas.microsoft.com/office/drawing/2014/main" id="{27E6CA1B-A3B4-4B6F-E165-5585360FFA16}"/>
              </a:ext>
            </a:extLst>
          </p:cNvPr>
          <p:cNvSpPr txBox="1"/>
          <p:nvPr/>
        </p:nvSpPr>
        <p:spPr>
          <a:xfrm>
            <a:off x="680358" y="1072243"/>
            <a:ext cx="3096986" cy="923330"/>
          </a:xfrm>
          <a:prstGeom prst="rect">
            <a:avLst/>
          </a:prstGeom>
          <a:noFill/>
        </p:spPr>
        <p:txBody>
          <a:bodyPr wrap="square" rtlCol="0">
            <a:spAutoFit/>
          </a:bodyPr>
          <a:lstStyle/>
          <a:p>
            <a:r>
              <a:rPr lang="en-CH" dirty="0"/>
              <a:t>Hautekiet &amp; Oberauer (2026): Why no decay in the no-cue condition?</a:t>
            </a:r>
          </a:p>
        </p:txBody>
      </p:sp>
    </p:spTree>
    <p:extLst>
      <p:ext uri="{BB962C8B-B14F-4D97-AF65-F5344CB8AC3E}">
        <p14:creationId xmlns:p14="http://schemas.microsoft.com/office/powerpoint/2010/main" val="3659648572"/>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240A3BB-0E3E-9D2E-00E0-E65450D347D0}"/>
              </a:ext>
            </a:extLst>
          </p:cNvPr>
          <p:cNvSpPr txBox="1"/>
          <p:nvPr/>
        </p:nvSpPr>
        <p:spPr>
          <a:xfrm>
            <a:off x="680358" y="1072243"/>
            <a:ext cx="2258785" cy="1477328"/>
          </a:xfrm>
          <a:prstGeom prst="rect">
            <a:avLst/>
          </a:prstGeom>
          <a:noFill/>
        </p:spPr>
        <p:txBody>
          <a:bodyPr wrap="square" rtlCol="0">
            <a:spAutoFit/>
          </a:bodyPr>
          <a:lstStyle/>
          <a:p>
            <a:r>
              <a:rPr lang="en-CH" dirty="0"/>
              <a:t>With </a:t>
            </a:r>
            <a:r>
              <a:rPr lang="en-CH" dirty="0" err="1"/>
              <a:t>p.wnoise</a:t>
            </a:r>
            <a:r>
              <a:rPr lang="en-CH" dirty="0"/>
              <a:t> = 0.015 there is no discernible decay, probably because of the increased </a:t>
            </a:r>
            <a:r>
              <a:rPr lang="en-CH" dirty="0" err="1"/>
              <a:t>dnoise</a:t>
            </a:r>
            <a:endParaRPr lang="en-CH" dirty="0"/>
          </a:p>
        </p:txBody>
      </p:sp>
      <p:pic>
        <p:nvPicPr>
          <p:cNvPr id="3" name="Picture 2">
            <a:extLst>
              <a:ext uri="{FF2B5EF4-FFF2-40B4-BE49-F238E27FC236}">
                <a16:creationId xmlns:a16="http://schemas.microsoft.com/office/drawing/2014/main" id="{14C53652-0169-C81E-655B-139F34EA2709}"/>
              </a:ext>
            </a:extLst>
          </p:cNvPr>
          <p:cNvPicPr>
            <a:picLocks noChangeAspect="1"/>
          </p:cNvPicPr>
          <p:nvPr/>
        </p:nvPicPr>
        <p:blipFill>
          <a:blip r:embed="rId2"/>
          <a:stretch>
            <a:fillRect/>
          </a:stretch>
        </p:blipFill>
        <p:spPr>
          <a:xfrm>
            <a:off x="3105860" y="76200"/>
            <a:ext cx="6121793" cy="6858000"/>
          </a:xfrm>
          <a:prstGeom prst="rect">
            <a:avLst/>
          </a:prstGeom>
        </p:spPr>
      </p:pic>
    </p:spTree>
    <p:extLst>
      <p:ext uri="{BB962C8B-B14F-4D97-AF65-F5344CB8AC3E}">
        <p14:creationId xmlns:p14="http://schemas.microsoft.com/office/powerpoint/2010/main" val="1818765886"/>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6A6EAAB-FD36-6C94-F09D-69C7AAE8A7EF}"/>
              </a:ext>
            </a:extLst>
          </p:cNvPr>
          <p:cNvPicPr>
            <a:picLocks noChangeAspect="1"/>
          </p:cNvPicPr>
          <p:nvPr/>
        </p:nvPicPr>
        <p:blipFill>
          <a:blip r:embed="rId2"/>
          <a:stretch>
            <a:fillRect/>
          </a:stretch>
        </p:blipFill>
        <p:spPr>
          <a:xfrm>
            <a:off x="987879" y="54428"/>
            <a:ext cx="5538107" cy="6858000"/>
          </a:xfrm>
          <a:prstGeom prst="rect">
            <a:avLst/>
          </a:prstGeom>
        </p:spPr>
      </p:pic>
      <p:sp>
        <p:nvSpPr>
          <p:cNvPr id="3" name="TextBox 2">
            <a:extLst>
              <a:ext uri="{FF2B5EF4-FFF2-40B4-BE49-F238E27FC236}">
                <a16:creationId xmlns:a16="http://schemas.microsoft.com/office/drawing/2014/main" id="{36B2EEFF-8059-C43D-9037-39926F979B62}"/>
              </a:ext>
            </a:extLst>
          </p:cNvPr>
          <p:cNvSpPr txBox="1"/>
          <p:nvPr/>
        </p:nvSpPr>
        <p:spPr>
          <a:xfrm>
            <a:off x="261258" y="283029"/>
            <a:ext cx="1219199" cy="923330"/>
          </a:xfrm>
          <a:prstGeom prst="rect">
            <a:avLst/>
          </a:prstGeom>
          <a:noFill/>
        </p:spPr>
        <p:txBody>
          <a:bodyPr wrap="square" rtlCol="0">
            <a:spAutoFit/>
          </a:bodyPr>
          <a:lstStyle/>
          <a:p>
            <a:r>
              <a:rPr lang="en-CH" dirty="0"/>
              <a:t>With </a:t>
            </a:r>
            <a:r>
              <a:rPr lang="en-CH" dirty="0" err="1"/>
              <a:t>p.wnoise</a:t>
            </a:r>
            <a:r>
              <a:rPr lang="en-CH" dirty="0"/>
              <a:t> = 0.03</a:t>
            </a:r>
          </a:p>
        </p:txBody>
      </p:sp>
      <p:pic>
        <p:nvPicPr>
          <p:cNvPr id="4" name="Picture 3">
            <a:extLst>
              <a:ext uri="{FF2B5EF4-FFF2-40B4-BE49-F238E27FC236}">
                <a16:creationId xmlns:a16="http://schemas.microsoft.com/office/drawing/2014/main" id="{D5717519-7E19-5082-0A0B-E9D11AC06009}"/>
              </a:ext>
            </a:extLst>
          </p:cNvPr>
          <p:cNvPicPr>
            <a:picLocks noChangeAspect="1"/>
          </p:cNvPicPr>
          <p:nvPr/>
        </p:nvPicPr>
        <p:blipFill>
          <a:blip r:embed="rId3"/>
          <a:stretch>
            <a:fillRect/>
          </a:stretch>
        </p:blipFill>
        <p:spPr>
          <a:xfrm>
            <a:off x="6530163" y="-141514"/>
            <a:ext cx="5661837" cy="6858000"/>
          </a:xfrm>
          <a:prstGeom prst="rect">
            <a:avLst/>
          </a:prstGeom>
        </p:spPr>
      </p:pic>
    </p:spTree>
    <p:extLst>
      <p:ext uri="{BB962C8B-B14F-4D97-AF65-F5344CB8AC3E}">
        <p14:creationId xmlns:p14="http://schemas.microsoft.com/office/powerpoint/2010/main" val="1619655925"/>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DC85C32-6EE5-A4CC-2AAB-856670477036}"/>
              </a:ext>
            </a:extLst>
          </p:cNvPr>
          <p:cNvPicPr>
            <a:picLocks noChangeAspect="1"/>
          </p:cNvPicPr>
          <p:nvPr/>
        </p:nvPicPr>
        <p:blipFill>
          <a:blip r:embed="rId2"/>
          <a:stretch>
            <a:fillRect/>
          </a:stretch>
        </p:blipFill>
        <p:spPr>
          <a:xfrm>
            <a:off x="1870251" y="0"/>
            <a:ext cx="8451498" cy="6858000"/>
          </a:xfrm>
          <a:prstGeom prst="rect">
            <a:avLst/>
          </a:prstGeom>
        </p:spPr>
      </p:pic>
    </p:spTree>
    <p:extLst>
      <p:ext uri="{BB962C8B-B14F-4D97-AF65-F5344CB8AC3E}">
        <p14:creationId xmlns:p14="http://schemas.microsoft.com/office/powerpoint/2010/main" val="26560283"/>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F1C9368-851E-21AF-26F2-9AF99A92E0EB}"/>
              </a:ext>
            </a:extLst>
          </p:cNvPr>
          <p:cNvPicPr>
            <a:picLocks noChangeAspect="1"/>
          </p:cNvPicPr>
          <p:nvPr/>
        </p:nvPicPr>
        <p:blipFill>
          <a:blip r:embed="rId2"/>
          <a:stretch>
            <a:fillRect/>
          </a:stretch>
        </p:blipFill>
        <p:spPr>
          <a:xfrm>
            <a:off x="4159777" y="0"/>
            <a:ext cx="7421189" cy="6858000"/>
          </a:xfrm>
          <a:prstGeom prst="rect">
            <a:avLst/>
          </a:prstGeom>
        </p:spPr>
      </p:pic>
      <p:sp>
        <p:nvSpPr>
          <p:cNvPr id="3" name="TextBox 2">
            <a:extLst>
              <a:ext uri="{FF2B5EF4-FFF2-40B4-BE49-F238E27FC236}">
                <a16:creationId xmlns:a16="http://schemas.microsoft.com/office/drawing/2014/main" id="{6CD58868-7141-AAF9-D03B-ABF50EA8506D}"/>
              </a:ext>
            </a:extLst>
          </p:cNvPr>
          <p:cNvSpPr txBox="1"/>
          <p:nvPr/>
        </p:nvSpPr>
        <p:spPr>
          <a:xfrm>
            <a:off x="611034" y="1006929"/>
            <a:ext cx="3708964" cy="369332"/>
          </a:xfrm>
          <a:prstGeom prst="rect">
            <a:avLst/>
          </a:prstGeom>
          <a:noFill/>
        </p:spPr>
        <p:txBody>
          <a:bodyPr wrap="none" rtlCol="0">
            <a:spAutoFit/>
          </a:bodyPr>
          <a:lstStyle/>
          <a:p>
            <a:r>
              <a:rPr lang="en-CH" dirty="0"/>
              <a:t>Reloading: Why no retro-cue benefit?</a:t>
            </a:r>
          </a:p>
        </p:txBody>
      </p:sp>
    </p:spTree>
    <p:extLst>
      <p:ext uri="{BB962C8B-B14F-4D97-AF65-F5344CB8AC3E}">
        <p14:creationId xmlns:p14="http://schemas.microsoft.com/office/powerpoint/2010/main" val="1096299707"/>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9ABDB9B4-DA69-2EA2-719C-FBC4C6920173}"/>
              </a:ext>
            </a:extLst>
          </p:cNvPr>
          <p:cNvPicPr>
            <a:picLocks noChangeAspect="1"/>
          </p:cNvPicPr>
          <p:nvPr/>
        </p:nvPicPr>
        <p:blipFill>
          <a:blip r:embed="rId2"/>
          <a:stretch>
            <a:fillRect/>
          </a:stretch>
        </p:blipFill>
        <p:spPr>
          <a:xfrm>
            <a:off x="1499516" y="0"/>
            <a:ext cx="9192967" cy="6858000"/>
          </a:xfrm>
          <a:prstGeom prst="rect">
            <a:avLst/>
          </a:prstGeom>
        </p:spPr>
      </p:pic>
    </p:spTree>
    <p:extLst>
      <p:ext uri="{BB962C8B-B14F-4D97-AF65-F5344CB8AC3E}">
        <p14:creationId xmlns:p14="http://schemas.microsoft.com/office/powerpoint/2010/main" val="2753701955"/>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D443C4B8-AE4E-40D9-1332-91DB6D1E6F94}"/>
              </a:ext>
            </a:extLst>
          </p:cNvPr>
          <p:cNvPicPr>
            <a:picLocks noChangeAspect="1"/>
          </p:cNvPicPr>
          <p:nvPr/>
        </p:nvPicPr>
        <p:blipFill>
          <a:blip r:embed="rId2"/>
          <a:stretch>
            <a:fillRect/>
          </a:stretch>
        </p:blipFill>
        <p:spPr>
          <a:xfrm>
            <a:off x="1773155" y="0"/>
            <a:ext cx="8645689" cy="6858000"/>
          </a:xfrm>
          <a:prstGeom prst="rect">
            <a:avLst/>
          </a:prstGeom>
        </p:spPr>
      </p:pic>
    </p:spTree>
    <p:extLst>
      <p:ext uri="{BB962C8B-B14F-4D97-AF65-F5344CB8AC3E}">
        <p14:creationId xmlns:p14="http://schemas.microsoft.com/office/powerpoint/2010/main" val="1318851056"/>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9E3DF06E-CD9A-81DD-3E50-6515AA198711}"/>
              </a:ext>
            </a:extLst>
          </p:cNvPr>
          <p:cNvPicPr>
            <a:picLocks noChangeAspect="1"/>
          </p:cNvPicPr>
          <p:nvPr/>
        </p:nvPicPr>
        <p:blipFill>
          <a:blip r:embed="rId2"/>
          <a:stretch>
            <a:fillRect/>
          </a:stretch>
        </p:blipFill>
        <p:spPr>
          <a:xfrm>
            <a:off x="654503" y="0"/>
            <a:ext cx="10882993" cy="6858000"/>
          </a:xfrm>
          <a:prstGeom prst="rect">
            <a:avLst/>
          </a:prstGeom>
        </p:spPr>
      </p:pic>
    </p:spTree>
    <p:extLst>
      <p:ext uri="{BB962C8B-B14F-4D97-AF65-F5344CB8AC3E}">
        <p14:creationId xmlns:p14="http://schemas.microsoft.com/office/powerpoint/2010/main" val="1633223785"/>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8C755AF-9F91-3EFF-54F6-2BB2E3B4D0C1}"/>
              </a:ext>
            </a:extLst>
          </p:cNvPr>
          <p:cNvPicPr>
            <a:picLocks noChangeAspect="1"/>
          </p:cNvPicPr>
          <p:nvPr/>
        </p:nvPicPr>
        <p:blipFill>
          <a:blip r:embed="rId2"/>
          <a:stretch>
            <a:fillRect/>
          </a:stretch>
        </p:blipFill>
        <p:spPr>
          <a:xfrm>
            <a:off x="1439380" y="0"/>
            <a:ext cx="9313240" cy="6858000"/>
          </a:xfrm>
          <a:prstGeom prst="rect">
            <a:avLst/>
          </a:prstGeom>
        </p:spPr>
      </p:pic>
    </p:spTree>
    <p:extLst>
      <p:ext uri="{BB962C8B-B14F-4D97-AF65-F5344CB8AC3E}">
        <p14:creationId xmlns:p14="http://schemas.microsoft.com/office/powerpoint/2010/main" val="2903138982"/>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BCE0804-C04F-57D2-06F2-4B6F646EA9F4}"/>
              </a:ext>
            </a:extLst>
          </p:cNvPr>
          <p:cNvPicPr>
            <a:picLocks noChangeAspect="1"/>
          </p:cNvPicPr>
          <p:nvPr/>
        </p:nvPicPr>
        <p:blipFill>
          <a:blip r:embed="rId2"/>
          <a:stretch>
            <a:fillRect/>
          </a:stretch>
        </p:blipFill>
        <p:spPr>
          <a:xfrm>
            <a:off x="2089011" y="0"/>
            <a:ext cx="8013977" cy="6858000"/>
          </a:xfrm>
          <a:prstGeom prst="rect">
            <a:avLst/>
          </a:prstGeom>
        </p:spPr>
      </p:pic>
    </p:spTree>
    <p:extLst>
      <p:ext uri="{BB962C8B-B14F-4D97-AF65-F5344CB8AC3E}">
        <p14:creationId xmlns:p14="http://schemas.microsoft.com/office/powerpoint/2010/main" val="3508948958"/>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DE61C11-E7F7-32CF-8B61-C0F5E92F6CB1}"/>
              </a:ext>
            </a:extLst>
          </p:cNvPr>
          <p:cNvPicPr>
            <a:picLocks noChangeAspect="1"/>
          </p:cNvPicPr>
          <p:nvPr/>
        </p:nvPicPr>
        <p:blipFill>
          <a:blip r:embed="rId2"/>
          <a:stretch>
            <a:fillRect/>
          </a:stretch>
        </p:blipFill>
        <p:spPr>
          <a:xfrm>
            <a:off x="543993" y="2258785"/>
            <a:ext cx="4849877" cy="3712301"/>
          </a:xfrm>
          <a:prstGeom prst="rect">
            <a:avLst/>
          </a:prstGeom>
        </p:spPr>
      </p:pic>
      <p:pic>
        <p:nvPicPr>
          <p:cNvPr id="3" name="Picture 2">
            <a:extLst>
              <a:ext uri="{FF2B5EF4-FFF2-40B4-BE49-F238E27FC236}">
                <a16:creationId xmlns:a16="http://schemas.microsoft.com/office/drawing/2014/main" id="{D366CA53-6B0C-D343-04C0-3C5F5684769D}"/>
              </a:ext>
            </a:extLst>
          </p:cNvPr>
          <p:cNvPicPr>
            <a:picLocks noChangeAspect="1"/>
          </p:cNvPicPr>
          <p:nvPr/>
        </p:nvPicPr>
        <p:blipFill>
          <a:blip r:embed="rId3"/>
          <a:stretch>
            <a:fillRect/>
          </a:stretch>
        </p:blipFill>
        <p:spPr>
          <a:xfrm>
            <a:off x="5581649" y="2079171"/>
            <a:ext cx="6164329" cy="4659086"/>
          </a:xfrm>
          <a:prstGeom prst="rect">
            <a:avLst/>
          </a:prstGeom>
        </p:spPr>
      </p:pic>
      <p:sp>
        <p:nvSpPr>
          <p:cNvPr id="4" name="TextBox 3">
            <a:extLst>
              <a:ext uri="{FF2B5EF4-FFF2-40B4-BE49-F238E27FC236}">
                <a16:creationId xmlns:a16="http://schemas.microsoft.com/office/drawing/2014/main" id="{AF3EBA94-419C-EE96-9818-5203CE680C3D}"/>
              </a:ext>
            </a:extLst>
          </p:cNvPr>
          <p:cNvSpPr txBox="1"/>
          <p:nvPr/>
        </p:nvSpPr>
        <p:spPr>
          <a:xfrm>
            <a:off x="576943" y="696686"/>
            <a:ext cx="10955628" cy="646331"/>
          </a:xfrm>
          <a:prstGeom prst="rect">
            <a:avLst/>
          </a:prstGeom>
          <a:noFill/>
        </p:spPr>
        <p:txBody>
          <a:bodyPr wrap="none" rtlCol="0">
            <a:spAutoFit/>
          </a:bodyPr>
          <a:lstStyle/>
          <a:p>
            <a:r>
              <a:rPr lang="en-CH" dirty="0"/>
              <a:t>After inserting a decay moment between display onset and retrieval from FX, the </a:t>
            </a:r>
            <a:r>
              <a:rPr lang="en-CH" dirty="0" err="1"/>
              <a:t>colorwheel</a:t>
            </a:r>
            <a:r>
              <a:rPr lang="en-CH" dirty="0"/>
              <a:t> intrusions are gone</a:t>
            </a:r>
          </a:p>
          <a:p>
            <a:r>
              <a:rPr lang="en-CH" dirty="0"/>
              <a:t>(</a:t>
            </a:r>
            <a:r>
              <a:rPr lang="en-CH" dirty="0" err="1"/>
              <a:t>P.filter</a:t>
            </a:r>
            <a:r>
              <a:rPr lang="en-CH" dirty="0"/>
              <a:t> = 0.01) (they come back a little bit with </a:t>
            </a:r>
            <a:r>
              <a:rPr lang="en-CH" dirty="0" err="1"/>
              <a:t>P.filter</a:t>
            </a:r>
            <a:r>
              <a:rPr lang="en-CH" dirty="0"/>
              <a:t> = 0.2 but not 0.1; 0.3 vs. 0.2 makes no discernible difference)</a:t>
            </a:r>
          </a:p>
        </p:txBody>
      </p:sp>
    </p:spTree>
    <p:extLst>
      <p:ext uri="{BB962C8B-B14F-4D97-AF65-F5344CB8AC3E}">
        <p14:creationId xmlns:p14="http://schemas.microsoft.com/office/powerpoint/2010/main" val="3594772997"/>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8FE4CD81-400F-57E4-3B9D-3C6C06B6AFEB}"/>
              </a:ext>
            </a:extLst>
          </p:cNvPr>
          <p:cNvSpPr txBox="1"/>
          <p:nvPr/>
        </p:nvSpPr>
        <p:spPr>
          <a:xfrm>
            <a:off x="283029" y="253386"/>
            <a:ext cx="7739743" cy="646331"/>
          </a:xfrm>
          <a:prstGeom prst="rect">
            <a:avLst/>
          </a:prstGeom>
          <a:noFill/>
        </p:spPr>
        <p:txBody>
          <a:bodyPr wrap="square" rtlCol="0">
            <a:spAutoFit/>
          </a:bodyPr>
          <a:lstStyle/>
          <a:p>
            <a:r>
              <a:rPr lang="en-CH" dirty="0"/>
              <a:t>With </a:t>
            </a:r>
            <a:r>
              <a:rPr lang="en-CH" dirty="0" err="1"/>
              <a:t>P.filter</a:t>
            </a:r>
            <a:r>
              <a:rPr lang="en-CH" dirty="0"/>
              <a:t> = 0.1, after correction of SD of reorienting attention after </a:t>
            </a:r>
            <a:r>
              <a:rPr lang="en-CH" dirty="0" err="1"/>
              <a:t>color</a:t>
            </a:r>
            <a:r>
              <a:rPr lang="en-CH" dirty="0"/>
              <a:t>-wheel onset</a:t>
            </a:r>
          </a:p>
        </p:txBody>
      </p:sp>
      <p:pic>
        <p:nvPicPr>
          <p:cNvPr id="6" name="Picture 5">
            <a:extLst>
              <a:ext uri="{FF2B5EF4-FFF2-40B4-BE49-F238E27FC236}">
                <a16:creationId xmlns:a16="http://schemas.microsoft.com/office/drawing/2014/main" id="{316E12F9-C789-F947-9530-729F8B0BBB03}"/>
              </a:ext>
            </a:extLst>
          </p:cNvPr>
          <p:cNvPicPr>
            <a:picLocks noChangeAspect="1"/>
          </p:cNvPicPr>
          <p:nvPr/>
        </p:nvPicPr>
        <p:blipFill>
          <a:blip r:embed="rId2"/>
          <a:stretch>
            <a:fillRect/>
          </a:stretch>
        </p:blipFill>
        <p:spPr>
          <a:xfrm>
            <a:off x="321731" y="1208314"/>
            <a:ext cx="6532373" cy="4953000"/>
          </a:xfrm>
          <a:prstGeom prst="rect">
            <a:avLst/>
          </a:prstGeom>
        </p:spPr>
      </p:pic>
      <p:pic>
        <p:nvPicPr>
          <p:cNvPr id="7" name="Picture 6">
            <a:extLst>
              <a:ext uri="{FF2B5EF4-FFF2-40B4-BE49-F238E27FC236}">
                <a16:creationId xmlns:a16="http://schemas.microsoft.com/office/drawing/2014/main" id="{308B3256-B5F3-F6E8-CBCE-B3A5F5DAE333}"/>
              </a:ext>
            </a:extLst>
          </p:cNvPr>
          <p:cNvPicPr>
            <a:picLocks noChangeAspect="1"/>
          </p:cNvPicPr>
          <p:nvPr/>
        </p:nvPicPr>
        <p:blipFill>
          <a:blip r:embed="rId3"/>
          <a:stretch>
            <a:fillRect/>
          </a:stretch>
        </p:blipFill>
        <p:spPr>
          <a:xfrm>
            <a:off x="6608335" y="1066018"/>
            <a:ext cx="5801726" cy="5480957"/>
          </a:xfrm>
          <a:prstGeom prst="rect">
            <a:avLst/>
          </a:prstGeom>
        </p:spPr>
      </p:pic>
      <p:pic>
        <p:nvPicPr>
          <p:cNvPr id="8" name="Picture 7">
            <a:extLst>
              <a:ext uri="{FF2B5EF4-FFF2-40B4-BE49-F238E27FC236}">
                <a16:creationId xmlns:a16="http://schemas.microsoft.com/office/drawing/2014/main" id="{98D271EC-D906-81B8-F03B-E6713B58E00A}"/>
              </a:ext>
            </a:extLst>
          </p:cNvPr>
          <p:cNvPicPr>
            <a:picLocks noChangeAspect="1"/>
          </p:cNvPicPr>
          <p:nvPr/>
        </p:nvPicPr>
        <p:blipFill>
          <a:blip r:embed="rId4"/>
          <a:stretch>
            <a:fillRect/>
          </a:stretch>
        </p:blipFill>
        <p:spPr>
          <a:xfrm>
            <a:off x="7561820" y="0"/>
            <a:ext cx="4246544" cy="2993571"/>
          </a:xfrm>
          <a:prstGeom prst="rect">
            <a:avLst/>
          </a:prstGeom>
        </p:spPr>
      </p:pic>
    </p:spTree>
    <p:extLst>
      <p:ext uri="{BB962C8B-B14F-4D97-AF65-F5344CB8AC3E}">
        <p14:creationId xmlns:p14="http://schemas.microsoft.com/office/powerpoint/2010/main" val="552965172"/>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DF78885-D14C-8C43-D27B-A7C0B95F62CF}"/>
              </a:ext>
            </a:extLst>
          </p:cNvPr>
          <p:cNvPicPr>
            <a:picLocks noChangeAspect="1"/>
          </p:cNvPicPr>
          <p:nvPr/>
        </p:nvPicPr>
        <p:blipFill>
          <a:blip r:embed="rId2"/>
          <a:stretch>
            <a:fillRect/>
          </a:stretch>
        </p:blipFill>
        <p:spPr>
          <a:xfrm>
            <a:off x="382848" y="903513"/>
            <a:ext cx="6055744" cy="5731329"/>
          </a:xfrm>
          <a:prstGeom prst="rect">
            <a:avLst/>
          </a:prstGeom>
        </p:spPr>
      </p:pic>
      <p:sp>
        <p:nvSpPr>
          <p:cNvPr id="6" name="TextBox 5">
            <a:extLst>
              <a:ext uri="{FF2B5EF4-FFF2-40B4-BE49-F238E27FC236}">
                <a16:creationId xmlns:a16="http://schemas.microsoft.com/office/drawing/2014/main" id="{6217022F-E2A2-A662-AD34-C856DECEB0C9}"/>
              </a:ext>
            </a:extLst>
          </p:cNvPr>
          <p:cNvSpPr txBox="1"/>
          <p:nvPr/>
        </p:nvSpPr>
        <p:spPr>
          <a:xfrm>
            <a:off x="538843" y="324395"/>
            <a:ext cx="3853543" cy="369332"/>
          </a:xfrm>
          <a:prstGeom prst="rect">
            <a:avLst/>
          </a:prstGeom>
          <a:noFill/>
        </p:spPr>
        <p:txBody>
          <a:bodyPr wrap="square" rtlCol="0">
            <a:spAutoFit/>
          </a:bodyPr>
          <a:lstStyle/>
          <a:p>
            <a:r>
              <a:rPr lang="en-CH" dirty="0"/>
              <a:t>Reloading (</a:t>
            </a:r>
            <a:r>
              <a:rPr lang="en-CH" dirty="0" err="1"/>
              <a:t>P.filter</a:t>
            </a:r>
            <a:r>
              <a:rPr lang="en-CH" dirty="0"/>
              <a:t> = 0.1)</a:t>
            </a:r>
          </a:p>
        </p:txBody>
      </p:sp>
    </p:spTree>
    <p:extLst>
      <p:ext uri="{BB962C8B-B14F-4D97-AF65-F5344CB8AC3E}">
        <p14:creationId xmlns:p14="http://schemas.microsoft.com/office/powerpoint/2010/main" val="4056238010"/>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FBF87ED-2E05-474D-0133-170575F56B1C}"/>
              </a:ext>
            </a:extLst>
          </p:cNvPr>
          <p:cNvPicPr>
            <a:picLocks noChangeAspect="1"/>
          </p:cNvPicPr>
          <p:nvPr/>
        </p:nvPicPr>
        <p:blipFill>
          <a:blip r:embed="rId2"/>
          <a:stretch>
            <a:fillRect/>
          </a:stretch>
        </p:blipFill>
        <p:spPr>
          <a:xfrm>
            <a:off x="140545" y="655626"/>
            <a:ext cx="5598511" cy="6164273"/>
          </a:xfrm>
          <a:prstGeom prst="rect">
            <a:avLst/>
          </a:prstGeom>
        </p:spPr>
      </p:pic>
      <p:sp>
        <p:nvSpPr>
          <p:cNvPr id="3" name="TextBox 2">
            <a:extLst>
              <a:ext uri="{FF2B5EF4-FFF2-40B4-BE49-F238E27FC236}">
                <a16:creationId xmlns:a16="http://schemas.microsoft.com/office/drawing/2014/main" id="{B33B1116-6768-3B37-7513-562E2D1D80E0}"/>
              </a:ext>
            </a:extLst>
          </p:cNvPr>
          <p:cNvSpPr txBox="1"/>
          <p:nvPr/>
        </p:nvSpPr>
        <p:spPr>
          <a:xfrm>
            <a:off x="538843" y="324395"/>
            <a:ext cx="3853543" cy="369332"/>
          </a:xfrm>
          <a:prstGeom prst="rect">
            <a:avLst/>
          </a:prstGeom>
          <a:noFill/>
        </p:spPr>
        <p:txBody>
          <a:bodyPr wrap="square" rtlCol="0">
            <a:spAutoFit/>
          </a:bodyPr>
          <a:lstStyle/>
          <a:p>
            <a:r>
              <a:rPr lang="en-CH" dirty="0"/>
              <a:t>CD cueing (</a:t>
            </a:r>
            <a:r>
              <a:rPr lang="en-CH" dirty="0" err="1"/>
              <a:t>P.filter</a:t>
            </a:r>
            <a:r>
              <a:rPr lang="en-CH" dirty="0"/>
              <a:t> = 0.3)</a:t>
            </a:r>
          </a:p>
        </p:txBody>
      </p:sp>
      <p:pic>
        <p:nvPicPr>
          <p:cNvPr id="4" name="Picture 3">
            <a:extLst>
              <a:ext uri="{FF2B5EF4-FFF2-40B4-BE49-F238E27FC236}">
                <a16:creationId xmlns:a16="http://schemas.microsoft.com/office/drawing/2014/main" id="{FAD3A9B3-5BA8-B0C5-85CA-E608C74A8E35}"/>
              </a:ext>
            </a:extLst>
          </p:cNvPr>
          <p:cNvPicPr>
            <a:picLocks noChangeAspect="1"/>
          </p:cNvPicPr>
          <p:nvPr/>
        </p:nvPicPr>
        <p:blipFill>
          <a:blip r:embed="rId3"/>
          <a:stretch>
            <a:fillRect/>
          </a:stretch>
        </p:blipFill>
        <p:spPr>
          <a:xfrm>
            <a:off x="5629295" y="776111"/>
            <a:ext cx="6422160" cy="5652685"/>
          </a:xfrm>
          <a:prstGeom prst="rect">
            <a:avLst/>
          </a:prstGeom>
        </p:spPr>
      </p:pic>
    </p:spTree>
    <p:extLst>
      <p:ext uri="{BB962C8B-B14F-4D97-AF65-F5344CB8AC3E}">
        <p14:creationId xmlns:p14="http://schemas.microsoft.com/office/powerpoint/2010/main" val="292656557"/>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5287E57-A4C0-3F70-38B9-A0810FB1D338}"/>
              </a:ext>
            </a:extLst>
          </p:cNvPr>
          <p:cNvPicPr>
            <a:picLocks noChangeAspect="1"/>
          </p:cNvPicPr>
          <p:nvPr/>
        </p:nvPicPr>
        <p:blipFill>
          <a:blip r:embed="rId2"/>
          <a:stretch>
            <a:fillRect/>
          </a:stretch>
        </p:blipFill>
        <p:spPr>
          <a:xfrm>
            <a:off x="2938002" y="332014"/>
            <a:ext cx="8142710" cy="6193971"/>
          </a:xfrm>
          <a:prstGeom prst="rect">
            <a:avLst/>
          </a:prstGeom>
        </p:spPr>
      </p:pic>
      <p:sp>
        <p:nvSpPr>
          <p:cNvPr id="3" name="TextBox 2">
            <a:extLst>
              <a:ext uri="{FF2B5EF4-FFF2-40B4-BE49-F238E27FC236}">
                <a16:creationId xmlns:a16="http://schemas.microsoft.com/office/drawing/2014/main" id="{C05AE1E3-B7E2-01CC-BC53-858496FE7A51}"/>
              </a:ext>
            </a:extLst>
          </p:cNvPr>
          <p:cNvSpPr txBox="1"/>
          <p:nvPr/>
        </p:nvSpPr>
        <p:spPr>
          <a:xfrm>
            <a:off x="538844" y="324395"/>
            <a:ext cx="2563586" cy="369332"/>
          </a:xfrm>
          <a:prstGeom prst="rect">
            <a:avLst/>
          </a:prstGeom>
          <a:noFill/>
        </p:spPr>
        <p:txBody>
          <a:bodyPr wrap="square" rtlCol="0">
            <a:spAutoFit/>
          </a:bodyPr>
          <a:lstStyle/>
          <a:p>
            <a:r>
              <a:rPr lang="en-CH" dirty="0"/>
              <a:t>Refreshing (</a:t>
            </a:r>
            <a:r>
              <a:rPr lang="en-CH" dirty="0" err="1"/>
              <a:t>P.filter</a:t>
            </a:r>
            <a:r>
              <a:rPr lang="en-CH" dirty="0"/>
              <a:t> = 0.3)</a:t>
            </a:r>
          </a:p>
        </p:txBody>
      </p:sp>
      <p:pic>
        <p:nvPicPr>
          <p:cNvPr id="4" name="Picture 3">
            <a:extLst>
              <a:ext uri="{FF2B5EF4-FFF2-40B4-BE49-F238E27FC236}">
                <a16:creationId xmlns:a16="http://schemas.microsoft.com/office/drawing/2014/main" id="{A2623FBB-E132-87E1-3555-B1F9650C871D}"/>
              </a:ext>
            </a:extLst>
          </p:cNvPr>
          <p:cNvPicPr>
            <a:picLocks noChangeAspect="1"/>
          </p:cNvPicPr>
          <p:nvPr/>
        </p:nvPicPr>
        <p:blipFill>
          <a:blip r:embed="rId3"/>
          <a:stretch>
            <a:fillRect/>
          </a:stretch>
        </p:blipFill>
        <p:spPr>
          <a:xfrm>
            <a:off x="179614" y="1813967"/>
            <a:ext cx="6288318" cy="4613264"/>
          </a:xfrm>
          <a:prstGeom prst="rect">
            <a:avLst/>
          </a:prstGeom>
        </p:spPr>
      </p:pic>
    </p:spTree>
    <p:extLst>
      <p:ext uri="{BB962C8B-B14F-4D97-AF65-F5344CB8AC3E}">
        <p14:creationId xmlns:p14="http://schemas.microsoft.com/office/powerpoint/2010/main" val="984235077"/>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BF38A349-C698-63CB-6E36-CCC252473225}"/>
              </a:ext>
            </a:extLst>
          </p:cNvPr>
          <p:cNvPicPr>
            <a:picLocks noChangeAspect="1"/>
          </p:cNvPicPr>
          <p:nvPr/>
        </p:nvPicPr>
        <p:blipFill>
          <a:blip r:embed="rId2"/>
          <a:stretch>
            <a:fillRect/>
          </a:stretch>
        </p:blipFill>
        <p:spPr>
          <a:xfrm>
            <a:off x="2332429" y="0"/>
            <a:ext cx="9464798" cy="6858000"/>
          </a:xfrm>
          <a:prstGeom prst="rect">
            <a:avLst/>
          </a:prstGeom>
        </p:spPr>
      </p:pic>
      <p:sp>
        <p:nvSpPr>
          <p:cNvPr id="3" name="TextBox 2">
            <a:extLst>
              <a:ext uri="{FF2B5EF4-FFF2-40B4-BE49-F238E27FC236}">
                <a16:creationId xmlns:a16="http://schemas.microsoft.com/office/drawing/2014/main" id="{A12B027F-7761-F3A7-1328-804A84C2B602}"/>
              </a:ext>
            </a:extLst>
          </p:cNvPr>
          <p:cNvSpPr txBox="1"/>
          <p:nvPr/>
        </p:nvSpPr>
        <p:spPr>
          <a:xfrm>
            <a:off x="478972" y="810986"/>
            <a:ext cx="1812472" cy="923330"/>
          </a:xfrm>
          <a:prstGeom prst="rect">
            <a:avLst/>
          </a:prstGeom>
          <a:noFill/>
        </p:spPr>
        <p:txBody>
          <a:bodyPr wrap="square" rtlCol="0">
            <a:spAutoFit/>
          </a:bodyPr>
          <a:lstStyle/>
          <a:p>
            <a:r>
              <a:rPr lang="en-CH" dirty="0"/>
              <a:t>Prolific, </a:t>
            </a:r>
            <a:r>
              <a:rPr lang="en-CH" dirty="0" err="1"/>
              <a:t>cStrength</a:t>
            </a:r>
            <a:r>
              <a:rPr lang="en-CH" dirty="0"/>
              <a:t> reduced to 0.6</a:t>
            </a:r>
          </a:p>
        </p:txBody>
      </p:sp>
    </p:spTree>
    <p:extLst>
      <p:ext uri="{BB962C8B-B14F-4D97-AF65-F5344CB8AC3E}">
        <p14:creationId xmlns:p14="http://schemas.microsoft.com/office/powerpoint/2010/main" val="1815074279"/>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7DB71F2A-A8E9-00E0-AA6B-63127D5B3026}"/>
              </a:ext>
            </a:extLst>
          </p:cNvPr>
          <p:cNvPicPr>
            <a:picLocks noChangeAspect="1"/>
          </p:cNvPicPr>
          <p:nvPr/>
        </p:nvPicPr>
        <p:blipFill>
          <a:blip r:embed="rId2"/>
          <a:stretch>
            <a:fillRect/>
          </a:stretch>
        </p:blipFill>
        <p:spPr>
          <a:xfrm>
            <a:off x="1838809" y="0"/>
            <a:ext cx="8514381" cy="6858000"/>
          </a:xfrm>
          <a:prstGeom prst="rect">
            <a:avLst/>
          </a:prstGeom>
        </p:spPr>
      </p:pic>
    </p:spTree>
    <p:extLst>
      <p:ext uri="{BB962C8B-B14F-4D97-AF65-F5344CB8AC3E}">
        <p14:creationId xmlns:p14="http://schemas.microsoft.com/office/powerpoint/2010/main" val="2247015041"/>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359A6B3-8268-FD0E-4227-DDF95EF53AFA}"/>
              </a:ext>
            </a:extLst>
          </p:cNvPr>
          <p:cNvPicPr>
            <a:picLocks noChangeAspect="1"/>
          </p:cNvPicPr>
          <p:nvPr/>
        </p:nvPicPr>
        <p:blipFill>
          <a:blip r:embed="rId2"/>
          <a:stretch>
            <a:fillRect/>
          </a:stretch>
        </p:blipFill>
        <p:spPr>
          <a:xfrm>
            <a:off x="0" y="81643"/>
            <a:ext cx="6501895" cy="6482443"/>
          </a:xfrm>
          <a:prstGeom prst="rect">
            <a:avLst/>
          </a:prstGeom>
        </p:spPr>
      </p:pic>
      <p:pic>
        <p:nvPicPr>
          <p:cNvPr id="4" name="Picture 3">
            <a:extLst>
              <a:ext uri="{FF2B5EF4-FFF2-40B4-BE49-F238E27FC236}">
                <a16:creationId xmlns:a16="http://schemas.microsoft.com/office/drawing/2014/main" id="{A34CBC49-F63E-3ECC-77A1-BDDF0EFFA968}"/>
              </a:ext>
            </a:extLst>
          </p:cNvPr>
          <p:cNvPicPr>
            <a:picLocks noChangeAspect="1"/>
          </p:cNvPicPr>
          <p:nvPr/>
        </p:nvPicPr>
        <p:blipFill>
          <a:blip r:embed="rId3"/>
          <a:stretch>
            <a:fillRect/>
          </a:stretch>
        </p:blipFill>
        <p:spPr>
          <a:xfrm>
            <a:off x="5999713" y="141514"/>
            <a:ext cx="6318724" cy="6716486"/>
          </a:xfrm>
          <a:prstGeom prst="rect">
            <a:avLst/>
          </a:prstGeom>
        </p:spPr>
      </p:pic>
    </p:spTree>
    <p:extLst>
      <p:ext uri="{BB962C8B-B14F-4D97-AF65-F5344CB8AC3E}">
        <p14:creationId xmlns:p14="http://schemas.microsoft.com/office/powerpoint/2010/main" val="3030151035"/>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C2D68C5-8562-6386-2C2A-5D5C82DD233C}"/>
              </a:ext>
            </a:extLst>
          </p:cNvPr>
          <p:cNvPicPr>
            <a:picLocks noChangeAspect="1"/>
          </p:cNvPicPr>
          <p:nvPr/>
        </p:nvPicPr>
        <p:blipFill>
          <a:blip r:embed="rId2"/>
          <a:stretch>
            <a:fillRect/>
          </a:stretch>
        </p:blipFill>
        <p:spPr>
          <a:xfrm>
            <a:off x="5921829" y="38100"/>
            <a:ext cx="6270171" cy="6858000"/>
          </a:xfrm>
          <a:prstGeom prst="rect">
            <a:avLst/>
          </a:prstGeom>
        </p:spPr>
      </p:pic>
      <p:pic>
        <p:nvPicPr>
          <p:cNvPr id="3" name="Picture 2">
            <a:extLst>
              <a:ext uri="{FF2B5EF4-FFF2-40B4-BE49-F238E27FC236}">
                <a16:creationId xmlns:a16="http://schemas.microsoft.com/office/drawing/2014/main" id="{593A6A9B-B339-A1ED-8C02-9249BC4F985B}"/>
              </a:ext>
            </a:extLst>
          </p:cNvPr>
          <p:cNvPicPr>
            <a:picLocks noChangeAspect="1"/>
          </p:cNvPicPr>
          <p:nvPr/>
        </p:nvPicPr>
        <p:blipFill>
          <a:blip r:embed="rId3"/>
          <a:stretch>
            <a:fillRect/>
          </a:stretch>
        </p:blipFill>
        <p:spPr>
          <a:xfrm>
            <a:off x="-63359" y="195942"/>
            <a:ext cx="6159359" cy="5949043"/>
          </a:xfrm>
          <a:prstGeom prst="rect">
            <a:avLst/>
          </a:prstGeom>
        </p:spPr>
      </p:pic>
    </p:spTree>
    <p:extLst>
      <p:ext uri="{BB962C8B-B14F-4D97-AF65-F5344CB8AC3E}">
        <p14:creationId xmlns:p14="http://schemas.microsoft.com/office/powerpoint/2010/main" val="2154078622"/>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E7D8038-E0C5-E2A8-22E1-E052F7B7C560}"/>
              </a:ext>
            </a:extLst>
          </p:cNvPr>
          <p:cNvPicPr>
            <a:picLocks noChangeAspect="1"/>
          </p:cNvPicPr>
          <p:nvPr/>
        </p:nvPicPr>
        <p:blipFill>
          <a:blip r:embed="rId2"/>
          <a:stretch>
            <a:fillRect/>
          </a:stretch>
        </p:blipFill>
        <p:spPr>
          <a:xfrm>
            <a:off x="0" y="84666"/>
            <a:ext cx="12192000" cy="6688667"/>
          </a:xfrm>
          <a:prstGeom prst="rect">
            <a:avLst/>
          </a:prstGeom>
        </p:spPr>
      </p:pic>
    </p:spTree>
    <p:extLst>
      <p:ext uri="{BB962C8B-B14F-4D97-AF65-F5344CB8AC3E}">
        <p14:creationId xmlns:p14="http://schemas.microsoft.com/office/powerpoint/2010/main" val="4037625528"/>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73CBCE7-C49C-DB87-A9E9-6485DBAB0910}"/>
              </a:ext>
            </a:extLst>
          </p:cNvPr>
          <p:cNvPicPr>
            <a:picLocks noChangeAspect="1"/>
          </p:cNvPicPr>
          <p:nvPr/>
        </p:nvPicPr>
        <p:blipFill>
          <a:blip r:embed="rId2"/>
          <a:stretch>
            <a:fillRect/>
          </a:stretch>
        </p:blipFill>
        <p:spPr>
          <a:xfrm>
            <a:off x="0" y="84666"/>
            <a:ext cx="12192000" cy="6688667"/>
          </a:xfrm>
          <a:prstGeom prst="rect">
            <a:avLst/>
          </a:prstGeom>
        </p:spPr>
      </p:pic>
    </p:spTree>
    <p:extLst>
      <p:ext uri="{BB962C8B-B14F-4D97-AF65-F5344CB8AC3E}">
        <p14:creationId xmlns:p14="http://schemas.microsoft.com/office/powerpoint/2010/main" val="664266787"/>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1D729B3-2735-5E06-AD1B-A95251E01F4B}"/>
              </a:ext>
            </a:extLst>
          </p:cNvPr>
          <p:cNvPicPr>
            <a:picLocks noChangeAspect="1"/>
          </p:cNvPicPr>
          <p:nvPr/>
        </p:nvPicPr>
        <p:blipFill>
          <a:blip r:embed="rId2"/>
          <a:stretch>
            <a:fillRect/>
          </a:stretch>
        </p:blipFill>
        <p:spPr>
          <a:xfrm>
            <a:off x="576943" y="0"/>
            <a:ext cx="12192000" cy="6688667"/>
          </a:xfrm>
          <a:prstGeom prst="rect">
            <a:avLst/>
          </a:prstGeom>
        </p:spPr>
      </p:pic>
      <p:sp>
        <p:nvSpPr>
          <p:cNvPr id="3" name="TextBox 2">
            <a:extLst>
              <a:ext uri="{FF2B5EF4-FFF2-40B4-BE49-F238E27FC236}">
                <a16:creationId xmlns:a16="http://schemas.microsoft.com/office/drawing/2014/main" id="{0021C9B9-BB8B-DAF4-9C34-2FAA45348B79}"/>
              </a:ext>
            </a:extLst>
          </p:cNvPr>
          <p:cNvSpPr txBox="1"/>
          <p:nvPr/>
        </p:nvSpPr>
        <p:spPr>
          <a:xfrm>
            <a:off x="288472" y="593271"/>
            <a:ext cx="1447799" cy="1477328"/>
          </a:xfrm>
          <a:prstGeom prst="rect">
            <a:avLst/>
          </a:prstGeom>
          <a:noFill/>
        </p:spPr>
        <p:txBody>
          <a:bodyPr wrap="square" rtlCol="0">
            <a:spAutoFit/>
          </a:bodyPr>
          <a:lstStyle/>
          <a:p>
            <a:r>
              <a:rPr lang="en-CH" dirty="0"/>
              <a:t>After making consolidation of an entire array ballistic (or not)</a:t>
            </a:r>
          </a:p>
        </p:txBody>
      </p:sp>
    </p:spTree>
    <p:extLst>
      <p:ext uri="{BB962C8B-B14F-4D97-AF65-F5344CB8AC3E}">
        <p14:creationId xmlns:p14="http://schemas.microsoft.com/office/powerpoint/2010/main" val="388130586"/>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FFE7251-367D-6E54-B237-F8356A5E1CA7}"/>
              </a:ext>
            </a:extLst>
          </p:cNvPr>
          <p:cNvPicPr>
            <a:picLocks noChangeAspect="1"/>
          </p:cNvPicPr>
          <p:nvPr/>
        </p:nvPicPr>
        <p:blipFill>
          <a:blip r:embed="rId2"/>
          <a:stretch>
            <a:fillRect/>
          </a:stretch>
        </p:blipFill>
        <p:spPr>
          <a:xfrm>
            <a:off x="538843" y="84666"/>
            <a:ext cx="12110357" cy="6688667"/>
          </a:xfrm>
          <a:prstGeom prst="rect">
            <a:avLst/>
          </a:prstGeom>
        </p:spPr>
      </p:pic>
    </p:spTree>
    <p:extLst>
      <p:ext uri="{BB962C8B-B14F-4D97-AF65-F5344CB8AC3E}">
        <p14:creationId xmlns:p14="http://schemas.microsoft.com/office/powerpoint/2010/main" val="2689757813"/>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B714A6B-39AC-C7F5-D69B-2867F77598EA}"/>
              </a:ext>
            </a:extLst>
          </p:cNvPr>
          <p:cNvPicPr>
            <a:picLocks noChangeAspect="1"/>
          </p:cNvPicPr>
          <p:nvPr/>
        </p:nvPicPr>
        <p:blipFill>
          <a:blip r:embed="rId2"/>
          <a:stretch>
            <a:fillRect/>
          </a:stretch>
        </p:blipFill>
        <p:spPr>
          <a:xfrm>
            <a:off x="1703614" y="216833"/>
            <a:ext cx="10583520" cy="6559524"/>
          </a:xfrm>
          <a:prstGeom prst="rect">
            <a:avLst/>
          </a:prstGeom>
        </p:spPr>
      </p:pic>
      <p:sp>
        <p:nvSpPr>
          <p:cNvPr id="3" name="TextBox 2">
            <a:extLst>
              <a:ext uri="{FF2B5EF4-FFF2-40B4-BE49-F238E27FC236}">
                <a16:creationId xmlns:a16="http://schemas.microsoft.com/office/drawing/2014/main" id="{C9523347-7BC0-4EBA-6601-302DB2D4DB2E}"/>
              </a:ext>
            </a:extLst>
          </p:cNvPr>
          <p:cNvSpPr txBox="1"/>
          <p:nvPr/>
        </p:nvSpPr>
        <p:spPr>
          <a:xfrm>
            <a:off x="353786" y="865414"/>
            <a:ext cx="2144485" cy="2031325"/>
          </a:xfrm>
          <a:prstGeom prst="rect">
            <a:avLst/>
          </a:prstGeom>
          <a:noFill/>
        </p:spPr>
        <p:txBody>
          <a:bodyPr wrap="square" rtlCol="0">
            <a:spAutoFit/>
          </a:bodyPr>
          <a:lstStyle/>
          <a:p>
            <a:r>
              <a:rPr lang="en-CH" dirty="0"/>
              <a:t>After correction of RI after the second array (matching ISI); with ballistic consolidation of only one item per array. Now test = n-AFC</a:t>
            </a:r>
          </a:p>
        </p:txBody>
      </p:sp>
    </p:spTree>
    <p:extLst>
      <p:ext uri="{BB962C8B-B14F-4D97-AF65-F5344CB8AC3E}">
        <p14:creationId xmlns:p14="http://schemas.microsoft.com/office/powerpoint/2010/main" val="1353575836"/>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9DFD3B4-90D6-996B-47C3-0C87E17C3EB0}"/>
              </a:ext>
            </a:extLst>
          </p:cNvPr>
          <p:cNvPicPr>
            <a:picLocks noChangeAspect="1"/>
          </p:cNvPicPr>
          <p:nvPr/>
        </p:nvPicPr>
        <p:blipFill>
          <a:blip r:embed="rId2"/>
          <a:stretch>
            <a:fillRect/>
          </a:stretch>
        </p:blipFill>
        <p:spPr>
          <a:xfrm>
            <a:off x="1323760" y="0"/>
            <a:ext cx="9544480" cy="6858000"/>
          </a:xfrm>
          <a:prstGeom prst="rect">
            <a:avLst/>
          </a:prstGeom>
        </p:spPr>
      </p:pic>
    </p:spTree>
    <p:extLst>
      <p:ext uri="{BB962C8B-B14F-4D97-AF65-F5344CB8AC3E}">
        <p14:creationId xmlns:p14="http://schemas.microsoft.com/office/powerpoint/2010/main" val="1331194155"/>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37B0D175-D8A3-8CBC-EC26-5E5F6CB1F3AA}"/>
              </a:ext>
            </a:extLst>
          </p:cNvPr>
          <p:cNvPicPr>
            <a:picLocks noChangeAspect="1"/>
          </p:cNvPicPr>
          <p:nvPr/>
        </p:nvPicPr>
        <p:blipFill>
          <a:blip r:embed="rId2"/>
          <a:stretch>
            <a:fillRect/>
          </a:stretch>
        </p:blipFill>
        <p:spPr>
          <a:xfrm>
            <a:off x="647517" y="0"/>
            <a:ext cx="10896966" cy="6858000"/>
          </a:xfrm>
          <a:prstGeom prst="rect">
            <a:avLst/>
          </a:prstGeom>
        </p:spPr>
      </p:pic>
    </p:spTree>
    <p:extLst>
      <p:ext uri="{BB962C8B-B14F-4D97-AF65-F5344CB8AC3E}">
        <p14:creationId xmlns:p14="http://schemas.microsoft.com/office/powerpoint/2010/main" val="975402756"/>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E54CC18-E7A5-AC66-443D-ED9455DCC9FB}"/>
              </a:ext>
            </a:extLst>
          </p:cNvPr>
          <p:cNvPicPr>
            <a:picLocks noChangeAspect="1"/>
          </p:cNvPicPr>
          <p:nvPr/>
        </p:nvPicPr>
        <p:blipFill>
          <a:blip r:embed="rId2"/>
          <a:stretch>
            <a:fillRect/>
          </a:stretch>
        </p:blipFill>
        <p:spPr>
          <a:xfrm>
            <a:off x="1277204" y="0"/>
            <a:ext cx="10170991" cy="6858000"/>
          </a:xfrm>
          <a:prstGeom prst="rect">
            <a:avLst/>
          </a:prstGeom>
        </p:spPr>
      </p:pic>
    </p:spTree>
    <p:extLst>
      <p:ext uri="{BB962C8B-B14F-4D97-AF65-F5344CB8AC3E}">
        <p14:creationId xmlns:p14="http://schemas.microsoft.com/office/powerpoint/2010/main" val="1639460813"/>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B3A88C9E-EF8C-B05E-52C6-BC858A9F1BB7}"/>
              </a:ext>
            </a:extLst>
          </p:cNvPr>
          <p:cNvPicPr>
            <a:picLocks noChangeAspect="1"/>
          </p:cNvPicPr>
          <p:nvPr/>
        </p:nvPicPr>
        <p:blipFill>
          <a:blip r:embed="rId2"/>
          <a:stretch>
            <a:fillRect/>
          </a:stretch>
        </p:blipFill>
        <p:spPr>
          <a:xfrm>
            <a:off x="643034" y="288471"/>
            <a:ext cx="5396201" cy="6193971"/>
          </a:xfrm>
          <a:prstGeom prst="rect">
            <a:avLst/>
          </a:prstGeom>
        </p:spPr>
      </p:pic>
      <p:pic>
        <p:nvPicPr>
          <p:cNvPr id="4" name="Picture 3">
            <a:extLst>
              <a:ext uri="{FF2B5EF4-FFF2-40B4-BE49-F238E27FC236}">
                <a16:creationId xmlns:a16="http://schemas.microsoft.com/office/drawing/2014/main" id="{1CDDA8D8-D875-FF2A-9C22-D51AB78A3186}"/>
              </a:ext>
            </a:extLst>
          </p:cNvPr>
          <p:cNvPicPr>
            <a:picLocks noChangeAspect="1"/>
          </p:cNvPicPr>
          <p:nvPr/>
        </p:nvPicPr>
        <p:blipFill>
          <a:blip r:embed="rId3"/>
          <a:stretch>
            <a:fillRect/>
          </a:stretch>
        </p:blipFill>
        <p:spPr>
          <a:xfrm>
            <a:off x="5905325" y="236763"/>
            <a:ext cx="5643641" cy="6384473"/>
          </a:xfrm>
          <a:prstGeom prst="rect">
            <a:avLst/>
          </a:prstGeom>
        </p:spPr>
      </p:pic>
    </p:spTree>
    <p:extLst>
      <p:ext uri="{BB962C8B-B14F-4D97-AF65-F5344CB8AC3E}">
        <p14:creationId xmlns:p14="http://schemas.microsoft.com/office/powerpoint/2010/main" val="695428898"/>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F4CCDC34-29A4-9F81-F3DB-6E63C963F9F5}"/>
              </a:ext>
            </a:extLst>
          </p:cNvPr>
          <p:cNvPicPr>
            <a:picLocks noChangeAspect="1"/>
          </p:cNvPicPr>
          <p:nvPr/>
        </p:nvPicPr>
        <p:blipFill>
          <a:blip r:embed="rId2"/>
          <a:stretch>
            <a:fillRect/>
          </a:stretch>
        </p:blipFill>
        <p:spPr>
          <a:xfrm>
            <a:off x="746507" y="178639"/>
            <a:ext cx="7989280" cy="6407217"/>
          </a:xfrm>
          <a:prstGeom prst="rect">
            <a:avLst/>
          </a:prstGeom>
        </p:spPr>
      </p:pic>
    </p:spTree>
    <p:extLst>
      <p:ext uri="{BB962C8B-B14F-4D97-AF65-F5344CB8AC3E}">
        <p14:creationId xmlns:p14="http://schemas.microsoft.com/office/powerpoint/2010/main" val="2278601660"/>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1D270B6-00EE-C6C7-33F5-B329C9414EBB}"/>
              </a:ext>
            </a:extLst>
          </p:cNvPr>
          <p:cNvPicPr>
            <a:picLocks noChangeAspect="1"/>
          </p:cNvPicPr>
          <p:nvPr/>
        </p:nvPicPr>
        <p:blipFill>
          <a:blip r:embed="rId2"/>
          <a:stretch>
            <a:fillRect/>
          </a:stretch>
        </p:blipFill>
        <p:spPr>
          <a:xfrm>
            <a:off x="157195" y="435428"/>
            <a:ext cx="5611754" cy="4561114"/>
          </a:xfrm>
          <a:prstGeom prst="rect">
            <a:avLst/>
          </a:prstGeom>
        </p:spPr>
      </p:pic>
      <p:pic>
        <p:nvPicPr>
          <p:cNvPr id="3" name="Picture 2">
            <a:extLst>
              <a:ext uri="{FF2B5EF4-FFF2-40B4-BE49-F238E27FC236}">
                <a16:creationId xmlns:a16="http://schemas.microsoft.com/office/drawing/2014/main" id="{FA1336B1-DD10-5654-099A-0D9DCD0EF500}"/>
              </a:ext>
            </a:extLst>
          </p:cNvPr>
          <p:cNvPicPr>
            <a:picLocks noChangeAspect="1"/>
          </p:cNvPicPr>
          <p:nvPr/>
        </p:nvPicPr>
        <p:blipFill>
          <a:blip r:embed="rId3"/>
          <a:stretch>
            <a:fillRect/>
          </a:stretch>
        </p:blipFill>
        <p:spPr>
          <a:xfrm>
            <a:off x="5161762" y="2078458"/>
            <a:ext cx="6600252" cy="4970041"/>
          </a:xfrm>
          <a:prstGeom prst="rect">
            <a:avLst/>
          </a:prstGeom>
        </p:spPr>
      </p:pic>
      <p:sp>
        <p:nvSpPr>
          <p:cNvPr id="4" name="TextBox 3">
            <a:extLst>
              <a:ext uri="{FF2B5EF4-FFF2-40B4-BE49-F238E27FC236}">
                <a16:creationId xmlns:a16="http://schemas.microsoft.com/office/drawing/2014/main" id="{99567A09-1FE1-5736-B943-A857ED92E064}"/>
              </a:ext>
            </a:extLst>
          </p:cNvPr>
          <p:cNvSpPr txBox="1"/>
          <p:nvPr/>
        </p:nvSpPr>
        <p:spPr>
          <a:xfrm>
            <a:off x="6052457" y="767443"/>
            <a:ext cx="2395977" cy="369332"/>
          </a:xfrm>
          <a:prstGeom prst="rect">
            <a:avLst/>
          </a:prstGeom>
          <a:noFill/>
        </p:spPr>
        <p:txBody>
          <a:bodyPr wrap="none" rtlCol="0">
            <a:spAutoFit/>
          </a:bodyPr>
          <a:lstStyle/>
          <a:p>
            <a:r>
              <a:rPr lang="en-CH" dirty="0"/>
              <a:t>Now with </a:t>
            </a:r>
            <a:r>
              <a:rPr lang="en-CH" dirty="0" err="1"/>
              <a:t>P.ballistic</a:t>
            </a:r>
            <a:r>
              <a:rPr lang="en-CH" dirty="0"/>
              <a:t> = 1</a:t>
            </a:r>
          </a:p>
        </p:txBody>
      </p:sp>
    </p:spTree>
    <p:extLst>
      <p:ext uri="{BB962C8B-B14F-4D97-AF65-F5344CB8AC3E}">
        <p14:creationId xmlns:p14="http://schemas.microsoft.com/office/powerpoint/2010/main" val="185403784"/>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792007B-AB7A-C54F-3E5B-CB3208552A81}"/>
              </a:ext>
            </a:extLst>
          </p:cNvPr>
          <p:cNvPicPr>
            <a:picLocks noChangeAspect="1"/>
          </p:cNvPicPr>
          <p:nvPr/>
        </p:nvPicPr>
        <p:blipFill>
          <a:blip r:embed="rId2"/>
          <a:stretch>
            <a:fillRect/>
          </a:stretch>
        </p:blipFill>
        <p:spPr>
          <a:xfrm>
            <a:off x="589479" y="0"/>
            <a:ext cx="8487555" cy="6858000"/>
          </a:xfrm>
          <a:prstGeom prst="rect">
            <a:avLst/>
          </a:prstGeom>
        </p:spPr>
      </p:pic>
      <p:sp>
        <p:nvSpPr>
          <p:cNvPr id="3" name="TextBox 2">
            <a:extLst>
              <a:ext uri="{FF2B5EF4-FFF2-40B4-BE49-F238E27FC236}">
                <a16:creationId xmlns:a16="http://schemas.microsoft.com/office/drawing/2014/main" id="{69B8CB45-415F-4B1B-9D53-BDFE19E08FC6}"/>
              </a:ext>
            </a:extLst>
          </p:cNvPr>
          <p:cNvSpPr txBox="1"/>
          <p:nvPr/>
        </p:nvSpPr>
        <p:spPr>
          <a:xfrm>
            <a:off x="8441871" y="908957"/>
            <a:ext cx="3238500" cy="2585323"/>
          </a:xfrm>
          <a:prstGeom prst="rect">
            <a:avLst/>
          </a:prstGeom>
          <a:noFill/>
        </p:spPr>
        <p:txBody>
          <a:bodyPr wrap="square" rtlCol="0">
            <a:spAutoFit/>
          </a:bodyPr>
          <a:lstStyle/>
          <a:p>
            <a:r>
              <a:rPr lang="en-CH" dirty="0"/>
              <a:t>Explanation: At small set size, consolidation causes overtime only at short SOA (at long SOA, consolidation is always over before the end of the SOA). Longer set sizes cause overtime also at long </a:t>
            </a:r>
            <a:r>
              <a:rPr lang="en-CH" dirty="0" err="1"/>
              <a:t>SOAs</a:t>
            </a:r>
            <a:r>
              <a:rPr lang="en-CH" dirty="0"/>
              <a:t>, because often one consolidation process is still ongoing.  </a:t>
            </a:r>
          </a:p>
        </p:txBody>
      </p:sp>
    </p:spTree>
    <p:extLst>
      <p:ext uri="{BB962C8B-B14F-4D97-AF65-F5344CB8AC3E}">
        <p14:creationId xmlns:p14="http://schemas.microsoft.com/office/powerpoint/2010/main" val="3117007375"/>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DD5C4E78-F067-F261-E069-DF506B35ED3D}"/>
              </a:ext>
            </a:extLst>
          </p:cNvPr>
          <p:cNvPicPr>
            <a:picLocks noChangeAspect="1"/>
          </p:cNvPicPr>
          <p:nvPr/>
        </p:nvPicPr>
        <p:blipFill>
          <a:blip r:embed="rId2"/>
          <a:stretch>
            <a:fillRect/>
          </a:stretch>
        </p:blipFill>
        <p:spPr>
          <a:xfrm>
            <a:off x="707656" y="759197"/>
            <a:ext cx="10477415" cy="6011717"/>
          </a:xfrm>
          <a:prstGeom prst="rect">
            <a:avLst/>
          </a:prstGeom>
        </p:spPr>
      </p:pic>
    </p:spTree>
    <p:extLst>
      <p:ext uri="{BB962C8B-B14F-4D97-AF65-F5344CB8AC3E}">
        <p14:creationId xmlns:p14="http://schemas.microsoft.com/office/powerpoint/2010/main" val="4161057897"/>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A1667A31-B97A-CEF2-3DB1-9C2C2700DB7F}"/>
              </a:ext>
            </a:extLst>
          </p:cNvPr>
          <p:cNvPicPr>
            <a:picLocks noChangeAspect="1"/>
          </p:cNvPicPr>
          <p:nvPr/>
        </p:nvPicPr>
        <p:blipFill>
          <a:blip r:embed="rId2"/>
          <a:stretch>
            <a:fillRect/>
          </a:stretch>
        </p:blipFill>
        <p:spPr>
          <a:xfrm>
            <a:off x="-48132" y="171449"/>
            <a:ext cx="6269318" cy="6515100"/>
          </a:xfrm>
          <a:prstGeom prst="rect">
            <a:avLst/>
          </a:prstGeom>
        </p:spPr>
      </p:pic>
      <p:pic>
        <p:nvPicPr>
          <p:cNvPr id="3" name="Picture 2">
            <a:extLst>
              <a:ext uri="{FF2B5EF4-FFF2-40B4-BE49-F238E27FC236}">
                <a16:creationId xmlns:a16="http://schemas.microsoft.com/office/drawing/2014/main" id="{C5743682-6E83-4FEF-C783-E5FD54D3605F}"/>
              </a:ext>
            </a:extLst>
          </p:cNvPr>
          <p:cNvPicPr>
            <a:picLocks noChangeAspect="1"/>
          </p:cNvPicPr>
          <p:nvPr/>
        </p:nvPicPr>
        <p:blipFill>
          <a:blip r:embed="rId3"/>
          <a:stretch>
            <a:fillRect/>
          </a:stretch>
        </p:blipFill>
        <p:spPr>
          <a:xfrm>
            <a:off x="5758543" y="231321"/>
            <a:ext cx="6134099" cy="6395357"/>
          </a:xfrm>
          <a:prstGeom prst="rect">
            <a:avLst/>
          </a:prstGeom>
        </p:spPr>
      </p:pic>
      <p:sp>
        <p:nvSpPr>
          <p:cNvPr id="5" name="TextBox 4">
            <a:extLst>
              <a:ext uri="{FF2B5EF4-FFF2-40B4-BE49-F238E27FC236}">
                <a16:creationId xmlns:a16="http://schemas.microsoft.com/office/drawing/2014/main" id="{446459EB-72F7-D0DB-CAF4-F7256343089F}"/>
              </a:ext>
            </a:extLst>
          </p:cNvPr>
          <p:cNvSpPr txBox="1"/>
          <p:nvPr/>
        </p:nvSpPr>
        <p:spPr>
          <a:xfrm>
            <a:off x="3516086" y="4239986"/>
            <a:ext cx="2155371" cy="1200329"/>
          </a:xfrm>
          <a:prstGeom prst="rect">
            <a:avLst/>
          </a:prstGeom>
          <a:noFill/>
        </p:spPr>
        <p:txBody>
          <a:bodyPr wrap="square" rtlCol="0">
            <a:spAutoFit/>
          </a:bodyPr>
          <a:lstStyle/>
          <a:p>
            <a:r>
              <a:rPr lang="en-CH" dirty="0"/>
              <a:t>After applying ballistic to the entire array, and </a:t>
            </a:r>
            <a:r>
              <a:rPr lang="en-CH" dirty="0" err="1"/>
              <a:t>P.ballistic</a:t>
            </a:r>
            <a:r>
              <a:rPr lang="en-CH" dirty="0"/>
              <a:t> = 1</a:t>
            </a:r>
          </a:p>
        </p:txBody>
      </p:sp>
    </p:spTree>
    <p:extLst>
      <p:ext uri="{BB962C8B-B14F-4D97-AF65-F5344CB8AC3E}">
        <p14:creationId xmlns:p14="http://schemas.microsoft.com/office/powerpoint/2010/main" val="1617590634"/>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6681B36E-838B-F9AB-2676-2018832664B1}"/>
              </a:ext>
            </a:extLst>
          </p:cNvPr>
          <p:cNvPicPr>
            <a:picLocks noChangeAspect="1"/>
          </p:cNvPicPr>
          <p:nvPr/>
        </p:nvPicPr>
        <p:blipFill>
          <a:blip r:embed="rId2"/>
          <a:stretch>
            <a:fillRect/>
          </a:stretch>
        </p:blipFill>
        <p:spPr>
          <a:xfrm>
            <a:off x="1426028" y="440870"/>
            <a:ext cx="8171543" cy="6128657"/>
          </a:xfrm>
          <a:prstGeom prst="rect">
            <a:avLst/>
          </a:prstGeom>
        </p:spPr>
      </p:pic>
    </p:spTree>
    <p:extLst>
      <p:ext uri="{BB962C8B-B14F-4D97-AF65-F5344CB8AC3E}">
        <p14:creationId xmlns:p14="http://schemas.microsoft.com/office/powerpoint/2010/main" val="3264020042"/>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B15D6403-34EB-AE06-B254-34960F9EBBF1}"/>
              </a:ext>
            </a:extLst>
          </p:cNvPr>
          <p:cNvPicPr>
            <a:picLocks noChangeAspect="1"/>
          </p:cNvPicPr>
          <p:nvPr/>
        </p:nvPicPr>
        <p:blipFill>
          <a:blip r:embed="rId2"/>
          <a:stretch>
            <a:fillRect/>
          </a:stretch>
        </p:blipFill>
        <p:spPr>
          <a:xfrm>
            <a:off x="0" y="-87085"/>
            <a:ext cx="6417557" cy="5045528"/>
          </a:xfrm>
          <a:prstGeom prst="rect">
            <a:avLst/>
          </a:prstGeom>
        </p:spPr>
      </p:pic>
      <p:pic>
        <p:nvPicPr>
          <p:cNvPr id="3" name="Picture 2">
            <a:extLst>
              <a:ext uri="{FF2B5EF4-FFF2-40B4-BE49-F238E27FC236}">
                <a16:creationId xmlns:a16="http://schemas.microsoft.com/office/drawing/2014/main" id="{558B9380-1E01-6227-10BA-9F844D781AFD}"/>
              </a:ext>
            </a:extLst>
          </p:cNvPr>
          <p:cNvPicPr>
            <a:picLocks noChangeAspect="1"/>
          </p:cNvPicPr>
          <p:nvPr/>
        </p:nvPicPr>
        <p:blipFill>
          <a:blip r:embed="rId3"/>
          <a:stretch>
            <a:fillRect/>
          </a:stretch>
        </p:blipFill>
        <p:spPr>
          <a:xfrm>
            <a:off x="5683043" y="2220380"/>
            <a:ext cx="5665314" cy="4501548"/>
          </a:xfrm>
          <a:prstGeom prst="rect">
            <a:avLst/>
          </a:prstGeom>
        </p:spPr>
      </p:pic>
    </p:spTree>
    <p:extLst>
      <p:ext uri="{BB962C8B-B14F-4D97-AF65-F5344CB8AC3E}">
        <p14:creationId xmlns:p14="http://schemas.microsoft.com/office/powerpoint/2010/main" val="2511524100"/>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6B01CF1-662F-BCE1-94D4-73AC5F4EBA01}"/>
              </a:ext>
            </a:extLst>
          </p:cNvPr>
          <p:cNvPicPr>
            <a:picLocks noChangeAspect="1"/>
          </p:cNvPicPr>
          <p:nvPr/>
        </p:nvPicPr>
        <p:blipFill>
          <a:blip r:embed="rId2"/>
          <a:stretch>
            <a:fillRect/>
          </a:stretch>
        </p:blipFill>
        <p:spPr>
          <a:xfrm>
            <a:off x="237379" y="65315"/>
            <a:ext cx="6147907" cy="6858000"/>
          </a:xfrm>
          <a:prstGeom prst="rect">
            <a:avLst/>
          </a:prstGeom>
        </p:spPr>
      </p:pic>
      <p:pic>
        <p:nvPicPr>
          <p:cNvPr id="3" name="Picture 2">
            <a:extLst>
              <a:ext uri="{FF2B5EF4-FFF2-40B4-BE49-F238E27FC236}">
                <a16:creationId xmlns:a16="http://schemas.microsoft.com/office/drawing/2014/main" id="{CA7AB1FC-0786-688A-EEB7-B7B55F7BF8AA}"/>
              </a:ext>
            </a:extLst>
          </p:cNvPr>
          <p:cNvPicPr>
            <a:picLocks noChangeAspect="1"/>
          </p:cNvPicPr>
          <p:nvPr/>
        </p:nvPicPr>
        <p:blipFill>
          <a:blip r:embed="rId3"/>
          <a:stretch>
            <a:fillRect/>
          </a:stretch>
        </p:blipFill>
        <p:spPr>
          <a:xfrm>
            <a:off x="6044093" y="65315"/>
            <a:ext cx="6147907" cy="6858000"/>
          </a:xfrm>
          <a:prstGeom prst="rect">
            <a:avLst/>
          </a:prstGeom>
        </p:spPr>
      </p:pic>
    </p:spTree>
    <p:extLst>
      <p:ext uri="{BB962C8B-B14F-4D97-AF65-F5344CB8AC3E}">
        <p14:creationId xmlns:p14="http://schemas.microsoft.com/office/powerpoint/2010/main" val="1027871666"/>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C4B451BD-8376-69A2-463E-BEE07F5738F3}"/>
              </a:ext>
            </a:extLst>
          </p:cNvPr>
          <p:cNvSpPr txBox="1"/>
          <p:nvPr/>
        </p:nvSpPr>
        <p:spPr>
          <a:xfrm>
            <a:off x="397329" y="647700"/>
            <a:ext cx="4327071" cy="369332"/>
          </a:xfrm>
          <a:prstGeom prst="rect">
            <a:avLst/>
          </a:prstGeom>
          <a:noFill/>
        </p:spPr>
        <p:txBody>
          <a:bodyPr wrap="square" rtlCol="0">
            <a:spAutoFit/>
          </a:bodyPr>
          <a:lstStyle/>
          <a:p>
            <a:r>
              <a:rPr lang="en-CH" dirty="0" err="1"/>
              <a:t>IMTrackSignals</a:t>
            </a:r>
            <a:endParaRPr lang="en-CH" dirty="0"/>
          </a:p>
        </p:txBody>
      </p:sp>
      <p:pic>
        <p:nvPicPr>
          <p:cNvPr id="4" name="Picture 3">
            <a:extLst>
              <a:ext uri="{FF2B5EF4-FFF2-40B4-BE49-F238E27FC236}">
                <a16:creationId xmlns:a16="http://schemas.microsoft.com/office/drawing/2014/main" id="{FF1CC830-8C46-286F-00D4-E39897892EFB}"/>
              </a:ext>
            </a:extLst>
          </p:cNvPr>
          <p:cNvPicPr>
            <a:picLocks noChangeAspect="1"/>
          </p:cNvPicPr>
          <p:nvPr/>
        </p:nvPicPr>
        <p:blipFill>
          <a:blip r:embed="rId2"/>
          <a:stretch>
            <a:fillRect/>
          </a:stretch>
        </p:blipFill>
        <p:spPr>
          <a:xfrm>
            <a:off x="109257" y="1409699"/>
            <a:ext cx="6028244" cy="4631871"/>
          </a:xfrm>
          <a:prstGeom prst="rect">
            <a:avLst/>
          </a:prstGeom>
        </p:spPr>
      </p:pic>
      <p:pic>
        <p:nvPicPr>
          <p:cNvPr id="5" name="Picture 4">
            <a:extLst>
              <a:ext uri="{FF2B5EF4-FFF2-40B4-BE49-F238E27FC236}">
                <a16:creationId xmlns:a16="http://schemas.microsoft.com/office/drawing/2014/main" id="{93FE2F01-1CBE-989E-87CE-572B5524D794}"/>
              </a:ext>
            </a:extLst>
          </p:cNvPr>
          <p:cNvPicPr>
            <a:picLocks noChangeAspect="1"/>
          </p:cNvPicPr>
          <p:nvPr/>
        </p:nvPicPr>
        <p:blipFill>
          <a:blip r:embed="rId3"/>
          <a:stretch>
            <a:fillRect/>
          </a:stretch>
        </p:blipFill>
        <p:spPr>
          <a:xfrm>
            <a:off x="5723636" y="647700"/>
            <a:ext cx="6978974" cy="5562600"/>
          </a:xfrm>
          <a:prstGeom prst="rect">
            <a:avLst/>
          </a:prstGeom>
        </p:spPr>
      </p:pic>
    </p:spTree>
    <p:extLst>
      <p:ext uri="{BB962C8B-B14F-4D97-AF65-F5344CB8AC3E}">
        <p14:creationId xmlns:p14="http://schemas.microsoft.com/office/powerpoint/2010/main" val="3289430125"/>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6497844E-5751-69CB-9169-78BE553A1E1F}"/>
              </a:ext>
            </a:extLst>
          </p:cNvPr>
          <p:cNvPicPr>
            <a:picLocks noChangeAspect="1"/>
          </p:cNvPicPr>
          <p:nvPr/>
        </p:nvPicPr>
        <p:blipFill>
          <a:blip r:embed="rId2"/>
          <a:stretch>
            <a:fillRect/>
          </a:stretch>
        </p:blipFill>
        <p:spPr>
          <a:xfrm>
            <a:off x="-200527" y="1036320"/>
            <a:ext cx="6371172" cy="5247805"/>
          </a:xfrm>
          <a:prstGeom prst="rect">
            <a:avLst/>
          </a:prstGeom>
        </p:spPr>
      </p:pic>
      <p:pic>
        <p:nvPicPr>
          <p:cNvPr id="3" name="Picture 2">
            <a:extLst>
              <a:ext uri="{FF2B5EF4-FFF2-40B4-BE49-F238E27FC236}">
                <a16:creationId xmlns:a16="http://schemas.microsoft.com/office/drawing/2014/main" id="{6EB0963B-5EC4-58BB-166F-42C4B42F3751}"/>
              </a:ext>
            </a:extLst>
          </p:cNvPr>
          <p:cNvPicPr>
            <a:picLocks noChangeAspect="1"/>
          </p:cNvPicPr>
          <p:nvPr/>
        </p:nvPicPr>
        <p:blipFill>
          <a:blip r:embed="rId3"/>
          <a:stretch>
            <a:fillRect/>
          </a:stretch>
        </p:blipFill>
        <p:spPr>
          <a:xfrm>
            <a:off x="5897305" y="1036320"/>
            <a:ext cx="5872301" cy="5164677"/>
          </a:xfrm>
          <a:prstGeom prst="rect">
            <a:avLst/>
          </a:prstGeom>
        </p:spPr>
      </p:pic>
    </p:spTree>
    <p:extLst>
      <p:ext uri="{BB962C8B-B14F-4D97-AF65-F5344CB8AC3E}">
        <p14:creationId xmlns:p14="http://schemas.microsoft.com/office/powerpoint/2010/main" val="3813006027"/>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E3C8A63E-C69F-28A6-F9E9-6FC4A84B1EE1}"/>
              </a:ext>
            </a:extLst>
          </p:cNvPr>
          <p:cNvPicPr>
            <a:picLocks noChangeAspect="1"/>
          </p:cNvPicPr>
          <p:nvPr/>
        </p:nvPicPr>
        <p:blipFill>
          <a:blip r:embed="rId2"/>
          <a:stretch>
            <a:fillRect/>
          </a:stretch>
        </p:blipFill>
        <p:spPr>
          <a:xfrm>
            <a:off x="1626181" y="0"/>
            <a:ext cx="8939638" cy="6858000"/>
          </a:xfrm>
          <a:prstGeom prst="rect">
            <a:avLst/>
          </a:prstGeom>
        </p:spPr>
      </p:pic>
    </p:spTree>
    <p:extLst>
      <p:ext uri="{BB962C8B-B14F-4D97-AF65-F5344CB8AC3E}">
        <p14:creationId xmlns:p14="http://schemas.microsoft.com/office/powerpoint/2010/main" val="3752027957"/>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91229CBC-EC93-6A45-AF69-0679A7E59A93}"/>
              </a:ext>
            </a:extLst>
          </p:cNvPr>
          <p:cNvSpPr txBox="1"/>
          <p:nvPr/>
        </p:nvSpPr>
        <p:spPr>
          <a:xfrm>
            <a:off x="81643" y="201386"/>
            <a:ext cx="1640877" cy="646331"/>
          </a:xfrm>
          <a:prstGeom prst="rect">
            <a:avLst/>
          </a:prstGeom>
          <a:noFill/>
        </p:spPr>
        <p:txBody>
          <a:bodyPr wrap="square" rtlCol="0">
            <a:spAutoFit/>
          </a:bodyPr>
          <a:lstStyle/>
          <a:p>
            <a:r>
              <a:rPr lang="en-CH" dirty="0"/>
              <a:t>Sequential presentation</a:t>
            </a:r>
          </a:p>
        </p:txBody>
      </p:sp>
      <p:pic>
        <p:nvPicPr>
          <p:cNvPr id="5" name="Picture 4">
            <a:extLst>
              <a:ext uri="{FF2B5EF4-FFF2-40B4-BE49-F238E27FC236}">
                <a16:creationId xmlns:a16="http://schemas.microsoft.com/office/drawing/2014/main" id="{2EC3CB25-08C4-53CB-90CB-A075F8399190}"/>
              </a:ext>
            </a:extLst>
          </p:cNvPr>
          <p:cNvPicPr>
            <a:picLocks noChangeAspect="1"/>
          </p:cNvPicPr>
          <p:nvPr/>
        </p:nvPicPr>
        <p:blipFill>
          <a:blip r:embed="rId2"/>
          <a:stretch>
            <a:fillRect/>
          </a:stretch>
        </p:blipFill>
        <p:spPr>
          <a:xfrm>
            <a:off x="5347103" y="847717"/>
            <a:ext cx="6893883" cy="5595256"/>
          </a:xfrm>
          <a:prstGeom prst="rect">
            <a:avLst/>
          </a:prstGeom>
        </p:spPr>
      </p:pic>
      <p:pic>
        <p:nvPicPr>
          <p:cNvPr id="7" name="Picture 6">
            <a:extLst>
              <a:ext uri="{FF2B5EF4-FFF2-40B4-BE49-F238E27FC236}">
                <a16:creationId xmlns:a16="http://schemas.microsoft.com/office/drawing/2014/main" id="{42EB7E8F-9FDF-BADD-508A-E877F6489EC4}"/>
              </a:ext>
            </a:extLst>
          </p:cNvPr>
          <p:cNvPicPr>
            <a:picLocks noChangeAspect="1"/>
          </p:cNvPicPr>
          <p:nvPr/>
        </p:nvPicPr>
        <p:blipFill>
          <a:blip r:embed="rId3"/>
          <a:stretch>
            <a:fillRect/>
          </a:stretch>
        </p:blipFill>
        <p:spPr>
          <a:xfrm>
            <a:off x="-70287" y="838200"/>
            <a:ext cx="5850601" cy="5342523"/>
          </a:xfrm>
          <a:prstGeom prst="rect">
            <a:avLst/>
          </a:prstGeom>
        </p:spPr>
      </p:pic>
    </p:spTree>
    <p:extLst>
      <p:ext uri="{BB962C8B-B14F-4D97-AF65-F5344CB8AC3E}">
        <p14:creationId xmlns:p14="http://schemas.microsoft.com/office/powerpoint/2010/main" val="4240483256"/>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BC25B00A-B6F8-94DA-90A5-BC461C306F45}"/>
              </a:ext>
            </a:extLst>
          </p:cNvPr>
          <p:cNvPicPr>
            <a:picLocks noChangeAspect="1"/>
          </p:cNvPicPr>
          <p:nvPr/>
        </p:nvPicPr>
        <p:blipFill>
          <a:blip r:embed="rId2"/>
          <a:stretch>
            <a:fillRect/>
          </a:stretch>
        </p:blipFill>
        <p:spPr>
          <a:xfrm>
            <a:off x="1503734" y="0"/>
            <a:ext cx="9184532" cy="6858000"/>
          </a:xfrm>
          <a:prstGeom prst="rect">
            <a:avLst/>
          </a:prstGeom>
        </p:spPr>
      </p:pic>
    </p:spTree>
    <p:extLst>
      <p:ext uri="{BB962C8B-B14F-4D97-AF65-F5344CB8AC3E}">
        <p14:creationId xmlns:p14="http://schemas.microsoft.com/office/powerpoint/2010/main" val="4000849329"/>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467C9704-1CE2-2D2D-A69C-3A6A6BEBCA97}"/>
              </a:ext>
            </a:extLst>
          </p:cNvPr>
          <p:cNvPicPr>
            <a:picLocks noChangeAspect="1"/>
          </p:cNvPicPr>
          <p:nvPr/>
        </p:nvPicPr>
        <p:blipFill>
          <a:blip r:embed="rId2"/>
          <a:stretch>
            <a:fillRect/>
          </a:stretch>
        </p:blipFill>
        <p:spPr>
          <a:xfrm>
            <a:off x="1481971" y="373138"/>
            <a:ext cx="10710029" cy="5875641"/>
          </a:xfrm>
          <a:prstGeom prst="rect">
            <a:avLst/>
          </a:prstGeom>
        </p:spPr>
      </p:pic>
      <p:pic>
        <p:nvPicPr>
          <p:cNvPr id="3" name="Picture 2">
            <a:extLst>
              <a:ext uri="{FF2B5EF4-FFF2-40B4-BE49-F238E27FC236}">
                <a16:creationId xmlns:a16="http://schemas.microsoft.com/office/drawing/2014/main" id="{EF4C17FF-6490-D830-5B48-9F51F6C96C71}"/>
              </a:ext>
            </a:extLst>
          </p:cNvPr>
          <p:cNvPicPr>
            <a:picLocks noChangeAspect="1"/>
          </p:cNvPicPr>
          <p:nvPr/>
        </p:nvPicPr>
        <p:blipFill>
          <a:blip r:embed="rId3"/>
          <a:stretch>
            <a:fillRect/>
          </a:stretch>
        </p:blipFill>
        <p:spPr>
          <a:xfrm>
            <a:off x="1578399" y="288470"/>
            <a:ext cx="9131630" cy="6531429"/>
          </a:xfrm>
          <a:prstGeom prst="rect">
            <a:avLst/>
          </a:prstGeom>
        </p:spPr>
      </p:pic>
      <p:sp>
        <p:nvSpPr>
          <p:cNvPr id="4" name="TextBox 3">
            <a:extLst>
              <a:ext uri="{FF2B5EF4-FFF2-40B4-BE49-F238E27FC236}">
                <a16:creationId xmlns:a16="http://schemas.microsoft.com/office/drawing/2014/main" id="{54E67F15-5B5F-0C7C-21A1-3FC75EB5D051}"/>
              </a:ext>
            </a:extLst>
          </p:cNvPr>
          <p:cNvSpPr txBox="1"/>
          <p:nvPr/>
        </p:nvSpPr>
        <p:spPr>
          <a:xfrm>
            <a:off x="299358" y="751114"/>
            <a:ext cx="1779814" cy="2031325"/>
          </a:xfrm>
          <a:prstGeom prst="rect">
            <a:avLst/>
          </a:prstGeom>
          <a:noFill/>
        </p:spPr>
        <p:txBody>
          <a:bodyPr wrap="square" rtlCol="0">
            <a:spAutoFit/>
          </a:bodyPr>
          <a:lstStyle/>
          <a:p>
            <a:r>
              <a:rPr lang="en-CH" dirty="0"/>
              <a:t>Underlying figure: Before placing </a:t>
            </a:r>
            <a:r>
              <a:rPr lang="en-CH" dirty="0" err="1"/>
              <a:t>IndDiff</a:t>
            </a:r>
            <a:r>
              <a:rPr lang="en-CH" dirty="0"/>
              <a:t> after mechanism implementation; overlaid figure: after ...</a:t>
            </a:r>
          </a:p>
        </p:txBody>
      </p:sp>
    </p:spTree>
    <p:extLst>
      <p:ext uri="{BB962C8B-B14F-4D97-AF65-F5344CB8AC3E}">
        <p14:creationId xmlns:p14="http://schemas.microsoft.com/office/powerpoint/2010/main" val="1448594032"/>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70C17B9-09D8-0B08-5212-7A57D30B9072}"/>
              </a:ext>
            </a:extLst>
          </p:cNvPr>
          <p:cNvPicPr>
            <a:picLocks noChangeAspect="1"/>
          </p:cNvPicPr>
          <p:nvPr/>
        </p:nvPicPr>
        <p:blipFill>
          <a:blip r:embed="rId2"/>
          <a:stretch>
            <a:fillRect/>
          </a:stretch>
        </p:blipFill>
        <p:spPr>
          <a:xfrm>
            <a:off x="838200" y="544512"/>
            <a:ext cx="11353800" cy="6228821"/>
          </a:xfrm>
          <a:prstGeom prst="rect">
            <a:avLst/>
          </a:prstGeom>
        </p:spPr>
      </p:pic>
      <p:pic>
        <p:nvPicPr>
          <p:cNvPr id="3" name="Picture 2">
            <a:extLst>
              <a:ext uri="{FF2B5EF4-FFF2-40B4-BE49-F238E27FC236}">
                <a16:creationId xmlns:a16="http://schemas.microsoft.com/office/drawing/2014/main" id="{9E0B2617-305C-3E74-78AF-6AC12F16EFBC}"/>
              </a:ext>
            </a:extLst>
          </p:cNvPr>
          <p:cNvPicPr>
            <a:picLocks noChangeAspect="1"/>
          </p:cNvPicPr>
          <p:nvPr/>
        </p:nvPicPr>
        <p:blipFill>
          <a:blip r:embed="rId3"/>
          <a:stretch>
            <a:fillRect/>
          </a:stretch>
        </p:blipFill>
        <p:spPr>
          <a:xfrm>
            <a:off x="1287751" y="84667"/>
            <a:ext cx="9616497" cy="6858000"/>
          </a:xfrm>
          <a:prstGeom prst="rect">
            <a:avLst/>
          </a:prstGeom>
        </p:spPr>
      </p:pic>
    </p:spTree>
    <p:extLst>
      <p:ext uri="{BB962C8B-B14F-4D97-AF65-F5344CB8AC3E}">
        <p14:creationId xmlns:p14="http://schemas.microsoft.com/office/powerpoint/2010/main" val="2613595685"/>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E696B95-2DE0-4E7E-24E3-813CAC86ADDA}"/>
              </a:ext>
            </a:extLst>
          </p:cNvPr>
          <p:cNvPicPr>
            <a:picLocks noChangeAspect="1"/>
          </p:cNvPicPr>
          <p:nvPr/>
        </p:nvPicPr>
        <p:blipFill>
          <a:blip r:embed="rId2"/>
          <a:stretch>
            <a:fillRect/>
          </a:stretch>
        </p:blipFill>
        <p:spPr>
          <a:xfrm>
            <a:off x="3990081" y="-38100"/>
            <a:ext cx="6965923" cy="6858000"/>
          </a:xfrm>
          <a:prstGeom prst="rect">
            <a:avLst/>
          </a:prstGeom>
        </p:spPr>
      </p:pic>
      <p:sp>
        <p:nvSpPr>
          <p:cNvPr id="3" name="TextBox 2">
            <a:extLst>
              <a:ext uri="{FF2B5EF4-FFF2-40B4-BE49-F238E27FC236}">
                <a16:creationId xmlns:a16="http://schemas.microsoft.com/office/drawing/2014/main" id="{DAAE7E75-12BD-BBCB-CFD7-ADF15A59B045}"/>
              </a:ext>
            </a:extLst>
          </p:cNvPr>
          <p:cNvSpPr txBox="1"/>
          <p:nvPr/>
        </p:nvSpPr>
        <p:spPr>
          <a:xfrm>
            <a:off x="386444" y="805543"/>
            <a:ext cx="3603638" cy="4801314"/>
          </a:xfrm>
          <a:prstGeom prst="rect">
            <a:avLst/>
          </a:prstGeom>
          <a:noFill/>
        </p:spPr>
        <p:txBody>
          <a:bodyPr wrap="square" rtlCol="0">
            <a:spAutoFit/>
          </a:bodyPr>
          <a:lstStyle/>
          <a:p>
            <a:r>
              <a:rPr lang="en-CH" dirty="0"/>
              <a:t>After increasing boundary(1) to 70: There is still a headstart benefit – what causes it? Performance without mechanism became poorer by the raised boundary?!</a:t>
            </a:r>
          </a:p>
          <a:p>
            <a:r>
              <a:rPr lang="en-CH" dirty="0"/>
              <a:t>Why is adding visual interference beneficial with valid cue rather than harmful with neutral cue?</a:t>
            </a:r>
          </a:p>
          <a:p>
            <a:endParaRPr lang="en-CH" dirty="0"/>
          </a:p>
          <a:p>
            <a:r>
              <a:rPr lang="en-CH" dirty="0"/>
              <a:t>The headstart benefit might come from the fact that with CSI&gt;0, retrieval occurs before the test display. Even when filter = 0 (no </a:t>
            </a:r>
            <a:r>
              <a:rPr lang="en-CH" dirty="0" err="1"/>
              <a:t>colorwheel</a:t>
            </a:r>
            <a:r>
              <a:rPr lang="en-CH" dirty="0"/>
              <a:t> intrusion), the FX is erased at this point (completely because </a:t>
            </a:r>
            <a:r>
              <a:rPr lang="en-CH" dirty="0" err="1"/>
              <a:t>P.eraseFX</a:t>
            </a:r>
            <a:r>
              <a:rPr lang="en-CH" dirty="0"/>
              <a:t> = 0), so retrieval with CSI=0 does not benefit from FX</a:t>
            </a:r>
          </a:p>
        </p:txBody>
      </p:sp>
    </p:spTree>
    <p:extLst>
      <p:ext uri="{BB962C8B-B14F-4D97-AF65-F5344CB8AC3E}">
        <p14:creationId xmlns:p14="http://schemas.microsoft.com/office/powerpoint/2010/main" val="2857030584"/>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6D657259-5F7F-6D1C-ABC3-DFCB2B2878E4}"/>
              </a:ext>
            </a:extLst>
          </p:cNvPr>
          <p:cNvPicPr>
            <a:picLocks noChangeAspect="1"/>
          </p:cNvPicPr>
          <p:nvPr/>
        </p:nvPicPr>
        <p:blipFill>
          <a:blip r:embed="rId2"/>
          <a:stretch>
            <a:fillRect/>
          </a:stretch>
        </p:blipFill>
        <p:spPr>
          <a:xfrm>
            <a:off x="264014" y="1017813"/>
            <a:ext cx="6169701" cy="4849587"/>
          </a:xfrm>
          <a:prstGeom prst="rect">
            <a:avLst/>
          </a:prstGeom>
        </p:spPr>
      </p:pic>
      <p:sp>
        <p:nvSpPr>
          <p:cNvPr id="3" name="TextBox 2">
            <a:extLst>
              <a:ext uri="{FF2B5EF4-FFF2-40B4-BE49-F238E27FC236}">
                <a16:creationId xmlns:a16="http://schemas.microsoft.com/office/drawing/2014/main" id="{FC3372CF-71FA-E64D-BD92-AB7CBF39A9AF}"/>
              </a:ext>
            </a:extLst>
          </p:cNvPr>
          <p:cNvSpPr txBox="1"/>
          <p:nvPr/>
        </p:nvSpPr>
        <p:spPr>
          <a:xfrm>
            <a:off x="468086" y="359229"/>
            <a:ext cx="10858499" cy="369332"/>
          </a:xfrm>
          <a:prstGeom prst="rect">
            <a:avLst/>
          </a:prstGeom>
          <a:noFill/>
        </p:spPr>
        <p:txBody>
          <a:bodyPr wrap="square" rtlCol="0">
            <a:spAutoFit/>
          </a:bodyPr>
          <a:lstStyle/>
          <a:p>
            <a:r>
              <a:rPr lang="en-CH" dirty="0"/>
              <a:t>After fixing that issue by erasing FX in the conditions with other mechanisms (and using boundary = 30)</a:t>
            </a:r>
          </a:p>
        </p:txBody>
      </p:sp>
      <p:pic>
        <p:nvPicPr>
          <p:cNvPr id="4" name="Picture 3">
            <a:extLst>
              <a:ext uri="{FF2B5EF4-FFF2-40B4-BE49-F238E27FC236}">
                <a16:creationId xmlns:a16="http://schemas.microsoft.com/office/drawing/2014/main" id="{87057586-964B-A93D-F678-08ED740BB72C}"/>
              </a:ext>
            </a:extLst>
          </p:cNvPr>
          <p:cNvPicPr>
            <a:picLocks noChangeAspect="1"/>
          </p:cNvPicPr>
          <p:nvPr/>
        </p:nvPicPr>
        <p:blipFill>
          <a:blip r:embed="rId3"/>
          <a:stretch>
            <a:fillRect/>
          </a:stretch>
        </p:blipFill>
        <p:spPr>
          <a:xfrm>
            <a:off x="5813883" y="1694196"/>
            <a:ext cx="6256839" cy="4924318"/>
          </a:xfrm>
          <a:prstGeom prst="rect">
            <a:avLst/>
          </a:prstGeom>
        </p:spPr>
      </p:pic>
    </p:spTree>
    <p:extLst>
      <p:ext uri="{BB962C8B-B14F-4D97-AF65-F5344CB8AC3E}">
        <p14:creationId xmlns:p14="http://schemas.microsoft.com/office/powerpoint/2010/main" val="1962463851"/>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2105DCD6-B32D-FF73-D0E4-5D675A1FD28D}"/>
              </a:ext>
            </a:extLst>
          </p:cNvPr>
          <p:cNvPicPr>
            <a:picLocks noChangeAspect="1"/>
          </p:cNvPicPr>
          <p:nvPr/>
        </p:nvPicPr>
        <p:blipFill>
          <a:blip r:embed="rId2"/>
          <a:stretch>
            <a:fillRect/>
          </a:stretch>
        </p:blipFill>
        <p:spPr>
          <a:xfrm>
            <a:off x="1393119" y="324654"/>
            <a:ext cx="8485667" cy="6208691"/>
          </a:xfrm>
          <a:prstGeom prst="rect">
            <a:avLst/>
          </a:prstGeom>
        </p:spPr>
      </p:pic>
    </p:spTree>
    <p:extLst>
      <p:ext uri="{BB962C8B-B14F-4D97-AF65-F5344CB8AC3E}">
        <p14:creationId xmlns:p14="http://schemas.microsoft.com/office/powerpoint/2010/main" val="855035605"/>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E66AF04-066B-9B81-1C72-B35B53E383B4}"/>
              </a:ext>
            </a:extLst>
          </p:cNvPr>
          <p:cNvPicPr>
            <a:picLocks noChangeAspect="1"/>
          </p:cNvPicPr>
          <p:nvPr/>
        </p:nvPicPr>
        <p:blipFill>
          <a:blip r:embed="rId2"/>
          <a:stretch>
            <a:fillRect/>
          </a:stretch>
        </p:blipFill>
        <p:spPr>
          <a:xfrm>
            <a:off x="239950" y="130628"/>
            <a:ext cx="6270138" cy="4474029"/>
          </a:xfrm>
          <a:prstGeom prst="rect">
            <a:avLst/>
          </a:prstGeom>
        </p:spPr>
      </p:pic>
      <p:pic>
        <p:nvPicPr>
          <p:cNvPr id="3" name="Picture 2">
            <a:extLst>
              <a:ext uri="{FF2B5EF4-FFF2-40B4-BE49-F238E27FC236}">
                <a16:creationId xmlns:a16="http://schemas.microsoft.com/office/drawing/2014/main" id="{4875F455-8587-B2D4-07EF-EF0FAE492BE3}"/>
              </a:ext>
            </a:extLst>
          </p:cNvPr>
          <p:cNvPicPr>
            <a:picLocks noChangeAspect="1"/>
          </p:cNvPicPr>
          <p:nvPr/>
        </p:nvPicPr>
        <p:blipFill>
          <a:blip r:embed="rId3"/>
          <a:stretch>
            <a:fillRect/>
          </a:stretch>
        </p:blipFill>
        <p:spPr>
          <a:xfrm>
            <a:off x="6259286" y="1751239"/>
            <a:ext cx="6030686" cy="4523015"/>
          </a:xfrm>
          <a:prstGeom prst="rect">
            <a:avLst/>
          </a:prstGeom>
        </p:spPr>
      </p:pic>
      <p:sp>
        <p:nvSpPr>
          <p:cNvPr id="4" name="TextBox 3">
            <a:extLst>
              <a:ext uri="{FF2B5EF4-FFF2-40B4-BE49-F238E27FC236}">
                <a16:creationId xmlns:a16="http://schemas.microsoft.com/office/drawing/2014/main" id="{BCFC8C8F-D115-0CFB-9FE5-D08905A5E76B}"/>
              </a:ext>
            </a:extLst>
          </p:cNvPr>
          <p:cNvSpPr txBox="1"/>
          <p:nvPr/>
        </p:nvSpPr>
        <p:spPr>
          <a:xfrm>
            <a:off x="7010400" y="707571"/>
            <a:ext cx="1911805" cy="369332"/>
          </a:xfrm>
          <a:prstGeom prst="rect">
            <a:avLst/>
          </a:prstGeom>
          <a:noFill/>
        </p:spPr>
        <p:txBody>
          <a:bodyPr wrap="none" rtlCol="0">
            <a:spAutoFit/>
          </a:bodyPr>
          <a:lstStyle/>
          <a:p>
            <a:r>
              <a:rPr lang="en-CH" dirty="0"/>
              <a:t>With filter(2) = 0.1</a:t>
            </a:r>
          </a:p>
        </p:txBody>
      </p:sp>
    </p:spTree>
    <p:extLst>
      <p:ext uri="{BB962C8B-B14F-4D97-AF65-F5344CB8AC3E}">
        <p14:creationId xmlns:p14="http://schemas.microsoft.com/office/powerpoint/2010/main" val="702541235"/>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D6FCC869-7388-8D1D-64E1-2D22CD741CD9}"/>
              </a:ext>
            </a:extLst>
          </p:cNvPr>
          <p:cNvPicPr>
            <a:picLocks noChangeAspect="1"/>
          </p:cNvPicPr>
          <p:nvPr/>
        </p:nvPicPr>
        <p:blipFill>
          <a:blip r:embed="rId2"/>
          <a:stretch>
            <a:fillRect/>
          </a:stretch>
        </p:blipFill>
        <p:spPr>
          <a:xfrm>
            <a:off x="365234" y="239486"/>
            <a:ext cx="9145001" cy="6215743"/>
          </a:xfrm>
          <a:prstGeom prst="rect">
            <a:avLst/>
          </a:prstGeom>
        </p:spPr>
      </p:pic>
    </p:spTree>
    <p:extLst>
      <p:ext uri="{BB962C8B-B14F-4D97-AF65-F5344CB8AC3E}">
        <p14:creationId xmlns:p14="http://schemas.microsoft.com/office/powerpoint/2010/main" val="2558577207"/>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0EEB47F-DB6E-5E0C-E4E4-352A23F09DC3}"/>
              </a:ext>
            </a:extLst>
          </p:cNvPr>
          <p:cNvPicPr>
            <a:picLocks noChangeAspect="1"/>
          </p:cNvPicPr>
          <p:nvPr/>
        </p:nvPicPr>
        <p:blipFill>
          <a:blip r:embed="rId2"/>
          <a:stretch>
            <a:fillRect/>
          </a:stretch>
        </p:blipFill>
        <p:spPr>
          <a:xfrm>
            <a:off x="466371" y="152400"/>
            <a:ext cx="5047244" cy="4198733"/>
          </a:xfrm>
          <a:prstGeom prst="rect">
            <a:avLst/>
          </a:prstGeom>
        </p:spPr>
      </p:pic>
      <p:sp>
        <p:nvSpPr>
          <p:cNvPr id="3" name="TextBox 2">
            <a:extLst>
              <a:ext uri="{FF2B5EF4-FFF2-40B4-BE49-F238E27FC236}">
                <a16:creationId xmlns:a16="http://schemas.microsoft.com/office/drawing/2014/main" id="{DA53AF96-D2CC-6E8D-79BF-307AFEC14F28}"/>
              </a:ext>
            </a:extLst>
          </p:cNvPr>
          <p:cNvSpPr txBox="1"/>
          <p:nvPr/>
        </p:nvSpPr>
        <p:spPr>
          <a:xfrm>
            <a:off x="7010401" y="707571"/>
            <a:ext cx="4620986" cy="646331"/>
          </a:xfrm>
          <a:prstGeom prst="rect">
            <a:avLst/>
          </a:prstGeom>
          <a:noFill/>
        </p:spPr>
        <p:txBody>
          <a:bodyPr wrap="square" rtlCol="0">
            <a:spAutoFit/>
          </a:bodyPr>
          <a:lstStyle/>
          <a:p>
            <a:r>
              <a:rPr lang="en-CH" dirty="0"/>
              <a:t>With filter(2) = 0.1 and </a:t>
            </a:r>
            <a:r>
              <a:rPr lang="en-CH" dirty="0" err="1"/>
              <a:t>dnoise</a:t>
            </a:r>
            <a:r>
              <a:rPr lang="en-CH" dirty="0"/>
              <a:t> increased (from 1.5) to 3</a:t>
            </a:r>
          </a:p>
        </p:txBody>
      </p:sp>
      <p:pic>
        <p:nvPicPr>
          <p:cNvPr id="4" name="Picture 3">
            <a:extLst>
              <a:ext uri="{FF2B5EF4-FFF2-40B4-BE49-F238E27FC236}">
                <a16:creationId xmlns:a16="http://schemas.microsoft.com/office/drawing/2014/main" id="{EBC6F44B-E9E4-B9A4-B854-1DE8AB303E3F}"/>
              </a:ext>
            </a:extLst>
          </p:cNvPr>
          <p:cNvPicPr>
            <a:picLocks noChangeAspect="1"/>
          </p:cNvPicPr>
          <p:nvPr/>
        </p:nvPicPr>
        <p:blipFill>
          <a:blip r:embed="rId3"/>
          <a:stretch>
            <a:fillRect/>
          </a:stretch>
        </p:blipFill>
        <p:spPr>
          <a:xfrm>
            <a:off x="5558892" y="1605643"/>
            <a:ext cx="6208567" cy="4740727"/>
          </a:xfrm>
          <a:prstGeom prst="rect">
            <a:avLst/>
          </a:prstGeom>
        </p:spPr>
      </p:pic>
    </p:spTree>
    <p:extLst>
      <p:ext uri="{BB962C8B-B14F-4D97-AF65-F5344CB8AC3E}">
        <p14:creationId xmlns:p14="http://schemas.microsoft.com/office/powerpoint/2010/main" val="144439526"/>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6C7593E-EB8F-4ED9-9B88-23EF81B98414}"/>
              </a:ext>
            </a:extLst>
          </p:cNvPr>
          <p:cNvPicPr>
            <a:picLocks noChangeAspect="1"/>
          </p:cNvPicPr>
          <p:nvPr/>
        </p:nvPicPr>
        <p:blipFill>
          <a:blip r:embed="rId2"/>
          <a:stretch>
            <a:fillRect/>
          </a:stretch>
        </p:blipFill>
        <p:spPr>
          <a:xfrm>
            <a:off x="1866900" y="0"/>
            <a:ext cx="8907956" cy="6528387"/>
          </a:xfrm>
          <a:prstGeom prst="rect">
            <a:avLst/>
          </a:prstGeom>
        </p:spPr>
      </p:pic>
      <p:sp>
        <p:nvSpPr>
          <p:cNvPr id="3" name="TextBox 2">
            <a:extLst>
              <a:ext uri="{FF2B5EF4-FFF2-40B4-BE49-F238E27FC236}">
                <a16:creationId xmlns:a16="http://schemas.microsoft.com/office/drawing/2014/main" id="{35942FEC-7B2A-EE61-E3DC-D15884A6551C}"/>
              </a:ext>
            </a:extLst>
          </p:cNvPr>
          <p:cNvSpPr txBox="1"/>
          <p:nvPr/>
        </p:nvSpPr>
        <p:spPr>
          <a:xfrm>
            <a:off x="310243" y="370113"/>
            <a:ext cx="1321196" cy="369332"/>
          </a:xfrm>
          <a:prstGeom prst="rect">
            <a:avLst/>
          </a:prstGeom>
          <a:noFill/>
        </p:spPr>
        <p:txBody>
          <a:bodyPr wrap="none" rtlCol="0">
            <a:spAutoFit/>
          </a:bodyPr>
          <a:lstStyle/>
          <a:p>
            <a:r>
              <a:rPr lang="en-CH" dirty="0" err="1"/>
              <a:t>dnoise</a:t>
            </a:r>
            <a:r>
              <a:rPr lang="en-CH" dirty="0"/>
              <a:t> = 1.5</a:t>
            </a:r>
          </a:p>
        </p:txBody>
      </p:sp>
    </p:spTree>
    <p:extLst>
      <p:ext uri="{BB962C8B-B14F-4D97-AF65-F5344CB8AC3E}">
        <p14:creationId xmlns:p14="http://schemas.microsoft.com/office/powerpoint/2010/main" val="2186522811"/>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FD03C9E-EDA1-117A-0C52-11DB773A4B89}"/>
              </a:ext>
            </a:extLst>
          </p:cNvPr>
          <p:cNvPicPr>
            <a:picLocks noChangeAspect="1"/>
          </p:cNvPicPr>
          <p:nvPr/>
        </p:nvPicPr>
        <p:blipFill>
          <a:blip r:embed="rId2"/>
          <a:stretch>
            <a:fillRect/>
          </a:stretch>
        </p:blipFill>
        <p:spPr>
          <a:xfrm>
            <a:off x="312991" y="76189"/>
            <a:ext cx="5771734" cy="5519056"/>
          </a:xfrm>
          <a:prstGeom prst="rect">
            <a:avLst/>
          </a:prstGeom>
        </p:spPr>
      </p:pic>
      <p:pic>
        <p:nvPicPr>
          <p:cNvPr id="3" name="Picture 2">
            <a:extLst>
              <a:ext uri="{FF2B5EF4-FFF2-40B4-BE49-F238E27FC236}">
                <a16:creationId xmlns:a16="http://schemas.microsoft.com/office/drawing/2014/main" id="{74F64AD2-C343-1302-64EF-BF9874BBBFDE}"/>
              </a:ext>
            </a:extLst>
          </p:cNvPr>
          <p:cNvPicPr>
            <a:picLocks noChangeAspect="1"/>
          </p:cNvPicPr>
          <p:nvPr/>
        </p:nvPicPr>
        <p:blipFill>
          <a:blip r:embed="rId3"/>
          <a:stretch>
            <a:fillRect/>
          </a:stretch>
        </p:blipFill>
        <p:spPr>
          <a:xfrm>
            <a:off x="5840183" y="21759"/>
            <a:ext cx="6564086" cy="5573486"/>
          </a:xfrm>
          <a:prstGeom prst="rect">
            <a:avLst/>
          </a:prstGeom>
        </p:spPr>
      </p:pic>
      <p:sp>
        <p:nvSpPr>
          <p:cNvPr id="4" name="TextBox 3">
            <a:extLst>
              <a:ext uri="{FF2B5EF4-FFF2-40B4-BE49-F238E27FC236}">
                <a16:creationId xmlns:a16="http://schemas.microsoft.com/office/drawing/2014/main" id="{CE081CA2-D209-C115-EDB4-84842F7BEF0E}"/>
              </a:ext>
            </a:extLst>
          </p:cNvPr>
          <p:cNvSpPr txBox="1"/>
          <p:nvPr/>
        </p:nvSpPr>
        <p:spPr>
          <a:xfrm>
            <a:off x="696685" y="5747658"/>
            <a:ext cx="11217728" cy="923330"/>
          </a:xfrm>
          <a:prstGeom prst="rect">
            <a:avLst/>
          </a:prstGeom>
          <a:noFill/>
        </p:spPr>
        <p:txBody>
          <a:bodyPr wrap="square" rtlCol="0">
            <a:spAutoFit/>
          </a:bodyPr>
          <a:lstStyle/>
          <a:p>
            <a:r>
              <a:rPr lang="en-CH" dirty="0"/>
              <a:t>Why is ABA not better than CBA, but 2 </a:t>
            </a:r>
            <a:r>
              <a:rPr lang="en-CH" dirty="0" err="1"/>
              <a:t>refreshings</a:t>
            </a:r>
            <a:r>
              <a:rPr lang="en-CH" dirty="0"/>
              <a:t> &gt; 1 refreshing? Probably because the 1-refreshing items suffer competition from the 2-refreshing item (they are hardly better than no-cue control when refreshed last, whereas CBA is much better than None)</a:t>
            </a:r>
          </a:p>
        </p:txBody>
      </p:sp>
    </p:spTree>
    <p:extLst>
      <p:ext uri="{BB962C8B-B14F-4D97-AF65-F5344CB8AC3E}">
        <p14:creationId xmlns:p14="http://schemas.microsoft.com/office/powerpoint/2010/main" val="3470475648"/>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4B2EAA46-D158-43FA-8246-B924D9DE9CDF}"/>
              </a:ext>
            </a:extLst>
          </p:cNvPr>
          <p:cNvPicPr>
            <a:picLocks noChangeAspect="1"/>
          </p:cNvPicPr>
          <p:nvPr/>
        </p:nvPicPr>
        <p:blipFill>
          <a:blip r:embed="rId2"/>
          <a:stretch>
            <a:fillRect/>
          </a:stretch>
        </p:blipFill>
        <p:spPr>
          <a:xfrm>
            <a:off x="2538775" y="669471"/>
            <a:ext cx="8243525" cy="5741389"/>
          </a:xfrm>
          <a:prstGeom prst="rect">
            <a:avLst/>
          </a:prstGeom>
        </p:spPr>
      </p:pic>
      <p:sp>
        <p:nvSpPr>
          <p:cNvPr id="3" name="TextBox 2">
            <a:extLst>
              <a:ext uri="{FF2B5EF4-FFF2-40B4-BE49-F238E27FC236}">
                <a16:creationId xmlns:a16="http://schemas.microsoft.com/office/drawing/2014/main" id="{D5B69404-487B-A201-57A6-FE6E71B40D07}"/>
              </a:ext>
            </a:extLst>
          </p:cNvPr>
          <p:cNvSpPr txBox="1"/>
          <p:nvPr/>
        </p:nvSpPr>
        <p:spPr>
          <a:xfrm>
            <a:off x="310243" y="370113"/>
            <a:ext cx="3080330" cy="369332"/>
          </a:xfrm>
          <a:prstGeom prst="rect">
            <a:avLst/>
          </a:prstGeom>
          <a:noFill/>
        </p:spPr>
        <p:txBody>
          <a:bodyPr wrap="none" rtlCol="0">
            <a:spAutoFit/>
          </a:bodyPr>
          <a:lstStyle/>
          <a:p>
            <a:r>
              <a:rPr lang="en-CH" dirty="0"/>
              <a:t>increasing </a:t>
            </a:r>
            <a:r>
              <a:rPr lang="en-CH" dirty="0" err="1"/>
              <a:t>dnoise</a:t>
            </a:r>
            <a:r>
              <a:rPr lang="en-CH" dirty="0"/>
              <a:t> from 1.5 to 3</a:t>
            </a:r>
          </a:p>
        </p:txBody>
      </p:sp>
    </p:spTree>
    <p:extLst>
      <p:ext uri="{BB962C8B-B14F-4D97-AF65-F5344CB8AC3E}">
        <p14:creationId xmlns:p14="http://schemas.microsoft.com/office/powerpoint/2010/main" val="3251492409"/>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DDC3E80-ACBD-8A1A-B83B-F5D9D7878C19}"/>
              </a:ext>
            </a:extLst>
          </p:cNvPr>
          <p:cNvPicPr>
            <a:picLocks noChangeAspect="1"/>
          </p:cNvPicPr>
          <p:nvPr/>
        </p:nvPicPr>
        <p:blipFill>
          <a:blip r:embed="rId2"/>
          <a:stretch>
            <a:fillRect/>
          </a:stretch>
        </p:blipFill>
        <p:spPr>
          <a:xfrm>
            <a:off x="0" y="2085245"/>
            <a:ext cx="12192000" cy="2687510"/>
          </a:xfrm>
          <a:prstGeom prst="rect">
            <a:avLst/>
          </a:prstGeom>
        </p:spPr>
      </p:pic>
    </p:spTree>
    <p:extLst>
      <p:ext uri="{BB962C8B-B14F-4D97-AF65-F5344CB8AC3E}">
        <p14:creationId xmlns:p14="http://schemas.microsoft.com/office/powerpoint/2010/main" val="1185674011"/>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D67206A-6D44-5DCF-F501-5E0191E9B9D9}"/>
              </a:ext>
            </a:extLst>
          </p:cNvPr>
          <p:cNvPicPr>
            <a:picLocks noChangeAspect="1"/>
          </p:cNvPicPr>
          <p:nvPr/>
        </p:nvPicPr>
        <p:blipFill>
          <a:blip r:embed="rId2"/>
          <a:stretch>
            <a:fillRect/>
          </a:stretch>
        </p:blipFill>
        <p:spPr>
          <a:xfrm>
            <a:off x="396339" y="70758"/>
            <a:ext cx="5590804" cy="4597090"/>
          </a:xfrm>
          <a:prstGeom prst="rect">
            <a:avLst/>
          </a:prstGeom>
        </p:spPr>
      </p:pic>
      <p:pic>
        <p:nvPicPr>
          <p:cNvPr id="3" name="Picture 2">
            <a:extLst>
              <a:ext uri="{FF2B5EF4-FFF2-40B4-BE49-F238E27FC236}">
                <a16:creationId xmlns:a16="http://schemas.microsoft.com/office/drawing/2014/main" id="{0FE67298-0DCF-0BA1-8B05-5E267D1CD114}"/>
              </a:ext>
            </a:extLst>
          </p:cNvPr>
          <p:cNvPicPr>
            <a:picLocks noChangeAspect="1"/>
          </p:cNvPicPr>
          <p:nvPr/>
        </p:nvPicPr>
        <p:blipFill>
          <a:blip r:embed="rId3"/>
          <a:stretch>
            <a:fillRect/>
          </a:stretch>
        </p:blipFill>
        <p:spPr>
          <a:xfrm>
            <a:off x="5912534" y="1578228"/>
            <a:ext cx="5740000" cy="4889445"/>
          </a:xfrm>
          <a:prstGeom prst="rect">
            <a:avLst/>
          </a:prstGeom>
        </p:spPr>
      </p:pic>
    </p:spTree>
    <p:extLst>
      <p:ext uri="{BB962C8B-B14F-4D97-AF65-F5344CB8AC3E}">
        <p14:creationId xmlns:p14="http://schemas.microsoft.com/office/powerpoint/2010/main" val="3717788435"/>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D7430E0-3630-89B1-EBD9-D5490A31FF46}"/>
              </a:ext>
            </a:extLst>
          </p:cNvPr>
          <p:cNvPicPr>
            <a:picLocks noChangeAspect="1"/>
          </p:cNvPicPr>
          <p:nvPr/>
        </p:nvPicPr>
        <p:blipFill>
          <a:blip r:embed="rId2"/>
          <a:stretch>
            <a:fillRect/>
          </a:stretch>
        </p:blipFill>
        <p:spPr>
          <a:xfrm>
            <a:off x="2064202" y="658586"/>
            <a:ext cx="6964786" cy="5225143"/>
          </a:xfrm>
          <a:prstGeom prst="rect">
            <a:avLst/>
          </a:prstGeom>
        </p:spPr>
      </p:pic>
    </p:spTree>
    <p:extLst>
      <p:ext uri="{BB962C8B-B14F-4D97-AF65-F5344CB8AC3E}">
        <p14:creationId xmlns:p14="http://schemas.microsoft.com/office/powerpoint/2010/main" val="1194736698"/>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7F1DB54-571D-0AB7-6A21-A848EFEE4173}"/>
              </a:ext>
            </a:extLst>
          </p:cNvPr>
          <p:cNvPicPr>
            <a:picLocks noChangeAspect="1"/>
          </p:cNvPicPr>
          <p:nvPr/>
        </p:nvPicPr>
        <p:blipFill>
          <a:blip r:embed="rId2"/>
          <a:stretch>
            <a:fillRect/>
          </a:stretch>
        </p:blipFill>
        <p:spPr>
          <a:xfrm>
            <a:off x="4282357" y="582385"/>
            <a:ext cx="7082330" cy="5793013"/>
          </a:xfrm>
          <a:prstGeom prst="rect">
            <a:avLst/>
          </a:prstGeom>
        </p:spPr>
      </p:pic>
      <p:sp>
        <p:nvSpPr>
          <p:cNvPr id="3" name="TextBox 2">
            <a:extLst>
              <a:ext uri="{FF2B5EF4-FFF2-40B4-BE49-F238E27FC236}">
                <a16:creationId xmlns:a16="http://schemas.microsoft.com/office/drawing/2014/main" id="{DD5483EC-4F99-A4CA-CA14-63B263F74CE8}"/>
              </a:ext>
            </a:extLst>
          </p:cNvPr>
          <p:cNvSpPr txBox="1"/>
          <p:nvPr/>
        </p:nvSpPr>
        <p:spPr>
          <a:xfrm>
            <a:off x="457200" y="723900"/>
            <a:ext cx="2188029" cy="1200329"/>
          </a:xfrm>
          <a:prstGeom prst="rect">
            <a:avLst/>
          </a:prstGeom>
          <a:noFill/>
        </p:spPr>
        <p:txBody>
          <a:bodyPr wrap="square" rtlCol="0">
            <a:spAutoFit/>
          </a:bodyPr>
          <a:lstStyle/>
          <a:p>
            <a:r>
              <a:rPr lang="en-CH" dirty="0"/>
              <a:t>Pre-cue after revision: boost to strength of encoding into FX</a:t>
            </a:r>
          </a:p>
        </p:txBody>
      </p:sp>
    </p:spTree>
    <p:extLst>
      <p:ext uri="{BB962C8B-B14F-4D97-AF65-F5344CB8AC3E}">
        <p14:creationId xmlns:p14="http://schemas.microsoft.com/office/powerpoint/2010/main" val="3413592005"/>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DDC1FA86-11FE-B0A8-0167-DC528FEDE9D2}"/>
              </a:ext>
            </a:extLst>
          </p:cNvPr>
          <p:cNvPicPr>
            <a:picLocks noChangeAspect="1"/>
          </p:cNvPicPr>
          <p:nvPr/>
        </p:nvPicPr>
        <p:blipFill>
          <a:blip r:embed="rId2"/>
          <a:stretch>
            <a:fillRect/>
          </a:stretch>
        </p:blipFill>
        <p:spPr>
          <a:xfrm>
            <a:off x="2728846" y="233056"/>
            <a:ext cx="7415443" cy="6260273"/>
          </a:xfrm>
          <a:prstGeom prst="rect">
            <a:avLst/>
          </a:prstGeom>
        </p:spPr>
      </p:pic>
    </p:spTree>
    <p:extLst>
      <p:ext uri="{BB962C8B-B14F-4D97-AF65-F5344CB8AC3E}">
        <p14:creationId xmlns:p14="http://schemas.microsoft.com/office/powerpoint/2010/main" val="1956914726"/>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1247ED6-319F-371F-9D8C-92D3AF284DC1}"/>
              </a:ext>
            </a:extLst>
          </p:cNvPr>
          <p:cNvPicPr>
            <a:picLocks noChangeAspect="1"/>
          </p:cNvPicPr>
          <p:nvPr/>
        </p:nvPicPr>
        <p:blipFill>
          <a:blip r:embed="rId2"/>
          <a:stretch>
            <a:fillRect/>
          </a:stretch>
        </p:blipFill>
        <p:spPr>
          <a:xfrm>
            <a:off x="277585" y="1279762"/>
            <a:ext cx="6351816" cy="4659848"/>
          </a:xfrm>
          <a:prstGeom prst="rect">
            <a:avLst/>
          </a:prstGeom>
        </p:spPr>
      </p:pic>
      <p:sp>
        <p:nvSpPr>
          <p:cNvPr id="3" name="TextBox 2">
            <a:extLst>
              <a:ext uri="{FF2B5EF4-FFF2-40B4-BE49-F238E27FC236}">
                <a16:creationId xmlns:a16="http://schemas.microsoft.com/office/drawing/2014/main" id="{B3BE5121-31B2-9244-2CD6-768F65BFCB9C}"/>
              </a:ext>
            </a:extLst>
          </p:cNvPr>
          <p:cNvSpPr txBox="1"/>
          <p:nvPr/>
        </p:nvSpPr>
        <p:spPr>
          <a:xfrm>
            <a:off x="424543" y="680357"/>
            <a:ext cx="11217728" cy="369332"/>
          </a:xfrm>
          <a:prstGeom prst="rect">
            <a:avLst/>
          </a:prstGeom>
          <a:noFill/>
        </p:spPr>
        <p:txBody>
          <a:bodyPr wrap="square" rtlCol="0">
            <a:spAutoFit/>
          </a:bodyPr>
          <a:lstStyle/>
          <a:p>
            <a:r>
              <a:rPr lang="en-CH" dirty="0"/>
              <a:t>After letting only 1 retrieval happen, either upon retro cue or upon test (i.e., removing the second retrieval at test)</a:t>
            </a:r>
          </a:p>
        </p:txBody>
      </p:sp>
      <p:pic>
        <p:nvPicPr>
          <p:cNvPr id="4" name="Picture 3">
            <a:extLst>
              <a:ext uri="{FF2B5EF4-FFF2-40B4-BE49-F238E27FC236}">
                <a16:creationId xmlns:a16="http://schemas.microsoft.com/office/drawing/2014/main" id="{0C73C3D0-4545-007A-ADA2-6D405C545474}"/>
              </a:ext>
            </a:extLst>
          </p:cNvPr>
          <p:cNvPicPr>
            <a:picLocks noChangeAspect="1"/>
          </p:cNvPicPr>
          <p:nvPr/>
        </p:nvPicPr>
        <p:blipFill>
          <a:blip r:embed="rId3"/>
          <a:stretch>
            <a:fillRect/>
          </a:stretch>
        </p:blipFill>
        <p:spPr>
          <a:xfrm>
            <a:off x="6380994" y="1219200"/>
            <a:ext cx="5811045" cy="4659848"/>
          </a:xfrm>
          <a:prstGeom prst="rect">
            <a:avLst/>
          </a:prstGeom>
        </p:spPr>
      </p:pic>
    </p:spTree>
    <p:extLst>
      <p:ext uri="{BB962C8B-B14F-4D97-AF65-F5344CB8AC3E}">
        <p14:creationId xmlns:p14="http://schemas.microsoft.com/office/powerpoint/2010/main" val="1414367966"/>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BDEB4D1-4942-FF8C-4983-1FA72D8342F6}"/>
              </a:ext>
            </a:extLst>
          </p:cNvPr>
          <p:cNvSpPr txBox="1"/>
          <p:nvPr/>
        </p:nvSpPr>
        <p:spPr>
          <a:xfrm>
            <a:off x="685800" y="838200"/>
            <a:ext cx="4190827" cy="369332"/>
          </a:xfrm>
          <a:prstGeom prst="rect">
            <a:avLst/>
          </a:prstGeom>
          <a:noFill/>
        </p:spPr>
        <p:txBody>
          <a:bodyPr wrap="none" rtlCol="0">
            <a:spAutoFit/>
          </a:bodyPr>
          <a:lstStyle/>
          <a:p>
            <a:r>
              <a:rPr lang="en-CH" dirty="0"/>
              <a:t>rolling back that change did not help much</a:t>
            </a:r>
          </a:p>
        </p:txBody>
      </p:sp>
      <p:pic>
        <p:nvPicPr>
          <p:cNvPr id="3" name="Picture 2">
            <a:extLst>
              <a:ext uri="{FF2B5EF4-FFF2-40B4-BE49-F238E27FC236}">
                <a16:creationId xmlns:a16="http://schemas.microsoft.com/office/drawing/2014/main" id="{4BC943C9-2850-48C5-9E43-B3B008E9DCA1}"/>
              </a:ext>
            </a:extLst>
          </p:cNvPr>
          <p:cNvPicPr>
            <a:picLocks noChangeAspect="1"/>
          </p:cNvPicPr>
          <p:nvPr/>
        </p:nvPicPr>
        <p:blipFill>
          <a:blip r:embed="rId2"/>
          <a:stretch>
            <a:fillRect/>
          </a:stretch>
        </p:blipFill>
        <p:spPr>
          <a:xfrm>
            <a:off x="-46735" y="1247196"/>
            <a:ext cx="7151584" cy="5241471"/>
          </a:xfrm>
          <a:prstGeom prst="rect">
            <a:avLst/>
          </a:prstGeom>
        </p:spPr>
      </p:pic>
    </p:spTree>
    <p:extLst>
      <p:ext uri="{BB962C8B-B14F-4D97-AF65-F5344CB8AC3E}">
        <p14:creationId xmlns:p14="http://schemas.microsoft.com/office/powerpoint/2010/main" val="41787432"/>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854C0199-9A10-510A-E562-7D0398D11BD9}"/>
              </a:ext>
            </a:extLst>
          </p:cNvPr>
          <p:cNvSpPr txBox="1"/>
          <p:nvPr/>
        </p:nvSpPr>
        <p:spPr>
          <a:xfrm>
            <a:off x="631371" y="658586"/>
            <a:ext cx="4572000" cy="646331"/>
          </a:xfrm>
          <a:prstGeom prst="rect">
            <a:avLst/>
          </a:prstGeom>
          <a:noFill/>
        </p:spPr>
        <p:txBody>
          <a:bodyPr wrap="square" rtlCol="0">
            <a:spAutoFit/>
          </a:bodyPr>
          <a:lstStyle/>
          <a:p>
            <a:r>
              <a:rPr lang="en-CH" dirty="0"/>
              <a:t>After fixing the decay of W to time-based rather timestep-based, and doubling </a:t>
            </a:r>
            <a:r>
              <a:rPr lang="en-CH" dirty="0" err="1"/>
              <a:t>wnoise</a:t>
            </a:r>
            <a:r>
              <a:rPr lang="en-CH" dirty="0"/>
              <a:t>: </a:t>
            </a:r>
          </a:p>
        </p:txBody>
      </p:sp>
      <p:pic>
        <p:nvPicPr>
          <p:cNvPr id="7" name="Picture 6">
            <a:extLst>
              <a:ext uri="{FF2B5EF4-FFF2-40B4-BE49-F238E27FC236}">
                <a16:creationId xmlns:a16="http://schemas.microsoft.com/office/drawing/2014/main" id="{B2408CC2-811D-EDFA-A94D-D03EAA32C105}"/>
              </a:ext>
            </a:extLst>
          </p:cNvPr>
          <p:cNvPicPr>
            <a:picLocks noChangeAspect="1"/>
          </p:cNvPicPr>
          <p:nvPr/>
        </p:nvPicPr>
        <p:blipFill>
          <a:blip r:embed="rId2"/>
          <a:stretch>
            <a:fillRect/>
          </a:stretch>
        </p:blipFill>
        <p:spPr>
          <a:xfrm>
            <a:off x="221462" y="1245046"/>
            <a:ext cx="6101067" cy="4740729"/>
          </a:xfrm>
          <a:prstGeom prst="rect">
            <a:avLst/>
          </a:prstGeom>
        </p:spPr>
      </p:pic>
      <p:sp>
        <p:nvSpPr>
          <p:cNvPr id="8" name="TextBox 7">
            <a:extLst>
              <a:ext uri="{FF2B5EF4-FFF2-40B4-BE49-F238E27FC236}">
                <a16:creationId xmlns:a16="http://schemas.microsoft.com/office/drawing/2014/main" id="{CC93CC1A-D965-A7EF-F2CA-3F8B04B2BB22}"/>
              </a:ext>
            </a:extLst>
          </p:cNvPr>
          <p:cNvSpPr txBox="1"/>
          <p:nvPr/>
        </p:nvSpPr>
        <p:spPr>
          <a:xfrm>
            <a:off x="800100" y="5943600"/>
            <a:ext cx="6335486" cy="369332"/>
          </a:xfrm>
          <a:prstGeom prst="rect">
            <a:avLst/>
          </a:prstGeom>
          <a:noFill/>
        </p:spPr>
        <p:txBody>
          <a:bodyPr wrap="square" rtlCol="0">
            <a:spAutoFit/>
          </a:bodyPr>
          <a:lstStyle/>
          <a:p>
            <a:r>
              <a:rPr lang="en-CH" dirty="0"/>
              <a:t>But increasing </a:t>
            </a:r>
            <a:r>
              <a:rPr lang="en-CH" dirty="0" err="1"/>
              <a:t>wnoise</a:t>
            </a:r>
            <a:r>
              <a:rPr lang="en-CH" dirty="0"/>
              <a:t> that much destroys guided refreshing </a:t>
            </a:r>
          </a:p>
        </p:txBody>
      </p:sp>
      <p:sp>
        <p:nvSpPr>
          <p:cNvPr id="9" name="TextBox 8">
            <a:extLst>
              <a:ext uri="{FF2B5EF4-FFF2-40B4-BE49-F238E27FC236}">
                <a16:creationId xmlns:a16="http://schemas.microsoft.com/office/drawing/2014/main" id="{DDFA18F8-D063-DA82-4510-A2AA6ECAB3DF}"/>
              </a:ext>
            </a:extLst>
          </p:cNvPr>
          <p:cNvSpPr txBox="1"/>
          <p:nvPr/>
        </p:nvSpPr>
        <p:spPr>
          <a:xfrm>
            <a:off x="6950528" y="613675"/>
            <a:ext cx="4572000" cy="2308324"/>
          </a:xfrm>
          <a:prstGeom prst="rect">
            <a:avLst/>
          </a:prstGeom>
          <a:noFill/>
        </p:spPr>
        <p:txBody>
          <a:bodyPr wrap="square" rtlCol="0">
            <a:spAutoFit/>
          </a:bodyPr>
          <a:lstStyle/>
          <a:p>
            <a:r>
              <a:rPr lang="en-CH" dirty="0"/>
              <a:t>Problem: The Hautekiet &amp; Oberauer experiment uses no test-display interference, and hence, FX is not erased. It also hardly decays at set size 5, and is therefore well available at 1 second. Thereby, there is hardly any decay between 1 and 3 s. There is also little retro-cue effect because the retro-cue is not needed for protection against decay. </a:t>
            </a:r>
          </a:p>
        </p:txBody>
      </p:sp>
    </p:spTree>
    <p:extLst>
      <p:ext uri="{BB962C8B-B14F-4D97-AF65-F5344CB8AC3E}">
        <p14:creationId xmlns:p14="http://schemas.microsoft.com/office/powerpoint/2010/main" val="1792545921"/>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F5EDED6-79FC-D0D5-FE63-A90544DE0898}"/>
              </a:ext>
            </a:extLst>
          </p:cNvPr>
          <p:cNvPicPr>
            <a:picLocks noChangeAspect="1"/>
          </p:cNvPicPr>
          <p:nvPr/>
        </p:nvPicPr>
        <p:blipFill>
          <a:blip r:embed="rId2"/>
          <a:stretch>
            <a:fillRect/>
          </a:stretch>
        </p:blipFill>
        <p:spPr>
          <a:xfrm>
            <a:off x="-111243" y="544285"/>
            <a:ext cx="6574177" cy="4893129"/>
          </a:xfrm>
          <a:prstGeom prst="rect">
            <a:avLst/>
          </a:prstGeom>
        </p:spPr>
      </p:pic>
      <p:pic>
        <p:nvPicPr>
          <p:cNvPr id="4" name="Picture 3">
            <a:extLst>
              <a:ext uri="{FF2B5EF4-FFF2-40B4-BE49-F238E27FC236}">
                <a16:creationId xmlns:a16="http://schemas.microsoft.com/office/drawing/2014/main" id="{FE7DB0C5-6FB9-A46E-D660-69ACA19715B6}"/>
              </a:ext>
            </a:extLst>
          </p:cNvPr>
          <p:cNvPicPr>
            <a:picLocks noChangeAspect="1"/>
          </p:cNvPicPr>
          <p:nvPr/>
        </p:nvPicPr>
        <p:blipFill>
          <a:blip r:embed="rId3"/>
          <a:stretch>
            <a:fillRect/>
          </a:stretch>
        </p:blipFill>
        <p:spPr>
          <a:xfrm>
            <a:off x="5820648" y="2661556"/>
            <a:ext cx="6489715" cy="3891643"/>
          </a:xfrm>
          <a:prstGeom prst="rect">
            <a:avLst/>
          </a:prstGeom>
        </p:spPr>
      </p:pic>
    </p:spTree>
    <p:extLst>
      <p:ext uri="{BB962C8B-B14F-4D97-AF65-F5344CB8AC3E}">
        <p14:creationId xmlns:p14="http://schemas.microsoft.com/office/powerpoint/2010/main" val="2014650610"/>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F4AAA616-E7AF-4497-2EDD-54F9DBD6C734}"/>
              </a:ext>
            </a:extLst>
          </p:cNvPr>
          <p:cNvPicPr>
            <a:picLocks noChangeAspect="1"/>
          </p:cNvPicPr>
          <p:nvPr/>
        </p:nvPicPr>
        <p:blipFill>
          <a:blip r:embed="rId2"/>
          <a:stretch>
            <a:fillRect/>
          </a:stretch>
        </p:blipFill>
        <p:spPr>
          <a:xfrm>
            <a:off x="141970" y="304800"/>
            <a:ext cx="5857363" cy="4011386"/>
          </a:xfrm>
          <a:prstGeom prst="rect">
            <a:avLst/>
          </a:prstGeom>
        </p:spPr>
      </p:pic>
      <p:pic>
        <p:nvPicPr>
          <p:cNvPr id="3" name="Picture 2">
            <a:extLst>
              <a:ext uri="{FF2B5EF4-FFF2-40B4-BE49-F238E27FC236}">
                <a16:creationId xmlns:a16="http://schemas.microsoft.com/office/drawing/2014/main" id="{5EAB334D-7C84-B320-CCF7-6778C60DACBD}"/>
              </a:ext>
            </a:extLst>
          </p:cNvPr>
          <p:cNvPicPr>
            <a:picLocks noChangeAspect="1"/>
          </p:cNvPicPr>
          <p:nvPr/>
        </p:nvPicPr>
        <p:blipFill>
          <a:blip r:embed="rId3"/>
          <a:stretch>
            <a:fillRect/>
          </a:stretch>
        </p:blipFill>
        <p:spPr>
          <a:xfrm>
            <a:off x="5520432" y="2129802"/>
            <a:ext cx="6774983" cy="4532255"/>
          </a:xfrm>
          <a:prstGeom prst="rect">
            <a:avLst/>
          </a:prstGeom>
        </p:spPr>
      </p:pic>
    </p:spTree>
    <p:extLst>
      <p:ext uri="{BB962C8B-B14F-4D97-AF65-F5344CB8AC3E}">
        <p14:creationId xmlns:p14="http://schemas.microsoft.com/office/powerpoint/2010/main" val="1686252186"/>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103753</TotalTime>
  <Words>1050</Words>
  <Application>Microsoft Office PowerPoint</Application>
  <PresentationFormat>Widescreen</PresentationFormat>
  <Paragraphs>78</Paragraphs>
  <Slides>132</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132</vt:i4>
      </vt:variant>
    </vt:vector>
  </HeadingPairs>
  <TitlesOfParts>
    <vt:vector size="137" baseType="lpstr">
      <vt:lpstr>Arial</vt:lpstr>
      <vt:lpstr>Calibri</vt:lpstr>
      <vt:lpstr>Calibri Light</vt:lpstr>
      <vt:lpstr>Wingdings</vt:lpstr>
      <vt:lpstr>Office Theme</vt:lpstr>
      <vt:lpstr>IM Simulation </vt:lpstr>
      <vt:lpstr>From Previous Versions:  Effect of Pbase and Delta on SPC</vt:lpstr>
      <vt:lpstr>PowerPoint Presentation</vt:lpstr>
      <vt:lpstr>PowerPoint Presentation</vt:lpstr>
      <vt:lpstr>PowerPoint Presentation</vt:lpstr>
      <vt:lpstr>From Previous Versions:  Parametric variations of parameters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This Version: Parametric Variations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This Version: Experiments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Klaus Oberauer</dc:creator>
  <cp:lastModifiedBy>Klaus Oberauer</cp:lastModifiedBy>
  <cp:revision>264</cp:revision>
  <dcterms:created xsi:type="dcterms:W3CDTF">2024-08-13T19:20:17Z</dcterms:created>
  <dcterms:modified xsi:type="dcterms:W3CDTF">2026-06-19T10:17:14Z</dcterms:modified>
</cp:coreProperties>
</file>
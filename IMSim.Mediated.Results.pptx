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32" r:id="rId144"/>
    <p:sldId id="522" r:id="rId145"/>
    <p:sldId id="533" r:id="rId146"/>
    <p:sldId id="534" r:id="rId147"/>
    <p:sldId id="538" r:id="rId148"/>
    <p:sldId id="541" r:id="rId149"/>
    <p:sldId id="542" r:id="rId150"/>
    <p:sldId id="543" r:id="rId151"/>
    <p:sldId id="527" r:id="rId152"/>
    <p:sldId id="537" r:id="rId153"/>
    <p:sldId id="529" r:id="rId154"/>
    <p:sldId id="536" r:id="rId155"/>
    <p:sldId id="523" r:id="rId156"/>
    <p:sldId id="531" r:id="rId157"/>
    <p:sldId id="535" r:id="rId158"/>
    <p:sldId id="524" r:id="rId159"/>
    <p:sldId id="525" r:id="rId160"/>
    <p:sldId id="539" r:id="rId161"/>
    <p:sldId id="519" r:id="rId162"/>
    <p:sldId id="520" r:id="rId163"/>
    <p:sldId id="521" r:id="rId164"/>
    <p:sldId id="540" r:id="rId165"/>
    <p:sldId id="528" r:id="rId166"/>
    <p:sldId id="530" r:id="rId167"/>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81" d="100"/>
          <a:sy n="81" d="100"/>
        </p:scale>
        <p:origin x="45" y="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0"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16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10/09/2026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0.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3.png"/><Relationship Id="rId1" Type="http://schemas.openxmlformats.org/officeDocument/2006/relationships/slideLayout" Target="../slideLayouts/slideLayout7.xml"/><Relationship Id="rId4" Type="http://schemas.openxmlformats.org/officeDocument/2006/relationships/image" Target="../media/image225.png"/></Relationships>
</file>

<file path=ppt/slides/_rels/slide154.xml.rels><?xml version="1.0" encoding="UTF-8" standalone="yes"?>
<Relationships xmlns="http://schemas.openxmlformats.org/package/2006/relationships"><Relationship Id="rId3" Type="http://schemas.openxmlformats.org/officeDocument/2006/relationships/image" Target="../media/image227.png"/><Relationship Id="rId2" Type="http://schemas.openxmlformats.org/officeDocument/2006/relationships/image" Target="../media/image226.png"/><Relationship Id="rId1" Type="http://schemas.openxmlformats.org/officeDocument/2006/relationships/slideLayout" Target="../slideLayouts/slideLayout7.xml"/><Relationship Id="rId5" Type="http://schemas.openxmlformats.org/officeDocument/2006/relationships/image" Target="../media/image229.png"/><Relationship Id="rId4" Type="http://schemas.openxmlformats.org/officeDocument/2006/relationships/image" Target="../media/image228.png"/></Relationships>
</file>

<file path=ppt/slides/_rels/slide155.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image" Target="../media/image231.png"/><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3" Type="http://schemas.openxmlformats.org/officeDocument/2006/relationships/image" Target="../media/image234.png"/><Relationship Id="rId2" Type="http://schemas.openxmlformats.org/officeDocument/2006/relationships/image" Target="../media/image233.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237.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239.png"/><Relationship Id="rId2" Type="http://schemas.openxmlformats.org/officeDocument/2006/relationships/image" Target="../media/image238.png"/><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image" Target="../media/image240.png"/><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3" Type="http://schemas.openxmlformats.org/officeDocument/2006/relationships/image" Target="../media/image243.png"/><Relationship Id="rId2" Type="http://schemas.openxmlformats.org/officeDocument/2006/relationships/image" Target="../media/image242.png"/><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247.png"/><Relationship Id="rId2" Type="http://schemas.openxmlformats.org/officeDocument/2006/relationships/image" Target="../media/image246.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2" Type="http://schemas.openxmlformats.org/officeDocument/2006/relationships/image" Target="../media/image24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8DF0A1-B44F-033C-6871-991332DFD55F}"/>
              </a:ext>
            </a:extLst>
          </p:cNvPr>
          <p:cNvPicPr>
            <a:picLocks noChangeAspect="1"/>
          </p:cNvPicPr>
          <p:nvPr/>
        </p:nvPicPr>
        <p:blipFill>
          <a:blip r:embed="rId2"/>
          <a:stretch>
            <a:fillRect/>
          </a:stretch>
        </p:blipFill>
        <p:spPr>
          <a:xfrm>
            <a:off x="1289112" y="132348"/>
            <a:ext cx="9003903" cy="6359279"/>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0996015-75E2-08C1-690E-7DF0E68B0356}"/>
              </a:ext>
            </a:extLst>
          </p:cNvPr>
          <p:cNvPicPr>
            <a:picLocks noChangeAspect="1"/>
          </p:cNvPicPr>
          <p:nvPr/>
        </p:nvPicPr>
        <p:blipFill>
          <a:blip r:embed="rId2"/>
          <a:stretch>
            <a:fillRect/>
          </a:stretch>
        </p:blipFill>
        <p:spPr>
          <a:xfrm>
            <a:off x="0" y="1818570"/>
            <a:ext cx="6334125" cy="4552950"/>
          </a:xfrm>
          <a:prstGeom prst="rect">
            <a:avLst/>
          </a:prstGeom>
        </p:spPr>
      </p:pic>
      <p:sp>
        <p:nvSpPr>
          <p:cNvPr id="5" name="TextBox 4">
            <a:extLst>
              <a:ext uri="{FF2B5EF4-FFF2-40B4-BE49-F238E27FC236}">
                <a16:creationId xmlns:a16="http://schemas.microsoft.com/office/drawing/2014/main" id="{B9CA9FD3-1FF2-7059-C26B-0D3371E94B81}"/>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6" name="Picture 5">
            <a:extLst>
              <a:ext uri="{FF2B5EF4-FFF2-40B4-BE49-F238E27FC236}">
                <a16:creationId xmlns:a16="http://schemas.microsoft.com/office/drawing/2014/main" id="{9F7DF704-2370-6FE2-B5D1-F88D6886DCD6}"/>
              </a:ext>
            </a:extLst>
          </p:cNvPr>
          <p:cNvPicPr>
            <a:picLocks noChangeAspect="1"/>
          </p:cNvPicPr>
          <p:nvPr/>
        </p:nvPicPr>
        <p:blipFill>
          <a:blip r:embed="rId3"/>
          <a:stretch>
            <a:fillRect/>
          </a:stretch>
        </p:blipFill>
        <p:spPr>
          <a:xfrm>
            <a:off x="5791553" y="1818570"/>
            <a:ext cx="6147768" cy="4552950"/>
          </a:xfrm>
          <a:prstGeom prst="rect">
            <a:avLst/>
          </a:prstGeom>
        </p:spPr>
      </p:pic>
    </p:spTree>
    <p:extLst>
      <p:ext uri="{BB962C8B-B14F-4D97-AF65-F5344CB8AC3E}">
        <p14:creationId xmlns:p14="http://schemas.microsoft.com/office/powerpoint/2010/main" val="706642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2855D14-7F2B-918D-4DC6-891E6B5B076A}"/>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2" name="Picture 1">
            <a:extLst>
              <a:ext uri="{FF2B5EF4-FFF2-40B4-BE49-F238E27FC236}">
                <a16:creationId xmlns:a16="http://schemas.microsoft.com/office/drawing/2014/main" id="{A6D9300E-E8A6-AD55-0DB3-542D3149C3DE}"/>
              </a:ext>
            </a:extLst>
          </p:cNvPr>
          <p:cNvPicPr>
            <a:picLocks noChangeAspect="1"/>
          </p:cNvPicPr>
          <p:nvPr/>
        </p:nvPicPr>
        <p:blipFill>
          <a:blip r:embed="rId2"/>
          <a:stretch>
            <a:fillRect/>
          </a:stretch>
        </p:blipFill>
        <p:spPr>
          <a:xfrm>
            <a:off x="-107576" y="1411640"/>
            <a:ext cx="6696075" cy="5095875"/>
          </a:xfrm>
          <a:prstGeom prst="rect">
            <a:avLst/>
          </a:prstGeom>
        </p:spPr>
      </p:pic>
      <p:pic>
        <p:nvPicPr>
          <p:cNvPr id="4" name="Picture 3">
            <a:extLst>
              <a:ext uri="{FF2B5EF4-FFF2-40B4-BE49-F238E27FC236}">
                <a16:creationId xmlns:a16="http://schemas.microsoft.com/office/drawing/2014/main" id="{798DF69C-F750-6523-55A8-0FBC7DFE9BE8}"/>
              </a:ext>
            </a:extLst>
          </p:cNvPr>
          <p:cNvPicPr>
            <a:picLocks noChangeAspect="1"/>
          </p:cNvPicPr>
          <p:nvPr/>
        </p:nvPicPr>
        <p:blipFill>
          <a:blip r:embed="rId3"/>
          <a:stretch>
            <a:fillRect/>
          </a:stretch>
        </p:blipFill>
        <p:spPr>
          <a:xfrm>
            <a:off x="6096000" y="1411640"/>
            <a:ext cx="6534150" cy="4895850"/>
          </a:xfrm>
          <a:prstGeom prst="rect">
            <a:avLst/>
          </a:prstGeom>
        </p:spPr>
      </p:pic>
    </p:spTree>
    <p:extLst>
      <p:ext uri="{BB962C8B-B14F-4D97-AF65-F5344CB8AC3E}">
        <p14:creationId xmlns:p14="http://schemas.microsoft.com/office/powerpoint/2010/main" val="6618212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3F2F6B-25FC-6991-B6A9-552B61247132}"/>
              </a:ext>
            </a:extLst>
          </p:cNvPr>
          <p:cNvPicPr>
            <a:picLocks noChangeAspect="1"/>
          </p:cNvPicPr>
          <p:nvPr/>
        </p:nvPicPr>
        <p:blipFill>
          <a:blip r:embed="rId2"/>
          <a:stretch>
            <a:fillRect/>
          </a:stretch>
        </p:blipFill>
        <p:spPr>
          <a:xfrm>
            <a:off x="2781300" y="862012"/>
            <a:ext cx="6629400" cy="5133975"/>
          </a:xfrm>
          <a:prstGeom prst="rect">
            <a:avLst/>
          </a:prstGeom>
        </p:spPr>
      </p:pic>
    </p:spTree>
    <p:extLst>
      <p:ext uri="{BB962C8B-B14F-4D97-AF65-F5344CB8AC3E}">
        <p14:creationId xmlns:p14="http://schemas.microsoft.com/office/powerpoint/2010/main" val="26142105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CCA7E0-3717-5682-1898-38DBF7939DFE}"/>
              </a:ext>
            </a:extLst>
          </p:cNvPr>
          <p:cNvPicPr>
            <a:picLocks noChangeAspect="1"/>
          </p:cNvPicPr>
          <p:nvPr/>
        </p:nvPicPr>
        <p:blipFill>
          <a:blip r:embed="rId2"/>
          <a:stretch>
            <a:fillRect/>
          </a:stretch>
        </p:blipFill>
        <p:spPr>
          <a:xfrm>
            <a:off x="269854" y="742773"/>
            <a:ext cx="5826146" cy="4645908"/>
          </a:xfrm>
          <a:prstGeom prst="rect">
            <a:avLst/>
          </a:prstGeom>
        </p:spPr>
      </p:pic>
      <p:pic>
        <p:nvPicPr>
          <p:cNvPr id="3" name="Picture 2">
            <a:extLst>
              <a:ext uri="{FF2B5EF4-FFF2-40B4-BE49-F238E27FC236}">
                <a16:creationId xmlns:a16="http://schemas.microsoft.com/office/drawing/2014/main" id="{00AA8DA1-94E6-27B3-3AF5-C6589F2C3B0B}"/>
              </a:ext>
            </a:extLst>
          </p:cNvPr>
          <p:cNvPicPr>
            <a:picLocks noChangeAspect="1"/>
          </p:cNvPicPr>
          <p:nvPr/>
        </p:nvPicPr>
        <p:blipFill>
          <a:blip r:embed="rId3"/>
          <a:stretch>
            <a:fillRect/>
          </a:stretch>
        </p:blipFill>
        <p:spPr>
          <a:xfrm>
            <a:off x="6096000" y="599898"/>
            <a:ext cx="5625290" cy="4931657"/>
          </a:xfrm>
          <a:prstGeom prst="rect">
            <a:avLst/>
          </a:prstGeom>
        </p:spPr>
      </p:pic>
    </p:spTree>
    <p:extLst>
      <p:ext uri="{BB962C8B-B14F-4D97-AF65-F5344CB8AC3E}">
        <p14:creationId xmlns:p14="http://schemas.microsoft.com/office/powerpoint/2010/main" val="37789644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8D4CDC2-0211-EEBA-A2E5-1CC97F0D38E0}"/>
              </a:ext>
            </a:extLst>
          </p:cNvPr>
          <p:cNvSpPr txBox="1"/>
          <p:nvPr/>
        </p:nvSpPr>
        <p:spPr>
          <a:xfrm>
            <a:off x="859536" y="737616"/>
            <a:ext cx="5943487" cy="369332"/>
          </a:xfrm>
          <a:prstGeom prst="rect">
            <a:avLst/>
          </a:prstGeom>
          <a:noFill/>
        </p:spPr>
        <p:txBody>
          <a:bodyPr wrap="none" rtlCol="0">
            <a:spAutoFit/>
          </a:bodyPr>
          <a:lstStyle/>
          <a:p>
            <a:r>
              <a:rPr lang="en-CH" dirty="0"/>
              <a:t>Set Size, Change Detection (after reducing boundary(2) to 10)</a:t>
            </a:r>
          </a:p>
        </p:txBody>
      </p:sp>
      <p:pic>
        <p:nvPicPr>
          <p:cNvPr id="2" name="Picture 1">
            <a:extLst>
              <a:ext uri="{FF2B5EF4-FFF2-40B4-BE49-F238E27FC236}">
                <a16:creationId xmlns:a16="http://schemas.microsoft.com/office/drawing/2014/main" id="{28DF61AB-F56B-E3A2-7017-26D2188690C2}"/>
              </a:ext>
            </a:extLst>
          </p:cNvPr>
          <p:cNvPicPr>
            <a:picLocks noChangeAspect="1"/>
          </p:cNvPicPr>
          <p:nvPr/>
        </p:nvPicPr>
        <p:blipFill>
          <a:blip r:embed="rId2"/>
          <a:stretch>
            <a:fillRect/>
          </a:stretch>
        </p:blipFill>
        <p:spPr>
          <a:xfrm>
            <a:off x="373788" y="1582851"/>
            <a:ext cx="5885427" cy="4468565"/>
          </a:xfrm>
          <a:prstGeom prst="rect">
            <a:avLst/>
          </a:prstGeom>
        </p:spPr>
      </p:pic>
      <p:pic>
        <p:nvPicPr>
          <p:cNvPr id="3" name="Picture 2">
            <a:extLst>
              <a:ext uri="{FF2B5EF4-FFF2-40B4-BE49-F238E27FC236}">
                <a16:creationId xmlns:a16="http://schemas.microsoft.com/office/drawing/2014/main" id="{67C8CCDB-FB01-FD76-D2E1-062D4842D1D4}"/>
              </a:ext>
            </a:extLst>
          </p:cNvPr>
          <p:cNvPicPr>
            <a:picLocks noChangeAspect="1"/>
          </p:cNvPicPr>
          <p:nvPr/>
        </p:nvPicPr>
        <p:blipFill>
          <a:blip r:embed="rId3"/>
          <a:stretch>
            <a:fillRect/>
          </a:stretch>
        </p:blipFill>
        <p:spPr>
          <a:xfrm>
            <a:off x="6185473" y="1474930"/>
            <a:ext cx="5791200" cy="4486275"/>
          </a:xfrm>
          <a:prstGeom prst="rect">
            <a:avLst/>
          </a:prstGeom>
        </p:spPr>
      </p:pic>
    </p:spTree>
    <p:extLst>
      <p:ext uri="{BB962C8B-B14F-4D97-AF65-F5344CB8AC3E}">
        <p14:creationId xmlns:p14="http://schemas.microsoft.com/office/powerpoint/2010/main" val="22426297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4D39E6-9368-D25C-720D-960EACCD6C77}"/>
              </a:ext>
            </a:extLst>
          </p:cNvPr>
          <p:cNvPicPr>
            <a:picLocks noChangeAspect="1"/>
          </p:cNvPicPr>
          <p:nvPr/>
        </p:nvPicPr>
        <p:blipFill>
          <a:blip r:embed="rId2"/>
          <a:stretch>
            <a:fillRect/>
          </a:stretch>
        </p:blipFill>
        <p:spPr>
          <a:xfrm>
            <a:off x="212254" y="1472504"/>
            <a:ext cx="6210300" cy="4762500"/>
          </a:xfrm>
          <a:prstGeom prst="rect">
            <a:avLst/>
          </a:prstGeom>
        </p:spPr>
      </p:pic>
      <p:sp>
        <p:nvSpPr>
          <p:cNvPr id="3" name="TextBox 2">
            <a:extLst>
              <a:ext uri="{FF2B5EF4-FFF2-40B4-BE49-F238E27FC236}">
                <a16:creationId xmlns:a16="http://schemas.microsoft.com/office/drawing/2014/main" id="{87F75F49-2470-E1B9-32B9-10667EA2B6D3}"/>
              </a:ext>
            </a:extLst>
          </p:cNvPr>
          <p:cNvSpPr txBox="1"/>
          <p:nvPr/>
        </p:nvSpPr>
        <p:spPr>
          <a:xfrm>
            <a:off x="859536" y="737616"/>
            <a:ext cx="4598951" cy="369332"/>
          </a:xfrm>
          <a:prstGeom prst="rect">
            <a:avLst/>
          </a:prstGeom>
          <a:noFill/>
        </p:spPr>
        <p:txBody>
          <a:bodyPr wrap="none" rtlCol="0">
            <a:spAutoFit/>
          </a:bodyPr>
          <a:lstStyle/>
          <a:p>
            <a:r>
              <a:rPr lang="en-CH" dirty="0"/>
              <a:t>For comparison: Archive, Mediated (May 2026)</a:t>
            </a:r>
          </a:p>
        </p:txBody>
      </p:sp>
      <p:pic>
        <p:nvPicPr>
          <p:cNvPr id="4" name="Picture 3">
            <a:extLst>
              <a:ext uri="{FF2B5EF4-FFF2-40B4-BE49-F238E27FC236}">
                <a16:creationId xmlns:a16="http://schemas.microsoft.com/office/drawing/2014/main" id="{573DC4E6-5D3C-2643-04F4-7983867B011B}"/>
              </a:ext>
            </a:extLst>
          </p:cNvPr>
          <p:cNvPicPr>
            <a:picLocks noChangeAspect="1"/>
          </p:cNvPicPr>
          <p:nvPr/>
        </p:nvPicPr>
        <p:blipFill>
          <a:blip r:embed="rId3"/>
          <a:stretch>
            <a:fillRect/>
          </a:stretch>
        </p:blipFill>
        <p:spPr>
          <a:xfrm>
            <a:off x="6179206" y="1472504"/>
            <a:ext cx="6134100" cy="4467225"/>
          </a:xfrm>
          <a:prstGeom prst="rect">
            <a:avLst/>
          </a:prstGeom>
        </p:spPr>
      </p:pic>
    </p:spTree>
    <p:extLst>
      <p:ext uri="{BB962C8B-B14F-4D97-AF65-F5344CB8AC3E}">
        <p14:creationId xmlns:p14="http://schemas.microsoft.com/office/powerpoint/2010/main" val="223511836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7D869C2-D148-E39F-08A7-F458CA2F10C4}"/>
              </a:ext>
            </a:extLst>
          </p:cNvPr>
          <p:cNvPicPr>
            <a:picLocks noChangeAspect="1"/>
          </p:cNvPicPr>
          <p:nvPr/>
        </p:nvPicPr>
        <p:blipFill>
          <a:blip r:embed="rId2"/>
          <a:stretch>
            <a:fillRect/>
          </a:stretch>
        </p:blipFill>
        <p:spPr>
          <a:xfrm>
            <a:off x="131260" y="1487744"/>
            <a:ext cx="6011672" cy="4508754"/>
          </a:xfrm>
          <a:prstGeom prst="rect">
            <a:avLst/>
          </a:prstGeom>
        </p:spPr>
      </p:pic>
      <p:sp>
        <p:nvSpPr>
          <p:cNvPr id="3" name="TextBox 2">
            <a:extLst>
              <a:ext uri="{FF2B5EF4-FFF2-40B4-BE49-F238E27FC236}">
                <a16:creationId xmlns:a16="http://schemas.microsoft.com/office/drawing/2014/main" id="{72803830-66E8-D34D-2468-BEAE970668CF}"/>
              </a:ext>
            </a:extLst>
          </p:cNvPr>
          <p:cNvSpPr txBox="1"/>
          <p:nvPr/>
        </p:nvSpPr>
        <p:spPr>
          <a:xfrm>
            <a:off x="859536" y="737616"/>
            <a:ext cx="3835024" cy="369332"/>
          </a:xfrm>
          <a:prstGeom prst="rect">
            <a:avLst/>
          </a:prstGeom>
          <a:noFill/>
        </p:spPr>
        <p:txBody>
          <a:bodyPr wrap="none" rtlCol="0">
            <a:spAutoFit/>
          </a:bodyPr>
          <a:lstStyle/>
          <a:p>
            <a:r>
              <a:rPr lang="en-CH" dirty="0"/>
              <a:t>For comparison: Archive, March 2026</a:t>
            </a:r>
          </a:p>
        </p:txBody>
      </p:sp>
      <p:pic>
        <p:nvPicPr>
          <p:cNvPr id="5" name="Picture 4">
            <a:extLst>
              <a:ext uri="{FF2B5EF4-FFF2-40B4-BE49-F238E27FC236}">
                <a16:creationId xmlns:a16="http://schemas.microsoft.com/office/drawing/2014/main" id="{F59DCFB1-197C-1B6A-7940-8366101C32B2}"/>
              </a:ext>
            </a:extLst>
          </p:cNvPr>
          <p:cNvPicPr>
            <a:picLocks noChangeAspect="1"/>
          </p:cNvPicPr>
          <p:nvPr/>
        </p:nvPicPr>
        <p:blipFill>
          <a:blip r:embed="rId3"/>
          <a:stretch>
            <a:fillRect/>
          </a:stretch>
        </p:blipFill>
        <p:spPr>
          <a:xfrm>
            <a:off x="6142932" y="1993983"/>
            <a:ext cx="5578854" cy="3652136"/>
          </a:xfrm>
          <a:prstGeom prst="rect">
            <a:avLst/>
          </a:prstGeom>
        </p:spPr>
      </p:pic>
      <p:sp>
        <p:nvSpPr>
          <p:cNvPr id="6" name="TextBox 5">
            <a:extLst>
              <a:ext uri="{FF2B5EF4-FFF2-40B4-BE49-F238E27FC236}">
                <a16:creationId xmlns:a16="http://schemas.microsoft.com/office/drawing/2014/main" id="{80D47AB2-A986-B438-B375-1B03EE72C978}"/>
              </a:ext>
            </a:extLst>
          </p:cNvPr>
          <p:cNvSpPr txBox="1"/>
          <p:nvPr/>
        </p:nvSpPr>
        <p:spPr>
          <a:xfrm>
            <a:off x="6480638" y="842549"/>
            <a:ext cx="3883243" cy="369332"/>
          </a:xfrm>
          <a:prstGeom prst="rect">
            <a:avLst/>
          </a:prstGeom>
          <a:noFill/>
        </p:spPr>
        <p:txBody>
          <a:bodyPr wrap="none" rtlCol="0">
            <a:spAutoFit/>
          </a:bodyPr>
          <a:lstStyle/>
          <a:p>
            <a:r>
              <a:rPr lang="en-CH" dirty="0"/>
              <a:t>Transplanted into current environment:</a:t>
            </a:r>
          </a:p>
        </p:txBody>
      </p:sp>
    </p:spTree>
    <p:extLst>
      <p:ext uri="{BB962C8B-B14F-4D97-AF65-F5344CB8AC3E}">
        <p14:creationId xmlns:p14="http://schemas.microsoft.com/office/powerpoint/2010/main" val="20535425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88E2656-8724-7A1A-7310-65C49D6A099F}"/>
              </a:ext>
            </a:extLst>
          </p:cNvPr>
          <p:cNvPicPr>
            <a:picLocks noChangeAspect="1"/>
          </p:cNvPicPr>
          <p:nvPr/>
        </p:nvPicPr>
        <p:blipFill>
          <a:blip r:embed="rId2"/>
          <a:stretch>
            <a:fillRect/>
          </a:stretch>
        </p:blipFill>
        <p:spPr>
          <a:xfrm>
            <a:off x="290819" y="1367974"/>
            <a:ext cx="5534025" cy="4581525"/>
          </a:xfrm>
          <a:prstGeom prst="rect">
            <a:avLst/>
          </a:prstGeom>
        </p:spPr>
      </p:pic>
      <p:pic>
        <p:nvPicPr>
          <p:cNvPr id="4" name="Picture 3">
            <a:extLst>
              <a:ext uri="{FF2B5EF4-FFF2-40B4-BE49-F238E27FC236}">
                <a16:creationId xmlns:a16="http://schemas.microsoft.com/office/drawing/2014/main" id="{E9FB8CF7-8182-A101-945F-DF83E8831A3A}"/>
              </a:ext>
            </a:extLst>
          </p:cNvPr>
          <p:cNvPicPr>
            <a:picLocks noChangeAspect="1"/>
          </p:cNvPicPr>
          <p:nvPr/>
        </p:nvPicPr>
        <p:blipFill>
          <a:blip r:embed="rId3"/>
          <a:stretch>
            <a:fillRect/>
          </a:stretch>
        </p:blipFill>
        <p:spPr>
          <a:xfrm>
            <a:off x="6054705" y="1805202"/>
            <a:ext cx="5241546" cy="3961417"/>
          </a:xfrm>
          <a:prstGeom prst="rect">
            <a:avLst/>
          </a:prstGeom>
        </p:spPr>
      </p:pic>
      <p:sp>
        <p:nvSpPr>
          <p:cNvPr id="5" name="TextBox 4">
            <a:extLst>
              <a:ext uri="{FF2B5EF4-FFF2-40B4-BE49-F238E27FC236}">
                <a16:creationId xmlns:a16="http://schemas.microsoft.com/office/drawing/2014/main" id="{DD2C6988-9704-11EE-2FC4-66BFC7345096}"/>
              </a:ext>
            </a:extLst>
          </p:cNvPr>
          <p:cNvSpPr txBox="1"/>
          <p:nvPr/>
        </p:nvSpPr>
        <p:spPr>
          <a:xfrm>
            <a:off x="859536" y="737616"/>
            <a:ext cx="3835024" cy="369332"/>
          </a:xfrm>
          <a:prstGeom prst="rect">
            <a:avLst/>
          </a:prstGeom>
          <a:noFill/>
        </p:spPr>
        <p:txBody>
          <a:bodyPr wrap="none" rtlCol="0">
            <a:spAutoFit/>
          </a:bodyPr>
          <a:lstStyle/>
          <a:p>
            <a:r>
              <a:rPr lang="en-CH" dirty="0"/>
              <a:t>For comparison: Archive, March 2026</a:t>
            </a:r>
          </a:p>
        </p:txBody>
      </p:sp>
      <p:sp>
        <p:nvSpPr>
          <p:cNvPr id="6" name="TextBox 5">
            <a:extLst>
              <a:ext uri="{FF2B5EF4-FFF2-40B4-BE49-F238E27FC236}">
                <a16:creationId xmlns:a16="http://schemas.microsoft.com/office/drawing/2014/main" id="{DAB1271D-073B-2872-773E-E5B6BE62D3EC}"/>
              </a:ext>
            </a:extLst>
          </p:cNvPr>
          <p:cNvSpPr txBox="1"/>
          <p:nvPr/>
        </p:nvSpPr>
        <p:spPr>
          <a:xfrm>
            <a:off x="6480638" y="842549"/>
            <a:ext cx="3883243" cy="369332"/>
          </a:xfrm>
          <a:prstGeom prst="rect">
            <a:avLst/>
          </a:prstGeom>
          <a:noFill/>
        </p:spPr>
        <p:txBody>
          <a:bodyPr wrap="none" rtlCol="0">
            <a:spAutoFit/>
          </a:bodyPr>
          <a:lstStyle/>
          <a:p>
            <a:r>
              <a:rPr lang="en-CH" dirty="0"/>
              <a:t>Transplanted into current environment:</a:t>
            </a:r>
          </a:p>
        </p:txBody>
      </p:sp>
    </p:spTree>
    <p:extLst>
      <p:ext uri="{BB962C8B-B14F-4D97-AF65-F5344CB8AC3E}">
        <p14:creationId xmlns:p14="http://schemas.microsoft.com/office/powerpoint/2010/main" val="37663536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5C0151-F25F-0587-5DA1-BD7A3CAC5C2C}"/>
              </a:ext>
            </a:extLst>
          </p:cNvPr>
          <p:cNvSpPr txBox="1"/>
          <p:nvPr/>
        </p:nvSpPr>
        <p:spPr>
          <a:xfrm>
            <a:off x="667753" y="553453"/>
            <a:ext cx="1599477" cy="369332"/>
          </a:xfrm>
          <a:prstGeom prst="rect">
            <a:avLst/>
          </a:prstGeom>
          <a:noFill/>
        </p:spPr>
        <p:txBody>
          <a:bodyPr wrap="none" rtlCol="0">
            <a:spAutoFit/>
          </a:bodyPr>
          <a:lstStyle/>
          <a:p>
            <a:r>
              <a:rPr lang="en-CH" dirty="0" err="1"/>
              <a:t>Setsize</a:t>
            </a:r>
            <a:r>
              <a:rPr lang="en-CH" dirty="0"/>
              <a:t>, </a:t>
            </a:r>
            <a:r>
              <a:rPr lang="en-CH" dirty="0" err="1"/>
              <a:t>ind</a:t>
            </a:r>
            <a:r>
              <a:rPr lang="en-CH" dirty="0"/>
              <a:t> diff</a:t>
            </a:r>
          </a:p>
        </p:txBody>
      </p:sp>
      <p:pic>
        <p:nvPicPr>
          <p:cNvPr id="3" name="Picture 2">
            <a:extLst>
              <a:ext uri="{FF2B5EF4-FFF2-40B4-BE49-F238E27FC236}">
                <a16:creationId xmlns:a16="http://schemas.microsoft.com/office/drawing/2014/main" id="{3128D985-9981-7AB8-3444-984722C0E82C}"/>
              </a:ext>
            </a:extLst>
          </p:cNvPr>
          <p:cNvPicPr>
            <a:picLocks noChangeAspect="1"/>
          </p:cNvPicPr>
          <p:nvPr/>
        </p:nvPicPr>
        <p:blipFill>
          <a:blip r:embed="rId2"/>
          <a:stretch>
            <a:fillRect/>
          </a:stretch>
        </p:blipFill>
        <p:spPr>
          <a:xfrm>
            <a:off x="5743575" y="1686622"/>
            <a:ext cx="6448425" cy="4800600"/>
          </a:xfrm>
          <a:prstGeom prst="rect">
            <a:avLst/>
          </a:prstGeom>
        </p:spPr>
      </p:pic>
      <p:pic>
        <p:nvPicPr>
          <p:cNvPr id="4" name="Picture 3">
            <a:extLst>
              <a:ext uri="{FF2B5EF4-FFF2-40B4-BE49-F238E27FC236}">
                <a16:creationId xmlns:a16="http://schemas.microsoft.com/office/drawing/2014/main" id="{AFE9F9FC-6F17-DDF8-281A-C5A14B12A508}"/>
              </a:ext>
            </a:extLst>
          </p:cNvPr>
          <p:cNvPicPr>
            <a:picLocks noChangeAspect="1"/>
          </p:cNvPicPr>
          <p:nvPr/>
        </p:nvPicPr>
        <p:blipFill>
          <a:blip r:embed="rId3"/>
          <a:stretch>
            <a:fillRect/>
          </a:stretch>
        </p:blipFill>
        <p:spPr>
          <a:xfrm>
            <a:off x="217797" y="1828103"/>
            <a:ext cx="5545317" cy="4659119"/>
          </a:xfrm>
          <a:prstGeom prst="rect">
            <a:avLst/>
          </a:prstGeom>
        </p:spPr>
      </p:pic>
    </p:spTree>
    <p:extLst>
      <p:ext uri="{BB962C8B-B14F-4D97-AF65-F5344CB8AC3E}">
        <p14:creationId xmlns:p14="http://schemas.microsoft.com/office/powerpoint/2010/main" val="313064382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FC5569-779C-7485-DBA9-2308A434A2EE}"/>
              </a:ext>
            </a:extLst>
          </p:cNvPr>
          <p:cNvPicPr>
            <a:picLocks noChangeAspect="1"/>
          </p:cNvPicPr>
          <p:nvPr/>
        </p:nvPicPr>
        <p:blipFill>
          <a:blip r:embed="rId2"/>
          <a:stretch>
            <a:fillRect/>
          </a:stretch>
        </p:blipFill>
        <p:spPr>
          <a:xfrm>
            <a:off x="469513" y="1009650"/>
            <a:ext cx="6457950" cy="4838700"/>
          </a:xfrm>
          <a:prstGeom prst="rect">
            <a:avLst/>
          </a:prstGeom>
        </p:spPr>
      </p:pic>
    </p:spTree>
    <p:extLst>
      <p:ext uri="{BB962C8B-B14F-4D97-AF65-F5344CB8AC3E}">
        <p14:creationId xmlns:p14="http://schemas.microsoft.com/office/powerpoint/2010/main" val="238663118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9C0930-FB48-691D-9165-54C7210D6B4A}"/>
              </a:ext>
            </a:extLst>
          </p:cNvPr>
          <p:cNvSpPr txBox="1"/>
          <p:nvPr/>
        </p:nvSpPr>
        <p:spPr>
          <a:xfrm>
            <a:off x="667753" y="553453"/>
            <a:ext cx="4131580" cy="369332"/>
          </a:xfrm>
          <a:prstGeom prst="rect">
            <a:avLst/>
          </a:prstGeom>
          <a:noFill/>
        </p:spPr>
        <p:txBody>
          <a:bodyPr wrap="none" rtlCol="0">
            <a:spAutoFit/>
          </a:bodyPr>
          <a:lstStyle/>
          <a:p>
            <a:r>
              <a:rPr lang="en-CH" dirty="0" err="1"/>
              <a:t>Setsize</a:t>
            </a:r>
            <a:r>
              <a:rPr lang="en-CH" dirty="0"/>
              <a:t>, tracking alpha, CDA, simultaneous</a:t>
            </a:r>
          </a:p>
        </p:txBody>
      </p:sp>
      <p:pic>
        <p:nvPicPr>
          <p:cNvPr id="5" name="Picture 4">
            <a:extLst>
              <a:ext uri="{FF2B5EF4-FFF2-40B4-BE49-F238E27FC236}">
                <a16:creationId xmlns:a16="http://schemas.microsoft.com/office/drawing/2014/main" id="{B27D652A-8D31-BBA9-7694-39D3C215A665}"/>
              </a:ext>
            </a:extLst>
          </p:cNvPr>
          <p:cNvPicPr>
            <a:picLocks noChangeAspect="1"/>
          </p:cNvPicPr>
          <p:nvPr/>
        </p:nvPicPr>
        <p:blipFill>
          <a:blip r:embed="rId2"/>
          <a:stretch>
            <a:fillRect/>
          </a:stretch>
        </p:blipFill>
        <p:spPr>
          <a:xfrm>
            <a:off x="241634" y="1187367"/>
            <a:ext cx="5972677" cy="4479508"/>
          </a:xfrm>
          <a:prstGeom prst="rect">
            <a:avLst/>
          </a:prstGeom>
        </p:spPr>
      </p:pic>
      <p:pic>
        <p:nvPicPr>
          <p:cNvPr id="6" name="Picture 5">
            <a:extLst>
              <a:ext uri="{FF2B5EF4-FFF2-40B4-BE49-F238E27FC236}">
                <a16:creationId xmlns:a16="http://schemas.microsoft.com/office/drawing/2014/main" id="{A488C67A-668F-05A5-BAFB-ED84BABA1662}"/>
              </a:ext>
            </a:extLst>
          </p:cNvPr>
          <p:cNvPicPr>
            <a:picLocks noChangeAspect="1"/>
          </p:cNvPicPr>
          <p:nvPr/>
        </p:nvPicPr>
        <p:blipFill>
          <a:blip r:embed="rId3"/>
          <a:stretch>
            <a:fillRect/>
          </a:stretch>
        </p:blipFill>
        <p:spPr>
          <a:xfrm>
            <a:off x="6004745" y="1187367"/>
            <a:ext cx="6149877" cy="4365207"/>
          </a:xfrm>
          <a:prstGeom prst="rect">
            <a:avLst/>
          </a:prstGeom>
        </p:spPr>
      </p:pic>
      <p:pic>
        <p:nvPicPr>
          <p:cNvPr id="7" name="Picture 6">
            <a:extLst>
              <a:ext uri="{FF2B5EF4-FFF2-40B4-BE49-F238E27FC236}">
                <a16:creationId xmlns:a16="http://schemas.microsoft.com/office/drawing/2014/main" id="{879DFCF6-E836-76E7-76F8-70B4F014EDEA}"/>
              </a:ext>
            </a:extLst>
          </p:cNvPr>
          <p:cNvPicPr>
            <a:picLocks noChangeAspect="1"/>
          </p:cNvPicPr>
          <p:nvPr/>
        </p:nvPicPr>
        <p:blipFill>
          <a:blip r:embed="rId4"/>
          <a:stretch>
            <a:fillRect/>
          </a:stretch>
        </p:blipFill>
        <p:spPr>
          <a:xfrm>
            <a:off x="8625724" y="4048626"/>
            <a:ext cx="3528898" cy="2585786"/>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65CB9-A903-1988-3D85-AF11F3F837B4}"/>
              </a:ext>
            </a:extLst>
          </p:cNvPr>
          <p:cNvPicPr>
            <a:picLocks noChangeAspect="1"/>
          </p:cNvPicPr>
          <p:nvPr/>
        </p:nvPicPr>
        <p:blipFill>
          <a:blip r:embed="rId2"/>
          <a:stretch>
            <a:fillRect/>
          </a:stretch>
        </p:blipFill>
        <p:spPr>
          <a:xfrm>
            <a:off x="431731" y="185737"/>
            <a:ext cx="4425714" cy="3600955"/>
          </a:xfrm>
          <a:prstGeom prst="rect">
            <a:avLst/>
          </a:prstGeom>
        </p:spPr>
      </p:pic>
      <p:pic>
        <p:nvPicPr>
          <p:cNvPr id="3" name="Picture 2">
            <a:extLst>
              <a:ext uri="{FF2B5EF4-FFF2-40B4-BE49-F238E27FC236}">
                <a16:creationId xmlns:a16="http://schemas.microsoft.com/office/drawing/2014/main" id="{EF561B0D-583A-F284-C024-CA22C7775C27}"/>
              </a:ext>
            </a:extLst>
          </p:cNvPr>
          <p:cNvPicPr>
            <a:picLocks noChangeAspect="1"/>
          </p:cNvPicPr>
          <p:nvPr/>
        </p:nvPicPr>
        <p:blipFill>
          <a:blip r:embed="rId3"/>
          <a:stretch>
            <a:fillRect/>
          </a:stretch>
        </p:blipFill>
        <p:spPr>
          <a:xfrm>
            <a:off x="220869" y="3786692"/>
            <a:ext cx="5222500" cy="3129563"/>
          </a:xfrm>
          <a:prstGeom prst="rect">
            <a:avLst/>
          </a:prstGeom>
        </p:spPr>
      </p:pic>
      <p:pic>
        <p:nvPicPr>
          <p:cNvPr id="4" name="Picture 3">
            <a:extLst>
              <a:ext uri="{FF2B5EF4-FFF2-40B4-BE49-F238E27FC236}">
                <a16:creationId xmlns:a16="http://schemas.microsoft.com/office/drawing/2014/main" id="{E4C346C9-ECFA-3EDE-889D-B2F02E53ECC6}"/>
              </a:ext>
            </a:extLst>
          </p:cNvPr>
          <p:cNvPicPr>
            <a:picLocks noChangeAspect="1"/>
          </p:cNvPicPr>
          <p:nvPr/>
        </p:nvPicPr>
        <p:blipFill>
          <a:blip r:embed="rId4"/>
          <a:stretch>
            <a:fillRect/>
          </a:stretch>
        </p:blipFill>
        <p:spPr>
          <a:xfrm>
            <a:off x="5068307" y="1760949"/>
            <a:ext cx="6096000" cy="4562475"/>
          </a:xfrm>
          <a:prstGeom prst="rect">
            <a:avLst/>
          </a:prstGeom>
        </p:spPr>
      </p:pic>
      <p:pic>
        <p:nvPicPr>
          <p:cNvPr id="5" name="Picture 4">
            <a:extLst>
              <a:ext uri="{FF2B5EF4-FFF2-40B4-BE49-F238E27FC236}">
                <a16:creationId xmlns:a16="http://schemas.microsoft.com/office/drawing/2014/main" id="{923F6E21-4748-49BB-0197-DFA6770C8457}"/>
              </a:ext>
            </a:extLst>
          </p:cNvPr>
          <p:cNvPicPr>
            <a:picLocks noChangeAspect="1"/>
          </p:cNvPicPr>
          <p:nvPr/>
        </p:nvPicPr>
        <p:blipFill>
          <a:blip r:embed="rId5"/>
          <a:stretch>
            <a:fillRect/>
          </a:stretch>
        </p:blipFill>
        <p:spPr>
          <a:xfrm>
            <a:off x="9262334" y="4556479"/>
            <a:ext cx="2929666" cy="2197250"/>
          </a:xfrm>
          <a:prstGeom prst="rect">
            <a:avLst/>
          </a:prstGeom>
        </p:spPr>
      </p:pic>
      <p:sp>
        <p:nvSpPr>
          <p:cNvPr id="6" name="TextBox 5">
            <a:extLst>
              <a:ext uri="{FF2B5EF4-FFF2-40B4-BE49-F238E27FC236}">
                <a16:creationId xmlns:a16="http://schemas.microsoft.com/office/drawing/2014/main" id="{5F8DCE18-1284-F154-E5B6-90FD4E62ECDF}"/>
              </a:ext>
            </a:extLst>
          </p:cNvPr>
          <p:cNvSpPr txBox="1"/>
          <p:nvPr/>
        </p:nvSpPr>
        <p:spPr>
          <a:xfrm>
            <a:off x="5443369" y="563412"/>
            <a:ext cx="3851760" cy="369332"/>
          </a:xfrm>
          <a:prstGeom prst="rect">
            <a:avLst/>
          </a:prstGeom>
          <a:noFill/>
        </p:spPr>
        <p:txBody>
          <a:bodyPr wrap="none" rtlCol="0">
            <a:spAutoFit/>
          </a:bodyPr>
          <a:lstStyle/>
          <a:p>
            <a:r>
              <a:rPr lang="en-CH" dirty="0" err="1"/>
              <a:t>Setsize</a:t>
            </a:r>
            <a:r>
              <a:rPr lang="en-CH" dirty="0"/>
              <a:t>, tracking alpha, CDA, sequential</a:t>
            </a:r>
          </a:p>
        </p:txBody>
      </p:sp>
    </p:spTree>
    <p:extLst>
      <p:ext uri="{BB962C8B-B14F-4D97-AF65-F5344CB8AC3E}">
        <p14:creationId xmlns:p14="http://schemas.microsoft.com/office/powerpoint/2010/main" val="368549192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pic>
        <p:nvPicPr>
          <p:cNvPr id="2" name="Picture 1">
            <a:extLst>
              <a:ext uri="{FF2B5EF4-FFF2-40B4-BE49-F238E27FC236}">
                <a16:creationId xmlns:a16="http://schemas.microsoft.com/office/drawing/2014/main" id="{5CE309EC-CDF7-A316-D14E-C224917678D7}"/>
              </a:ext>
            </a:extLst>
          </p:cNvPr>
          <p:cNvPicPr>
            <a:picLocks noChangeAspect="1"/>
          </p:cNvPicPr>
          <p:nvPr/>
        </p:nvPicPr>
        <p:blipFill>
          <a:blip r:embed="rId2"/>
          <a:stretch>
            <a:fillRect/>
          </a:stretch>
        </p:blipFill>
        <p:spPr>
          <a:xfrm>
            <a:off x="1201674" y="1084897"/>
            <a:ext cx="6057900" cy="4810125"/>
          </a:xfrm>
          <a:prstGeom prst="rect">
            <a:avLst/>
          </a:prstGeom>
        </p:spPr>
      </p:pic>
    </p:spTree>
    <p:extLst>
      <p:ext uri="{BB962C8B-B14F-4D97-AF65-F5344CB8AC3E}">
        <p14:creationId xmlns:p14="http://schemas.microsoft.com/office/powerpoint/2010/main" val="380916980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F38142-E9F9-C599-6490-CAB52847132A}"/>
              </a:ext>
            </a:extLst>
          </p:cNvPr>
          <p:cNvPicPr>
            <a:picLocks noChangeAspect="1"/>
          </p:cNvPicPr>
          <p:nvPr/>
        </p:nvPicPr>
        <p:blipFill>
          <a:blip r:embed="rId2"/>
          <a:stretch>
            <a:fillRect/>
          </a:stretch>
        </p:blipFill>
        <p:spPr>
          <a:xfrm>
            <a:off x="-106363" y="1111250"/>
            <a:ext cx="6105525" cy="4838700"/>
          </a:xfrm>
          <a:prstGeom prst="rect">
            <a:avLst/>
          </a:prstGeom>
        </p:spPr>
      </p:pic>
      <p:sp>
        <p:nvSpPr>
          <p:cNvPr id="3" name="TextBox 2">
            <a:extLst>
              <a:ext uri="{FF2B5EF4-FFF2-40B4-BE49-F238E27FC236}">
                <a16:creationId xmlns:a16="http://schemas.microsoft.com/office/drawing/2014/main" id="{4D2D19EA-C0B3-B6E2-B525-363A959AF9FE}"/>
              </a:ext>
            </a:extLst>
          </p:cNvPr>
          <p:cNvSpPr txBox="1"/>
          <p:nvPr/>
        </p:nvSpPr>
        <p:spPr>
          <a:xfrm>
            <a:off x="667753" y="553453"/>
            <a:ext cx="1537600" cy="369332"/>
          </a:xfrm>
          <a:prstGeom prst="rect">
            <a:avLst/>
          </a:prstGeom>
          <a:noFill/>
        </p:spPr>
        <p:txBody>
          <a:bodyPr wrap="none" rtlCol="0">
            <a:spAutoFit/>
          </a:bodyPr>
          <a:lstStyle/>
          <a:p>
            <a:r>
              <a:rPr lang="en-CH" dirty="0"/>
              <a:t>Set Size and RI</a:t>
            </a:r>
          </a:p>
        </p:txBody>
      </p:sp>
      <p:pic>
        <p:nvPicPr>
          <p:cNvPr id="4" name="Picture 3">
            <a:extLst>
              <a:ext uri="{FF2B5EF4-FFF2-40B4-BE49-F238E27FC236}">
                <a16:creationId xmlns:a16="http://schemas.microsoft.com/office/drawing/2014/main" id="{0D85E8CA-1885-85BE-C011-FF742D5EBB71}"/>
              </a:ext>
            </a:extLst>
          </p:cNvPr>
          <p:cNvPicPr>
            <a:picLocks noChangeAspect="1"/>
          </p:cNvPicPr>
          <p:nvPr/>
        </p:nvPicPr>
        <p:blipFill>
          <a:blip r:embed="rId3"/>
          <a:stretch>
            <a:fillRect/>
          </a:stretch>
        </p:blipFill>
        <p:spPr>
          <a:xfrm>
            <a:off x="5740224" y="1111250"/>
            <a:ext cx="6431736" cy="4966493"/>
          </a:xfrm>
          <a:prstGeom prst="rect">
            <a:avLst/>
          </a:prstGeom>
        </p:spPr>
      </p:pic>
    </p:spTree>
    <p:extLst>
      <p:ext uri="{BB962C8B-B14F-4D97-AF65-F5344CB8AC3E}">
        <p14:creationId xmlns:p14="http://schemas.microsoft.com/office/powerpoint/2010/main" val="427862456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031FEDC-4455-9E2F-603B-E2FCA64B3161}"/>
              </a:ext>
            </a:extLst>
          </p:cNvPr>
          <p:cNvPicPr>
            <a:picLocks noChangeAspect="1"/>
          </p:cNvPicPr>
          <p:nvPr/>
        </p:nvPicPr>
        <p:blipFill>
          <a:blip r:embed="rId2"/>
          <a:stretch>
            <a:fillRect/>
          </a:stretch>
        </p:blipFill>
        <p:spPr>
          <a:xfrm>
            <a:off x="0" y="547687"/>
            <a:ext cx="6181725" cy="5762625"/>
          </a:xfrm>
          <a:prstGeom prst="rect">
            <a:avLst/>
          </a:prstGeom>
        </p:spPr>
      </p:pic>
      <p:pic>
        <p:nvPicPr>
          <p:cNvPr id="3" name="Picture 2">
            <a:extLst>
              <a:ext uri="{FF2B5EF4-FFF2-40B4-BE49-F238E27FC236}">
                <a16:creationId xmlns:a16="http://schemas.microsoft.com/office/drawing/2014/main" id="{ACF46723-2CC5-92DE-20FF-EC43D51F30BF}"/>
              </a:ext>
            </a:extLst>
          </p:cNvPr>
          <p:cNvPicPr>
            <a:picLocks noChangeAspect="1"/>
          </p:cNvPicPr>
          <p:nvPr/>
        </p:nvPicPr>
        <p:blipFill>
          <a:blip r:embed="rId3"/>
          <a:stretch>
            <a:fillRect/>
          </a:stretch>
        </p:blipFill>
        <p:spPr>
          <a:xfrm>
            <a:off x="5834284" y="623944"/>
            <a:ext cx="6363710" cy="5609243"/>
          </a:xfrm>
          <a:prstGeom prst="rect">
            <a:avLst/>
          </a:prstGeom>
        </p:spPr>
      </p:pic>
    </p:spTree>
    <p:extLst>
      <p:ext uri="{BB962C8B-B14F-4D97-AF65-F5344CB8AC3E}">
        <p14:creationId xmlns:p14="http://schemas.microsoft.com/office/powerpoint/2010/main" val="326123099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DFA45792-260B-C3F6-730C-78DA1FEACD94}"/>
              </a:ext>
            </a:extLst>
          </p:cNvPr>
          <p:cNvPicPr>
            <a:picLocks noChangeAspect="1"/>
          </p:cNvPicPr>
          <p:nvPr/>
        </p:nvPicPr>
        <p:blipFill>
          <a:blip r:embed="rId2"/>
          <a:stretch>
            <a:fillRect/>
          </a:stretch>
        </p:blipFill>
        <p:spPr>
          <a:xfrm>
            <a:off x="400050" y="1497330"/>
            <a:ext cx="5695950" cy="4229100"/>
          </a:xfrm>
          <a:prstGeom prst="rect">
            <a:avLst/>
          </a:prstGeom>
        </p:spPr>
      </p:pic>
      <p:pic>
        <p:nvPicPr>
          <p:cNvPr id="3" name="Picture 2">
            <a:extLst>
              <a:ext uri="{FF2B5EF4-FFF2-40B4-BE49-F238E27FC236}">
                <a16:creationId xmlns:a16="http://schemas.microsoft.com/office/drawing/2014/main" id="{14AAA26B-3EE4-AA9D-3675-6D5F243CFC23}"/>
              </a:ext>
            </a:extLst>
          </p:cNvPr>
          <p:cNvPicPr>
            <a:picLocks noChangeAspect="1"/>
          </p:cNvPicPr>
          <p:nvPr/>
        </p:nvPicPr>
        <p:blipFill>
          <a:blip r:embed="rId3"/>
          <a:stretch>
            <a:fillRect/>
          </a:stretch>
        </p:blipFill>
        <p:spPr>
          <a:xfrm>
            <a:off x="5953524" y="1163955"/>
            <a:ext cx="6467475" cy="4562475"/>
          </a:xfrm>
          <a:prstGeom prst="rect">
            <a:avLst/>
          </a:prstGeom>
        </p:spPr>
      </p:pic>
    </p:spTree>
    <p:extLst>
      <p:ext uri="{BB962C8B-B14F-4D97-AF65-F5344CB8AC3E}">
        <p14:creationId xmlns:p14="http://schemas.microsoft.com/office/powerpoint/2010/main" val="290632563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7290A47B-3914-A4DA-CF47-6DE9FF928238}"/>
              </a:ext>
            </a:extLst>
          </p:cNvPr>
          <p:cNvPicPr>
            <a:picLocks noChangeAspect="1"/>
          </p:cNvPicPr>
          <p:nvPr/>
        </p:nvPicPr>
        <p:blipFill>
          <a:blip r:embed="rId2"/>
          <a:stretch>
            <a:fillRect/>
          </a:stretch>
        </p:blipFill>
        <p:spPr>
          <a:xfrm>
            <a:off x="3009900" y="1181100"/>
            <a:ext cx="6172200" cy="4495800"/>
          </a:xfrm>
          <a:prstGeom prst="rect">
            <a:avLst/>
          </a:prstGeom>
        </p:spPr>
      </p:pic>
    </p:spTree>
    <p:extLst>
      <p:ext uri="{BB962C8B-B14F-4D97-AF65-F5344CB8AC3E}">
        <p14:creationId xmlns:p14="http://schemas.microsoft.com/office/powerpoint/2010/main" val="143513735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192BC4-B35A-CF33-A5F5-08D35D41ADF0}"/>
              </a:ext>
            </a:extLst>
          </p:cNvPr>
          <p:cNvPicPr>
            <a:picLocks noChangeAspect="1"/>
          </p:cNvPicPr>
          <p:nvPr/>
        </p:nvPicPr>
        <p:blipFill>
          <a:blip r:embed="rId2"/>
          <a:stretch>
            <a:fillRect/>
          </a:stretch>
        </p:blipFill>
        <p:spPr>
          <a:xfrm>
            <a:off x="254778" y="1250663"/>
            <a:ext cx="6043884" cy="4563335"/>
          </a:xfrm>
          <a:prstGeom prst="rect">
            <a:avLst/>
          </a:prstGeom>
        </p:spPr>
      </p:pic>
      <p:sp>
        <p:nvSpPr>
          <p:cNvPr id="3" name="TextBox 2">
            <a:extLst>
              <a:ext uri="{FF2B5EF4-FFF2-40B4-BE49-F238E27FC236}">
                <a16:creationId xmlns:a16="http://schemas.microsoft.com/office/drawing/2014/main" id="{6FB2E03D-9B3E-69F7-779D-02C6445B10D6}"/>
              </a:ext>
            </a:extLst>
          </p:cNvPr>
          <p:cNvSpPr txBox="1"/>
          <p:nvPr/>
        </p:nvSpPr>
        <p:spPr>
          <a:xfrm>
            <a:off x="667753" y="553453"/>
            <a:ext cx="3143425" cy="369332"/>
          </a:xfrm>
          <a:prstGeom prst="rect">
            <a:avLst/>
          </a:prstGeom>
          <a:noFill/>
        </p:spPr>
        <p:txBody>
          <a:bodyPr wrap="none" rtlCol="0">
            <a:spAutoFit/>
          </a:bodyPr>
          <a:lstStyle/>
          <a:p>
            <a:r>
              <a:rPr lang="en-CH" dirty="0"/>
              <a:t>Consolidation (Ricker &amp; Sandry)</a:t>
            </a:r>
          </a:p>
        </p:txBody>
      </p:sp>
      <p:pic>
        <p:nvPicPr>
          <p:cNvPr id="4" name="Picture 3">
            <a:extLst>
              <a:ext uri="{FF2B5EF4-FFF2-40B4-BE49-F238E27FC236}">
                <a16:creationId xmlns:a16="http://schemas.microsoft.com/office/drawing/2014/main" id="{7EC6F574-8CAD-4B2B-3C99-115944151B17}"/>
              </a:ext>
            </a:extLst>
          </p:cNvPr>
          <p:cNvPicPr>
            <a:picLocks noChangeAspect="1"/>
          </p:cNvPicPr>
          <p:nvPr/>
        </p:nvPicPr>
        <p:blipFill>
          <a:blip r:embed="rId3"/>
          <a:stretch>
            <a:fillRect/>
          </a:stretch>
        </p:blipFill>
        <p:spPr>
          <a:xfrm>
            <a:off x="5909354" y="1492536"/>
            <a:ext cx="6579642" cy="5306163"/>
          </a:xfrm>
          <a:prstGeom prst="rect">
            <a:avLst/>
          </a:prstGeom>
        </p:spPr>
      </p:pic>
    </p:spTree>
    <p:extLst>
      <p:ext uri="{BB962C8B-B14F-4D97-AF65-F5344CB8AC3E}">
        <p14:creationId xmlns:p14="http://schemas.microsoft.com/office/powerpoint/2010/main" val="16479374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pic>
        <p:nvPicPr>
          <p:cNvPr id="2" name="Picture 1">
            <a:extLst>
              <a:ext uri="{FF2B5EF4-FFF2-40B4-BE49-F238E27FC236}">
                <a16:creationId xmlns:a16="http://schemas.microsoft.com/office/drawing/2014/main" id="{1EAD167A-3E2F-68A3-5865-493638CFB535}"/>
              </a:ext>
            </a:extLst>
          </p:cNvPr>
          <p:cNvPicPr>
            <a:picLocks noChangeAspect="1"/>
          </p:cNvPicPr>
          <p:nvPr/>
        </p:nvPicPr>
        <p:blipFill>
          <a:blip r:embed="rId2"/>
          <a:stretch>
            <a:fillRect/>
          </a:stretch>
        </p:blipFill>
        <p:spPr>
          <a:xfrm>
            <a:off x="0" y="847725"/>
            <a:ext cx="7400925" cy="6010275"/>
          </a:xfrm>
          <a:prstGeom prst="rect">
            <a:avLst/>
          </a:prstGeom>
        </p:spPr>
      </p:pic>
      <p:pic>
        <p:nvPicPr>
          <p:cNvPr id="3" name="Picture 2">
            <a:extLst>
              <a:ext uri="{FF2B5EF4-FFF2-40B4-BE49-F238E27FC236}">
                <a16:creationId xmlns:a16="http://schemas.microsoft.com/office/drawing/2014/main" id="{8848E435-354D-4574-C990-D91840DAC861}"/>
              </a:ext>
            </a:extLst>
          </p:cNvPr>
          <p:cNvPicPr>
            <a:picLocks noChangeAspect="1"/>
          </p:cNvPicPr>
          <p:nvPr/>
        </p:nvPicPr>
        <p:blipFill>
          <a:blip r:embed="rId3"/>
          <a:stretch>
            <a:fillRect/>
          </a:stretch>
        </p:blipFill>
        <p:spPr>
          <a:xfrm>
            <a:off x="7014401" y="2691779"/>
            <a:ext cx="5086350" cy="3986388"/>
          </a:xfrm>
          <a:prstGeom prst="rect">
            <a:avLst/>
          </a:prstGeom>
        </p:spPr>
      </p:pic>
    </p:spTree>
    <p:extLst>
      <p:ext uri="{BB962C8B-B14F-4D97-AF65-F5344CB8AC3E}">
        <p14:creationId xmlns:p14="http://schemas.microsoft.com/office/powerpoint/2010/main" val="340216009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3" name="Picture 2">
            <a:extLst>
              <a:ext uri="{FF2B5EF4-FFF2-40B4-BE49-F238E27FC236}">
                <a16:creationId xmlns:a16="http://schemas.microsoft.com/office/drawing/2014/main" id="{3142454F-43D9-E339-3CA7-7F3241C3AFE8}"/>
              </a:ext>
            </a:extLst>
          </p:cNvPr>
          <p:cNvPicPr>
            <a:picLocks noChangeAspect="1"/>
          </p:cNvPicPr>
          <p:nvPr/>
        </p:nvPicPr>
        <p:blipFill>
          <a:blip r:embed="rId2"/>
          <a:stretch>
            <a:fillRect/>
          </a:stretch>
        </p:blipFill>
        <p:spPr>
          <a:xfrm>
            <a:off x="314325" y="1527474"/>
            <a:ext cx="5781675" cy="4362450"/>
          </a:xfrm>
          <a:prstGeom prst="rect">
            <a:avLst/>
          </a:prstGeom>
        </p:spPr>
      </p:pic>
      <p:pic>
        <p:nvPicPr>
          <p:cNvPr id="4" name="Picture 3">
            <a:extLst>
              <a:ext uri="{FF2B5EF4-FFF2-40B4-BE49-F238E27FC236}">
                <a16:creationId xmlns:a16="http://schemas.microsoft.com/office/drawing/2014/main" id="{E040CECD-D4B7-2907-90E0-2E01276DE009}"/>
              </a:ext>
            </a:extLst>
          </p:cNvPr>
          <p:cNvPicPr>
            <a:picLocks noChangeAspect="1"/>
          </p:cNvPicPr>
          <p:nvPr/>
        </p:nvPicPr>
        <p:blipFill>
          <a:blip r:embed="rId3"/>
          <a:stretch>
            <a:fillRect/>
          </a:stretch>
        </p:blipFill>
        <p:spPr>
          <a:xfrm>
            <a:off x="5724980" y="1613646"/>
            <a:ext cx="6078539" cy="4276277"/>
          </a:xfrm>
          <a:prstGeom prst="rect">
            <a:avLst/>
          </a:prstGeom>
        </p:spPr>
      </p:pic>
    </p:spTree>
    <p:extLst>
      <p:ext uri="{BB962C8B-B14F-4D97-AF65-F5344CB8AC3E}">
        <p14:creationId xmlns:p14="http://schemas.microsoft.com/office/powerpoint/2010/main" val="82264176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539239" cy="369332"/>
          </a:xfrm>
          <a:prstGeom prst="rect">
            <a:avLst/>
          </a:prstGeom>
          <a:noFill/>
        </p:spPr>
        <p:txBody>
          <a:bodyPr wrap="none" rtlCol="0">
            <a:spAutoFit/>
          </a:bodyPr>
          <a:lstStyle/>
          <a:p>
            <a:r>
              <a:rPr lang="en-CH" dirty="0"/>
              <a:t>Sim. Seq. Consolidation (Zurich Lab)</a:t>
            </a:r>
          </a:p>
        </p:txBody>
      </p:sp>
    </p:spTree>
    <p:extLst>
      <p:ext uri="{BB962C8B-B14F-4D97-AF65-F5344CB8AC3E}">
        <p14:creationId xmlns:p14="http://schemas.microsoft.com/office/powerpoint/2010/main" val="294417298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1E9BA5-9451-A757-9041-D416F929E175}"/>
              </a:ext>
            </a:extLst>
          </p:cNvPr>
          <p:cNvPicPr>
            <a:picLocks noChangeAspect="1"/>
          </p:cNvPicPr>
          <p:nvPr/>
        </p:nvPicPr>
        <p:blipFill>
          <a:blip r:embed="rId2"/>
          <a:stretch>
            <a:fillRect/>
          </a:stretch>
        </p:blipFill>
        <p:spPr>
          <a:xfrm>
            <a:off x="6005267" y="1291249"/>
            <a:ext cx="6505575" cy="4924425"/>
          </a:xfrm>
          <a:prstGeom prst="rect">
            <a:avLst/>
          </a:prstGeom>
        </p:spPr>
      </p:pic>
      <p:pic>
        <p:nvPicPr>
          <p:cNvPr id="3" name="Picture 2">
            <a:extLst>
              <a:ext uri="{FF2B5EF4-FFF2-40B4-BE49-F238E27FC236}">
                <a16:creationId xmlns:a16="http://schemas.microsoft.com/office/drawing/2014/main" id="{76CE3325-F452-404F-AE4F-2DA10DE1F6BA}"/>
              </a:ext>
            </a:extLst>
          </p:cNvPr>
          <p:cNvPicPr>
            <a:picLocks noChangeAspect="1"/>
          </p:cNvPicPr>
          <p:nvPr/>
        </p:nvPicPr>
        <p:blipFill>
          <a:blip r:embed="rId3"/>
          <a:stretch>
            <a:fillRect/>
          </a:stretch>
        </p:blipFill>
        <p:spPr>
          <a:xfrm>
            <a:off x="194404" y="1152431"/>
            <a:ext cx="6235894" cy="4957211"/>
          </a:xfrm>
          <a:prstGeom prst="rect">
            <a:avLst/>
          </a:prstGeom>
        </p:spPr>
      </p:pic>
      <p:sp>
        <p:nvSpPr>
          <p:cNvPr id="4" name="TextBox 3">
            <a:extLst>
              <a:ext uri="{FF2B5EF4-FFF2-40B4-BE49-F238E27FC236}">
                <a16:creationId xmlns:a16="http://schemas.microsoft.com/office/drawing/2014/main" id="{50560E6D-CBD4-AD2C-33D0-0639AEC63E51}"/>
              </a:ext>
            </a:extLst>
          </p:cNvPr>
          <p:cNvSpPr txBox="1"/>
          <p:nvPr/>
        </p:nvSpPr>
        <p:spPr>
          <a:xfrm>
            <a:off x="859536" y="737616"/>
            <a:ext cx="2382575" cy="369332"/>
          </a:xfrm>
          <a:prstGeom prst="rect">
            <a:avLst/>
          </a:prstGeom>
          <a:noFill/>
        </p:spPr>
        <p:txBody>
          <a:bodyPr wrap="none" rtlCol="0">
            <a:spAutoFit/>
          </a:bodyPr>
          <a:lstStyle/>
          <a:p>
            <a:r>
              <a:rPr lang="en-CH" dirty="0" err="1"/>
              <a:t>Stevanovski</a:t>
            </a:r>
            <a:r>
              <a:rPr lang="en-CH" dirty="0"/>
              <a:t> &amp; Jolicoeur</a:t>
            </a:r>
          </a:p>
        </p:txBody>
      </p:sp>
    </p:spTree>
    <p:extLst>
      <p:ext uri="{BB962C8B-B14F-4D97-AF65-F5344CB8AC3E}">
        <p14:creationId xmlns:p14="http://schemas.microsoft.com/office/powerpoint/2010/main" val="178276066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27E8D4-D4C1-CD89-3930-971EBF283211}"/>
              </a:ext>
            </a:extLst>
          </p:cNvPr>
          <p:cNvPicPr>
            <a:picLocks noChangeAspect="1"/>
          </p:cNvPicPr>
          <p:nvPr/>
        </p:nvPicPr>
        <p:blipFill>
          <a:blip r:embed="rId2"/>
          <a:stretch>
            <a:fillRect/>
          </a:stretch>
        </p:blipFill>
        <p:spPr>
          <a:xfrm>
            <a:off x="552450" y="1266573"/>
            <a:ext cx="6515100" cy="5191125"/>
          </a:xfrm>
          <a:prstGeom prst="rect">
            <a:avLst/>
          </a:prstGeom>
        </p:spPr>
      </p:pic>
      <p:sp>
        <p:nvSpPr>
          <p:cNvPr id="7" name="TextBox 6">
            <a:extLst>
              <a:ext uri="{FF2B5EF4-FFF2-40B4-BE49-F238E27FC236}">
                <a16:creationId xmlns:a16="http://schemas.microsoft.com/office/drawing/2014/main" id="{2E2E88A8-C4C4-62AA-FE2E-650CB742E4DB}"/>
              </a:ext>
            </a:extLst>
          </p:cNvPr>
          <p:cNvSpPr txBox="1"/>
          <p:nvPr/>
        </p:nvSpPr>
        <p:spPr>
          <a:xfrm>
            <a:off x="859536" y="737616"/>
            <a:ext cx="1514197" cy="369332"/>
          </a:xfrm>
          <a:prstGeom prst="rect">
            <a:avLst/>
          </a:prstGeom>
          <a:noFill/>
        </p:spPr>
        <p:txBody>
          <a:bodyPr wrap="none" rtlCol="0">
            <a:spAutoFit/>
          </a:bodyPr>
          <a:lstStyle/>
          <a:p>
            <a:r>
              <a:rPr lang="en-CH" dirty="0"/>
              <a:t>Retro-Cue x RI</a:t>
            </a:r>
          </a:p>
        </p:txBody>
      </p:sp>
      <p:pic>
        <p:nvPicPr>
          <p:cNvPr id="8" name="Picture 7">
            <a:extLst>
              <a:ext uri="{FF2B5EF4-FFF2-40B4-BE49-F238E27FC236}">
                <a16:creationId xmlns:a16="http://schemas.microsoft.com/office/drawing/2014/main" id="{6430710E-C6AC-7CE5-8DAB-3719C9022B5A}"/>
              </a:ext>
            </a:extLst>
          </p:cNvPr>
          <p:cNvPicPr>
            <a:picLocks noChangeAspect="1"/>
          </p:cNvPicPr>
          <p:nvPr/>
        </p:nvPicPr>
        <p:blipFill>
          <a:blip r:embed="rId3"/>
          <a:stretch>
            <a:fillRect/>
          </a:stretch>
        </p:blipFill>
        <p:spPr>
          <a:xfrm>
            <a:off x="6739690" y="2261936"/>
            <a:ext cx="5237246" cy="3885197"/>
          </a:xfrm>
          <a:prstGeom prst="rect">
            <a:avLst/>
          </a:prstGeom>
        </p:spPr>
      </p:pic>
    </p:spTree>
    <p:extLst>
      <p:ext uri="{BB962C8B-B14F-4D97-AF65-F5344CB8AC3E}">
        <p14:creationId xmlns:p14="http://schemas.microsoft.com/office/powerpoint/2010/main" val="322629524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487BAA2-AA66-1372-BDD6-5919445FF4ED}"/>
              </a:ext>
            </a:extLst>
          </p:cNvPr>
          <p:cNvPicPr>
            <a:picLocks noChangeAspect="1"/>
          </p:cNvPicPr>
          <p:nvPr/>
        </p:nvPicPr>
        <p:blipFill>
          <a:blip r:embed="rId2"/>
          <a:stretch>
            <a:fillRect/>
          </a:stretch>
        </p:blipFill>
        <p:spPr>
          <a:xfrm>
            <a:off x="1199044" y="2437539"/>
            <a:ext cx="5334000" cy="4000500"/>
          </a:xfrm>
          <a:prstGeom prst="rect">
            <a:avLst/>
          </a:prstGeom>
        </p:spPr>
      </p:pic>
      <p:sp>
        <p:nvSpPr>
          <p:cNvPr id="3" name="TextBox 2">
            <a:extLst>
              <a:ext uri="{FF2B5EF4-FFF2-40B4-BE49-F238E27FC236}">
                <a16:creationId xmlns:a16="http://schemas.microsoft.com/office/drawing/2014/main" id="{9584CB27-0413-678C-F4A6-6542740DC8F9}"/>
              </a:ext>
            </a:extLst>
          </p:cNvPr>
          <p:cNvSpPr txBox="1"/>
          <p:nvPr/>
        </p:nvSpPr>
        <p:spPr>
          <a:xfrm>
            <a:off x="859536" y="737616"/>
            <a:ext cx="2343142" cy="369332"/>
          </a:xfrm>
          <a:prstGeom prst="rect">
            <a:avLst/>
          </a:prstGeom>
          <a:noFill/>
        </p:spPr>
        <p:txBody>
          <a:bodyPr wrap="none" rtlCol="0">
            <a:spAutoFit/>
          </a:bodyPr>
          <a:lstStyle/>
          <a:p>
            <a:r>
              <a:rPr lang="en-CH" dirty="0"/>
              <a:t>CD, Retro-Cue x </a:t>
            </a:r>
            <a:r>
              <a:rPr lang="en-CH" dirty="0" err="1"/>
              <a:t>Setsize</a:t>
            </a:r>
            <a:endParaRPr lang="en-CH" dirty="0"/>
          </a:p>
        </p:txBody>
      </p:sp>
    </p:spTree>
    <p:extLst>
      <p:ext uri="{BB962C8B-B14F-4D97-AF65-F5344CB8AC3E}">
        <p14:creationId xmlns:p14="http://schemas.microsoft.com/office/powerpoint/2010/main" val="23386778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158148</TotalTime>
  <Words>1371</Words>
  <Application>Microsoft Office PowerPoint</Application>
  <PresentationFormat>Widescreen</PresentationFormat>
  <Paragraphs>116</Paragraphs>
  <Slides>166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166</vt:i4>
      </vt:variant>
    </vt:vector>
  </HeadingPairs>
  <TitlesOfParts>
    <vt:vector size="171"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317</cp:revision>
  <dcterms:created xsi:type="dcterms:W3CDTF">2024-08-13T19:20:17Z</dcterms:created>
  <dcterms:modified xsi:type="dcterms:W3CDTF">2026-09-13T16:19:32Z</dcterms:modified>
</cp:coreProperties>
</file>
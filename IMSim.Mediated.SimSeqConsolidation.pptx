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4" r:id="rId3"/>
    <p:sldId id="377" r:id="rId4"/>
    <p:sldId id="378" r:id="rId5"/>
    <p:sldId id="380" r:id="rId6"/>
    <p:sldId id="379" r:id="rId7"/>
    <p:sldId id="381" r:id="rId8"/>
    <p:sldId id="382" r:id="rId9"/>
    <p:sldId id="385" r:id="rId10"/>
    <p:sldId id="386" r:id="rId11"/>
    <p:sldId id="383" r:id="rId12"/>
    <p:sldId id="389" r:id="rId13"/>
    <p:sldId id="388" r:id="rId14"/>
    <p:sldId id="387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4" r:id="rId29"/>
    <p:sldId id="403" r:id="rId30"/>
    <p:sldId id="405" r:id="rId3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5" autoAdjust="0"/>
    <p:restoredTop sz="94660"/>
  </p:normalViewPr>
  <p:slideViewPr>
    <p:cSldViewPr snapToGrid="0">
      <p:cViewPr varScale="1">
        <p:scale>
          <a:sx n="88" d="100"/>
          <a:sy n="88" d="100"/>
        </p:scale>
        <p:origin x="8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3ABE-114D-4FC9-922C-C143AEF2F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CF96D-A581-46CA-89B3-A19121807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D45FF-3D45-4E95-B1F0-5815B6FA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03B55-E397-4AEE-92AE-C8A7470A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A7ED5-7077-4BC2-B8D7-DC70A5B1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583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8C0CA-01AA-4143-838E-D2A0990BD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F661E-CABF-44E8-A11A-733532A2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12042-0DBE-49E0-BD8A-8097CCDD9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3C610-C87A-4581-A2B4-BD6E73EB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E0272-B008-4F38-B691-4F06EFFA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2404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5B42F-1924-4DB8-8F91-36FE7628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56AF1-8254-4A60-98DD-C037B112A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26B7E-1100-4756-A293-42232C71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C6155-9E8C-4965-AAE1-85FD4C090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62C3B-752C-4959-B579-D8CA2B144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0320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5EE90-EA6C-46E2-9542-6758A690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50841-7F48-47D6-ABE4-863F86092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F9C3E-902B-4A9F-A112-22A04A71C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881B-DD9D-4772-9BE2-4B406F01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1CB2D-E9DC-420A-A573-C1EEFD2D2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CC2DF-D488-4D77-A465-68552305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3076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F342-FFA7-4FF1-9FA9-46CACCA5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B83C8-C2D3-4CD3-8B04-D0A630397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619DB-CCFD-4BCA-A4FE-D39289043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B999C-8FCB-4895-BCFF-05AB1DE6D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9E0B5-FDA1-40F8-BF6F-C5A51C4B02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80FF44-0222-461F-AAD0-6E76E02FA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354C6-5D69-4BE8-A769-70C902D7E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12C0A-EF36-45E1-B63C-886EC6AD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60670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5E33-FA10-4C38-8D70-F672BAAA8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44539-7C84-4F4B-9D32-AC825820E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8E92B-59E0-4ACE-8645-4E4CBD95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0EAB6-478E-463B-9684-E33D3AFC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7150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E9BC5-231F-424C-9292-421204E7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8A1EC2-0039-4A13-A0DC-D65CC9EF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8B624-EB62-408B-927A-005174DD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284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FCFC7-D823-438E-8A21-F8BDCBD07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1547-88DC-4E55-B4BD-1BC1E5F5F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362F7-54E4-42C2-8966-580181119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6D75D-AFA1-463B-B84E-D46727AA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57DD7-DCAF-4EB8-A2D5-9CE10BB6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A9742-1A39-4012-B3B1-E1642F3C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76043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139F-71DF-4AAB-B366-1880C5645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6779F-D7F2-4356-BC9B-F1ECA02C5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6B71A-6360-40EF-9FD5-DDA4BAA0A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7AD44-B784-41A4-8F49-C338CDB6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21C2C-9E62-4E6A-8613-56485C63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CA7D5-B9AB-46AC-8702-5D384977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0130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55759-BA2B-40D3-8593-A46148F2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C160A-5ADF-425F-B933-5E4357DE9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E0661-584E-4C6D-96FA-6CC3F137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8CE99-E18B-4BEE-9DE3-5B4D3B28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2563B-8603-4A15-AC7F-2D52697E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56146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E47A7E-10A9-42D8-AA5E-7962DF56F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2D4BF-74E0-425C-B805-FA431FE71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1249-1E5F-4657-92D6-F77FFC26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C9D50-E54E-47A4-9468-3B764C63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EBCD9-F077-4A28-8F87-645425651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2087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B5737-CD86-420F-8F7E-82206E3E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FC5AF-EA2A-4570-8A4B-3D41A7CAD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3C6E4-C120-4171-871E-14754EAC8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C16AE-9BD7-4F72-918B-06BB6DDCFC90}" type="datetimeFigureOut">
              <a:rPr lang="en-CH" smtClean="0"/>
              <a:t>07/04/2026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E85E-59EC-494A-A436-6E09589BF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AB59B-69FD-4AD2-A989-D03BF60AE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E26A2-74E8-4FDA-9359-683B3A55E4F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5896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EEAB2-4C3C-4E1E-8487-EA312F45A2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 Simulation 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D3031-7FD4-40CE-8592-24A3D44895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Mediated Binding Version</a:t>
            </a:r>
            <a:endParaRPr lang="en-CH" dirty="0"/>
          </a:p>
          <a:p>
            <a:endParaRPr lang="en-CH" dirty="0"/>
          </a:p>
          <a:p>
            <a:r>
              <a:rPr lang="en-CH" dirty="0"/>
              <a:t>Modelling Jacob’s experiments on </a:t>
            </a:r>
            <a:r>
              <a:rPr lang="en-CH" dirty="0" err="1"/>
              <a:t>consolidat</a:t>
            </a:r>
            <a:r>
              <a:rPr lang="en-US" dirty="0"/>
              <a:t>io</a:t>
            </a:r>
            <a:r>
              <a:rPr lang="en-CH" dirty="0"/>
              <a:t>n time with simultaneous and sequential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90652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5CD9-5ACE-6457-0662-535740EE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Model Variant: Rapid Consolidation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B575C-5F1A-E68F-1CBF-E0F9ACF81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All items are consolidated; in simultaneous presentation consolidation is carried out rapidly so that all items can be consolidated quickly. Release of binding units is still slow, and accounts for the proactive benefit of time</a:t>
            </a:r>
          </a:p>
        </p:txBody>
      </p:sp>
    </p:spTree>
    <p:extLst>
      <p:ext uri="{BB962C8B-B14F-4D97-AF65-F5344CB8AC3E}">
        <p14:creationId xmlns:p14="http://schemas.microsoft.com/office/powerpoint/2010/main" val="4070875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5A11F-C8B2-B6A2-C0C8-85A2116A2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54" y="173904"/>
            <a:ext cx="8490825" cy="63044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2C6568-F029-F140-0E9A-AC2AEFC12E67}"/>
              </a:ext>
            </a:extLst>
          </p:cNvPr>
          <p:cNvSpPr txBox="1"/>
          <p:nvPr/>
        </p:nvSpPr>
        <p:spPr>
          <a:xfrm>
            <a:off x="252441" y="712447"/>
            <a:ext cx="32761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Rapid consolidation, slower release, both proceed until time is over in seq. condition (i.e., </a:t>
            </a:r>
            <a:r>
              <a:rPr lang="en-CH" dirty="0" err="1"/>
              <a:t>C.seqVariant</a:t>
            </a:r>
            <a:r>
              <a:rPr lang="en-CH" dirty="0"/>
              <a:t> = 3); P(ballistic) = 1. </a:t>
            </a:r>
          </a:p>
          <a:p>
            <a:r>
              <a:rPr lang="en-CH" dirty="0"/>
              <a:t>Every new display onset reduces FX to 0.25% of its strength. Consolidation rate = 40</a:t>
            </a:r>
          </a:p>
        </p:txBody>
      </p:sp>
    </p:spTree>
    <p:extLst>
      <p:ext uri="{BB962C8B-B14F-4D97-AF65-F5344CB8AC3E}">
        <p14:creationId xmlns:p14="http://schemas.microsoft.com/office/powerpoint/2010/main" val="349211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7814E5-E55E-F21D-20DE-BC0D9C81F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892" y="61708"/>
            <a:ext cx="9462483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F37A36-8CA5-B0E6-FC33-506BDDE3C8DE}"/>
              </a:ext>
            </a:extLst>
          </p:cNvPr>
          <p:cNvSpPr txBox="1"/>
          <p:nvPr/>
        </p:nvSpPr>
        <p:spPr>
          <a:xfrm>
            <a:off x="252441" y="712447"/>
            <a:ext cx="3276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Same as before; consolidation rate increased to 400</a:t>
            </a:r>
          </a:p>
        </p:txBody>
      </p:sp>
    </p:spTree>
    <p:extLst>
      <p:ext uri="{BB962C8B-B14F-4D97-AF65-F5344CB8AC3E}">
        <p14:creationId xmlns:p14="http://schemas.microsoft.com/office/powerpoint/2010/main" val="1865874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C2055F-178E-433E-315A-AD6779478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620" y="0"/>
            <a:ext cx="882785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47AB29-99B2-90F4-A906-F661BCE55C48}"/>
              </a:ext>
            </a:extLst>
          </p:cNvPr>
          <p:cNvSpPr txBox="1"/>
          <p:nvPr/>
        </p:nvSpPr>
        <p:spPr>
          <a:xfrm>
            <a:off x="252441" y="712447"/>
            <a:ext cx="33490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Rapid consolidation, slower release, consolidation stops when criterion is reached, whereas release proceeds until time is over in seq. condition (i.e., </a:t>
            </a:r>
            <a:r>
              <a:rPr lang="en-CH" dirty="0" err="1"/>
              <a:t>C.seqVariant</a:t>
            </a:r>
            <a:r>
              <a:rPr lang="en-CH" dirty="0"/>
              <a:t> = 2); ballistic = 1. </a:t>
            </a:r>
          </a:p>
          <a:p>
            <a:r>
              <a:rPr lang="en-CH" dirty="0"/>
              <a:t>New stimuli reduce FX to 0.25%. Consolidation rate = 40</a:t>
            </a:r>
          </a:p>
        </p:txBody>
      </p:sp>
    </p:spTree>
    <p:extLst>
      <p:ext uri="{BB962C8B-B14F-4D97-AF65-F5344CB8AC3E}">
        <p14:creationId xmlns:p14="http://schemas.microsoft.com/office/powerpoint/2010/main" val="267911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92AEA8-F67B-7906-6F82-BB3877074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236" y="145855"/>
            <a:ext cx="8930154" cy="65662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7AF838-595F-A975-C6BC-07F9E54BB905}"/>
              </a:ext>
            </a:extLst>
          </p:cNvPr>
          <p:cNvSpPr txBox="1"/>
          <p:nvPr/>
        </p:nvSpPr>
        <p:spPr>
          <a:xfrm>
            <a:off x="252441" y="712447"/>
            <a:ext cx="3349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Same as preceding, with consolidation rate increased to 400</a:t>
            </a:r>
          </a:p>
        </p:txBody>
      </p:sp>
    </p:spTree>
    <p:extLst>
      <p:ext uri="{BB962C8B-B14F-4D97-AF65-F5344CB8AC3E}">
        <p14:creationId xmlns:p14="http://schemas.microsoft.com/office/powerpoint/2010/main" val="1350676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59BA4D-93F6-03A0-C2D3-5C058C37B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569" y="465812"/>
            <a:ext cx="9423292" cy="61116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1A3236-4DAC-F202-A532-A6CFC30D268A}"/>
              </a:ext>
            </a:extLst>
          </p:cNvPr>
          <p:cNvSpPr txBox="1"/>
          <p:nvPr/>
        </p:nvSpPr>
        <p:spPr>
          <a:xfrm>
            <a:off x="252441" y="712447"/>
            <a:ext cx="3349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Same as preceding, with consolidation rate reduced to 15</a:t>
            </a:r>
          </a:p>
        </p:txBody>
      </p:sp>
    </p:spTree>
    <p:extLst>
      <p:ext uri="{BB962C8B-B14F-4D97-AF65-F5344CB8AC3E}">
        <p14:creationId xmlns:p14="http://schemas.microsoft.com/office/powerpoint/2010/main" val="201639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ABF7C7-4F7E-A1BF-0065-2EBAEA39C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900" y="157075"/>
            <a:ext cx="9446033" cy="61714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87D6CD-E2C8-1E9E-59B9-AB4A74F4C505}"/>
              </a:ext>
            </a:extLst>
          </p:cNvPr>
          <p:cNvSpPr txBox="1"/>
          <p:nvPr/>
        </p:nvSpPr>
        <p:spPr>
          <a:xfrm>
            <a:off x="252442" y="712447"/>
            <a:ext cx="29451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Same as preceding, with consolidation rate reduced further to 10, and FX reduced to 40% by each new display so that more is lost by decay of FX at longer intervals. </a:t>
            </a:r>
          </a:p>
        </p:txBody>
      </p:sp>
    </p:spTree>
    <p:extLst>
      <p:ext uri="{BB962C8B-B14F-4D97-AF65-F5344CB8AC3E}">
        <p14:creationId xmlns:p14="http://schemas.microsoft.com/office/powerpoint/2010/main" val="3799546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4E81-3F42-6DA0-DE6D-F6441867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F783C-616E-EAC7-C5EB-F73110E6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Model Variant: Selective Consolidation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ACBAC-EA81-7346-9488-4C425AEE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In simultaneous </a:t>
            </a:r>
            <a:r>
              <a:rPr lang="en-CH" dirty="0" err="1"/>
              <a:t>presentat</a:t>
            </a:r>
            <a:r>
              <a:rPr lang="en-US" dirty="0"/>
              <a:t>io</a:t>
            </a:r>
            <a:r>
              <a:rPr lang="en-CH" dirty="0"/>
              <a:t>n condition, participants try to consolidate only a subset of items (or no item)</a:t>
            </a:r>
          </a:p>
        </p:txBody>
      </p:sp>
    </p:spTree>
    <p:extLst>
      <p:ext uri="{BB962C8B-B14F-4D97-AF65-F5344CB8AC3E}">
        <p14:creationId xmlns:p14="http://schemas.microsoft.com/office/powerpoint/2010/main" val="908673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67AF6A-8979-BFA3-3619-EC70913FF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596" y="196342"/>
            <a:ext cx="8904385" cy="6193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B85FD8-AA79-C240-0ED6-65EB987778D7}"/>
              </a:ext>
            </a:extLst>
          </p:cNvPr>
          <p:cNvSpPr txBox="1"/>
          <p:nvPr/>
        </p:nvSpPr>
        <p:spPr>
          <a:xfrm>
            <a:off x="252442" y="712447"/>
            <a:ext cx="29451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Consolidation of 1 item in simultaneous condition.</a:t>
            </a:r>
          </a:p>
          <a:p>
            <a:r>
              <a:rPr lang="en-CH" dirty="0"/>
              <a:t>Consolidation rate = 10. FX is degraded to 30% with each new display</a:t>
            </a:r>
          </a:p>
          <a:p>
            <a:endParaRPr lang="en-CH" dirty="0"/>
          </a:p>
          <a:p>
            <a:r>
              <a:rPr lang="en-CH" dirty="0"/>
              <a:t>Consolidation stops when criterion is reached, whereas release proceeds until time is over in seq. condition (i.e., </a:t>
            </a:r>
            <a:r>
              <a:rPr lang="en-CH" dirty="0" err="1"/>
              <a:t>C.seqVariant</a:t>
            </a:r>
            <a:r>
              <a:rPr lang="en-CH" dirty="0"/>
              <a:t> = 2)</a:t>
            </a:r>
          </a:p>
        </p:txBody>
      </p:sp>
    </p:spTree>
    <p:extLst>
      <p:ext uri="{BB962C8B-B14F-4D97-AF65-F5344CB8AC3E}">
        <p14:creationId xmlns:p14="http://schemas.microsoft.com/office/powerpoint/2010/main" val="1169066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AB881C-5F4D-4747-8395-CBDAA023F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531" y="370247"/>
            <a:ext cx="8515782" cy="60137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79A49F-2B2F-1254-8C1D-8869DF431CE5}"/>
              </a:ext>
            </a:extLst>
          </p:cNvPr>
          <p:cNvSpPr txBox="1"/>
          <p:nvPr/>
        </p:nvSpPr>
        <p:spPr>
          <a:xfrm>
            <a:off x="252442" y="712447"/>
            <a:ext cx="2945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Same as preceding, now consolidation of 2 items in simultaneous condition.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879448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5D5DDB-7EB7-EAE0-0DB8-15C159EB5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250" y="143843"/>
            <a:ext cx="9095510" cy="66580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7C5320-EB2E-1B1D-28B7-519D15EAFABC}"/>
              </a:ext>
            </a:extLst>
          </p:cNvPr>
          <p:cNvSpPr txBox="1"/>
          <p:nvPr/>
        </p:nvSpPr>
        <p:spPr>
          <a:xfrm>
            <a:off x="252442" y="712447"/>
            <a:ext cx="2945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Same as preceding, now consolidation of 3 items in simultaneous condition.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34304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6236D-DE1C-D6BB-0498-ED61596B8B1F}"/>
              </a:ext>
            </a:extLst>
          </p:cNvPr>
          <p:cNvSpPr txBox="1"/>
          <p:nvPr/>
        </p:nvSpPr>
        <p:spPr>
          <a:xfrm>
            <a:off x="252442" y="712447"/>
            <a:ext cx="2945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Same as preceding, now consolidation of 4 items in simultaneous condition.</a:t>
            </a:r>
          </a:p>
          <a:p>
            <a:endParaRPr lang="en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FE241-8D37-D8BA-A6FC-06FAB59FE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596" y="185124"/>
            <a:ext cx="8760706" cy="638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8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71DD4E-4D72-0729-1555-45E7E54D0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564" y="528432"/>
            <a:ext cx="8742709" cy="59368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8403BB-542C-C8A8-B607-F4DD58CEB414}"/>
              </a:ext>
            </a:extLst>
          </p:cNvPr>
          <p:cNvSpPr txBox="1"/>
          <p:nvPr/>
        </p:nvSpPr>
        <p:spPr>
          <a:xfrm>
            <a:off x="252442" y="712447"/>
            <a:ext cx="29451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Consolidation of 1 item in simultaneous condition.</a:t>
            </a:r>
          </a:p>
          <a:p>
            <a:r>
              <a:rPr lang="en-CH" dirty="0"/>
              <a:t>Consolidation rate = 10. FX is degraded to 15% with each new display</a:t>
            </a:r>
          </a:p>
        </p:txBody>
      </p:sp>
    </p:spTree>
    <p:extLst>
      <p:ext uri="{BB962C8B-B14F-4D97-AF65-F5344CB8AC3E}">
        <p14:creationId xmlns:p14="http://schemas.microsoft.com/office/powerpoint/2010/main" val="2554627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0B4226-C842-4608-35B5-7D9EADE3D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64" y="379503"/>
            <a:ext cx="8295159" cy="60989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E29F85-6FDC-9F3C-D363-28E82CEAC38F}"/>
              </a:ext>
            </a:extLst>
          </p:cNvPr>
          <p:cNvSpPr txBox="1"/>
          <p:nvPr/>
        </p:nvSpPr>
        <p:spPr>
          <a:xfrm>
            <a:off x="252442" y="712447"/>
            <a:ext cx="29451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Consolidation of 4 items in simultaneous condition.</a:t>
            </a:r>
          </a:p>
          <a:p>
            <a:r>
              <a:rPr lang="en-CH" dirty="0"/>
              <a:t>Consolidation rate = 3. FX is degraded to 30% with each new display</a:t>
            </a:r>
          </a:p>
        </p:txBody>
      </p:sp>
    </p:spTree>
    <p:extLst>
      <p:ext uri="{BB962C8B-B14F-4D97-AF65-F5344CB8AC3E}">
        <p14:creationId xmlns:p14="http://schemas.microsoft.com/office/powerpoint/2010/main" val="3919509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4E859F-9DA7-E2D1-4547-98BC75710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14" y="375858"/>
            <a:ext cx="8665658" cy="64316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46B028-273E-210B-3D40-1639D7E6D1A5}"/>
              </a:ext>
            </a:extLst>
          </p:cNvPr>
          <p:cNvSpPr txBox="1"/>
          <p:nvPr/>
        </p:nvSpPr>
        <p:spPr>
          <a:xfrm>
            <a:off x="252442" y="712447"/>
            <a:ext cx="29451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Same as before, but with consolidation and replenishment only continuing until strength criterion is reached (</a:t>
            </a:r>
            <a:r>
              <a:rPr lang="en-CH" dirty="0" err="1"/>
              <a:t>C.seqVariant</a:t>
            </a:r>
            <a:r>
              <a:rPr lang="en-CH" dirty="0"/>
              <a:t> = 1)</a:t>
            </a:r>
          </a:p>
        </p:txBody>
      </p:sp>
    </p:spTree>
    <p:extLst>
      <p:ext uri="{BB962C8B-B14F-4D97-AF65-F5344CB8AC3E}">
        <p14:creationId xmlns:p14="http://schemas.microsoft.com/office/powerpoint/2010/main" val="2275564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9C5401-4545-DD4D-B45A-460111942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754" y="138013"/>
            <a:ext cx="8592246" cy="64024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388F24-8FD0-B47E-F274-2005B716B5B5}"/>
              </a:ext>
            </a:extLst>
          </p:cNvPr>
          <p:cNvSpPr txBox="1"/>
          <p:nvPr/>
        </p:nvSpPr>
        <p:spPr>
          <a:xfrm>
            <a:off x="269272" y="712447"/>
            <a:ext cx="29451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Consolidation stops when criterion is reached, whereas release proceeds until time is over in seq. condition (i.e., </a:t>
            </a:r>
            <a:r>
              <a:rPr lang="en-CH" dirty="0" err="1"/>
              <a:t>C.seqVariant</a:t>
            </a:r>
            <a:r>
              <a:rPr lang="en-CH" dirty="0"/>
              <a:t> = 2)</a:t>
            </a:r>
          </a:p>
          <a:p>
            <a:endParaRPr lang="en-CH" dirty="0"/>
          </a:p>
          <a:p>
            <a:r>
              <a:rPr lang="en-CH" dirty="0"/>
              <a:t>Probability of consolidation being ballistic = 0.65.</a:t>
            </a:r>
          </a:p>
          <a:p>
            <a:r>
              <a:rPr lang="en-CH" dirty="0"/>
              <a:t>Attempt to consolidate all 4 items in sim. condition.</a:t>
            </a:r>
          </a:p>
          <a:p>
            <a:r>
              <a:rPr lang="en-CH" dirty="0"/>
              <a:t>Consolidation rate = 5.</a:t>
            </a:r>
          </a:p>
          <a:p>
            <a:r>
              <a:rPr lang="en-CH" dirty="0"/>
              <a:t>Release rate = 3.</a:t>
            </a:r>
          </a:p>
          <a:p>
            <a:r>
              <a:rPr lang="en-CH" dirty="0"/>
              <a:t>Reduction of FX with each display: 30%.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01891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13937C-31B0-8C5D-670C-5261F912C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889" y="-61708"/>
            <a:ext cx="8955074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30A099-20A4-9E8D-004D-B8E30995691F}"/>
              </a:ext>
            </a:extLst>
          </p:cNvPr>
          <p:cNvSpPr txBox="1"/>
          <p:nvPr/>
        </p:nvSpPr>
        <p:spPr>
          <a:xfrm>
            <a:off x="269272" y="712447"/>
            <a:ext cx="2945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Same as preceding, with consolidation rate = </a:t>
            </a:r>
            <a:r>
              <a:rPr lang="en-CH"/>
              <a:t>release rate = 4</a:t>
            </a:r>
            <a:endParaRPr lang="en-CH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58945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58ED36-74E4-216D-E98A-4A7A29126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409" y="0"/>
            <a:ext cx="910360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5E5ECA-0DE8-66C5-5F94-EB0EDC63DECD}"/>
              </a:ext>
            </a:extLst>
          </p:cNvPr>
          <p:cNvSpPr txBox="1"/>
          <p:nvPr/>
        </p:nvSpPr>
        <p:spPr>
          <a:xfrm>
            <a:off x="293113" y="760587"/>
            <a:ext cx="2416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same with </a:t>
            </a:r>
            <a:r>
              <a:rPr lang="en-CH" dirty="0" err="1"/>
              <a:t>consolidat</a:t>
            </a:r>
            <a:r>
              <a:rPr lang="en-US" dirty="0"/>
              <a:t>io</a:t>
            </a:r>
            <a:r>
              <a:rPr lang="en-CH" dirty="0"/>
              <a:t>n and replenishment finishing when the strength criterion is reached (</a:t>
            </a:r>
            <a:r>
              <a:rPr lang="en-CH" dirty="0" err="1"/>
              <a:t>C.seqVariant</a:t>
            </a:r>
            <a:r>
              <a:rPr lang="en-CH" dirty="0"/>
              <a:t> = 1)</a:t>
            </a:r>
          </a:p>
        </p:txBody>
      </p:sp>
    </p:spTree>
    <p:extLst>
      <p:ext uri="{BB962C8B-B14F-4D97-AF65-F5344CB8AC3E}">
        <p14:creationId xmlns:p14="http://schemas.microsoft.com/office/powerpoint/2010/main" val="1883007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3FE58D-C06D-D05F-85FC-A50852063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119" y="240235"/>
            <a:ext cx="8990156" cy="65167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B627F4-3782-BD13-1415-8D7D3579C9EA}"/>
              </a:ext>
            </a:extLst>
          </p:cNvPr>
          <p:cNvSpPr txBox="1"/>
          <p:nvPr/>
        </p:nvSpPr>
        <p:spPr>
          <a:xfrm>
            <a:off x="293113" y="760587"/>
            <a:ext cx="22425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same with erase-FX set to 0% (</a:t>
            </a:r>
            <a:r>
              <a:rPr lang="en-CH" dirty="0" err="1"/>
              <a:t>C.seqVariant</a:t>
            </a:r>
            <a:r>
              <a:rPr lang="en-CH" dirty="0"/>
              <a:t> = 1)</a:t>
            </a:r>
          </a:p>
          <a:p>
            <a:endParaRPr lang="en-CH" dirty="0"/>
          </a:p>
          <a:p>
            <a:r>
              <a:rPr lang="en-CH" dirty="0"/>
              <a:t>Conclusion: The prediction that performance gets better with longer RI in simultaneous presentation can be neutralized by letting about 30% of FX survive the test display</a:t>
            </a:r>
          </a:p>
        </p:txBody>
      </p:sp>
    </p:spTree>
    <p:extLst>
      <p:ext uri="{BB962C8B-B14F-4D97-AF65-F5344CB8AC3E}">
        <p14:creationId xmlns:p14="http://schemas.microsoft.com/office/powerpoint/2010/main" val="3386295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2C6E03-3AA3-9265-5EC6-23F4D09E7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44" y="482444"/>
            <a:ext cx="8572339" cy="5893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87A76D-AE39-0DC1-021F-4509576B35B9}"/>
              </a:ext>
            </a:extLst>
          </p:cNvPr>
          <p:cNvSpPr txBox="1"/>
          <p:nvPr/>
        </p:nvSpPr>
        <p:spPr>
          <a:xfrm>
            <a:off x="293113" y="760587"/>
            <a:ext cx="2416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back to erase-FX = 30% (</a:t>
            </a:r>
            <a:r>
              <a:rPr lang="en-CH" dirty="0" err="1"/>
              <a:t>C.seqVariant</a:t>
            </a:r>
            <a:r>
              <a:rPr lang="en-CH" dirty="0"/>
              <a:t> = 1); now with masks (if attended) also erasing FX down to 30% (in addition to being encoded into FX)</a:t>
            </a:r>
          </a:p>
        </p:txBody>
      </p:sp>
    </p:spTree>
    <p:extLst>
      <p:ext uri="{BB962C8B-B14F-4D97-AF65-F5344CB8AC3E}">
        <p14:creationId xmlns:p14="http://schemas.microsoft.com/office/powerpoint/2010/main" val="2115462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014192-2F35-B8F7-A2E9-CA0EF7E9C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008" y="375858"/>
            <a:ext cx="7985753" cy="6226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52D549-20CA-793F-9D77-3836450C7CCC}"/>
              </a:ext>
            </a:extLst>
          </p:cNvPr>
          <p:cNvSpPr txBox="1"/>
          <p:nvPr/>
        </p:nvSpPr>
        <p:spPr>
          <a:xfrm>
            <a:off x="293113" y="760587"/>
            <a:ext cx="2416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Same as before (though </a:t>
            </a:r>
            <a:r>
              <a:rPr lang="en-CH" dirty="0" err="1"/>
              <a:t>C.seqVariant</a:t>
            </a:r>
            <a:r>
              <a:rPr lang="en-CH" dirty="0"/>
              <a:t> = 2, which makes little difference); now with decay rate increased to 4</a:t>
            </a:r>
          </a:p>
        </p:txBody>
      </p:sp>
    </p:spTree>
    <p:extLst>
      <p:ext uri="{BB962C8B-B14F-4D97-AF65-F5344CB8AC3E}">
        <p14:creationId xmlns:p14="http://schemas.microsoft.com/office/powerpoint/2010/main" val="777655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16BC4A-8238-3169-E6AB-4DC420CDC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081" y="0"/>
            <a:ext cx="862227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73A89A-8554-0B25-F078-DB8D3B4DA2D2}"/>
              </a:ext>
            </a:extLst>
          </p:cNvPr>
          <p:cNvSpPr txBox="1"/>
          <p:nvPr/>
        </p:nvSpPr>
        <p:spPr>
          <a:xfrm>
            <a:off x="293113" y="760587"/>
            <a:ext cx="2416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Same as preceding, with decay rate still at 4, and </a:t>
            </a:r>
            <a:r>
              <a:rPr lang="en-CH" dirty="0" err="1"/>
              <a:t>cRate</a:t>
            </a:r>
            <a:r>
              <a:rPr lang="en-CH" dirty="0"/>
              <a:t> and </a:t>
            </a:r>
            <a:r>
              <a:rPr lang="en-CH" dirty="0" err="1"/>
              <a:t>rRate</a:t>
            </a:r>
            <a:r>
              <a:rPr lang="en-CH" dirty="0"/>
              <a:t> increased to 8</a:t>
            </a:r>
          </a:p>
        </p:txBody>
      </p:sp>
    </p:spTree>
    <p:extLst>
      <p:ext uri="{BB962C8B-B14F-4D97-AF65-F5344CB8AC3E}">
        <p14:creationId xmlns:p14="http://schemas.microsoft.com/office/powerpoint/2010/main" val="1842236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ED9B40-71D2-5F81-D7AA-8B4EB403D37D}"/>
              </a:ext>
            </a:extLst>
          </p:cNvPr>
          <p:cNvSpPr txBox="1"/>
          <p:nvPr/>
        </p:nvSpPr>
        <p:spPr>
          <a:xfrm>
            <a:off x="293113" y="760587"/>
            <a:ext cx="2416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Same as preceding, now with decay rate reduced to 2, and </a:t>
            </a:r>
            <a:r>
              <a:rPr lang="en-CH" dirty="0" err="1"/>
              <a:t>cRate</a:t>
            </a:r>
            <a:r>
              <a:rPr lang="en-CH" dirty="0"/>
              <a:t> and </a:t>
            </a:r>
            <a:r>
              <a:rPr lang="en-CH" dirty="0" err="1"/>
              <a:t>rRate</a:t>
            </a:r>
            <a:r>
              <a:rPr lang="en-CH" dirty="0"/>
              <a:t> still elevated at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CC05F0-D13D-26E1-BB4F-20D0B6541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274" y="297320"/>
            <a:ext cx="8115534" cy="608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6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E041-B3B1-9ABE-9981-1B9B2BF0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Variation of Number of Consolidation Attempts in Simultaneous Condition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D889D2-5F74-2D7F-0EEA-A7E404E311D3}"/>
              </a:ext>
            </a:extLst>
          </p:cNvPr>
          <p:cNvSpPr txBox="1"/>
          <p:nvPr/>
        </p:nvSpPr>
        <p:spPr>
          <a:xfrm>
            <a:off x="976108" y="2266366"/>
            <a:ext cx="176881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Parameters: </a:t>
            </a:r>
          </a:p>
          <a:p>
            <a:r>
              <a:rPr lang="en-CH" dirty="0" err="1"/>
              <a:t>C.seqVariant</a:t>
            </a:r>
            <a:r>
              <a:rPr lang="en-CH" dirty="0"/>
              <a:t> = 2</a:t>
            </a:r>
          </a:p>
          <a:p>
            <a:r>
              <a:rPr lang="en-CH" dirty="0" err="1"/>
              <a:t>cRate</a:t>
            </a:r>
            <a:r>
              <a:rPr lang="en-CH" dirty="0"/>
              <a:t> = </a:t>
            </a:r>
            <a:r>
              <a:rPr lang="en-CH" dirty="0" err="1"/>
              <a:t>rRate</a:t>
            </a:r>
            <a:r>
              <a:rPr lang="en-CH" dirty="0"/>
              <a:t> = 4</a:t>
            </a:r>
          </a:p>
          <a:p>
            <a:r>
              <a:rPr lang="en-CH" dirty="0"/>
              <a:t>decay = 2</a:t>
            </a:r>
          </a:p>
          <a:p>
            <a:r>
              <a:rPr lang="en-CH" dirty="0" err="1"/>
              <a:t>eraseFX</a:t>
            </a:r>
            <a:r>
              <a:rPr lang="en-CH" dirty="0"/>
              <a:t> = 0.3</a:t>
            </a:r>
          </a:p>
          <a:p>
            <a:r>
              <a:rPr lang="en-CH" dirty="0" err="1"/>
              <a:t>cBallistic</a:t>
            </a:r>
            <a:r>
              <a:rPr lang="en-CH" dirty="0"/>
              <a:t> = 0.65</a:t>
            </a:r>
          </a:p>
          <a:p>
            <a:endParaRPr lang="en-CH" dirty="0"/>
          </a:p>
          <a:p>
            <a:endParaRPr lang="en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7AD51-26A5-AA8E-FF2F-933E929B2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693" y="1998009"/>
            <a:ext cx="5993154" cy="4494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E7D86B-19CB-0B71-043C-2314FEF9E1BD}"/>
              </a:ext>
            </a:extLst>
          </p:cNvPr>
          <p:cNvSpPr txBox="1"/>
          <p:nvPr/>
        </p:nvSpPr>
        <p:spPr>
          <a:xfrm>
            <a:off x="10136937" y="2266366"/>
            <a:ext cx="163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Consolidation Attempts: 0</a:t>
            </a:r>
          </a:p>
        </p:txBody>
      </p:sp>
    </p:spTree>
    <p:extLst>
      <p:ext uri="{BB962C8B-B14F-4D97-AF65-F5344CB8AC3E}">
        <p14:creationId xmlns:p14="http://schemas.microsoft.com/office/powerpoint/2010/main" val="995221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FF53E2-F5FA-A945-EFFA-EC42ACB0C4D5}"/>
              </a:ext>
            </a:extLst>
          </p:cNvPr>
          <p:cNvSpPr txBox="1"/>
          <p:nvPr/>
        </p:nvSpPr>
        <p:spPr>
          <a:xfrm>
            <a:off x="880740" y="707313"/>
            <a:ext cx="262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Consolidation Attempts: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A17987-FF72-0F26-3717-CA94FAD40709}"/>
              </a:ext>
            </a:extLst>
          </p:cNvPr>
          <p:cNvSpPr txBox="1"/>
          <p:nvPr/>
        </p:nvSpPr>
        <p:spPr>
          <a:xfrm>
            <a:off x="6996374" y="690941"/>
            <a:ext cx="262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Consolidation Attempts: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1B4B3D-C996-EAA7-CDCE-98E6BB22E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6" y="1402474"/>
            <a:ext cx="5993154" cy="44948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8527E1-49E9-54F1-BDA2-F6AFD1EAD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901" y="1342870"/>
            <a:ext cx="6152099" cy="461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48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C6D91E-88A3-67D7-BC66-E6259382DC30}"/>
              </a:ext>
            </a:extLst>
          </p:cNvPr>
          <p:cNvSpPr txBox="1"/>
          <p:nvPr/>
        </p:nvSpPr>
        <p:spPr>
          <a:xfrm>
            <a:off x="936839" y="734886"/>
            <a:ext cx="262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Consolidation Attempts: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16192-21DC-57FD-3C70-C41AD3C4345D}"/>
              </a:ext>
            </a:extLst>
          </p:cNvPr>
          <p:cNvSpPr txBox="1"/>
          <p:nvPr/>
        </p:nvSpPr>
        <p:spPr>
          <a:xfrm>
            <a:off x="6996374" y="690941"/>
            <a:ext cx="262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Consolidation Attempts: 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AE26-10D4-8A17-2642-1083EDDE5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12" y="1199582"/>
            <a:ext cx="6303585" cy="4727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974129-9D37-7073-3D2E-58A4EC0F5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7" y="1199582"/>
            <a:ext cx="6216498" cy="466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66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CC69-DBAC-CBD5-1B1E-8D583C55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Trying to bring back the free-time benefit in the simultaneous condition</a:t>
            </a:r>
          </a:p>
        </p:txBody>
      </p:sp>
    </p:spTree>
    <p:extLst>
      <p:ext uri="{BB962C8B-B14F-4D97-AF65-F5344CB8AC3E}">
        <p14:creationId xmlns:p14="http://schemas.microsoft.com/office/powerpoint/2010/main" val="4512701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C4CD20-441D-A84B-AD63-11E678CD2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5" y="346858"/>
            <a:ext cx="8475889" cy="61642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3A5001-F472-D530-644D-9D97F38B621E}"/>
              </a:ext>
            </a:extLst>
          </p:cNvPr>
          <p:cNvSpPr txBox="1"/>
          <p:nvPr/>
        </p:nvSpPr>
        <p:spPr>
          <a:xfrm>
            <a:off x="812822" y="818566"/>
            <a:ext cx="27576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Like the preceding: </a:t>
            </a:r>
          </a:p>
          <a:p>
            <a:r>
              <a:rPr lang="en-CH" dirty="0" err="1"/>
              <a:t>C.seqVariant</a:t>
            </a:r>
            <a:r>
              <a:rPr lang="en-CH" dirty="0"/>
              <a:t> = 2</a:t>
            </a:r>
          </a:p>
          <a:p>
            <a:r>
              <a:rPr lang="en-CH" dirty="0" err="1"/>
              <a:t>cRate</a:t>
            </a:r>
            <a:r>
              <a:rPr lang="en-CH" dirty="0"/>
              <a:t> = </a:t>
            </a:r>
            <a:r>
              <a:rPr lang="en-CH" dirty="0" err="1"/>
              <a:t>rRate</a:t>
            </a:r>
            <a:r>
              <a:rPr lang="en-CH" dirty="0"/>
              <a:t> = 4</a:t>
            </a:r>
          </a:p>
          <a:p>
            <a:r>
              <a:rPr lang="en-CH" dirty="0"/>
              <a:t>decay = 2</a:t>
            </a:r>
          </a:p>
          <a:p>
            <a:r>
              <a:rPr lang="en-CH" dirty="0" err="1"/>
              <a:t>cBallistic</a:t>
            </a:r>
            <a:r>
              <a:rPr lang="en-CH" dirty="0"/>
              <a:t> = 0.65</a:t>
            </a:r>
          </a:p>
          <a:p>
            <a:endParaRPr lang="en-CH" dirty="0"/>
          </a:p>
          <a:p>
            <a:r>
              <a:rPr lang="en-CH" dirty="0"/>
              <a:t>Here, </a:t>
            </a:r>
            <a:r>
              <a:rPr lang="en-CH" dirty="0" err="1"/>
              <a:t>eraseFX</a:t>
            </a:r>
            <a:r>
              <a:rPr lang="en-CH" dirty="0"/>
              <a:t> is reduced to 0.1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7385636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BD2B50-72DB-59C2-06CE-64FD0959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162" y="0"/>
            <a:ext cx="888050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270FF4-AB45-717B-B005-DB6F1AC8F12F}"/>
              </a:ext>
            </a:extLst>
          </p:cNvPr>
          <p:cNvSpPr txBox="1"/>
          <p:nvPr/>
        </p:nvSpPr>
        <p:spPr>
          <a:xfrm>
            <a:off x="409333" y="649838"/>
            <a:ext cx="27576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Like the preceding: </a:t>
            </a:r>
          </a:p>
          <a:p>
            <a:r>
              <a:rPr lang="en-CH" dirty="0" err="1"/>
              <a:t>C.seqVariant</a:t>
            </a:r>
            <a:r>
              <a:rPr lang="en-CH" dirty="0"/>
              <a:t> = 2</a:t>
            </a:r>
          </a:p>
          <a:p>
            <a:r>
              <a:rPr lang="en-CH" dirty="0" err="1"/>
              <a:t>rRate</a:t>
            </a:r>
            <a:r>
              <a:rPr lang="en-CH" dirty="0"/>
              <a:t> = 4</a:t>
            </a:r>
          </a:p>
          <a:p>
            <a:r>
              <a:rPr lang="en-CH" dirty="0"/>
              <a:t>decay = 2</a:t>
            </a:r>
          </a:p>
          <a:p>
            <a:r>
              <a:rPr lang="en-CH" dirty="0" err="1"/>
              <a:t>cBallistic</a:t>
            </a:r>
            <a:r>
              <a:rPr lang="en-CH" dirty="0"/>
              <a:t> = 0.65</a:t>
            </a:r>
          </a:p>
          <a:p>
            <a:r>
              <a:rPr lang="en-CH" dirty="0" err="1"/>
              <a:t>eraseFX</a:t>
            </a:r>
            <a:r>
              <a:rPr lang="en-CH" dirty="0"/>
              <a:t> = 0.3</a:t>
            </a:r>
          </a:p>
          <a:p>
            <a:endParaRPr lang="en-CH" dirty="0"/>
          </a:p>
          <a:p>
            <a:r>
              <a:rPr lang="en-CH" dirty="0"/>
              <a:t>Here, </a:t>
            </a:r>
            <a:r>
              <a:rPr lang="en-CH" dirty="0" err="1"/>
              <a:t>cRate</a:t>
            </a:r>
            <a:r>
              <a:rPr lang="en-CH" dirty="0"/>
              <a:t> is increased </a:t>
            </a:r>
            <a:r>
              <a:rPr lang="en-CH"/>
              <a:t>to 20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961822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33982</TotalTime>
  <Words>767</Words>
  <Application>Microsoft Office PowerPoint</Application>
  <PresentationFormat>Widescreen</PresentationFormat>
  <Paragraphs>72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IM Simulation </vt:lpstr>
      <vt:lpstr>Model Variant: Rapid Consolidation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Variant: Selective Consolidation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Variation of Number of Consolidation Attempts in Simultaneous Condition</vt:lpstr>
      <vt:lpstr>PowerPoint Presentation</vt:lpstr>
      <vt:lpstr>PowerPoint Presentation</vt:lpstr>
      <vt:lpstr>Trying to bring back the free-time benefit in the simultaneous condition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Klaus Oberauer</dc:creator>
  <cp:lastModifiedBy>Klaus Oberauer</cp:lastModifiedBy>
  <cp:revision>147</cp:revision>
  <dcterms:created xsi:type="dcterms:W3CDTF">2024-08-13T19:20:17Z</dcterms:created>
  <dcterms:modified xsi:type="dcterms:W3CDTF">2026-04-10T02:54:29Z</dcterms:modified>
</cp:coreProperties>
</file>